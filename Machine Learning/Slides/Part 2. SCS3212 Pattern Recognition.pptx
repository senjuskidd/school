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9"/>
  </p:notesMasterIdLst>
  <p:sldIdLst>
    <p:sldId id="257" r:id="rId2"/>
    <p:sldId id="281" r:id="rId3"/>
    <p:sldId id="282" r:id="rId4"/>
    <p:sldId id="258" r:id="rId5"/>
    <p:sldId id="259" r:id="rId6"/>
    <p:sldId id="260" r:id="rId7"/>
    <p:sldId id="261" r:id="rId8"/>
    <p:sldId id="262" r:id="rId9"/>
    <p:sldId id="290" r:id="rId10"/>
    <p:sldId id="289" r:id="rId11"/>
    <p:sldId id="263" r:id="rId12"/>
    <p:sldId id="286" r:id="rId13"/>
    <p:sldId id="264" r:id="rId14"/>
    <p:sldId id="284" r:id="rId15"/>
    <p:sldId id="265" r:id="rId16"/>
    <p:sldId id="266" r:id="rId17"/>
    <p:sldId id="267" r:id="rId18"/>
    <p:sldId id="268" r:id="rId19"/>
    <p:sldId id="283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87" r:id="rId29"/>
    <p:sldId id="277" r:id="rId30"/>
    <p:sldId id="278" r:id="rId31"/>
    <p:sldId id="279" r:id="rId32"/>
    <p:sldId id="292" r:id="rId33"/>
    <p:sldId id="291" r:id="rId34"/>
    <p:sldId id="293" r:id="rId35"/>
    <p:sldId id="294" r:id="rId36"/>
    <p:sldId id="280" r:id="rId37"/>
    <p:sldId id="288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74" autoAdjust="0"/>
    <p:restoredTop sz="94660"/>
  </p:normalViewPr>
  <p:slideViewPr>
    <p:cSldViewPr snapToGrid="0">
      <p:cViewPr varScale="1">
        <p:scale>
          <a:sx n="60" d="100"/>
          <a:sy n="60" d="100"/>
        </p:scale>
        <p:origin x="12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E06AC-506A-4FEA-B0B6-349A06A8F2E6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F84C36-6157-4B68-A3AA-6C33AF37B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777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Stop grp 1 Tue21feb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F84C36-6157-4B68-A3AA-6C33AF37B07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40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stopG2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F84C36-6157-4B68-A3AA-6C33AF37B07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717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BA80E-4DA4-4EF8-9F23-C9F6F5BD37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58FFF-D747-4C74-B40A-4A8B2AD21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363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BA80E-4DA4-4EF8-9F23-C9F6F5BD37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58FFF-D747-4C74-B40A-4A8B2AD21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602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BA80E-4DA4-4EF8-9F23-C9F6F5BD37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58FFF-D747-4C74-B40A-4A8B2AD21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638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BA80E-4DA4-4EF8-9F23-C9F6F5BD37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58FFF-D747-4C74-B40A-4A8B2AD21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664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BA80E-4DA4-4EF8-9F23-C9F6F5BD37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58FFF-D747-4C74-B40A-4A8B2AD21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075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BA80E-4DA4-4EF8-9F23-C9F6F5BD37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58FFF-D747-4C74-B40A-4A8B2AD21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010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BA80E-4DA4-4EF8-9F23-C9F6F5BD37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58FFF-D747-4C74-B40A-4A8B2AD21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846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BA80E-4DA4-4EF8-9F23-C9F6F5BD37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58FFF-D747-4C74-B40A-4A8B2AD21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735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BA80E-4DA4-4EF8-9F23-C9F6F5BD37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58FFF-D747-4C74-B40A-4A8B2AD21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748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BA80E-4DA4-4EF8-9F23-C9F6F5BD37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58FFF-D747-4C74-B40A-4A8B2AD21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116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BA80E-4DA4-4EF8-9F23-C9F6F5BD37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58FFF-D747-4C74-B40A-4A8B2AD21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451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1BA80E-4DA4-4EF8-9F23-C9F6F5BD37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58FFF-D747-4C74-B40A-4A8B2AD21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125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atlantic.com/health/archive/2021/01/why-arent-we-wearing-better-masks/617656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aler.com/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enyans.co.ke/news/86330-why-jacob-ocholla-resembles-mwai-kibaki-expert-compiles-medical-report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CSC229 Machine Learning Algorithms &amp; </a:t>
            </a:r>
            <a:r>
              <a:rPr lang="en-US" dirty="0" smtClean="0"/>
              <a:t>Programming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65834"/>
            <a:ext cx="9144000" cy="2139543"/>
          </a:xfrm>
        </p:spPr>
        <p:txBody>
          <a:bodyPr>
            <a:noAutofit/>
          </a:bodyPr>
          <a:lstStyle/>
          <a:p>
            <a:r>
              <a:rPr lang="en-US" sz="2800" dirty="0"/>
              <a:t>Part </a:t>
            </a:r>
            <a:r>
              <a:rPr lang="en-US" sz="2800" dirty="0" smtClean="0"/>
              <a:t>2. Pattern Recognition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Peter </a:t>
            </a:r>
            <a:r>
              <a:rPr lang="en-US" sz="2800" dirty="0" err="1"/>
              <a:t>Waiganjo</a:t>
            </a:r>
            <a:r>
              <a:rPr lang="en-US" sz="2800" dirty="0"/>
              <a:t> </a:t>
            </a:r>
            <a:r>
              <a:rPr lang="en-US" sz="2800" dirty="0" err="1"/>
              <a:t>Wagacha</a:t>
            </a:r>
            <a:endParaRPr lang="en-US" sz="2800" dirty="0"/>
          </a:p>
          <a:p>
            <a:r>
              <a:rPr lang="en-US" sz="2800" dirty="0" smtClean="0"/>
              <a:t>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Perception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084832"/>
            <a:ext cx="10358105" cy="4224528"/>
          </a:xfrm>
        </p:spPr>
        <p:txBody>
          <a:bodyPr>
            <a:noAutofit/>
          </a:bodyPr>
          <a:lstStyle/>
          <a:p>
            <a:r>
              <a:rPr lang="en-US" sz="2800" dirty="0"/>
              <a:t>Humans have developed highly sophisticated skills </a:t>
            </a:r>
            <a:r>
              <a:rPr lang="en-US" sz="2800" dirty="0" smtClean="0"/>
              <a:t>for sensing </a:t>
            </a:r>
            <a:r>
              <a:rPr lang="en-US" sz="2800" dirty="0"/>
              <a:t>their environment and taking actions according </a:t>
            </a:r>
            <a:r>
              <a:rPr lang="en-US" sz="2800" dirty="0" smtClean="0"/>
              <a:t>to what </a:t>
            </a:r>
            <a:r>
              <a:rPr lang="en-US" sz="2800" dirty="0"/>
              <a:t>they observe, e.g.,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smtClean="0"/>
              <a:t>recognizing </a:t>
            </a:r>
            <a:r>
              <a:rPr lang="en-US" sz="2400" dirty="0"/>
              <a:t>a face,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smtClean="0"/>
              <a:t>understanding </a:t>
            </a:r>
            <a:r>
              <a:rPr lang="en-US" sz="2400" dirty="0"/>
              <a:t>spoken words,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smtClean="0"/>
              <a:t>reading </a:t>
            </a:r>
            <a:r>
              <a:rPr lang="en-US" sz="2400" dirty="0"/>
              <a:t>handwriting,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smtClean="0"/>
              <a:t>distinguishing </a:t>
            </a:r>
            <a:r>
              <a:rPr lang="en-US" sz="2400" dirty="0"/>
              <a:t>fresh food from its smell.</a:t>
            </a:r>
          </a:p>
          <a:p>
            <a:endParaRPr lang="en-US" sz="2800" dirty="0" smtClean="0"/>
          </a:p>
          <a:p>
            <a:r>
              <a:rPr lang="en-US" sz="2800" dirty="0" smtClean="0"/>
              <a:t>We </a:t>
            </a:r>
            <a:r>
              <a:rPr lang="en-US" sz="2800" dirty="0"/>
              <a:t>would like to give similar capabilities to machines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5868537" y="6469038"/>
            <a:ext cx="61278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Source: Introduction to Pattern </a:t>
            </a:r>
            <a:r>
              <a:rPr lang="en-US" sz="1600" i="1" dirty="0" smtClean="0"/>
              <a:t>Recognition (slides), </a:t>
            </a:r>
            <a:r>
              <a:rPr lang="en-US" sz="1600" i="1" dirty="0"/>
              <a:t>by </a:t>
            </a:r>
            <a:r>
              <a:rPr lang="en-US" sz="1600" i="1" dirty="0" err="1"/>
              <a:t>Selim</a:t>
            </a:r>
            <a:r>
              <a:rPr lang="en-US" sz="1600" i="1" dirty="0"/>
              <a:t> </a:t>
            </a:r>
            <a:r>
              <a:rPr lang="en-US" sz="1600" i="1" dirty="0" err="1"/>
              <a:t>Aksoy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2327021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Pattern </a:t>
            </a:r>
            <a:r>
              <a:rPr lang="en-US" dirty="0" smtClean="0"/>
              <a:t>Recognition?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084833"/>
            <a:ext cx="10917663" cy="4773168"/>
          </a:xfrm>
        </p:spPr>
        <p:txBody>
          <a:bodyPr>
            <a:noAutofit/>
          </a:bodyPr>
          <a:lstStyle/>
          <a:p>
            <a:r>
              <a:rPr lang="en-US" sz="2800" dirty="0" smtClean="0"/>
              <a:t>A </a:t>
            </a:r>
            <a:r>
              <a:rPr lang="en-US" sz="2800" dirty="0"/>
              <a:t>pattern is an entity, vaguely defined, that could be given </a:t>
            </a:r>
            <a:r>
              <a:rPr lang="en-US" sz="2800" dirty="0" smtClean="0"/>
              <a:t>a name</a:t>
            </a:r>
            <a:r>
              <a:rPr lang="en-US" sz="2800" dirty="0"/>
              <a:t>, e.g.,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fingerprint image,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handwritten word,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human face,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speech signal,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DNA sequence</a:t>
            </a:r>
            <a:r>
              <a:rPr lang="en-US" sz="2400" dirty="0" smtClean="0"/>
              <a:t>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smtClean="0"/>
              <a:t>….</a:t>
            </a:r>
            <a:endParaRPr lang="en-US" sz="2400" dirty="0"/>
          </a:p>
          <a:p>
            <a:r>
              <a:rPr lang="en-US" sz="2800" dirty="0" smtClean="0"/>
              <a:t>Pattern </a:t>
            </a:r>
            <a:r>
              <a:rPr lang="en-US" sz="2800" dirty="0"/>
              <a:t>recognition is the study of how machines can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smtClean="0"/>
              <a:t>observe </a:t>
            </a:r>
            <a:r>
              <a:rPr lang="en-US" sz="2400" dirty="0"/>
              <a:t>the environment,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smtClean="0"/>
              <a:t>learn </a:t>
            </a:r>
            <a:r>
              <a:rPr lang="en-US" sz="2400" dirty="0"/>
              <a:t>to distinguish patterns of interest,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smtClean="0"/>
              <a:t>make </a:t>
            </a:r>
            <a:r>
              <a:rPr lang="en-US" sz="2400" dirty="0"/>
              <a:t>sound and reasonable decisions about the </a:t>
            </a:r>
            <a:r>
              <a:rPr lang="en-US" sz="2400" dirty="0" smtClean="0"/>
              <a:t>categories of </a:t>
            </a:r>
            <a:r>
              <a:rPr lang="en-US" sz="2400" dirty="0"/>
              <a:t>the patterns.</a:t>
            </a:r>
          </a:p>
        </p:txBody>
      </p:sp>
    </p:spTree>
    <p:extLst>
      <p:ext uri="{BB962C8B-B14F-4D97-AF65-F5344CB8AC3E}">
        <p14:creationId xmlns:p14="http://schemas.microsoft.com/office/powerpoint/2010/main" val="22968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Pattern recognition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b="1" dirty="0" smtClean="0"/>
              <a:t>Pattern recognition </a:t>
            </a:r>
            <a:r>
              <a:rPr lang="en-US" altLang="zh-TW" sz="2800" dirty="0" smtClean="0"/>
              <a:t>has been defined as ‘the ability to abstract and integrate certain elements of a stimulus into an organized scheme for memory storage and retrieval’ (Solso,1998).</a:t>
            </a:r>
          </a:p>
          <a:p>
            <a:endParaRPr lang="en-US" sz="2800" dirty="0" smtClean="0"/>
          </a:p>
          <a:p>
            <a:r>
              <a:rPr lang="en-US" sz="2800" b="1" dirty="0" smtClean="0"/>
              <a:t>Recognition</a:t>
            </a:r>
            <a:r>
              <a:rPr lang="en-US" sz="2800" dirty="0" smtClean="0"/>
              <a:t> – is the process of establishing a close match between some new stimulus (signal) and previously stored stimulus.</a:t>
            </a:r>
          </a:p>
          <a:p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Pattern recognition</a:t>
            </a:r>
            <a:endParaRPr lang="en-US" dirty="0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2800" dirty="0" smtClean="0"/>
              <a:t>Similar objects produce similar signals (stimulus) .</a:t>
            </a:r>
          </a:p>
          <a:p>
            <a:pPr eaLnBrk="1" hangingPunct="1"/>
            <a:r>
              <a:rPr lang="en-US" sz="2800" b="1" dirty="0" smtClean="0"/>
              <a:t>Class</a:t>
            </a:r>
            <a:r>
              <a:rPr lang="en-US" sz="2800" dirty="0" smtClean="0"/>
              <a:t> is a set of similar objects.</a:t>
            </a:r>
          </a:p>
          <a:p>
            <a:pPr eaLnBrk="1" hangingPunct="1"/>
            <a:r>
              <a:rPr lang="en-US" sz="2800" b="1" dirty="0" smtClean="0"/>
              <a:t>Patterns</a:t>
            </a:r>
            <a:r>
              <a:rPr lang="en-US" sz="2800" dirty="0" smtClean="0"/>
              <a:t> are collections of signals (stimulus) originating from similar objects.</a:t>
            </a:r>
          </a:p>
          <a:p>
            <a:pPr eaLnBrk="1" hangingPunct="1"/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Principles of Pattern Recognition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altLang="zh-TW" sz="2800" dirty="0"/>
              <a:t>There are five principles (Solso,1998):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800" dirty="0"/>
              <a:t>1.</a:t>
            </a:r>
            <a:r>
              <a:rPr lang="en-US" altLang="zh-TW" sz="2800" b="1" dirty="0"/>
              <a:t>Quickly</a:t>
            </a:r>
            <a:r>
              <a:rPr lang="en-US" altLang="zh-TW" sz="2800" dirty="0"/>
              <a:t> and </a:t>
            </a:r>
            <a:r>
              <a:rPr lang="en-US" altLang="zh-TW" sz="2800" b="1" dirty="0"/>
              <a:t>accurately.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800" dirty="0"/>
              <a:t>2.Recognise and classify </a:t>
            </a:r>
            <a:r>
              <a:rPr lang="en-US" altLang="zh-TW" sz="2800" b="1" dirty="0"/>
              <a:t>unfamiliar objects</a:t>
            </a:r>
            <a:r>
              <a:rPr lang="en-US" altLang="zh-TW" sz="2800" dirty="0"/>
              <a:t>.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800" dirty="0"/>
              <a:t>3.Accurately recognize shapes and objects from </a:t>
            </a:r>
            <a:r>
              <a:rPr lang="en-US" altLang="zh-TW" sz="2800" b="1" dirty="0" smtClean="0"/>
              <a:t>different </a:t>
            </a:r>
            <a:r>
              <a:rPr lang="en-US" altLang="zh-TW" sz="2800" b="1" dirty="0"/>
              <a:t>angles.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800" dirty="0"/>
              <a:t>4.Identify patterns and objects </a:t>
            </a:r>
            <a:r>
              <a:rPr lang="en-US" altLang="zh-TW" sz="2800" b="1" dirty="0"/>
              <a:t>even when partly hidden.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800" dirty="0"/>
              <a:t>5.Recognise patterns </a:t>
            </a:r>
            <a:r>
              <a:rPr lang="en-US" altLang="zh-TW" sz="2800" b="1" dirty="0"/>
              <a:t>quickly, with ease, and with automaticity. </a:t>
            </a:r>
            <a:endParaRPr lang="zh-TW" altLang="en-US" sz="2800" b="1" dirty="0"/>
          </a:p>
          <a:p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Pattern recognition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951631"/>
            <a:ext cx="10455109" cy="457577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Pattern recognition techniques are concerned with the theory and algorithms of putting abstract objects, e.g., measurements made on physical objects, into categories.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Typically the categories are assumed to be known in advance, although there are techniques to learn the categories (clustering).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Methods of pattern recognition are useful in many applications such as information retrieval, data mining, document image analysis and recognition, computational linguistics, forensics, biometrics and bioinformatics.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Which pattern is</a:t>
            </a:r>
            <a:br>
              <a:rPr lang="en-US" dirty="0" smtClean="0"/>
            </a:br>
            <a:r>
              <a:rPr lang="en-US" dirty="0" smtClean="0"/>
              <a:t>Next?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068" y="1329070"/>
            <a:ext cx="8471220" cy="49615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79571" y="6379531"/>
            <a:ext cx="15627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smtClean="0"/>
              <a:t>Source: Course Hero</a:t>
            </a:r>
            <a:endParaRPr lang="en-US" sz="12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Which pattern is</a:t>
            </a:r>
            <a:br>
              <a:rPr lang="en-US" dirty="0" smtClean="0"/>
            </a:br>
            <a:r>
              <a:rPr lang="en-US" dirty="0" smtClean="0"/>
              <a:t>Next?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489" y="1148316"/>
            <a:ext cx="8670311" cy="52205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79571" y="6379531"/>
            <a:ext cx="15627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smtClean="0"/>
              <a:t>Source: Course Hero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287023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Which</a:t>
            </a:r>
            <a:br>
              <a:rPr lang="en-US" dirty="0" smtClean="0"/>
            </a:br>
            <a:r>
              <a:rPr lang="en-US" dirty="0" smtClean="0"/>
              <a:t>Next?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3442" y="225083"/>
            <a:ext cx="8956982" cy="6632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94459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Hand-written</a:t>
            </a:r>
            <a:br>
              <a:rPr lang="en-US" dirty="0" smtClean="0"/>
            </a:br>
            <a:r>
              <a:rPr lang="en-US" dirty="0" smtClean="0"/>
              <a:t>Numbers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1746" name="Picture 2" descr="http://www.codeproject.com/KB/library/NeuralNetRecognition/Collage-74-Errors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07356" y="0"/>
            <a:ext cx="4903470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Weta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http://www.parliament.go.ke/sites/default/files/2022-09/WETANGULA%20TIMOTHY%20WANYONYI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320" y="2084832"/>
            <a:ext cx="2094615" cy="3158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Moses Masika Wetangula Experience :: Mzalend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1666" y="2084832"/>
            <a:ext cx="2934586" cy="3092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9505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Obama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Image result for obama biograph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72154" y="2793615"/>
            <a:ext cx="1724025" cy="2657476"/>
          </a:xfrm>
          <a:prstGeom prst="rect">
            <a:avLst/>
          </a:prstGeom>
          <a:noFill/>
        </p:spPr>
      </p:pic>
      <p:pic>
        <p:nvPicPr>
          <p:cNvPr id="6" name="Picture 6" descr="Image result for obama biograph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10554" y="736215"/>
            <a:ext cx="2466975" cy="1857376"/>
          </a:xfrm>
          <a:prstGeom prst="rect">
            <a:avLst/>
          </a:prstGeom>
          <a:noFill/>
        </p:spPr>
      </p:pic>
      <p:pic>
        <p:nvPicPr>
          <p:cNvPr id="7" name="Picture 8" descr="Image result for obama biography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958754" y="736216"/>
            <a:ext cx="1704975" cy="1828800"/>
          </a:xfrm>
          <a:prstGeom prst="rect">
            <a:avLst/>
          </a:prstGeom>
          <a:noFill/>
        </p:spPr>
      </p:pic>
      <p:pic>
        <p:nvPicPr>
          <p:cNvPr id="8" name="Picture 10" descr="Image result for obama biography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719754" y="736216"/>
            <a:ext cx="2466975" cy="1847851"/>
          </a:xfrm>
          <a:prstGeom prst="rect">
            <a:avLst/>
          </a:prstGeom>
          <a:noFill/>
        </p:spPr>
      </p:pic>
      <p:pic>
        <p:nvPicPr>
          <p:cNvPr id="9" name="Picture 12" descr="Image result for obama biography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977553" y="736215"/>
            <a:ext cx="1828800" cy="1828800"/>
          </a:xfrm>
          <a:prstGeom prst="rect">
            <a:avLst/>
          </a:prstGeom>
          <a:noFill/>
        </p:spPr>
      </p:pic>
      <p:pic>
        <p:nvPicPr>
          <p:cNvPr id="10" name="Picture 1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700953" y="2793615"/>
            <a:ext cx="22860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42" name="Picture 2" descr="http://img2-3.timeinc.net/people/i/2010/news/100125/obamas-320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215553" y="2793615"/>
            <a:ext cx="4343400" cy="325755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Recognition disrupted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588" y="2084832"/>
            <a:ext cx="7452027" cy="42245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04012" y="6309360"/>
            <a:ext cx="7274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</a:t>
            </a:r>
            <a:r>
              <a:rPr lang="en-US" sz="1200" dirty="0">
                <a:hlinkClick r:id="rId3"/>
              </a:rPr>
              <a:t>https://www.theatlantic.com/health/archive/2021/01/why-arent-we-wearing-better-masks/617656</a:t>
            </a:r>
            <a:r>
              <a:rPr lang="en-US" sz="1200" dirty="0" smtClean="0">
                <a:hlinkClick r:id="rId3"/>
              </a:rPr>
              <a:t>/</a:t>
            </a:r>
            <a:endParaRPr lang="en-US" sz="1200" dirty="0" smtClean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30634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 descr="www.africanpress.me/ Raila or Kibaki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1600200"/>
            <a:ext cx="4000502" cy="4000503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2057400" y="1600200"/>
            <a:ext cx="3962401" cy="20574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057902" y="6451600"/>
            <a:ext cx="5585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An example - </a:t>
            </a:r>
            <a:r>
              <a:rPr lang="en-US" dirty="0" err="1" smtClean="0"/>
              <a:t>photoshop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 descr="www.africanpress.me/ Raila or Kibaki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1600200"/>
            <a:ext cx="4000502" cy="4000503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2057400" y="1600200"/>
            <a:ext cx="3962401" cy="20574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www.africanpress.me/ Raila or Kibaki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1" y="1600201"/>
            <a:ext cx="4000502" cy="4000503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6096001" y="2362200"/>
            <a:ext cx="3962401" cy="320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2" descr="www.africanpress.me/ Raila or Kibaki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1" y="1600201"/>
            <a:ext cx="4000502" cy="400050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dirty="0"/>
          </a:p>
        </p:txBody>
      </p:sp>
      <p:sp>
        <p:nvSpPr>
          <p:cNvPr id="30722" name="AutoShape 2" descr="Image result for image recognition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24" name="AutoShape 4" descr="Image result for image recognition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26" name="AutoShape 6" descr="Image result for image recognition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28" name="AutoShape 8" descr="Image result for image recognition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30" name="AutoShape 10" descr="Image result for image recognition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32" name="AutoShape 12" descr="Image result for image recognition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34" name="Picture 14" descr="http://www.extremetech.com/wp-content/uploads/2011/12/facial-recognition-markers-640x35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1776" y="1600200"/>
            <a:ext cx="6178624" cy="3407898"/>
          </a:xfrm>
          <a:prstGeom prst="rect">
            <a:avLst/>
          </a:prstGeom>
          <a:noFill/>
        </p:spPr>
      </p:pic>
      <p:sp>
        <p:nvSpPr>
          <p:cNvPr id="30736" name="AutoShape 16" descr="data:image/jpeg;base64,/9j/4AAQSkZJRgABAQAAAQABAAD/2wCEAAkGBxQSEhQUEhQUFRUVGBQUGBgVFBYXFhQXFxUWFhgUFRQYHCggGBolHBQUITEhJykrLi4uFx8zODMsNygtLisBCgoKDg0OGxAQGy0kICYsLCwtLCw0LSwsLCwsLywsLCwsLCwsLCwsLCwsLCwsLCwsLCwsLCwsLCwsLCwsLCwsLP/AABEIAMAAyAMBIgACEQEDEQH/xAAbAAABBQEBAAAAAAAAAAAAAAAAAgMEBQYBB//EAD0QAAEDAQQGCAMGBQUAAAAAAAEAAhEDBCExQQUSUWFxsQYTIoGRocHRMuHwBxRCUnKSI2Ki0vEVM4Ky4v/EABcBAQEBAQAAAAAAAAAAAAAAAAEAAgP/xAAjEQEBAAMAAwACAgMBAAAAAAAAAQIRIRIxQVFhA3EiQuEy/9oADAMBAAIRAxEAPwDTdKm6heRIJMbhKxLqh3+K9A6bWF7Zc4iHYR9cF57UF6USXHafFSLFJOJ8VHSrIyo5/wDDBIuncNu++Bks2661hhc7qNVYmXYq8slJRLNRa2LjO9WtnC1tnSdZ2qwpBQKQ4+PspdKkMwDxv5oPEg1mjFwHeEoV27zwB9l1jQMABwTgR1cI67Y13kOZXdd+TQOLvYFOhdClxiaWhrYNImr1k08Y1jEGYHphktj1rs2HuIKGf7jv0t5vTyJjprPPy1sz95bnI4ghOMqA4EHgQUpNvotOLQeICes8LKbckmzjKRwcUk03ZO8QD7KTlQKutlnm/NWB19jT3keV/NNvO1p8jyVtaZPSVlnBZHSVMtOa3+mHNYxzzMC83GViLVbKdoYXMy+sQtbnoeN964q6dU5HuV1oYfxBB7LtuAOxZ9rr4V70dJdVAN83ZqD16zNIa0G8wJ4oS6bpAO0AoQWX6fGabGja5/7QBH9fkvKbQL16h9oRhrDfg8cL2wea8tqOlINkrQ9FjDXHaWt5rOFaDRAiiDteT4BDU51p7KcjkrKi2FW2cyQdoBVqwhS/tLotUykFEoP292w/NTaZUD7UsJsFLBUikpNvqgYkDiUjrwcA48B7o2dFN/3D+lv/AGcnlh7BpS2nSDmOpnqr8sr4v8L5zWy+8bWuHdPJEy21nhcdHkJptoafxCdhMHwKdlaYcIXEolJc5SIKbqvAx7hmeATVW1jIj9Rw7hmikW4gyczmg6Q9J2brKbg8dkj4c90njCxmk9D07OwimIBJ8sOa3toMwNp5X+yzXTCl/DJ2EHuI/wDJVJ023x082cYctH0UaH1mtMjtC/O87Vm3YrdfZuxrqjg4A9mW7iDktMPSWiLghdQgsl09GswNGOqT5xC8ofivSvtP0j1bKbGjtPmXTg3ZG88l5jKkCtHYmRRp79Y+azi1IGrTpjY0eavq+JbbXq0xF5Bjx+gk9fUdt8U9oizi8H8UFX1mayEwVl/9QrUz6FB6VWo1qYY2GmQQY7UQbpEnErVVbNTIvAVNpOzMkFpjVwRlN+nTDKY9s20dHS4dcXBvdf4lWNPVdmT3+ywTqjviaQR+Jp27QclO0bbyCIJG4+hQL+m2psAwAHAJ0FQrLadYSpQcllxnxu/S3m5PSmGfGf0t5uTsqNDgDiAeKhWmrSYJMN4GOSNIWiGwDefHjCzFspFxJN+ycFcXU+0dIW39WXcTh5i9ZXQv3zramvUJa44Ek8Lids90K4s9jaCHPdJy3cFcWPqhMRv/AMrNx7tuZ6ln5Q6ejKj4ku7ypZ0M9vabUJMYeysrPagbsd+0bVI11rbnpWWSu4mHiHARxk3nyCZ6Q0tak7e0+RH9xUurTntDGSeIw5BKt7Jp+I8Qj9tfdPGLSyHHctd9ntsLKhgawMA7RvG9UGmbNFQkZlK0LaXtqNbTuLiJ4cFph7gxwIkYFcVfoejUYwCpfOWbUILEfahTJe07hHmOawC9R+0azz1ZyLXN7xBHNebOpXSkGGiVr69P4RsDeSzdgoaz2jeOa1lWnLiqez8IoVocCn6lrLX6oxMx80itYjqmBJg8lnaNor1i5joaTdJOMRMbJMyNyMstVvD+O5Y2/haW7TbdYNBc7VODfxA49r5JuzaXoXB9KTLby4mYuOSn6I6O6jX63xlt3go1r6MvIpOokAi4zI1SM53KYu0izOs76jywOpas/pygOjvSa9J1I/mYcDs3FaHQuj4qHrXtcS0io4kQ8ki7fmk6VsDKRmnBYfiaDI4jYra18R9D6QvAJ7wtTSqGPzDaMfDNebfeGirFOSDe0wYMYgHOFv8ARVoBYJIHEwq6vYezlNWbpHQdaHUQ6XwBAGYLvdWjtY49keLj35KksegLKy1OrgjXuPxCJJdP1vV3UtDTnPCSszf1vPx/1Vtq2N/zxKrbbSDBrVHQ3P3UjTmk+p1A1oc6oSBrksaIEySQo2jmNtQbVeCQbw26B4p8p6g8MteVist3SGhTLS2mXfCe02+4mTeMDPko1v6RMILRRDS8h0xfEQA24YxirjTuhG1DUk6hcAQZGV0BQR0f1Q0VHmqTqsYJkgDZsASwkWPSlBxhr3UywNa1rsXuzJBwi7PMq2paQxlzZvAM3OP8u1QekmhGaoeWtcRiSBd7rMDo7WtL2xUDGN+ECRAvm7ZfKMrZNx0/jmNusrp6PTblkLvBOWhvYO6D4FJsTYaG3y0AGceJOfFPubII2gjxV8Y+vMukFkiqdxj/ACpHQ7R2tXLvyAkGPxXkcld6Usgc8OOYB9VddGbCGBxGef1uWvjP1M0UxzS4Onbft2yhWMIQVP0ssPW2d0Ys7Y7hf5SvKrVQDRIMTiF7aQvGelVlNKq5n5XEd2I8oTBTOhqM1G8Z8FqrLRlxOUrD2enWc5nVYzv234bl6BYMAHfFAlZ8u6dfD/GXaXUs8tgKmtejCGXYtMj68VqKQylo4yOaK9nME3XX54Zq2zq7UujtIlrIicgDfHDYpeq2pe6kJOxxE44+Cd/08EyIPA3clMo2UiLhdvPsnbOj9nqaoAa0BsSI9U6+iHXkBJptcMm/uP8AanC535W/vP8Aag6rJWjo82k4lr3kX6oJuZOMK50ECGwbztT9taSLwP3H+1RbGS09kTunHyxRJJ6atuXur2zjtP8A+PI+6TXqRvJwAxKrbDpptR7209Vzrrg7YI2YKbTDheWguOJ1vIXXBUv4VxsvTdfR7Koiq1r9xEgbh7pL6OoOw0AC4QMO5Sw935P6guFzvyf1BPGbuq9w1gQ8Bw3hMMaWSWMa0xiBfHFWhBP4P6gk9X/IfFvuna0qRZ3PnXvOV9w4eSsLFZQ0xsE97j/5Ult34D4t90iz1iS4hpN8XFuQG9FqkO1aU3i4jA+h2hcpVJuNxGI9RuRUrxi0jiW+6jVK+tg18jAgC7vwhG4ZLUetZtc6ox7UdxJVpoxpDYIiCsZoPSVofaAHAn4y4asBuTYdnIW5srHAdoyeW5ON3D/JjcctU8hCEsBee/aDouazamTm37y27kQvQlT9J9HmtS7IlzTIG0Zj62JieY6LGpVbx53LUWSp2oOR8lm6lEh07Crp74cCM4KqpeNbZsFG03o01aD2UzqOOGIHAgJOjq8geXsrRrlnW2pbjdxnuiGiallpGnUqazpxiRMd160Oq/8AlPiPdJe0Tfg7sniL2nmlseQYdngdu471mTU01ll5XaLpS2PpUnvDJLQSIMjvzhU3Q7pDVtbHl9PVLSL/AIRfOOOzzWpIUelTDS5oAF8wBFx+YKbLv2JcfGzXUW1OOcDhf5mOSiWeDMzH1sXNI174zUmwUcN1547O5NglVfR/orTs1ofUBcC8eBgGJ3DkVpTTcMHfuE8oXG09bXjGQRxAEJxj9YT9A5hZxxk41nncruk67hi0H9J9Cq7TWnm2cNljnFxIAuGAkmeCtAVD0jYadohlRusG9o7QcAAcs/BN3rgx8d9nHdG6TbWptqMa6HCYjDvwUoPdkz9zgOUpVmoNptDGANaLgBknYTNs7nxXaVovfRqN1mtlpFwJN42yOSqui+g6lDX6whoIYA1jjBLQZe7eZV9VOs4Nyb2j6Dme5OEo8Zbtrzsx8fyaFJoMgDjn4pp3bMfhGO/+XhtXar5OqO87BsG9LpiIASyeszAZMfi5XKSmbIOyN8nxJTyYqEIQoBCEKSst+g6VUyRBOJbdPFZjpFYRReA2dWLp+txW6WZ6Z0rmO4g+UcypKrRlfIrQ2erNxx5jasbZ6kFaCyWiQL78k2KLhwkEfQ2FOMOs28Y4jYcx4qLRqT67k7SMOI/NeOIx9D4rJ/R5j9Uw7A4H0O/misIcDtBaeY9UrVBEG8FQ7faBSZLz2QQQ4/8AU796LwztUVczWcTkVf6PIIuWRr29rpLDIJJuUzoxplrg6+NXEHL5LXvrN5xrrP8Aj/V6BNOOq7c7ycPcclX6O01Sql3VvDr5u5+Sg2jTetUNNrXGPidHZb35onWry9aBzwBJwF67QYQL8TeeOzuwVRorS9O0ODWm8DWvBGtH5donkrtUu1ZceV2Vx9SAScBehM1jLg3Ido+g8eSaI7REC/E3n2SKtTIYnyG0rtWpG8nAbSmmiM5JxP1kj9L9lAQIHzO8pVN2femHPSmmWkbbvG71SljZmQxoOQHJOoQoBCEKQQhCkFT9KqYNAk3QQfRXCznTzRD7VZS2m/ULTr8QAR6yi+uNYSWzbIgqwsVeFX2TR4psDNa/fh3J9tNzfktS7ZuOq0dGpmP87lM1pEi+Lxv3KksVZWlKpF+We7eiwy7WlN0qv0/YRXp6pJBDmuGfaBukJ+g6JGzDgfopT3SWjifDDzPki9hnLuMPadE1LO2GPLpJJMRMqLYqVV0tg9oEG7at/Vog4pdmszRgEySTQuWVu9sp0W6K9Q5ztYnWxEZ4nNa4WFkRqt2YBM2W3UzUfTa9pcDOqDfgAVYLOMkjWeWVu7VHoro+yzVQ8Oc6QWt1o7AmdXf8leEJFdkiM8jsIwKKVTWAPlsOYTJrkGVuXaHugEnAXpgO1RrOxN527m+i7aHSYOA7TuAwHeeSS0SdY9w2bzvV9TjRmcT5DYE1UcnahUR75wv4YeKvQ9iVS6V6T/dqoZ1esAA4mYJvFzbsVchhzPh7qVYtG03w97GuIPZkTEfiE5zyRlu+msPGXeXVqCuoQtMBCEKQQhCkEl7ZBBzBHilIUnntopRLTiwlp7k1TJGCvekVk1KuuB2amP6lTtbfCYqk2d6nUnwoNJqm0mq0t/lIZViNmA4HLknm1wCSTu8PmSqXTNB7qTm0zDj5qk0ToW0NpAOrQc+zJw43Ln2XTrqXDe+tlU0i1DbWTeCB5n25rPN0HUInrpO9vzUpmibQBAe3wPut6ct6RNEdHBStTrQKpvmBfdjtMZnK9aoWtw2O8j7KjpaLtGb2D/ifdS6eiqv4qng35omMnprL+S5e1oNItzu4pBtrGGS4BrrxJzzHLzVbV0M3Oo6d2J4Km050RfW1Qyq4FpBIccpESRtg3Iy56awmNv8AlyNTSqh3aOZkDN2y7YE+XOOAjebz+0e6i6Ms3VU2smSAATF7jtKmlMjNs3wwaW2/j7YLuqnElxSzsxV2DE3BXFCnqtA2CFWWOnrvJn4cPG/63K3QaEIQkBCEKQQhCkEIQpGLbZRVYWOwPkcisZpCzOpOh2Pkd4W6WN6c9GK9rqUXUngNYIcCd598r7kW2djWElurdI1FysaJVd1Jp9lwMi48R3KZZ3zt8vZOxo9UUJzyCp5ZvPl7JipS+rvZSnDdO09xzCsaNrnG7l8lU1KEXgSm/vD24NP13K9n1ytEa+9IdaSd28+gWTsGjnMr1LQDULngDVJ7LcbwFoKNB7sZHgszd9tZTGertKbVAk4nM5nvT1Kc8TeUxTs5nG4bhj8vVP8AVu2+QSzf7LlGsk9W7839PzSS07f6fmoFlyYqvOAxNw4puvVI/EPD5ql6F6Or/eHVXk9WNcEl067iTBaMoBjuRb8bxwmrbf8ArZ2Gz6jYzz9lIQhacwhCFIIQhSCEIUghCFIIQhSYzpPatS0EZareSZoVgqzpBbOtrvcMJgcBco1mtBbvCdDbXUqkp9jAVRWW1ZgyFbUK/wBe+xDXv0mGjmBhfxGYUqnRaRIFxTFGonqDtUxkbx6j170fUVTpDXd+lvNycrXC7E3DikNd23cGc3LjH6ztbIXN9T9bFE4yjAj6J2pJalOqKNUrk4XDafQZqBVV4GJVfarXG7n8lGt9vazOTtOKpjVdUN+CdLevR212sukDDmtV0YbFnbvLj5rJVWQFt9D09WhTH8oPjf6pZTEIQghCEKQQhCkEIQpBCEEqQWa6T6eDGmlTMuMhx/LtA38lE6R9KMadA7nPHJvusfUfKZA7MlONTNNSWhIKo1C0yFb2O2g7iqiEoNUmno2mN3LwUwWqRsOXHispSruG1SGWt30Fm4teTRC3tc5wa4SQ0EA3j4p5pz76AIEegWIsNmex4JLCGl5BA7Ttb8xVmbQ4oxl+t53Gf+er2pbRiTJ8hwCq7fpcm5qgVHErlKzkrWnO3ZllMvdJVvZ6EBKsljOw+CndQdh8FJU2oLbaPH8Kn+hvILGW4LbWQdhn6W8gqk6hCEIIQhSCEIUn/9k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38" name="AutoShape 18" descr="data:image/jpeg;base64,/9j/4AAQSkZJRgABAQAAAQABAAD/2wCEAAkGBxQSEhQUEhQUFRUVGBQUGBgVFBYXFhQXFxUWFhgUFRQYHCggGBolHBQUITEhJykrLi4uFx8zODMsNygtLisBCgoKDg0OGxAQGy0kICYsLCwtLCw0LSwsLCwsLywsLCwsLCwsLCwsLCwsLCwsLCwsLCwsLCwsLCwsLCwsLCwsLP/AABEIAMAAyAMBIgACEQEDEQH/xAAbAAABBQEBAAAAAAAAAAAAAAAAAgMEBQYBB//EAD0QAAEDAQQGCAMGBQUAAAAAAAEAAhEDBCExQQUSUWFxsQYTIoGRocHRMuHwBxRCUnKSI2Ki0vEVM4Ky4v/EABcBAQEBAQAAAAAAAAAAAAAAAAEAAgP/xAAjEQEBAAMAAwACAgMBAAAAAAAAAQIRIRIxQVFhA3EiQuEy/9oADAMBAAIRAxEAPwDTdKm6heRIJMbhKxLqh3+K9A6bWF7Zc4iHYR9cF57UF6USXHafFSLFJOJ8VHSrIyo5/wDDBIuncNu++Bks2661hhc7qNVYmXYq8slJRLNRa2LjO9WtnC1tnSdZ2qwpBQKQ4+PspdKkMwDxv5oPEg1mjFwHeEoV27zwB9l1jQMABwTgR1cI67Y13kOZXdd+TQOLvYFOhdClxiaWhrYNImr1k08Y1jEGYHphktj1rs2HuIKGf7jv0t5vTyJjprPPy1sz95bnI4ghOMqA4EHgQUpNvotOLQeICes8LKbckmzjKRwcUk03ZO8QD7KTlQKutlnm/NWB19jT3keV/NNvO1p8jyVtaZPSVlnBZHSVMtOa3+mHNYxzzMC83GViLVbKdoYXMy+sQtbnoeN964q6dU5HuV1oYfxBB7LtuAOxZ9rr4V70dJdVAN83ZqD16zNIa0G8wJ4oS6bpAO0AoQWX6fGabGja5/7QBH9fkvKbQL16h9oRhrDfg8cL2wea8tqOlINkrQ9FjDXHaWt5rOFaDRAiiDteT4BDU51p7KcjkrKi2FW2cyQdoBVqwhS/tLotUykFEoP292w/NTaZUD7UsJsFLBUikpNvqgYkDiUjrwcA48B7o2dFN/3D+lv/AGcnlh7BpS2nSDmOpnqr8sr4v8L5zWy+8bWuHdPJEy21nhcdHkJptoafxCdhMHwKdlaYcIXEolJc5SIKbqvAx7hmeATVW1jIj9Rw7hmikW4gyczmg6Q9J2brKbg8dkj4c90njCxmk9D07OwimIBJ8sOa3toMwNp5X+yzXTCl/DJ2EHuI/wDJVJ023x082cYctH0UaH1mtMjtC/O87Vm3YrdfZuxrqjg4A9mW7iDktMPSWiLghdQgsl09GswNGOqT5xC8ofivSvtP0j1bKbGjtPmXTg3ZG88l5jKkCtHYmRRp79Y+azi1IGrTpjY0eavq+JbbXq0xF5Bjx+gk9fUdt8U9oizi8H8UFX1mayEwVl/9QrUz6FB6VWo1qYY2GmQQY7UQbpEnErVVbNTIvAVNpOzMkFpjVwRlN+nTDKY9s20dHS4dcXBvdf4lWNPVdmT3+ywTqjviaQR+Jp27QclO0bbyCIJG4+hQL+m2psAwAHAJ0FQrLadYSpQcllxnxu/S3m5PSmGfGf0t5uTsqNDgDiAeKhWmrSYJMN4GOSNIWiGwDefHjCzFspFxJN+ycFcXU+0dIW39WXcTh5i9ZXQv3zramvUJa44Ek8Lids90K4s9jaCHPdJy3cFcWPqhMRv/AMrNx7tuZ6ln5Q6ejKj4ku7ypZ0M9vabUJMYeysrPagbsd+0bVI11rbnpWWSu4mHiHARxk3nyCZ6Q0tak7e0+RH9xUurTntDGSeIw5BKt7Jp+I8Qj9tfdPGLSyHHctd9ntsLKhgawMA7RvG9UGmbNFQkZlK0LaXtqNbTuLiJ4cFph7gxwIkYFcVfoejUYwCpfOWbUILEfahTJe07hHmOawC9R+0azz1ZyLXN7xBHNebOpXSkGGiVr69P4RsDeSzdgoaz2jeOa1lWnLiqez8IoVocCn6lrLX6oxMx80itYjqmBJg8lnaNor1i5joaTdJOMRMbJMyNyMstVvD+O5Y2/haW7TbdYNBc7VODfxA49r5JuzaXoXB9KTLby4mYuOSn6I6O6jX63xlt3go1r6MvIpOokAi4zI1SM53KYu0izOs76jywOpas/pygOjvSa9J1I/mYcDs3FaHQuj4qHrXtcS0io4kQ8ki7fmk6VsDKRmnBYfiaDI4jYra18R9D6QvAJ7wtTSqGPzDaMfDNebfeGirFOSDe0wYMYgHOFv8ARVoBYJIHEwq6vYezlNWbpHQdaHUQ6XwBAGYLvdWjtY49keLj35KksegLKy1OrgjXuPxCJJdP1vV3UtDTnPCSszf1vPx/1Vtq2N/zxKrbbSDBrVHQ3P3UjTmk+p1A1oc6oSBrksaIEySQo2jmNtQbVeCQbw26B4p8p6g8MteVist3SGhTLS2mXfCe02+4mTeMDPko1v6RMILRRDS8h0xfEQA24YxirjTuhG1DUk6hcAQZGV0BQR0f1Q0VHmqTqsYJkgDZsASwkWPSlBxhr3UywNa1rsXuzJBwi7PMq2paQxlzZvAM3OP8u1QekmhGaoeWtcRiSBd7rMDo7WtL2xUDGN+ECRAvm7ZfKMrZNx0/jmNusrp6PTblkLvBOWhvYO6D4FJsTYaG3y0AGceJOfFPubII2gjxV8Y+vMukFkiqdxj/ACpHQ7R2tXLvyAkGPxXkcld6Usgc8OOYB9VddGbCGBxGef1uWvjP1M0UxzS4Onbft2yhWMIQVP0ssPW2d0Ys7Y7hf5SvKrVQDRIMTiF7aQvGelVlNKq5n5XEd2I8oTBTOhqM1G8Z8FqrLRlxOUrD2enWc5nVYzv234bl6BYMAHfFAlZ8u6dfD/GXaXUs8tgKmtejCGXYtMj68VqKQylo4yOaK9nME3XX54Zq2zq7UujtIlrIicgDfHDYpeq2pe6kJOxxE44+Cd/08EyIPA3clMo2UiLhdvPsnbOj9nqaoAa0BsSI9U6+iHXkBJptcMm/uP8AanC535W/vP8Aag6rJWjo82k4lr3kX6oJuZOMK50ECGwbztT9taSLwP3H+1RbGS09kTunHyxRJJ6atuXur2zjtP8A+PI+6TXqRvJwAxKrbDpptR7209Vzrrg7YI2YKbTDheWguOJ1vIXXBUv4VxsvTdfR7Koiq1r9xEgbh7pL6OoOw0AC4QMO5Sw935P6guFzvyf1BPGbuq9w1gQ8Bw3hMMaWSWMa0xiBfHFWhBP4P6gk9X/IfFvuna0qRZ3PnXvOV9w4eSsLFZQ0xsE97j/5Ult34D4t90iz1iS4hpN8XFuQG9FqkO1aU3i4jA+h2hcpVJuNxGI9RuRUrxi0jiW+6jVK+tg18jAgC7vwhG4ZLUetZtc6ox7UdxJVpoxpDYIiCsZoPSVofaAHAn4y4asBuTYdnIW5srHAdoyeW5ON3D/JjcctU8hCEsBee/aDouazamTm37y27kQvQlT9J9HmtS7IlzTIG0Zj62JieY6LGpVbx53LUWSp2oOR8lm6lEh07Crp74cCM4KqpeNbZsFG03o01aD2UzqOOGIHAgJOjq8geXsrRrlnW2pbjdxnuiGiallpGnUqazpxiRMd160Oq/8AlPiPdJe0Tfg7sniL2nmlseQYdngdu471mTU01ll5XaLpS2PpUnvDJLQSIMjvzhU3Q7pDVtbHl9PVLSL/AIRfOOOzzWpIUelTDS5oAF8wBFx+YKbLv2JcfGzXUW1OOcDhf5mOSiWeDMzH1sXNI174zUmwUcN1547O5NglVfR/orTs1ofUBcC8eBgGJ3DkVpTTcMHfuE8oXG09bXjGQRxAEJxj9YT9A5hZxxk41nncruk67hi0H9J9Cq7TWnm2cNljnFxIAuGAkmeCtAVD0jYadohlRusG9o7QcAAcs/BN3rgx8d9nHdG6TbWptqMa6HCYjDvwUoPdkz9zgOUpVmoNptDGANaLgBknYTNs7nxXaVovfRqN1mtlpFwJN42yOSqui+g6lDX6whoIYA1jjBLQZe7eZV9VOs4Nyb2j6Dme5OEo8Zbtrzsx8fyaFJoMgDjn4pp3bMfhGO/+XhtXar5OqO87BsG9LpiIASyeszAZMfi5XKSmbIOyN8nxJTyYqEIQoBCEKSst+g6VUyRBOJbdPFZjpFYRReA2dWLp+txW6WZ6Z0rmO4g+UcypKrRlfIrQ2erNxx5jasbZ6kFaCyWiQL78k2KLhwkEfQ2FOMOs28Y4jYcx4qLRqT67k7SMOI/NeOIx9D4rJ/R5j9Uw7A4H0O/misIcDtBaeY9UrVBEG8FQ7faBSZLz2QQQ4/8AU796LwztUVczWcTkVf6PIIuWRr29rpLDIJJuUzoxplrg6+NXEHL5LXvrN5xrrP8Aj/V6BNOOq7c7ycPcclX6O01Sql3VvDr5u5+Sg2jTetUNNrXGPidHZb35onWry9aBzwBJwF67QYQL8TeeOzuwVRorS9O0ODWm8DWvBGtH5donkrtUu1ZceV2Vx9SAScBehM1jLg3Ido+g8eSaI7REC/E3n2SKtTIYnyG0rtWpG8nAbSmmiM5JxP1kj9L9lAQIHzO8pVN2femHPSmmWkbbvG71SljZmQxoOQHJOoQoBCEKQQhCkFT9KqYNAk3QQfRXCznTzRD7VZS2m/ULTr8QAR6yi+uNYSWzbIgqwsVeFX2TR4psDNa/fh3J9tNzfktS7ZuOq0dGpmP87lM1pEi+Lxv3KksVZWlKpF+We7eiwy7WlN0qv0/YRXp6pJBDmuGfaBukJ+g6JGzDgfopT3SWjifDDzPki9hnLuMPadE1LO2GPLpJJMRMqLYqVV0tg9oEG7at/Vog4pdmszRgEySTQuWVu9sp0W6K9Q5ztYnWxEZ4nNa4WFkRqt2YBM2W3UzUfTa9pcDOqDfgAVYLOMkjWeWVu7VHoro+yzVQ8Oc6QWt1o7AmdXf8leEJFdkiM8jsIwKKVTWAPlsOYTJrkGVuXaHugEnAXpgO1RrOxN527m+i7aHSYOA7TuAwHeeSS0SdY9w2bzvV9TjRmcT5DYE1UcnahUR75wv4YeKvQ9iVS6V6T/dqoZ1esAA4mYJvFzbsVchhzPh7qVYtG03w97GuIPZkTEfiE5zyRlu+msPGXeXVqCuoQtMBCEKQQhCkEl7ZBBzBHilIUnntopRLTiwlp7k1TJGCvekVk1KuuB2amP6lTtbfCYqk2d6nUnwoNJqm0mq0t/lIZViNmA4HLknm1wCSTu8PmSqXTNB7qTm0zDj5qk0ToW0NpAOrQc+zJw43Ln2XTrqXDe+tlU0i1DbWTeCB5n25rPN0HUInrpO9vzUpmibQBAe3wPut6ct6RNEdHBStTrQKpvmBfdjtMZnK9aoWtw2O8j7KjpaLtGb2D/ifdS6eiqv4qng35omMnprL+S5e1oNItzu4pBtrGGS4BrrxJzzHLzVbV0M3Oo6d2J4Km050RfW1Qyq4FpBIccpESRtg3Iy56awmNv8AlyNTSqh3aOZkDN2y7YE+XOOAjebz+0e6i6Ms3VU2smSAATF7jtKmlMjNs3wwaW2/j7YLuqnElxSzsxV2DE3BXFCnqtA2CFWWOnrvJn4cPG/63K3QaEIQkBCEKQQhCkEIQpGLbZRVYWOwPkcisZpCzOpOh2Pkd4W6WN6c9GK9rqUXUngNYIcCd598r7kW2djWElurdI1FysaJVd1Jp9lwMi48R3KZZ3zt8vZOxo9UUJzyCp5ZvPl7JipS+rvZSnDdO09xzCsaNrnG7l8lU1KEXgSm/vD24NP13K9n1ytEa+9IdaSd28+gWTsGjnMr1LQDULngDVJ7LcbwFoKNB7sZHgszd9tZTGertKbVAk4nM5nvT1Kc8TeUxTs5nG4bhj8vVP8AVu2+QSzf7LlGsk9W7839PzSS07f6fmoFlyYqvOAxNw4puvVI/EPD5ql6F6Or/eHVXk9WNcEl067iTBaMoBjuRb8bxwmrbf8ArZ2Gz6jYzz9lIQhacwhCFIIQhSCEIUghCFIIQhSYzpPatS0EZareSZoVgqzpBbOtrvcMJgcBco1mtBbvCdDbXUqkp9jAVRWW1ZgyFbUK/wBe+xDXv0mGjmBhfxGYUqnRaRIFxTFGonqDtUxkbx6j170fUVTpDXd+lvNycrXC7E3DikNd23cGc3LjH6ztbIXN9T9bFE4yjAj6J2pJalOqKNUrk4XDafQZqBVV4GJVfarXG7n8lGt9vazOTtOKpjVdUN+CdLevR212sukDDmtV0YbFnbvLj5rJVWQFt9D09WhTH8oPjf6pZTEIQghCEKQQhCkEIQpBCEEqQWa6T6eDGmlTMuMhx/LtA38lE6R9KMadA7nPHJvusfUfKZA7MlONTNNSWhIKo1C0yFb2O2g7iqiEoNUmno2mN3LwUwWqRsOXHispSruG1SGWt30Fm4teTRC3tc5wa4SQ0EA3j4p5pz76AIEegWIsNmex4JLCGl5BA7Ttb8xVmbQ4oxl+t53Gf+er2pbRiTJ8hwCq7fpcm5qgVHErlKzkrWnO3ZllMvdJVvZ6EBKsljOw+CndQdh8FJU2oLbaPH8Kn+hvILGW4LbWQdhn6W8gqk6hCEIIQhSCEIUn/9k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40" name="AutoShape 20" descr="http://www.rineypackard.com/images/facerecognition.png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42" name="Picture 22" descr="http://www.rineypackard.com/images/facerecognition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38999" y="1648265"/>
            <a:ext cx="4232517" cy="406321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984277"/>
          </a:xfrm>
        </p:spPr>
        <p:txBody>
          <a:bodyPr/>
          <a:lstStyle/>
          <a:p>
            <a:r>
              <a:rPr lang="en-US" dirty="0" smtClean="0"/>
              <a:t>Chinese Characters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278" y="1397966"/>
            <a:ext cx="6992859" cy="547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070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Unique patterns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1620572"/>
            <a:ext cx="8576457" cy="52374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Pattern Recognition </a:t>
            </a:r>
            <a:r>
              <a:rPr lang="en-US" dirty="0" smtClean="0"/>
              <a:t>Theories/Techniques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These depend on the domain and available data. </a:t>
            </a:r>
          </a:p>
          <a:p>
            <a:r>
              <a:rPr lang="en-US" sz="2800" dirty="0" smtClean="0"/>
              <a:t>Template </a:t>
            </a:r>
            <a:r>
              <a:rPr lang="en-US" sz="2800" dirty="0" smtClean="0"/>
              <a:t>matching theories</a:t>
            </a:r>
          </a:p>
          <a:p>
            <a:r>
              <a:rPr lang="en-US" sz="2800" dirty="0" smtClean="0"/>
              <a:t>Feature analysis</a:t>
            </a: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Statistical techniques</a:t>
            </a:r>
          </a:p>
          <a:p>
            <a:r>
              <a:rPr lang="en-US" sz="28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Syntactic techniques</a:t>
            </a: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Neural Network models</a:t>
            </a:r>
            <a:endParaRPr lang="en-US" sz="2800" dirty="0" smtClean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Fuzzy models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Template matching theories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842868"/>
            <a:ext cx="9720073" cy="4466492"/>
          </a:xfrm>
        </p:spPr>
        <p:txBody>
          <a:bodyPr>
            <a:normAutofit/>
          </a:bodyPr>
          <a:lstStyle/>
          <a:p>
            <a:r>
              <a:rPr lang="en-US" sz="2400" dirty="0" smtClean="0"/>
              <a:t>External </a:t>
            </a:r>
            <a:r>
              <a:rPr lang="en-US" sz="2400" dirty="0" smtClean="0"/>
              <a:t>stimuli </a:t>
            </a:r>
            <a:r>
              <a:rPr lang="en-US" sz="2400" dirty="0" smtClean="0"/>
              <a:t>matches internal template</a:t>
            </a:r>
          </a:p>
          <a:p>
            <a:r>
              <a:rPr lang="en-US" sz="2400" dirty="0" smtClean="0"/>
              <a:t>Vast numbers of templates are stored</a:t>
            </a:r>
          </a:p>
          <a:p>
            <a:r>
              <a:rPr lang="en-US" sz="2400" dirty="0" smtClean="0"/>
              <a:t>Templates are created by experience</a:t>
            </a:r>
            <a:endParaRPr lang="en-US" sz="2400" dirty="0"/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2514600" y="3505201"/>
            <a:ext cx="2735262" cy="2586037"/>
            <a:chOff x="839" y="2432"/>
            <a:chExt cx="1723" cy="1629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2018" y="2704"/>
              <a:ext cx="544" cy="59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839" y="2432"/>
              <a:ext cx="1542" cy="1629"/>
              <a:chOff x="839" y="2432"/>
              <a:chExt cx="1542" cy="1629"/>
            </a:xfrm>
          </p:grpSpPr>
          <p:sp>
            <p:nvSpPr>
              <p:cNvPr id="8" name="Text Box 6"/>
              <p:cNvSpPr txBox="1">
                <a:spLocks noChangeArrowheads="1"/>
              </p:cNvSpPr>
              <p:nvPr/>
            </p:nvSpPr>
            <p:spPr bwMode="auto">
              <a:xfrm rot="2176901">
                <a:off x="884" y="2432"/>
                <a:ext cx="499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TW" sz="3600" b="1" dirty="0"/>
                  <a:t>A</a:t>
                </a:r>
              </a:p>
            </p:txBody>
          </p:sp>
          <p:sp>
            <p:nvSpPr>
              <p:cNvPr id="9" name="Text Box 7"/>
              <p:cNvSpPr txBox="1">
                <a:spLocks noChangeArrowheads="1"/>
              </p:cNvSpPr>
              <p:nvPr/>
            </p:nvSpPr>
            <p:spPr bwMode="auto">
              <a:xfrm>
                <a:off x="884" y="3657"/>
                <a:ext cx="454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TW" sz="3600" i="1" dirty="0"/>
                  <a:t>A</a:t>
                </a:r>
              </a:p>
            </p:txBody>
          </p:sp>
          <p:sp>
            <p:nvSpPr>
              <p:cNvPr id="10" name="Text Box 8"/>
              <p:cNvSpPr txBox="1">
                <a:spLocks noChangeArrowheads="1"/>
              </p:cNvSpPr>
              <p:nvPr/>
            </p:nvSpPr>
            <p:spPr bwMode="auto">
              <a:xfrm>
                <a:off x="839" y="2976"/>
                <a:ext cx="499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TW" sz="3600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11" name="Text Box 9"/>
              <p:cNvSpPr txBox="1">
                <a:spLocks noChangeArrowheads="1"/>
              </p:cNvSpPr>
              <p:nvPr/>
            </p:nvSpPr>
            <p:spPr bwMode="auto">
              <a:xfrm>
                <a:off x="2109" y="2795"/>
                <a:ext cx="272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TW" sz="3600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</p:grpSp>
      </p:grpSp>
      <p:pic>
        <p:nvPicPr>
          <p:cNvPr id="5122" name="Picture 2" descr="https://encrypted-tbn1.gstatic.com/images?q=tbn:ANd9GcSfHasea4Y4uSfWugowGWi_gZrRx5xPZyEUI7HMBqQPKnZ67S8Hbewt5xA_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53199" y="2812325"/>
            <a:ext cx="5270501" cy="2055350"/>
          </a:xfrm>
          <a:prstGeom prst="rect">
            <a:avLst/>
          </a:prstGeom>
          <a:noFill/>
        </p:spPr>
      </p:pic>
      <p:pic>
        <p:nvPicPr>
          <p:cNvPr id="5124" name="Picture 4" descr="Image result for calligraph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69603" y="4952999"/>
            <a:ext cx="5551177" cy="177135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 Theory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856935"/>
            <a:ext cx="10244094" cy="4452425"/>
          </a:xfrm>
        </p:spPr>
        <p:txBody>
          <a:bodyPr/>
          <a:lstStyle/>
          <a:p>
            <a:r>
              <a:rPr lang="en-US" sz="2800" dirty="0" smtClean="0"/>
              <a:t>Patterns are recognized by analysis of the individual features of the pattern.</a:t>
            </a:r>
          </a:p>
          <a:p>
            <a:r>
              <a:rPr lang="en-US" sz="2800" dirty="0" smtClean="0"/>
              <a:t>Ex.: MANGO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3200401" y="3352801"/>
            <a:ext cx="4968875" cy="2087563"/>
            <a:chOff x="1020" y="2160"/>
            <a:chExt cx="3130" cy="1315"/>
          </a:xfrm>
        </p:grpSpPr>
        <p:sp>
          <p:nvSpPr>
            <p:cNvPr id="5" name="Line 5"/>
            <p:cNvSpPr>
              <a:spLocks noChangeShapeType="1"/>
            </p:cNvSpPr>
            <p:nvPr/>
          </p:nvSpPr>
          <p:spPr bwMode="auto">
            <a:xfrm>
              <a:off x="1020" y="2205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Line 6"/>
            <p:cNvSpPr>
              <a:spLocks noChangeShapeType="1"/>
            </p:cNvSpPr>
            <p:nvPr/>
          </p:nvSpPr>
          <p:spPr bwMode="auto">
            <a:xfrm>
              <a:off x="1292" y="2205"/>
              <a:ext cx="227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 flipH="1">
              <a:off x="1701" y="2205"/>
              <a:ext cx="226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>
              <a:off x="2290" y="2205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 flipH="1">
              <a:off x="1066" y="3067"/>
              <a:ext cx="181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1610" y="3067"/>
              <a:ext cx="181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2064" y="3294"/>
              <a:ext cx="4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3243" y="2160"/>
              <a:ext cx="907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4000"/>
                <a:t>M</a:t>
              </a:r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3288" y="2976"/>
              <a:ext cx="635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4000" dirty="0"/>
                <a:t>A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Pattern Recognition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1024128" y="2084832"/>
            <a:ext cx="9720073" cy="4224528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 smtClean="0"/>
              <a:t>Objective of pattern recognition is </a:t>
            </a:r>
            <a:r>
              <a:rPr lang="en-US" sz="3200" b="1" dirty="0" smtClean="0"/>
              <a:t>classification</a:t>
            </a:r>
          </a:p>
          <a:p>
            <a:pPr eaLnBrk="1" hangingPunct="1"/>
            <a:r>
              <a:rPr lang="en-US" sz="3200" dirty="0" smtClean="0"/>
              <a:t>A pattern recognition system is three stage:</a:t>
            </a:r>
          </a:p>
          <a:p>
            <a:pPr lvl="1" eaLnBrk="1" hangingPunct="1"/>
            <a:r>
              <a:rPr lang="en-US" sz="2800" dirty="0" smtClean="0"/>
              <a:t>First stage – feature extraction</a:t>
            </a:r>
          </a:p>
          <a:p>
            <a:pPr lvl="1" eaLnBrk="1" hangingPunct="1"/>
            <a:r>
              <a:rPr lang="en-US" sz="2800" dirty="0" smtClean="0"/>
              <a:t>Second stage – matching /distance measure</a:t>
            </a:r>
          </a:p>
          <a:p>
            <a:pPr lvl="1" eaLnBrk="1" hangingPunct="1"/>
            <a:r>
              <a:rPr lang="en-US" sz="2800" dirty="0" smtClean="0"/>
              <a:t>Third stage - classification</a:t>
            </a:r>
          </a:p>
        </p:txBody>
      </p:sp>
      <p:sp>
        <p:nvSpPr>
          <p:cNvPr id="8196" name="Oval 4"/>
          <p:cNvSpPr>
            <a:spLocks noChangeArrowheads="1"/>
          </p:cNvSpPr>
          <p:nvPr/>
        </p:nvSpPr>
        <p:spPr bwMode="auto">
          <a:xfrm>
            <a:off x="887509" y="4851006"/>
            <a:ext cx="1963542" cy="11558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2000" b="1" dirty="0">
                <a:latin typeface="Arial" charset="0"/>
              </a:rPr>
              <a:t>Sensors</a:t>
            </a: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3873451" y="4840599"/>
            <a:ext cx="1704975" cy="11663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2000" b="1" dirty="0">
                <a:latin typeface="Arial" charset="0"/>
              </a:rPr>
              <a:t>Feature </a:t>
            </a:r>
          </a:p>
          <a:p>
            <a:pPr algn="ctr" eaLnBrk="1" hangingPunct="1"/>
            <a:r>
              <a:rPr lang="en-US" sz="2000" b="1" dirty="0">
                <a:latin typeface="Arial" charset="0"/>
              </a:rPr>
              <a:t>extraction</a:t>
            </a: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6302326" y="4857161"/>
            <a:ext cx="1851074" cy="11497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2000" b="1" dirty="0">
                <a:latin typeface="Arial" charset="0"/>
              </a:rPr>
              <a:t>Matching</a:t>
            </a:r>
          </a:p>
        </p:txBody>
      </p:sp>
      <p:sp>
        <p:nvSpPr>
          <p:cNvPr id="8199" name="AutoShape 7"/>
          <p:cNvSpPr>
            <a:spLocks noChangeArrowheads="1"/>
          </p:cNvSpPr>
          <p:nvPr/>
        </p:nvSpPr>
        <p:spPr bwMode="auto">
          <a:xfrm>
            <a:off x="9105900" y="4851006"/>
            <a:ext cx="2343149" cy="1176769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2000" b="1" dirty="0">
                <a:latin typeface="Arial" charset="0"/>
              </a:rPr>
              <a:t>Classification</a:t>
            </a:r>
          </a:p>
        </p:txBody>
      </p:sp>
      <p:sp>
        <p:nvSpPr>
          <p:cNvPr id="8200" name="Line 8"/>
          <p:cNvSpPr>
            <a:spLocks noChangeShapeType="1"/>
          </p:cNvSpPr>
          <p:nvPr/>
        </p:nvSpPr>
        <p:spPr bwMode="auto">
          <a:xfrm>
            <a:off x="5578426" y="5428955"/>
            <a:ext cx="685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8201" name="Line 9"/>
          <p:cNvSpPr>
            <a:spLocks noChangeShapeType="1"/>
          </p:cNvSpPr>
          <p:nvPr/>
        </p:nvSpPr>
        <p:spPr bwMode="auto">
          <a:xfrm>
            <a:off x="8153400" y="5428955"/>
            <a:ext cx="9525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8202" name="Text Box 10"/>
          <p:cNvSpPr txBox="1">
            <a:spLocks noChangeArrowheads="1"/>
          </p:cNvSpPr>
          <p:nvPr/>
        </p:nvSpPr>
        <p:spPr bwMode="auto">
          <a:xfrm>
            <a:off x="2879626" y="4817830"/>
            <a:ext cx="10595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chemeClr val="tx2"/>
                </a:solidFill>
                <a:latin typeface="Arial" charset="0"/>
              </a:rPr>
              <a:t>stimuli</a:t>
            </a:r>
          </a:p>
        </p:txBody>
      </p:sp>
      <p:sp>
        <p:nvSpPr>
          <p:cNvPr id="8203" name="Line 11"/>
          <p:cNvSpPr>
            <a:spLocks noChangeShapeType="1"/>
          </p:cNvSpPr>
          <p:nvPr/>
        </p:nvSpPr>
        <p:spPr bwMode="auto">
          <a:xfrm flipV="1">
            <a:off x="2851051" y="5421506"/>
            <a:ext cx="1022400" cy="7449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Pattern Recognition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1024128" y="2286000"/>
            <a:ext cx="10272522" cy="402336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b="1" dirty="0" smtClean="0"/>
              <a:t>Feature</a:t>
            </a:r>
            <a:r>
              <a:rPr lang="en-US" sz="3200" dirty="0" smtClean="0"/>
              <a:t>: - a measurement taken on input pattern that is to be classified.</a:t>
            </a:r>
          </a:p>
          <a:p>
            <a:pPr eaLnBrk="1" hangingPunct="1"/>
            <a:r>
              <a:rPr lang="en-US" sz="3200" b="1" dirty="0" smtClean="0"/>
              <a:t>Classification</a:t>
            </a:r>
            <a:r>
              <a:rPr lang="en-US" sz="3200" dirty="0" smtClean="0"/>
              <a:t>: - mapping of input features into class categories by matching (measuring)</a:t>
            </a:r>
          </a:p>
          <a:p>
            <a:pPr lvl="1" eaLnBrk="1" hangingPunct="1"/>
            <a:r>
              <a:rPr lang="en-US" sz="2800" dirty="0" smtClean="0"/>
              <a:t>Classifiers typically rely on distance metrics and probability theory.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Features</a:t>
            </a:r>
          </a:p>
        </p:txBody>
      </p:sp>
      <p:sp>
        <p:nvSpPr>
          <p:cNvPr id="1028" name="Rectangle 1027"/>
          <p:cNvSpPr>
            <a:spLocks noGrp="1" noChangeArrowheads="1"/>
          </p:cNvSpPr>
          <p:nvPr>
            <p:ph idx="1"/>
          </p:nvPr>
        </p:nvSpPr>
        <p:spPr>
          <a:xfrm>
            <a:off x="819150" y="2999804"/>
            <a:ext cx="10877550" cy="3553397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endParaRPr lang="en-US" sz="2800" b="1" dirty="0"/>
          </a:p>
          <a:p>
            <a:pPr eaLnBrk="1" hangingPunct="1">
              <a:lnSpc>
                <a:spcPct val="90000"/>
              </a:lnSpc>
            </a:pPr>
            <a:r>
              <a:rPr lang="en-US" sz="2800" b="1" dirty="0"/>
              <a:t>Features</a:t>
            </a:r>
            <a:r>
              <a:rPr lang="en-US" sz="2800" dirty="0"/>
              <a:t> are numerically expressed properties of an input signal (stimulus)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The set of features used for pattern recognition is called </a:t>
            </a:r>
            <a:r>
              <a:rPr lang="en-US" sz="2800" b="1" dirty="0"/>
              <a:t>feature vector</a:t>
            </a:r>
            <a:r>
              <a:rPr 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The number of features is the </a:t>
            </a:r>
            <a:r>
              <a:rPr lang="en-US" sz="2800" b="1" dirty="0"/>
              <a:t>dimensionality</a:t>
            </a:r>
            <a:r>
              <a:rPr lang="en-US" sz="2800" dirty="0"/>
              <a:t> of the feature vector.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n-dimensional feature vectors can be represented as points in n-dimension </a:t>
            </a:r>
            <a:r>
              <a:rPr lang="en-US" sz="2800" b="1" dirty="0"/>
              <a:t>feature space</a:t>
            </a:r>
            <a:r>
              <a:rPr lang="en-US" sz="2800" dirty="0"/>
              <a:t>. </a:t>
            </a:r>
          </a:p>
        </p:txBody>
      </p:sp>
      <p:graphicFrame>
        <p:nvGraphicFramePr>
          <p:cNvPr id="1026" name="Object 108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3415022"/>
              </p:ext>
            </p:extLst>
          </p:nvPr>
        </p:nvGraphicFramePr>
        <p:xfrm>
          <a:off x="7491414" y="57150"/>
          <a:ext cx="3919677" cy="329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" name="Bitmap Image" r:id="rId3" imgW="3304762" imgH="2866667" progId="PBrush">
                  <p:embed/>
                </p:oleObj>
              </mc:Choice>
              <mc:Fallback>
                <p:oleObj name="Bitmap Image" r:id="rId3" imgW="3304762" imgH="2866667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1414" y="57150"/>
                        <a:ext cx="3919677" cy="32956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Guidelines for features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800" dirty="0" smtClean="0"/>
              <a:t>Use as few as possible </a:t>
            </a:r>
            <a:r>
              <a:rPr lang="en-US" sz="2800" dirty="0"/>
              <a:t>(reduce dimensionality of problem)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800" dirty="0" smtClean="0"/>
              <a:t>Use features that differentiate classes well </a:t>
            </a:r>
            <a:r>
              <a:rPr lang="en-US" sz="2800" dirty="0"/>
              <a:t>(relevant)</a:t>
            </a:r>
            <a:endParaRPr lang="en-US" sz="3200" dirty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Quick Task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are provided with two groups of points:</a:t>
            </a:r>
          </a:p>
          <a:p>
            <a:r>
              <a:rPr lang="en-US" dirty="0" smtClean="0"/>
              <a:t>Group A: (1,2); (2,2); (3,1); (2,3)</a:t>
            </a:r>
          </a:p>
          <a:p>
            <a:r>
              <a:rPr lang="en-US" dirty="0" smtClean="0"/>
              <a:t>Group B: (5,6); (6,5); (4,6); (5,5)</a:t>
            </a:r>
          </a:p>
          <a:p>
            <a:endParaRPr lang="en-US" dirty="0"/>
          </a:p>
          <a:p>
            <a:r>
              <a:rPr lang="en-US" dirty="0" smtClean="0"/>
              <a:t>In which group would you place new points:</a:t>
            </a:r>
          </a:p>
          <a:p>
            <a:r>
              <a:rPr lang="en-US" dirty="0" smtClean="0"/>
              <a:t>(5,4); (3,5) and (4,4) </a:t>
            </a:r>
          </a:p>
        </p:txBody>
      </p:sp>
    </p:spTree>
    <p:extLst>
      <p:ext uri="{BB962C8B-B14F-4D97-AF65-F5344CB8AC3E}">
        <p14:creationId xmlns:p14="http://schemas.microsoft.com/office/powerpoint/2010/main" val="114051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val 33"/>
          <p:cNvSpPr/>
          <p:nvPr/>
        </p:nvSpPr>
        <p:spPr>
          <a:xfrm rot="3158047">
            <a:off x="9153401" y="4310088"/>
            <a:ext cx="1749231" cy="1902447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7382651" y="3963303"/>
            <a:ext cx="1312019" cy="15947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Distance between feature vectors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1024128" y="2017713"/>
            <a:ext cx="10805922" cy="41148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dirty="0"/>
              <a:t>Instead of finding pattern exactly matching input pattern, look how close feature vectors are.</a:t>
            </a:r>
          </a:p>
          <a:p>
            <a:pPr eaLnBrk="1" hangingPunct="1"/>
            <a:r>
              <a:rPr lang="en-US" sz="2800" dirty="0"/>
              <a:t>Nearest </a:t>
            </a:r>
            <a:r>
              <a:rPr lang="en-US" sz="2800" dirty="0" err="1"/>
              <a:t>neighbour</a:t>
            </a:r>
            <a:r>
              <a:rPr lang="en-US" sz="2800" dirty="0"/>
              <a:t> classification:   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181850" y="3143250"/>
            <a:ext cx="4503678" cy="3470276"/>
            <a:chOff x="672" y="2256"/>
            <a:chExt cx="2293" cy="1625"/>
          </a:xfrm>
        </p:grpSpPr>
        <p:sp>
          <p:nvSpPr>
            <p:cNvPr id="11270" name="Line 5"/>
            <p:cNvSpPr>
              <a:spLocks noChangeShapeType="1"/>
            </p:cNvSpPr>
            <p:nvPr/>
          </p:nvSpPr>
          <p:spPr bwMode="auto">
            <a:xfrm flipV="1">
              <a:off x="672" y="2429"/>
              <a:ext cx="0" cy="14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1271" name="Line 6"/>
            <p:cNvSpPr>
              <a:spLocks noChangeShapeType="1"/>
            </p:cNvSpPr>
            <p:nvPr/>
          </p:nvSpPr>
          <p:spPr bwMode="auto">
            <a:xfrm>
              <a:off x="672" y="3881"/>
              <a:ext cx="20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1272" name="Oval 7"/>
            <p:cNvSpPr>
              <a:spLocks noChangeArrowheads="1"/>
            </p:cNvSpPr>
            <p:nvPr/>
          </p:nvSpPr>
          <p:spPr bwMode="auto">
            <a:xfrm>
              <a:off x="1006" y="2671"/>
              <a:ext cx="67" cy="6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3" name="Oval 8"/>
            <p:cNvSpPr>
              <a:spLocks noChangeArrowheads="1"/>
            </p:cNvSpPr>
            <p:nvPr/>
          </p:nvSpPr>
          <p:spPr bwMode="auto">
            <a:xfrm>
              <a:off x="1274" y="2913"/>
              <a:ext cx="66" cy="6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4" name="Oval 9"/>
            <p:cNvSpPr>
              <a:spLocks noChangeArrowheads="1"/>
            </p:cNvSpPr>
            <p:nvPr/>
          </p:nvSpPr>
          <p:spPr bwMode="auto">
            <a:xfrm>
              <a:off x="1274" y="3155"/>
              <a:ext cx="66" cy="6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5" name="Oval 10"/>
            <p:cNvSpPr>
              <a:spLocks noChangeArrowheads="1"/>
            </p:cNvSpPr>
            <p:nvPr/>
          </p:nvSpPr>
          <p:spPr bwMode="auto">
            <a:xfrm>
              <a:off x="873" y="3094"/>
              <a:ext cx="66" cy="61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6" name="Oval 11"/>
            <p:cNvSpPr>
              <a:spLocks noChangeArrowheads="1"/>
            </p:cNvSpPr>
            <p:nvPr/>
          </p:nvSpPr>
          <p:spPr bwMode="auto">
            <a:xfrm>
              <a:off x="1006" y="3276"/>
              <a:ext cx="67" cy="6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12"/>
            <p:cNvGrpSpPr>
              <a:grpSpLocks/>
            </p:cNvGrpSpPr>
            <p:nvPr/>
          </p:nvGrpSpPr>
          <p:grpSpPr bwMode="auto">
            <a:xfrm>
              <a:off x="2209" y="2852"/>
              <a:ext cx="134" cy="121"/>
              <a:chOff x="2880" y="2928"/>
              <a:chExt cx="96" cy="96"/>
            </a:xfrm>
          </p:grpSpPr>
          <p:sp>
            <p:nvSpPr>
              <p:cNvPr id="11295" name="Line 13"/>
              <p:cNvSpPr>
                <a:spLocks noChangeShapeType="1"/>
              </p:cNvSpPr>
              <p:nvPr/>
            </p:nvSpPr>
            <p:spPr bwMode="auto">
              <a:xfrm>
                <a:off x="2880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11296" name="Line 14"/>
              <p:cNvSpPr>
                <a:spLocks noChangeShapeType="1"/>
              </p:cNvSpPr>
              <p:nvPr/>
            </p:nvSpPr>
            <p:spPr bwMode="auto">
              <a:xfrm>
                <a:off x="2928" y="29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b="1"/>
              </a:p>
            </p:txBody>
          </p:sp>
        </p:grpSp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1742" y="3397"/>
              <a:ext cx="133" cy="121"/>
              <a:chOff x="2880" y="2928"/>
              <a:chExt cx="96" cy="96"/>
            </a:xfrm>
          </p:grpSpPr>
          <p:sp>
            <p:nvSpPr>
              <p:cNvPr id="11293" name="Line 16"/>
              <p:cNvSpPr>
                <a:spLocks noChangeShapeType="1"/>
              </p:cNvSpPr>
              <p:nvPr/>
            </p:nvSpPr>
            <p:spPr bwMode="auto">
              <a:xfrm>
                <a:off x="2880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11294" name="Line 17"/>
              <p:cNvSpPr>
                <a:spLocks noChangeShapeType="1"/>
              </p:cNvSpPr>
              <p:nvPr/>
            </p:nvSpPr>
            <p:spPr bwMode="auto">
              <a:xfrm>
                <a:off x="2928" y="29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b="1"/>
              </a:p>
            </p:txBody>
          </p:sp>
        </p:grpSp>
        <p:grpSp>
          <p:nvGrpSpPr>
            <p:cNvPr id="5" name="Group 18"/>
            <p:cNvGrpSpPr>
              <a:grpSpLocks/>
            </p:cNvGrpSpPr>
            <p:nvPr/>
          </p:nvGrpSpPr>
          <p:grpSpPr bwMode="auto">
            <a:xfrm>
              <a:off x="2143" y="3336"/>
              <a:ext cx="133" cy="121"/>
              <a:chOff x="2880" y="2928"/>
              <a:chExt cx="96" cy="96"/>
            </a:xfrm>
          </p:grpSpPr>
          <p:sp>
            <p:nvSpPr>
              <p:cNvPr id="11291" name="Line 19"/>
              <p:cNvSpPr>
                <a:spLocks noChangeShapeType="1"/>
              </p:cNvSpPr>
              <p:nvPr/>
            </p:nvSpPr>
            <p:spPr bwMode="auto">
              <a:xfrm>
                <a:off x="2880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11292" name="Line 20"/>
              <p:cNvSpPr>
                <a:spLocks noChangeShapeType="1"/>
              </p:cNvSpPr>
              <p:nvPr/>
            </p:nvSpPr>
            <p:spPr bwMode="auto">
              <a:xfrm>
                <a:off x="2928" y="29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b="1"/>
              </a:p>
            </p:txBody>
          </p:sp>
        </p:grpSp>
        <p:grpSp>
          <p:nvGrpSpPr>
            <p:cNvPr id="6" name="Group 21"/>
            <p:cNvGrpSpPr>
              <a:grpSpLocks/>
            </p:cNvGrpSpPr>
            <p:nvPr/>
          </p:nvGrpSpPr>
          <p:grpSpPr bwMode="auto">
            <a:xfrm>
              <a:off x="2410" y="3215"/>
              <a:ext cx="134" cy="121"/>
              <a:chOff x="2880" y="2928"/>
              <a:chExt cx="96" cy="96"/>
            </a:xfrm>
          </p:grpSpPr>
          <p:sp>
            <p:nvSpPr>
              <p:cNvPr id="11289" name="Line 22"/>
              <p:cNvSpPr>
                <a:spLocks noChangeShapeType="1"/>
              </p:cNvSpPr>
              <p:nvPr/>
            </p:nvSpPr>
            <p:spPr bwMode="auto">
              <a:xfrm>
                <a:off x="2880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11290" name="Line 23"/>
              <p:cNvSpPr>
                <a:spLocks noChangeShapeType="1"/>
              </p:cNvSpPr>
              <p:nvPr/>
            </p:nvSpPr>
            <p:spPr bwMode="auto">
              <a:xfrm>
                <a:off x="2928" y="29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b="1"/>
              </a:p>
            </p:txBody>
          </p:sp>
        </p:grpSp>
        <p:grpSp>
          <p:nvGrpSpPr>
            <p:cNvPr id="7" name="Group 24"/>
            <p:cNvGrpSpPr>
              <a:grpSpLocks/>
            </p:cNvGrpSpPr>
            <p:nvPr/>
          </p:nvGrpSpPr>
          <p:grpSpPr bwMode="auto">
            <a:xfrm>
              <a:off x="2009" y="3094"/>
              <a:ext cx="134" cy="121"/>
              <a:chOff x="2880" y="2928"/>
              <a:chExt cx="96" cy="96"/>
            </a:xfrm>
          </p:grpSpPr>
          <p:sp>
            <p:nvSpPr>
              <p:cNvPr id="11287" name="Line 25"/>
              <p:cNvSpPr>
                <a:spLocks noChangeShapeType="1"/>
              </p:cNvSpPr>
              <p:nvPr/>
            </p:nvSpPr>
            <p:spPr bwMode="auto">
              <a:xfrm>
                <a:off x="2880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11288" name="Line 26"/>
              <p:cNvSpPr>
                <a:spLocks noChangeShapeType="1"/>
              </p:cNvSpPr>
              <p:nvPr/>
            </p:nvSpPr>
            <p:spPr bwMode="auto">
              <a:xfrm>
                <a:off x="2928" y="29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b="1" dirty="0"/>
              </a:p>
            </p:txBody>
          </p:sp>
        </p:grpSp>
        <p:sp>
          <p:nvSpPr>
            <p:cNvPr id="11282" name="Text Box 27"/>
            <p:cNvSpPr txBox="1">
              <a:spLocks noChangeArrowheads="1"/>
            </p:cNvSpPr>
            <p:nvPr/>
          </p:nvSpPr>
          <p:spPr bwMode="auto">
            <a:xfrm>
              <a:off x="859" y="2256"/>
              <a:ext cx="622" cy="226"/>
            </a:xfrm>
            <a:prstGeom prst="rect">
              <a:avLst/>
            </a:prstGeom>
            <a:solidFill>
              <a:srgbClr val="FFFF66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1400">
                  <a:latin typeface="Arial" charset="0"/>
                </a:rPr>
                <a:t>Class 1</a:t>
              </a:r>
            </a:p>
          </p:txBody>
        </p:sp>
        <p:sp>
          <p:nvSpPr>
            <p:cNvPr id="11283" name="Text Box 28"/>
            <p:cNvSpPr txBox="1">
              <a:spLocks noChangeArrowheads="1"/>
            </p:cNvSpPr>
            <p:nvPr/>
          </p:nvSpPr>
          <p:spPr bwMode="auto">
            <a:xfrm>
              <a:off x="2343" y="2512"/>
              <a:ext cx="622" cy="226"/>
            </a:xfrm>
            <a:prstGeom prst="rect">
              <a:avLst/>
            </a:prstGeom>
            <a:solidFill>
              <a:srgbClr val="FFFF66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1400">
                  <a:latin typeface="Arial" charset="0"/>
                </a:rPr>
                <a:t>Class 2</a:t>
              </a:r>
            </a:p>
          </p:txBody>
        </p:sp>
        <p:sp>
          <p:nvSpPr>
            <p:cNvPr id="11284" name="Oval 29"/>
            <p:cNvSpPr>
              <a:spLocks noChangeArrowheads="1"/>
            </p:cNvSpPr>
            <p:nvPr/>
          </p:nvSpPr>
          <p:spPr bwMode="auto">
            <a:xfrm>
              <a:off x="1632" y="2640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5" name="Line 30"/>
            <p:cNvSpPr>
              <a:spLocks noChangeShapeType="1"/>
            </p:cNvSpPr>
            <p:nvPr/>
          </p:nvSpPr>
          <p:spPr bwMode="auto">
            <a:xfrm flipV="1">
              <a:off x="1344" y="2736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1286" name="Line 31"/>
            <p:cNvSpPr>
              <a:spLocks noChangeShapeType="1"/>
            </p:cNvSpPr>
            <p:nvPr/>
          </p:nvSpPr>
          <p:spPr bwMode="auto">
            <a:xfrm>
              <a:off x="1728" y="2736"/>
              <a:ext cx="43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anchor="ctr"/>
            <a:lstStyle/>
            <a:p>
              <a:endParaRPr lang="en-US"/>
            </a:p>
          </p:txBody>
        </p:sp>
      </p:grpSp>
      <p:sp>
        <p:nvSpPr>
          <p:cNvPr id="11269" name="Text Box 33"/>
          <p:cNvSpPr txBox="1">
            <a:spLocks noChangeArrowheads="1"/>
          </p:cNvSpPr>
          <p:nvPr/>
        </p:nvSpPr>
        <p:spPr bwMode="auto">
          <a:xfrm>
            <a:off x="1105589" y="3742220"/>
            <a:ext cx="5105400" cy="1815882"/>
          </a:xfrm>
          <a:prstGeom prst="rect">
            <a:avLst/>
          </a:prstGeom>
          <a:solidFill>
            <a:srgbClr val="FFFF66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sz="2800" dirty="0">
                <a:solidFill>
                  <a:schemeClr val="tx2"/>
                </a:solidFill>
              </a:rPr>
              <a:t>Find object closest to the input pattern.</a:t>
            </a:r>
          </a:p>
          <a:p>
            <a:pPr marL="457200" indent="-457200">
              <a:buFontTx/>
              <a:buAutoNum type="arabicPeriod"/>
            </a:pPr>
            <a:r>
              <a:rPr lang="en-US" sz="2800" dirty="0">
                <a:solidFill>
                  <a:schemeClr val="tx2"/>
                </a:solidFill>
              </a:rPr>
              <a:t>Classify pattern to the same class as closest object.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Distance between feature vectors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024128" y="2084832"/>
            <a:ext cx="10824972" cy="4224528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dirty="0"/>
              <a:t>Modification of nearest neighbor classifier: use </a:t>
            </a:r>
            <a:r>
              <a:rPr lang="en-US" sz="2800" b="1" dirty="0"/>
              <a:t>k nearest neighbors</a:t>
            </a:r>
            <a:r>
              <a:rPr lang="en-US" sz="2800" dirty="0"/>
              <a:t> instead of 1 to classify pattern. Nearest </a:t>
            </a:r>
            <a:r>
              <a:rPr lang="en-US" sz="2800" dirty="0" err="1"/>
              <a:t>neighbour</a:t>
            </a:r>
            <a:r>
              <a:rPr lang="en-US" sz="2800" dirty="0"/>
              <a:t> classification:   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334943" y="3181350"/>
            <a:ext cx="3770301" cy="3295650"/>
            <a:chOff x="672" y="2256"/>
            <a:chExt cx="2237" cy="1625"/>
          </a:xfrm>
        </p:grpSpPr>
        <p:sp>
          <p:nvSpPr>
            <p:cNvPr id="12322" name="Line 5"/>
            <p:cNvSpPr>
              <a:spLocks noChangeShapeType="1"/>
            </p:cNvSpPr>
            <p:nvPr/>
          </p:nvSpPr>
          <p:spPr bwMode="auto">
            <a:xfrm flipV="1">
              <a:off x="672" y="2429"/>
              <a:ext cx="0" cy="1452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en-US" sz="2400"/>
            </a:p>
          </p:txBody>
        </p:sp>
        <p:sp>
          <p:nvSpPr>
            <p:cNvPr id="12323" name="Line 6"/>
            <p:cNvSpPr>
              <a:spLocks noChangeShapeType="1"/>
            </p:cNvSpPr>
            <p:nvPr/>
          </p:nvSpPr>
          <p:spPr bwMode="auto">
            <a:xfrm>
              <a:off x="672" y="3881"/>
              <a:ext cx="2072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en-US" sz="2400"/>
            </a:p>
          </p:txBody>
        </p:sp>
        <p:sp>
          <p:nvSpPr>
            <p:cNvPr id="12324" name="Oval 7"/>
            <p:cNvSpPr>
              <a:spLocks noChangeArrowheads="1"/>
            </p:cNvSpPr>
            <p:nvPr/>
          </p:nvSpPr>
          <p:spPr bwMode="auto">
            <a:xfrm>
              <a:off x="1006" y="2671"/>
              <a:ext cx="67" cy="6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12325" name="Oval 8"/>
            <p:cNvSpPr>
              <a:spLocks noChangeArrowheads="1"/>
            </p:cNvSpPr>
            <p:nvPr/>
          </p:nvSpPr>
          <p:spPr bwMode="auto">
            <a:xfrm>
              <a:off x="1274" y="2913"/>
              <a:ext cx="66" cy="6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12326" name="Oval 9"/>
            <p:cNvSpPr>
              <a:spLocks noChangeArrowheads="1"/>
            </p:cNvSpPr>
            <p:nvPr/>
          </p:nvSpPr>
          <p:spPr bwMode="auto">
            <a:xfrm>
              <a:off x="1274" y="3155"/>
              <a:ext cx="66" cy="6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12327" name="Oval 10"/>
            <p:cNvSpPr>
              <a:spLocks noChangeArrowheads="1"/>
            </p:cNvSpPr>
            <p:nvPr/>
          </p:nvSpPr>
          <p:spPr bwMode="auto">
            <a:xfrm>
              <a:off x="873" y="3094"/>
              <a:ext cx="66" cy="6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12328" name="Oval 11"/>
            <p:cNvSpPr>
              <a:spLocks noChangeArrowheads="1"/>
            </p:cNvSpPr>
            <p:nvPr/>
          </p:nvSpPr>
          <p:spPr bwMode="auto">
            <a:xfrm>
              <a:off x="1006" y="3276"/>
              <a:ext cx="67" cy="6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grpSp>
          <p:nvGrpSpPr>
            <p:cNvPr id="3" name="Group 12"/>
            <p:cNvGrpSpPr>
              <a:grpSpLocks/>
            </p:cNvGrpSpPr>
            <p:nvPr/>
          </p:nvGrpSpPr>
          <p:grpSpPr bwMode="auto">
            <a:xfrm>
              <a:off x="2209" y="2852"/>
              <a:ext cx="134" cy="121"/>
              <a:chOff x="2880" y="2928"/>
              <a:chExt cx="96" cy="96"/>
            </a:xfrm>
          </p:grpSpPr>
          <p:sp>
            <p:nvSpPr>
              <p:cNvPr id="12347" name="Line 13"/>
              <p:cNvSpPr>
                <a:spLocks noChangeShapeType="1"/>
              </p:cNvSpPr>
              <p:nvPr/>
            </p:nvSpPr>
            <p:spPr bwMode="auto">
              <a:xfrm>
                <a:off x="2880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  <p:sp>
            <p:nvSpPr>
              <p:cNvPr id="12348" name="Line 14"/>
              <p:cNvSpPr>
                <a:spLocks noChangeShapeType="1"/>
              </p:cNvSpPr>
              <p:nvPr/>
            </p:nvSpPr>
            <p:spPr bwMode="auto">
              <a:xfrm>
                <a:off x="2928" y="29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</p:grpSp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1742" y="3397"/>
              <a:ext cx="133" cy="121"/>
              <a:chOff x="2880" y="2928"/>
              <a:chExt cx="96" cy="96"/>
            </a:xfrm>
          </p:grpSpPr>
          <p:sp>
            <p:nvSpPr>
              <p:cNvPr id="12345" name="Line 16"/>
              <p:cNvSpPr>
                <a:spLocks noChangeShapeType="1"/>
              </p:cNvSpPr>
              <p:nvPr/>
            </p:nvSpPr>
            <p:spPr bwMode="auto">
              <a:xfrm>
                <a:off x="2880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  <p:sp>
            <p:nvSpPr>
              <p:cNvPr id="12346" name="Line 17"/>
              <p:cNvSpPr>
                <a:spLocks noChangeShapeType="1"/>
              </p:cNvSpPr>
              <p:nvPr/>
            </p:nvSpPr>
            <p:spPr bwMode="auto">
              <a:xfrm>
                <a:off x="2928" y="29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</p:grpSp>
        <p:grpSp>
          <p:nvGrpSpPr>
            <p:cNvPr id="5" name="Group 18"/>
            <p:cNvGrpSpPr>
              <a:grpSpLocks/>
            </p:cNvGrpSpPr>
            <p:nvPr/>
          </p:nvGrpSpPr>
          <p:grpSpPr bwMode="auto">
            <a:xfrm>
              <a:off x="2143" y="3336"/>
              <a:ext cx="133" cy="121"/>
              <a:chOff x="2880" y="2928"/>
              <a:chExt cx="96" cy="96"/>
            </a:xfrm>
          </p:grpSpPr>
          <p:sp>
            <p:nvSpPr>
              <p:cNvPr id="12343" name="Line 19"/>
              <p:cNvSpPr>
                <a:spLocks noChangeShapeType="1"/>
              </p:cNvSpPr>
              <p:nvPr/>
            </p:nvSpPr>
            <p:spPr bwMode="auto">
              <a:xfrm>
                <a:off x="2880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  <p:sp>
            <p:nvSpPr>
              <p:cNvPr id="12344" name="Line 20"/>
              <p:cNvSpPr>
                <a:spLocks noChangeShapeType="1"/>
              </p:cNvSpPr>
              <p:nvPr/>
            </p:nvSpPr>
            <p:spPr bwMode="auto">
              <a:xfrm>
                <a:off x="2928" y="29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</p:grpSp>
        <p:grpSp>
          <p:nvGrpSpPr>
            <p:cNvPr id="6" name="Group 21"/>
            <p:cNvGrpSpPr>
              <a:grpSpLocks/>
            </p:cNvGrpSpPr>
            <p:nvPr/>
          </p:nvGrpSpPr>
          <p:grpSpPr bwMode="auto">
            <a:xfrm>
              <a:off x="2410" y="3215"/>
              <a:ext cx="134" cy="121"/>
              <a:chOff x="2880" y="2928"/>
              <a:chExt cx="96" cy="96"/>
            </a:xfrm>
          </p:grpSpPr>
          <p:sp>
            <p:nvSpPr>
              <p:cNvPr id="12341" name="Line 22"/>
              <p:cNvSpPr>
                <a:spLocks noChangeShapeType="1"/>
              </p:cNvSpPr>
              <p:nvPr/>
            </p:nvSpPr>
            <p:spPr bwMode="auto">
              <a:xfrm>
                <a:off x="2880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  <p:sp>
            <p:nvSpPr>
              <p:cNvPr id="12342" name="Line 23"/>
              <p:cNvSpPr>
                <a:spLocks noChangeShapeType="1"/>
              </p:cNvSpPr>
              <p:nvPr/>
            </p:nvSpPr>
            <p:spPr bwMode="auto">
              <a:xfrm>
                <a:off x="2928" y="29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</p:grpSp>
        <p:grpSp>
          <p:nvGrpSpPr>
            <p:cNvPr id="7" name="Group 24"/>
            <p:cNvGrpSpPr>
              <a:grpSpLocks/>
            </p:cNvGrpSpPr>
            <p:nvPr/>
          </p:nvGrpSpPr>
          <p:grpSpPr bwMode="auto">
            <a:xfrm>
              <a:off x="2009" y="3094"/>
              <a:ext cx="134" cy="121"/>
              <a:chOff x="2880" y="2928"/>
              <a:chExt cx="96" cy="96"/>
            </a:xfrm>
          </p:grpSpPr>
          <p:sp>
            <p:nvSpPr>
              <p:cNvPr id="12339" name="Line 25"/>
              <p:cNvSpPr>
                <a:spLocks noChangeShapeType="1"/>
              </p:cNvSpPr>
              <p:nvPr/>
            </p:nvSpPr>
            <p:spPr bwMode="auto">
              <a:xfrm>
                <a:off x="2880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  <p:sp>
            <p:nvSpPr>
              <p:cNvPr id="12340" name="Line 26"/>
              <p:cNvSpPr>
                <a:spLocks noChangeShapeType="1"/>
              </p:cNvSpPr>
              <p:nvPr/>
            </p:nvSpPr>
            <p:spPr bwMode="auto">
              <a:xfrm>
                <a:off x="2928" y="29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</p:grpSp>
        <p:sp>
          <p:nvSpPr>
            <p:cNvPr id="12334" name="Text Box 27"/>
            <p:cNvSpPr txBox="1">
              <a:spLocks noChangeArrowheads="1"/>
            </p:cNvSpPr>
            <p:nvPr/>
          </p:nvSpPr>
          <p:spPr bwMode="auto">
            <a:xfrm>
              <a:off x="859" y="2256"/>
              <a:ext cx="566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Arial" charset="0"/>
                </a:rPr>
                <a:t>Class 1</a:t>
              </a:r>
            </a:p>
          </p:txBody>
        </p:sp>
        <p:sp>
          <p:nvSpPr>
            <p:cNvPr id="12335" name="Text Box 28"/>
            <p:cNvSpPr txBox="1">
              <a:spLocks noChangeArrowheads="1"/>
            </p:cNvSpPr>
            <p:nvPr/>
          </p:nvSpPr>
          <p:spPr bwMode="auto">
            <a:xfrm>
              <a:off x="2343" y="2512"/>
              <a:ext cx="566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Arial" charset="0"/>
                </a:rPr>
                <a:t>Class 2</a:t>
              </a:r>
            </a:p>
          </p:txBody>
        </p:sp>
        <p:sp>
          <p:nvSpPr>
            <p:cNvPr id="12336" name="Oval 29"/>
            <p:cNvSpPr>
              <a:spLocks noChangeArrowheads="1"/>
            </p:cNvSpPr>
            <p:nvPr/>
          </p:nvSpPr>
          <p:spPr bwMode="auto">
            <a:xfrm>
              <a:off x="1632" y="2640"/>
              <a:ext cx="96" cy="9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12337" name="Line 30"/>
            <p:cNvSpPr>
              <a:spLocks noChangeShapeType="1"/>
            </p:cNvSpPr>
            <p:nvPr/>
          </p:nvSpPr>
          <p:spPr bwMode="auto">
            <a:xfrm flipV="1">
              <a:off x="1344" y="2736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anchor="ctr"/>
            <a:lstStyle/>
            <a:p>
              <a:endParaRPr lang="en-US" sz="2400"/>
            </a:p>
          </p:txBody>
        </p:sp>
        <p:sp>
          <p:nvSpPr>
            <p:cNvPr id="12338" name="Line 31"/>
            <p:cNvSpPr>
              <a:spLocks noChangeShapeType="1"/>
            </p:cNvSpPr>
            <p:nvPr/>
          </p:nvSpPr>
          <p:spPr bwMode="auto">
            <a:xfrm>
              <a:off x="1728" y="2736"/>
              <a:ext cx="43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anchor="ctr"/>
            <a:lstStyle/>
            <a:p>
              <a:endParaRPr lang="en-US" sz="2400"/>
            </a:p>
          </p:txBody>
        </p:sp>
      </p:grpSp>
      <p:grpSp>
        <p:nvGrpSpPr>
          <p:cNvPr id="8" name="Group 33"/>
          <p:cNvGrpSpPr>
            <a:grpSpLocks/>
          </p:cNvGrpSpPr>
          <p:nvPr/>
        </p:nvGrpSpPr>
        <p:grpSpPr bwMode="auto">
          <a:xfrm>
            <a:off x="1638300" y="3532210"/>
            <a:ext cx="3847500" cy="3020990"/>
            <a:chOff x="720" y="1728"/>
            <a:chExt cx="2569" cy="2016"/>
          </a:xfrm>
        </p:grpSpPr>
        <p:sp>
          <p:nvSpPr>
            <p:cNvPr id="12294" name="Line 34"/>
            <p:cNvSpPr>
              <a:spLocks noChangeShapeType="1"/>
            </p:cNvSpPr>
            <p:nvPr/>
          </p:nvSpPr>
          <p:spPr bwMode="auto">
            <a:xfrm flipV="1">
              <a:off x="720" y="2114"/>
              <a:ext cx="0" cy="163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en-US" sz="2400"/>
            </a:p>
          </p:txBody>
        </p:sp>
        <p:sp>
          <p:nvSpPr>
            <p:cNvPr id="12295" name="Line 35"/>
            <p:cNvSpPr>
              <a:spLocks noChangeShapeType="1"/>
            </p:cNvSpPr>
            <p:nvPr/>
          </p:nvSpPr>
          <p:spPr bwMode="auto">
            <a:xfrm>
              <a:off x="720" y="3744"/>
              <a:ext cx="2395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en-US" sz="2400"/>
            </a:p>
          </p:txBody>
        </p:sp>
        <p:sp>
          <p:nvSpPr>
            <p:cNvPr id="12296" name="Oval 36"/>
            <p:cNvSpPr>
              <a:spLocks noChangeArrowheads="1"/>
            </p:cNvSpPr>
            <p:nvPr/>
          </p:nvSpPr>
          <p:spPr bwMode="auto">
            <a:xfrm>
              <a:off x="1106" y="2386"/>
              <a:ext cx="77" cy="6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12297" name="Oval 37"/>
            <p:cNvSpPr>
              <a:spLocks noChangeArrowheads="1"/>
            </p:cNvSpPr>
            <p:nvPr/>
          </p:nvSpPr>
          <p:spPr bwMode="auto">
            <a:xfrm>
              <a:off x="1416" y="2657"/>
              <a:ext cx="76" cy="6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12298" name="Oval 38"/>
            <p:cNvSpPr>
              <a:spLocks noChangeArrowheads="1"/>
            </p:cNvSpPr>
            <p:nvPr/>
          </p:nvSpPr>
          <p:spPr bwMode="auto">
            <a:xfrm>
              <a:off x="1392" y="2976"/>
              <a:ext cx="76" cy="6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12299" name="Oval 39"/>
            <p:cNvSpPr>
              <a:spLocks noChangeArrowheads="1"/>
            </p:cNvSpPr>
            <p:nvPr/>
          </p:nvSpPr>
          <p:spPr bwMode="auto">
            <a:xfrm>
              <a:off x="952" y="2861"/>
              <a:ext cx="77" cy="6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12300" name="Oval 40"/>
            <p:cNvSpPr>
              <a:spLocks noChangeArrowheads="1"/>
            </p:cNvSpPr>
            <p:nvPr/>
          </p:nvSpPr>
          <p:spPr bwMode="auto">
            <a:xfrm>
              <a:off x="1106" y="3065"/>
              <a:ext cx="77" cy="6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grpSp>
          <p:nvGrpSpPr>
            <p:cNvPr id="9" name="Group 41"/>
            <p:cNvGrpSpPr>
              <a:grpSpLocks/>
            </p:cNvGrpSpPr>
            <p:nvPr/>
          </p:nvGrpSpPr>
          <p:grpSpPr bwMode="auto">
            <a:xfrm>
              <a:off x="2400" y="2592"/>
              <a:ext cx="155" cy="136"/>
              <a:chOff x="2880" y="2928"/>
              <a:chExt cx="96" cy="96"/>
            </a:xfrm>
          </p:grpSpPr>
          <p:sp>
            <p:nvSpPr>
              <p:cNvPr id="12320" name="Line 42"/>
              <p:cNvSpPr>
                <a:spLocks noChangeShapeType="1"/>
              </p:cNvSpPr>
              <p:nvPr/>
            </p:nvSpPr>
            <p:spPr bwMode="auto">
              <a:xfrm>
                <a:off x="2880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  <p:sp>
            <p:nvSpPr>
              <p:cNvPr id="12321" name="Line 43"/>
              <p:cNvSpPr>
                <a:spLocks noChangeShapeType="1"/>
              </p:cNvSpPr>
              <p:nvPr/>
            </p:nvSpPr>
            <p:spPr bwMode="auto">
              <a:xfrm>
                <a:off x="2928" y="29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</p:grpSp>
        <p:grpSp>
          <p:nvGrpSpPr>
            <p:cNvPr id="10" name="Group 44"/>
            <p:cNvGrpSpPr>
              <a:grpSpLocks/>
            </p:cNvGrpSpPr>
            <p:nvPr/>
          </p:nvGrpSpPr>
          <p:grpSpPr bwMode="auto">
            <a:xfrm>
              <a:off x="1957" y="3201"/>
              <a:ext cx="153" cy="136"/>
              <a:chOff x="2880" y="2928"/>
              <a:chExt cx="96" cy="96"/>
            </a:xfrm>
          </p:grpSpPr>
          <p:sp>
            <p:nvSpPr>
              <p:cNvPr id="12318" name="Line 45"/>
              <p:cNvSpPr>
                <a:spLocks noChangeShapeType="1"/>
              </p:cNvSpPr>
              <p:nvPr/>
            </p:nvSpPr>
            <p:spPr bwMode="auto">
              <a:xfrm>
                <a:off x="2880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  <p:sp>
            <p:nvSpPr>
              <p:cNvPr id="12319" name="Line 46"/>
              <p:cNvSpPr>
                <a:spLocks noChangeShapeType="1"/>
              </p:cNvSpPr>
              <p:nvPr/>
            </p:nvSpPr>
            <p:spPr bwMode="auto">
              <a:xfrm>
                <a:off x="2928" y="29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</p:grpSp>
        <p:grpSp>
          <p:nvGrpSpPr>
            <p:cNvPr id="11" name="Group 47"/>
            <p:cNvGrpSpPr>
              <a:grpSpLocks/>
            </p:cNvGrpSpPr>
            <p:nvPr/>
          </p:nvGrpSpPr>
          <p:grpSpPr bwMode="auto">
            <a:xfrm>
              <a:off x="2420" y="3132"/>
              <a:ext cx="154" cy="136"/>
              <a:chOff x="2880" y="2928"/>
              <a:chExt cx="96" cy="96"/>
            </a:xfrm>
          </p:grpSpPr>
          <p:sp>
            <p:nvSpPr>
              <p:cNvPr id="12316" name="Line 48"/>
              <p:cNvSpPr>
                <a:spLocks noChangeShapeType="1"/>
              </p:cNvSpPr>
              <p:nvPr/>
            </p:nvSpPr>
            <p:spPr bwMode="auto">
              <a:xfrm>
                <a:off x="2880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  <p:sp>
            <p:nvSpPr>
              <p:cNvPr id="12317" name="Line 49"/>
              <p:cNvSpPr>
                <a:spLocks noChangeShapeType="1"/>
              </p:cNvSpPr>
              <p:nvPr/>
            </p:nvSpPr>
            <p:spPr bwMode="auto">
              <a:xfrm>
                <a:off x="2928" y="29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</p:grpSp>
        <p:grpSp>
          <p:nvGrpSpPr>
            <p:cNvPr id="12" name="Group 50"/>
            <p:cNvGrpSpPr>
              <a:grpSpLocks/>
            </p:cNvGrpSpPr>
            <p:nvPr/>
          </p:nvGrpSpPr>
          <p:grpSpPr bwMode="auto">
            <a:xfrm>
              <a:off x="2729" y="2996"/>
              <a:ext cx="154" cy="136"/>
              <a:chOff x="2880" y="2928"/>
              <a:chExt cx="96" cy="96"/>
            </a:xfrm>
          </p:grpSpPr>
          <p:sp>
            <p:nvSpPr>
              <p:cNvPr id="12314" name="Line 51"/>
              <p:cNvSpPr>
                <a:spLocks noChangeShapeType="1"/>
              </p:cNvSpPr>
              <p:nvPr/>
            </p:nvSpPr>
            <p:spPr bwMode="auto">
              <a:xfrm>
                <a:off x="2880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  <p:sp>
            <p:nvSpPr>
              <p:cNvPr id="12315" name="Line 52"/>
              <p:cNvSpPr>
                <a:spLocks noChangeShapeType="1"/>
              </p:cNvSpPr>
              <p:nvPr/>
            </p:nvSpPr>
            <p:spPr bwMode="auto">
              <a:xfrm>
                <a:off x="2928" y="29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</p:grpSp>
        <p:grpSp>
          <p:nvGrpSpPr>
            <p:cNvPr id="13" name="Group 53"/>
            <p:cNvGrpSpPr>
              <a:grpSpLocks/>
            </p:cNvGrpSpPr>
            <p:nvPr/>
          </p:nvGrpSpPr>
          <p:grpSpPr bwMode="auto">
            <a:xfrm>
              <a:off x="2256" y="2784"/>
              <a:ext cx="155" cy="135"/>
              <a:chOff x="2880" y="2928"/>
              <a:chExt cx="96" cy="96"/>
            </a:xfrm>
          </p:grpSpPr>
          <p:sp>
            <p:nvSpPr>
              <p:cNvPr id="12312" name="Line 54"/>
              <p:cNvSpPr>
                <a:spLocks noChangeShapeType="1"/>
              </p:cNvSpPr>
              <p:nvPr/>
            </p:nvSpPr>
            <p:spPr bwMode="auto">
              <a:xfrm>
                <a:off x="2880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  <p:sp>
            <p:nvSpPr>
              <p:cNvPr id="12313" name="Line 55"/>
              <p:cNvSpPr>
                <a:spLocks noChangeShapeType="1"/>
              </p:cNvSpPr>
              <p:nvPr/>
            </p:nvSpPr>
            <p:spPr bwMode="auto">
              <a:xfrm>
                <a:off x="2928" y="29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</p:grpSp>
        <p:sp>
          <p:nvSpPr>
            <p:cNvPr id="12306" name="Text Box 56"/>
            <p:cNvSpPr txBox="1">
              <a:spLocks noChangeArrowheads="1"/>
            </p:cNvSpPr>
            <p:nvPr/>
          </p:nvSpPr>
          <p:spPr bwMode="auto">
            <a:xfrm>
              <a:off x="937" y="1921"/>
              <a:ext cx="637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Arial" charset="0"/>
                </a:rPr>
                <a:t>Class 1</a:t>
              </a:r>
            </a:p>
          </p:txBody>
        </p:sp>
        <p:sp>
          <p:nvSpPr>
            <p:cNvPr id="12307" name="Text Box 57"/>
            <p:cNvSpPr txBox="1">
              <a:spLocks noChangeArrowheads="1"/>
            </p:cNvSpPr>
            <p:nvPr/>
          </p:nvSpPr>
          <p:spPr bwMode="auto">
            <a:xfrm>
              <a:off x="2652" y="2207"/>
              <a:ext cx="637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Arial" charset="0"/>
                </a:rPr>
                <a:t>Class 2</a:t>
              </a:r>
            </a:p>
          </p:txBody>
        </p:sp>
        <p:sp>
          <p:nvSpPr>
            <p:cNvPr id="12308" name="Oval 58"/>
            <p:cNvSpPr>
              <a:spLocks noChangeArrowheads="1"/>
            </p:cNvSpPr>
            <p:nvPr/>
          </p:nvSpPr>
          <p:spPr bwMode="auto">
            <a:xfrm>
              <a:off x="1829" y="2351"/>
              <a:ext cx="111" cy="108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12309" name="Line 59"/>
            <p:cNvSpPr>
              <a:spLocks noChangeShapeType="1"/>
            </p:cNvSpPr>
            <p:nvPr/>
          </p:nvSpPr>
          <p:spPr bwMode="auto">
            <a:xfrm flipV="1">
              <a:off x="1497" y="2459"/>
              <a:ext cx="332" cy="2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anchor="ctr"/>
            <a:lstStyle/>
            <a:p>
              <a:endParaRPr lang="en-US" sz="2400"/>
            </a:p>
          </p:txBody>
        </p:sp>
        <p:sp>
          <p:nvSpPr>
            <p:cNvPr id="12310" name="Line 60"/>
            <p:cNvSpPr>
              <a:spLocks noChangeShapeType="1"/>
            </p:cNvSpPr>
            <p:nvPr/>
          </p:nvSpPr>
          <p:spPr bwMode="auto">
            <a:xfrm>
              <a:off x="1940" y="2459"/>
              <a:ext cx="500" cy="1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anchor="ctr"/>
            <a:lstStyle/>
            <a:p>
              <a:endParaRPr lang="en-US" sz="2400"/>
            </a:p>
          </p:txBody>
        </p:sp>
        <p:sp>
          <p:nvSpPr>
            <p:cNvPr id="12311" name="Oval 61"/>
            <p:cNvSpPr>
              <a:spLocks noChangeArrowheads="1"/>
            </p:cNvSpPr>
            <p:nvPr/>
          </p:nvSpPr>
          <p:spPr bwMode="auto">
            <a:xfrm>
              <a:off x="1200" y="1728"/>
              <a:ext cx="1440" cy="13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Clustering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1024128" y="2084832"/>
            <a:ext cx="9720073" cy="4224528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dirty="0" smtClean="0"/>
              <a:t>Reduce the number of stored objects – keep only cluster centers.</a:t>
            </a: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7682694" y="3137118"/>
            <a:ext cx="4337593" cy="1815882"/>
          </a:xfrm>
          <a:prstGeom prst="rect">
            <a:avLst/>
          </a:prstGeom>
          <a:solidFill>
            <a:srgbClr val="FFFF66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sz="2800" dirty="0">
                <a:solidFill>
                  <a:schemeClr val="tx2"/>
                </a:solidFill>
              </a:rPr>
              <a:t>Clustering algorithms reveal the structure of classes in feature space and are used in unsupervised training.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171700" y="2686050"/>
            <a:ext cx="4425406" cy="3714750"/>
            <a:chOff x="720" y="1920"/>
            <a:chExt cx="2419" cy="1824"/>
          </a:xfrm>
        </p:grpSpPr>
        <p:sp>
          <p:nvSpPr>
            <p:cNvPr id="13318" name="Line 6"/>
            <p:cNvSpPr>
              <a:spLocks noChangeShapeType="1"/>
            </p:cNvSpPr>
            <p:nvPr/>
          </p:nvSpPr>
          <p:spPr bwMode="auto">
            <a:xfrm flipV="1">
              <a:off x="720" y="2114"/>
              <a:ext cx="0" cy="16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en-US" sz="2400"/>
            </a:p>
          </p:txBody>
        </p:sp>
        <p:sp>
          <p:nvSpPr>
            <p:cNvPr id="13319" name="Line 7"/>
            <p:cNvSpPr>
              <a:spLocks noChangeShapeType="1"/>
            </p:cNvSpPr>
            <p:nvPr/>
          </p:nvSpPr>
          <p:spPr bwMode="auto">
            <a:xfrm>
              <a:off x="720" y="3744"/>
              <a:ext cx="23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en-US" sz="2400"/>
            </a:p>
          </p:txBody>
        </p:sp>
        <p:sp>
          <p:nvSpPr>
            <p:cNvPr id="13320" name="Oval 8"/>
            <p:cNvSpPr>
              <a:spLocks noChangeArrowheads="1"/>
            </p:cNvSpPr>
            <p:nvPr/>
          </p:nvSpPr>
          <p:spPr bwMode="auto">
            <a:xfrm>
              <a:off x="1106" y="2386"/>
              <a:ext cx="77" cy="6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13321" name="Oval 9"/>
            <p:cNvSpPr>
              <a:spLocks noChangeArrowheads="1"/>
            </p:cNvSpPr>
            <p:nvPr/>
          </p:nvSpPr>
          <p:spPr bwMode="auto">
            <a:xfrm>
              <a:off x="1440" y="2688"/>
              <a:ext cx="76" cy="6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13322" name="Oval 10"/>
            <p:cNvSpPr>
              <a:spLocks noChangeArrowheads="1"/>
            </p:cNvSpPr>
            <p:nvPr/>
          </p:nvSpPr>
          <p:spPr bwMode="auto">
            <a:xfrm>
              <a:off x="1392" y="2976"/>
              <a:ext cx="76" cy="6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13323" name="Oval 11"/>
            <p:cNvSpPr>
              <a:spLocks noChangeArrowheads="1"/>
            </p:cNvSpPr>
            <p:nvPr/>
          </p:nvSpPr>
          <p:spPr bwMode="auto">
            <a:xfrm>
              <a:off x="952" y="2861"/>
              <a:ext cx="77" cy="6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13324" name="Oval 12"/>
            <p:cNvSpPr>
              <a:spLocks noChangeArrowheads="1"/>
            </p:cNvSpPr>
            <p:nvPr/>
          </p:nvSpPr>
          <p:spPr bwMode="auto">
            <a:xfrm>
              <a:off x="1106" y="3065"/>
              <a:ext cx="77" cy="6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grpSp>
          <p:nvGrpSpPr>
            <p:cNvPr id="3" name="Group 13"/>
            <p:cNvGrpSpPr>
              <a:grpSpLocks/>
            </p:cNvGrpSpPr>
            <p:nvPr/>
          </p:nvGrpSpPr>
          <p:grpSpPr bwMode="auto">
            <a:xfrm>
              <a:off x="2400" y="2592"/>
              <a:ext cx="155" cy="136"/>
              <a:chOff x="2880" y="2928"/>
              <a:chExt cx="96" cy="96"/>
            </a:xfrm>
          </p:grpSpPr>
          <p:sp>
            <p:nvSpPr>
              <p:cNvPr id="13368" name="Line 14"/>
              <p:cNvSpPr>
                <a:spLocks noChangeShapeType="1"/>
              </p:cNvSpPr>
              <p:nvPr/>
            </p:nvSpPr>
            <p:spPr bwMode="auto">
              <a:xfrm>
                <a:off x="2880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  <p:sp>
            <p:nvSpPr>
              <p:cNvPr id="13369" name="Line 15"/>
              <p:cNvSpPr>
                <a:spLocks noChangeShapeType="1"/>
              </p:cNvSpPr>
              <p:nvPr/>
            </p:nvSpPr>
            <p:spPr bwMode="auto">
              <a:xfrm>
                <a:off x="2928" y="29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</p:grpSp>
        <p:grpSp>
          <p:nvGrpSpPr>
            <p:cNvPr id="4" name="Group 16"/>
            <p:cNvGrpSpPr>
              <a:grpSpLocks/>
            </p:cNvGrpSpPr>
            <p:nvPr/>
          </p:nvGrpSpPr>
          <p:grpSpPr bwMode="auto">
            <a:xfrm>
              <a:off x="1957" y="3201"/>
              <a:ext cx="153" cy="136"/>
              <a:chOff x="2880" y="2928"/>
              <a:chExt cx="96" cy="96"/>
            </a:xfrm>
          </p:grpSpPr>
          <p:sp>
            <p:nvSpPr>
              <p:cNvPr id="13366" name="Line 17"/>
              <p:cNvSpPr>
                <a:spLocks noChangeShapeType="1"/>
              </p:cNvSpPr>
              <p:nvPr/>
            </p:nvSpPr>
            <p:spPr bwMode="auto">
              <a:xfrm>
                <a:off x="2880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  <p:sp>
            <p:nvSpPr>
              <p:cNvPr id="13367" name="Line 18"/>
              <p:cNvSpPr>
                <a:spLocks noChangeShapeType="1"/>
              </p:cNvSpPr>
              <p:nvPr/>
            </p:nvSpPr>
            <p:spPr bwMode="auto">
              <a:xfrm>
                <a:off x="2928" y="29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</p:grpSp>
        <p:grpSp>
          <p:nvGrpSpPr>
            <p:cNvPr id="5" name="Group 19"/>
            <p:cNvGrpSpPr>
              <a:grpSpLocks/>
            </p:cNvGrpSpPr>
            <p:nvPr/>
          </p:nvGrpSpPr>
          <p:grpSpPr bwMode="auto">
            <a:xfrm>
              <a:off x="2420" y="3132"/>
              <a:ext cx="154" cy="136"/>
              <a:chOff x="2880" y="2928"/>
              <a:chExt cx="96" cy="96"/>
            </a:xfrm>
          </p:grpSpPr>
          <p:sp>
            <p:nvSpPr>
              <p:cNvPr id="13364" name="Line 20"/>
              <p:cNvSpPr>
                <a:spLocks noChangeShapeType="1"/>
              </p:cNvSpPr>
              <p:nvPr/>
            </p:nvSpPr>
            <p:spPr bwMode="auto">
              <a:xfrm>
                <a:off x="2880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  <p:sp>
            <p:nvSpPr>
              <p:cNvPr id="13365" name="Line 21"/>
              <p:cNvSpPr>
                <a:spLocks noChangeShapeType="1"/>
              </p:cNvSpPr>
              <p:nvPr/>
            </p:nvSpPr>
            <p:spPr bwMode="auto">
              <a:xfrm>
                <a:off x="2928" y="29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</p:grpSp>
        <p:grpSp>
          <p:nvGrpSpPr>
            <p:cNvPr id="6" name="Group 22"/>
            <p:cNvGrpSpPr>
              <a:grpSpLocks/>
            </p:cNvGrpSpPr>
            <p:nvPr/>
          </p:nvGrpSpPr>
          <p:grpSpPr bwMode="auto">
            <a:xfrm>
              <a:off x="2729" y="2996"/>
              <a:ext cx="154" cy="136"/>
              <a:chOff x="2880" y="2928"/>
              <a:chExt cx="96" cy="96"/>
            </a:xfrm>
          </p:grpSpPr>
          <p:sp>
            <p:nvSpPr>
              <p:cNvPr id="13362" name="Line 23"/>
              <p:cNvSpPr>
                <a:spLocks noChangeShapeType="1"/>
              </p:cNvSpPr>
              <p:nvPr/>
            </p:nvSpPr>
            <p:spPr bwMode="auto">
              <a:xfrm>
                <a:off x="2880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  <p:sp>
            <p:nvSpPr>
              <p:cNvPr id="13363" name="Line 24"/>
              <p:cNvSpPr>
                <a:spLocks noChangeShapeType="1"/>
              </p:cNvSpPr>
              <p:nvPr/>
            </p:nvSpPr>
            <p:spPr bwMode="auto">
              <a:xfrm>
                <a:off x="2928" y="29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</p:grpSp>
        <p:grpSp>
          <p:nvGrpSpPr>
            <p:cNvPr id="7" name="Group 25"/>
            <p:cNvGrpSpPr>
              <a:grpSpLocks/>
            </p:cNvGrpSpPr>
            <p:nvPr/>
          </p:nvGrpSpPr>
          <p:grpSpPr bwMode="auto">
            <a:xfrm>
              <a:off x="2256" y="2784"/>
              <a:ext cx="155" cy="135"/>
              <a:chOff x="2880" y="2928"/>
              <a:chExt cx="96" cy="96"/>
            </a:xfrm>
          </p:grpSpPr>
          <p:sp>
            <p:nvSpPr>
              <p:cNvPr id="13360" name="Line 26"/>
              <p:cNvSpPr>
                <a:spLocks noChangeShapeType="1"/>
              </p:cNvSpPr>
              <p:nvPr/>
            </p:nvSpPr>
            <p:spPr bwMode="auto">
              <a:xfrm>
                <a:off x="2880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  <p:sp>
            <p:nvSpPr>
              <p:cNvPr id="13361" name="Line 27"/>
              <p:cNvSpPr>
                <a:spLocks noChangeShapeType="1"/>
              </p:cNvSpPr>
              <p:nvPr/>
            </p:nvSpPr>
            <p:spPr bwMode="auto">
              <a:xfrm>
                <a:off x="2928" y="29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</p:grpSp>
        <p:sp>
          <p:nvSpPr>
            <p:cNvPr id="13330" name="Text Box 28"/>
            <p:cNvSpPr txBox="1">
              <a:spLocks noChangeArrowheads="1"/>
            </p:cNvSpPr>
            <p:nvPr/>
          </p:nvSpPr>
          <p:spPr bwMode="auto">
            <a:xfrm>
              <a:off x="936" y="1920"/>
              <a:ext cx="613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dirty="0">
                  <a:latin typeface="Arial" charset="0"/>
                </a:rPr>
                <a:t>Cluster A</a:t>
              </a:r>
            </a:p>
          </p:txBody>
        </p:sp>
        <p:sp>
          <p:nvSpPr>
            <p:cNvPr id="13331" name="Text Box 29"/>
            <p:cNvSpPr txBox="1">
              <a:spLocks noChangeArrowheads="1"/>
            </p:cNvSpPr>
            <p:nvPr/>
          </p:nvSpPr>
          <p:spPr bwMode="auto">
            <a:xfrm>
              <a:off x="2519" y="2016"/>
              <a:ext cx="620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dirty="0">
                  <a:latin typeface="Arial" charset="0"/>
                </a:rPr>
                <a:t>Cluster B</a:t>
              </a:r>
            </a:p>
          </p:txBody>
        </p:sp>
        <p:sp>
          <p:nvSpPr>
            <p:cNvPr id="13332" name="Oval 30"/>
            <p:cNvSpPr>
              <a:spLocks noChangeArrowheads="1"/>
            </p:cNvSpPr>
            <p:nvPr/>
          </p:nvSpPr>
          <p:spPr bwMode="auto">
            <a:xfrm>
              <a:off x="1829" y="2351"/>
              <a:ext cx="111" cy="108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13333" name="Line 31"/>
            <p:cNvSpPr>
              <a:spLocks noChangeShapeType="1"/>
            </p:cNvSpPr>
            <p:nvPr/>
          </p:nvSpPr>
          <p:spPr bwMode="auto">
            <a:xfrm flipV="1">
              <a:off x="1296" y="2459"/>
              <a:ext cx="533" cy="2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anchor="ctr"/>
            <a:lstStyle/>
            <a:p>
              <a:endParaRPr lang="en-US" sz="2400"/>
            </a:p>
          </p:txBody>
        </p:sp>
        <p:sp>
          <p:nvSpPr>
            <p:cNvPr id="13334" name="Line 32"/>
            <p:cNvSpPr>
              <a:spLocks noChangeShapeType="1"/>
            </p:cNvSpPr>
            <p:nvPr/>
          </p:nvSpPr>
          <p:spPr bwMode="auto">
            <a:xfrm>
              <a:off x="1940" y="2459"/>
              <a:ext cx="588" cy="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anchor="ctr"/>
            <a:lstStyle/>
            <a:p>
              <a:endParaRPr lang="en-US" sz="2400"/>
            </a:p>
          </p:txBody>
        </p:sp>
        <p:grpSp>
          <p:nvGrpSpPr>
            <p:cNvPr id="8" name="Group 33"/>
            <p:cNvGrpSpPr>
              <a:grpSpLocks/>
            </p:cNvGrpSpPr>
            <p:nvPr/>
          </p:nvGrpSpPr>
          <p:grpSpPr bwMode="auto">
            <a:xfrm>
              <a:off x="2592" y="2352"/>
              <a:ext cx="155" cy="136"/>
              <a:chOff x="2880" y="2928"/>
              <a:chExt cx="96" cy="96"/>
            </a:xfrm>
          </p:grpSpPr>
          <p:sp>
            <p:nvSpPr>
              <p:cNvPr id="13358" name="Line 34"/>
              <p:cNvSpPr>
                <a:spLocks noChangeShapeType="1"/>
              </p:cNvSpPr>
              <p:nvPr/>
            </p:nvSpPr>
            <p:spPr bwMode="auto">
              <a:xfrm>
                <a:off x="2880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  <p:sp>
            <p:nvSpPr>
              <p:cNvPr id="13359" name="Line 35"/>
              <p:cNvSpPr>
                <a:spLocks noChangeShapeType="1"/>
              </p:cNvSpPr>
              <p:nvPr/>
            </p:nvSpPr>
            <p:spPr bwMode="auto">
              <a:xfrm>
                <a:off x="2928" y="29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</p:grpSp>
        <p:grpSp>
          <p:nvGrpSpPr>
            <p:cNvPr id="9" name="Group 36"/>
            <p:cNvGrpSpPr>
              <a:grpSpLocks/>
            </p:cNvGrpSpPr>
            <p:nvPr/>
          </p:nvGrpSpPr>
          <p:grpSpPr bwMode="auto">
            <a:xfrm>
              <a:off x="2880" y="2544"/>
              <a:ext cx="155" cy="136"/>
              <a:chOff x="2880" y="2928"/>
              <a:chExt cx="96" cy="96"/>
            </a:xfrm>
          </p:grpSpPr>
          <p:sp>
            <p:nvSpPr>
              <p:cNvPr id="13356" name="Line 37"/>
              <p:cNvSpPr>
                <a:spLocks noChangeShapeType="1"/>
              </p:cNvSpPr>
              <p:nvPr/>
            </p:nvSpPr>
            <p:spPr bwMode="auto">
              <a:xfrm>
                <a:off x="2880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  <p:sp>
            <p:nvSpPr>
              <p:cNvPr id="13357" name="Line 38"/>
              <p:cNvSpPr>
                <a:spLocks noChangeShapeType="1"/>
              </p:cNvSpPr>
              <p:nvPr/>
            </p:nvSpPr>
            <p:spPr bwMode="auto">
              <a:xfrm>
                <a:off x="2928" y="29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</p:grpSp>
        <p:grpSp>
          <p:nvGrpSpPr>
            <p:cNvPr id="10" name="Group 39"/>
            <p:cNvGrpSpPr>
              <a:grpSpLocks/>
            </p:cNvGrpSpPr>
            <p:nvPr/>
          </p:nvGrpSpPr>
          <p:grpSpPr bwMode="auto">
            <a:xfrm>
              <a:off x="2688" y="2736"/>
              <a:ext cx="155" cy="136"/>
              <a:chOff x="2880" y="2928"/>
              <a:chExt cx="96" cy="96"/>
            </a:xfrm>
          </p:grpSpPr>
          <p:sp>
            <p:nvSpPr>
              <p:cNvPr id="13354" name="Line 40"/>
              <p:cNvSpPr>
                <a:spLocks noChangeShapeType="1"/>
              </p:cNvSpPr>
              <p:nvPr/>
            </p:nvSpPr>
            <p:spPr bwMode="auto">
              <a:xfrm>
                <a:off x="2880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  <p:sp>
            <p:nvSpPr>
              <p:cNvPr id="13355" name="Line 41"/>
              <p:cNvSpPr>
                <a:spLocks noChangeShapeType="1"/>
              </p:cNvSpPr>
              <p:nvPr/>
            </p:nvSpPr>
            <p:spPr bwMode="auto">
              <a:xfrm>
                <a:off x="2928" y="29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</p:grpSp>
        <p:grpSp>
          <p:nvGrpSpPr>
            <p:cNvPr id="11" name="Group 42"/>
            <p:cNvGrpSpPr>
              <a:grpSpLocks/>
            </p:cNvGrpSpPr>
            <p:nvPr/>
          </p:nvGrpSpPr>
          <p:grpSpPr bwMode="auto">
            <a:xfrm>
              <a:off x="2640" y="2544"/>
              <a:ext cx="155" cy="144"/>
              <a:chOff x="2640" y="2544"/>
              <a:chExt cx="155" cy="144"/>
            </a:xfrm>
          </p:grpSpPr>
          <p:grpSp>
            <p:nvGrpSpPr>
              <p:cNvPr id="12" name="Group 43"/>
              <p:cNvGrpSpPr>
                <a:grpSpLocks/>
              </p:cNvGrpSpPr>
              <p:nvPr/>
            </p:nvGrpSpPr>
            <p:grpSpPr bwMode="auto">
              <a:xfrm>
                <a:off x="2640" y="2544"/>
                <a:ext cx="155" cy="136"/>
                <a:chOff x="2880" y="2928"/>
                <a:chExt cx="96" cy="96"/>
              </a:xfrm>
            </p:grpSpPr>
            <p:sp>
              <p:nvSpPr>
                <p:cNvPr id="13352" name="Line 44"/>
                <p:cNvSpPr>
                  <a:spLocks noChangeShapeType="1"/>
                </p:cNvSpPr>
                <p:nvPr/>
              </p:nvSpPr>
              <p:spPr bwMode="auto">
                <a:xfrm>
                  <a:off x="2880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endParaRPr lang="en-US" sz="2400"/>
                </a:p>
              </p:txBody>
            </p:sp>
            <p:sp>
              <p:nvSpPr>
                <p:cNvPr id="13353" name="Line 45"/>
                <p:cNvSpPr>
                  <a:spLocks noChangeShapeType="1"/>
                </p:cNvSpPr>
                <p:nvPr/>
              </p:nvSpPr>
              <p:spPr bwMode="auto">
                <a:xfrm>
                  <a:off x="2928" y="2928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endParaRPr lang="en-US" sz="2400"/>
                </a:p>
              </p:txBody>
            </p:sp>
          </p:grpSp>
          <p:sp>
            <p:nvSpPr>
              <p:cNvPr id="13351" name="Oval 46"/>
              <p:cNvSpPr>
                <a:spLocks noChangeArrowheads="1"/>
              </p:cNvSpPr>
              <p:nvPr/>
            </p:nvSpPr>
            <p:spPr bwMode="auto">
              <a:xfrm>
                <a:off x="2640" y="2544"/>
                <a:ext cx="144" cy="14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</p:grpSp>
        <p:grpSp>
          <p:nvGrpSpPr>
            <p:cNvPr id="13" name="Group 47"/>
            <p:cNvGrpSpPr>
              <a:grpSpLocks/>
            </p:cNvGrpSpPr>
            <p:nvPr/>
          </p:nvGrpSpPr>
          <p:grpSpPr bwMode="auto">
            <a:xfrm>
              <a:off x="2832" y="2352"/>
              <a:ext cx="155" cy="136"/>
              <a:chOff x="2880" y="2928"/>
              <a:chExt cx="96" cy="96"/>
            </a:xfrm>
          </p:grpSpPr>
          <p:sp>
            <p:nvSpPr>
              <p:cNvPr id="13348" name="Line 48"/>
              <p:cNvSpPr>
                <a:spLocks noChangeShapeType="1"/>
              </p:cNvSpPr>
              <p:nvPr/>
            </p:nvSpPr>
            <p:spPr bwMode="auto">
              <a:xfrm>
                <a:off x="2880" y="29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  <p:sp>
            <p:nvSpPr>
              <p:cNvPr id="13349" name="Line 49"/>
              <p:cNvSpPr>
                <a:spLocks noChangeShapeType="1"/>
              </p:cNvSpPr>
              <p:nvPr/>
            </p:nvSpPr>
            <p:spPr bwMode="auto">
              <a:xfrm>
                <a:off x="2928" y="29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 sz="2400"/>
              </a:p>
            </p:txBody>
          </p:sp>
        </p:grpSp>
        <p:grpSp>
          <p:nvGrpSpPr>
            <p:cNvPr id="14" name="Group 50"/>
            <p:cNvGrpSpPr>
              <a:grpSpLocks/>
            </p:cNvGrpSpPr>
            <p:nvPr/>
          </p:nvGrpSpPr>
          <p:grpSpPr bwMode="auto">
            <a:xfrm>
              <a:off x="2400" y="2976"/>
              <a:ext cx="155" cy="144"/>
              <a:chOff x="2640" y="2544"/>
              <a:chExt cx="155" cy="144"/>
            </a:xfrm>
          </p:grpSpPr>
          <p:grpSp>
            <p:nvGrpSpPr>
              <p:cNvPr id="15" name="Group 51"/>
              <p:cNvGrpSpPr>
                <a:grpSpLocks/>
              </p:cNvGrpSpPr>
              <p:nvPr/>
            </p:nvGrpSpPr>
            <p:grpSpPr bwMode="auto">
              <a:xfrm>
                <a:off x="2640" y="2544"/>
                <a:ext cx="155" cy="136"/>
                <a:chOff x="2880" y="2928"/>
                <a:chExt cx="96" cy="96"/>
              </a:xfrm>
            </p:grpSpPr>
            <p:sp>
              <p:nvSpPr>
                <p:cNvPr id="13346" name="Line 52"/>
                <p:cNvSpPr>
                  <a:spLocks noChangeShapeType="1"/>
                </p:cNvSpPr>
                <p:nvPr/>
              </p:nvSpPr>
              <p:spPr bwMode="auto">
                <a:xfrm>
                  <a:off x="2880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endParaRPr lang="en-US" sz="2400"/>
                </a:p>
              </p:txBody>
            </p:sp>
            <p:sp>
              <p:nvSpPr>
                <p:cNvPr id="13347" name="Line 53"/>
                <p:cNvSpPr>
                  <a:spLocks noChangeShapeType="1"/>
                </p:cNvSpPr>
                <p:nvPr/>
              </p:nvSpPr>
              <p:spPr bwMode="auto">
                <a:xfrm>
                  <a:off x="2928" y="2928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endParaRPr lang="en-US" sz="2400"/>
                </a:p>
              </p:txBody>
            </p:sp>
          </p:grpSp>
          <p:sp>
            <p:nvSpPr>
              <p:cNvPr id="13345" name="Oval 54"/>
              <p:cNvSpPr>
                <a:spLocks noChangeArrowheads="1"/>
              </p:cNvSpPr>
              <p:nvPr/>
            </p:nvSpPr>
            <p:spPr bwMode="auto">
              <a:xfrm>
                <a:off x="2640" y="2544"/>
                <a:ext cx="144" cy="14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</p:grpSp>
        <p:grpSp>
          <p:nvGrpSpPr>
            <p:cNvPr id="16" name="Group 55"/>
            <p:cNvGrpSpPr>
              <a:grpSpLocks/>
            </p:cNvGrpSpPr>
            <p:nvPr/>
          </p:nvGrpSpPr>
          <p:grpSpPr bwMode="auto">
            <a:xfrm>
              <a:off x="1152" y="2688"/>
              <a:ext cx="144" cy="144"/>
              <a:chOff x="1104" y="2640"/>
              <a:chExt cx="144" cy="144"/>
            </a:xfrm>
          </p:grpSpPr>
          <p:sp>
            <p:nvSpPr>
              <p:cNvPr id="13342" name="Oval 56"/>
              <p:cNvSpPr>
                <a:spLocks noChangeArrowheads="1"/>
              </p:cNvSpPr>
              <p:nvPr/>
            </p:nvSpPr>
            <p:spPr bwMode="auto">
              <a:xfrm>
                <a:off x="1152" y="2688"/>
                <a:ext cx="48" cy="4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13343" name="Oval 57"/>
              <p:cNvSpPr>
                <a:spLocks noChangeArrowheads="1"/>
              </p:cNvSpPr>
              <p:nvPr/>
            </p:nvSpPr>
            <p:spPr bwMode="auto">
              <a:xfrm>
                <a:off x="1104" y="2640"/>
                <a:ext cx="144" cy="14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</p:grpSp>
      </p:grpSp>
      <p:sp>
        <p:nvSpPr>
          <p:cNvPr id="58" name="Oval 57"/>
          <p:cNvSpPr/>
          <p:nvPr/>
        </p:nvSpPr>
        <p:spPr>
          <a:xfrm>
            <a:off x="5562600" y="4800600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3505200" y="4648200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Pattern Recognition and Machines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Primary objective</a:t>
            </a:r>
            <a:r>
              <a:rPr lang="en-US" dirty="0" smtClean="0"/>
              <a:t>:</a:t>
            </a:r>
          </a:p>
          <a:p>
            <a:pPr lvl="1"/>
            <a:r>
              <a:rPr lang="en-US" dirty="0"/>
              <a:t>To give AI systems the ability to recognize and understand complicated patterns on their own, so they can do things like speech and image recognition, language translation, and predictive analysis. </a:t>
            </a:r>
            <a:endParaRPr lang="en-US" dirty="0" smtClean="0"/>
          </a:p>
          <a:p>
            <a:pPr lvl="1"/>
            <a:r>
              <a:rPr lang="en-US" dirty="0" smtClean="0"/>
              <a:t>Pattern </a:t>
            </a:r>
            <a:r>
              <a:rPr lang="en-US" dirty="0"/>
              <a:t>recognition functions as a crucial process enabling AI systems to generalize from training data and make informed decisions when confronted with novel, unseen </a:t>
            </a:r>
            <a:r>
              <a:rPr lang="en-US" dirty="0" smtClean="0"/>
              <a:t>information.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1855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Pattern Recognition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046" y="1825625"/>
            <a:ext cx="6574616" cy="42561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84907" y="6311900"/>
            <a:ext cx="3322619" cy="312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Source:  </a:t>
            </a:r>
            <a:r>
              <a:rPr lang="en-US" sz="1400" dirty="0">
                <a:hlinkClick r:id="rId3"/>
              </a:rPr>
              <a:t>https://www.scaler.com</a:t>
            </a:r>
            <a:r>
              <a:rPr lang="en-US" sz="1400" dirty="0" smtClean="0">
                <a:hlinkClick r:id="rId3"/>
              </a:rPr>
              <a:t>/</a:t>
            </a:r>
            <a:r>
              <a:rPr lang="en-US" sz="1400" dirty="0" smtClean="0"/>
              <a:t>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677868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Example</a:t>
            </a:r>
            <a:r>
              <a:rPr lang="en-US" sz="4000" dirty="0"/>
              <a:t>: Text and Symbolic Pattern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719391" cy="4745296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Word </a:t>
            </a:r>
            <a:r>
              <a:rPr lang="en-US" b="1" dirty="0" err="1"/>
              <a:t>Embeddings</a:t>
            </a:r>
            <a:r>
              <a:rPr lang="en-US" dirty="0"/>
              <a:t>: </a:t>
            </a:r>
            <a:r>
              <a:rPr lang="en-US" dirty="0" smtClean="0"/>
              <a:t>these are representations of </a:t>
            </a:r>
            <a:r>
              <a:rPr lang="en-US" dirty="0"/>
              <a:t>words as vectors in a continuous space, are frequently used in text and symbolic pattern recognition applications. This makes it possible for machines to understand the meaning connections between words.</a:t>
            </a:r>
          </a:p>
          <a:p>
            <a:r>
              <a:rPr lang="en-US" b="1" dirty="0" smtClean="0"/>
              <a:t>Sentiment </a:t>
            </a:r>
            <a:r>
              <a:rPr lang="en-US" b="1" dirty="0"/>
              <a:t>Analysis</a:t>
            </a:r>
            <a:r>
              <a:rPr lang="en-US" dirty="0"/>
              <a:t>: Uses text pattern recognition to identify the sentiment conveyed in textual content, like social media posts or customer evaluations.</a:t>
            </a:r>
          </a:p>
          <a:p>
            <a:r>
              <a:rPr lang="en-US" b="1" dirty="0" smtClean="0"/>
              <a:t>Named </a:t>
            </a:r>
            <a:r>
              <a:rPr lang="en-US" b="1" dirty="0"/>
              <a:t>Entity Recognition (NER): </a:t>
            </a:r>
            <a:r>
              <a:rPr lang="en-US" dirty="0"/>
              <a:t>is a text pattern recognition task that entails locating and categorizing entities in a text, such as names of individuals, places, or organizations.</a:t>
            </a:r>
          </a:p>
          <a:p>
            <a:r>
              <a:rPr lang="en-US" b="1" dirty="0" smtClean="0"/>
              <a:t>Language </a:t>
            </a:r>
            <a:r>
              <a:rPr lang="en-US" b="1" dirty="0"/>
              <a:t>Translation</a:t>
            </a:r>
            <a:r>
              <a:rPr lang="en-US" dirty="0"/>
              <a:t>: In order for systems to comprehend the syntactic and semantic structures of sentences in other languages, pattern recognition is essential in language translation jobs.</a:t>
            </a:r>
          </a:p>
          <a:p>
            <a:r>
              <a:rPr lang="en-US" b="1" dirty="0" smtClean="0"/>
              <a:t>Document </a:t>
            </a:r>
            <a:r>
              <a:rPr lang="en-US" b="1" dirty="0"/>
              <a:t>Classification</a:t>
            </a:r>
            <a:r>
              <a:rPr lang="en-US" dirty="0"/>
              <a:t>: Text pattern recognition is used in document processing to categorize documents into pre-established groups, making information retrieval and organization more effective.</a:t>
            </a:r>
          </a:p>
          <a:p>
            <a:r>
              <a:rPr lang="en-US" b="1" dirty="0" smtClean="0"/>
              <a:t>Topic </a:t>
            </a:r>
            <a:r>
              <a:rPr lang="en-US" b="1" dirty="0"/>
              <a:t>Modeling</a:t>
            </a:r>
            <a:r>
              <a:rPr lang="en-US" dirty="0"/>
              <a:t>: For topic modeling in text data, methods like as Latent </a:t>
            </a:r>
            <a:r>
              <a:rPr lang="en-US" dirty="0" err="1"/>
              <a:t>Dirichlet</a:t>
            </a:r>
            <a:r>
              <a:rPr lang="en-US" dirty="0"/>
              <a:t> Allocation (LDA) are employed to find underlying themes or topics in a set of texts.</a:t>
            </a:r>
          </a:p>
        </p:txBody>
      </p:sp>
    </p:spTree>
    <p:extLst>
      <p:ext uri="{BB962C8B-B14F-4D97-AF65-F5344CB8AC3E}">
        <p14:creationId xmlns:p14="http://schemas.microsoft.com/office/powerpoint/2010/main" val="35356061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Example</a:t>
            </a:r>
            <a:r>
              <a:rPr lang="en-US" sz="4000" dirty="0"/>
              <a:t>: Biometric Pattern </a:t>
            </a:r>
            <a:r>
              <a:rPr lang="en-US" sz="4000" dirty="0" smtClean="0"/>
              <a:t>Recognition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740656" cy="4752642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Fingerprint Recognition</a:t>
            </a:r>
            <a:r>
              <a:rPr lang="en-US" dirty="0"/>
              <a:t>: this involves identification of unique patterns in the ridges and valleys of fingerprints. A widely used biometric technique in secure access and identification.</a:t>
            </a:r>
          </a:p>
          <a:p>
            <a:r>
              <a:rPr lang="en-US" b="1" dirty="0" smtClean="0"/>
              <a:t>Iris </a:t>
            </a:r>
            <a:r>
              <a:rPr lang="en-US" b="1" dirty="0"/>
              <a:t>Recognition</a:t>
            </a:r>
            <a:r>
              <a:rPr lang="en-US" dirty="0"/>
              <a:t>: Iris identification depends on the distinct patterns found in the eye's iris. It is utilized in applications needing strict security measures and is renowned for its great precision.</a:t>
            </a:r>
          </a:p>
          <a:p>
            <a:r>
              <a:rPr lang="en-US" b="1" dirty="0" smtClean="0"/>
              <a:t>Voice </a:t>
            </a:r>
            <a:r>
              <a:rPr lang="en-US" b="1" dirty="0"/>
              <a:t>Authentication</a:t>
            </a:r>
            <a:r>
              <a:rPr lang="en-US" dirty="0"/>
              <a:t>: In speech authentication, biometric pattern recognition examines vocal traits to identify users, providing a practical and safe way to manage access.</a:t>
            </a:r>
          </a:p>
          <a:p>
            <a:r>
              <a:rPr lang="en-US" b="1" dirty="0" smtClean="0"/>
              <a:t>Gait </a:t>
            </a:r>
            <a:r>
              <a:rPr lang="en-US" b="1" dirty="0"/>
              <a:t>Recognition</a:t>
            </a:r>
            <a:r>
              <a:rPr lang="en-US" dirty="0"/>
              <a:t>: Analyzing each person's distinct gait is part of gait recognition. There are uses for this biometric modality in security and surveillance systems.</a:t>
            </a:r>
          </a:p>
          <a:p>
            <a:r>
              <a:rPr lang="en-US" b="1" dirty="0" err="1" smtClean="0"/>
              <a:t>Behavioural</a:t>
            </a:r>
            <a:r>
              <a:rPr lang="en-US" b="1" dirty="0" smtClean="0"/>
              <a:t> </a:t>
            </a:r>
            <a:r>
              <a:rPr lang="en-US" b="1" dirty="0"/>
              <a:t>Biometrics</a:t>
            </a:r>
            <a:r>
              <a:rPr lang="en-US" dirty="0" smtClean="0"/>
              <a:t>: Additional </a:t>
            </a:r>
            <a:r>
              <a:rPr lang="en-US" dirty="0"/>
              <a:t>levels of security in authentication are provided by biometric pattern recognition, which also extends to behavioral characteristics like keystroke dynamics or signature analysis.</a:t>
            </a:r>
          </a:p>
          <a:p>
            <a:r>
              <a:rPr lang="en-US" b="1" dirty="0" smtClean="0"/>
              <a:t>Multi-Modal </a:t>
            </a:r>
            <a:r>
              <a:rPr lang="en-US" b="1" dirty="0"/>
              <a:t>Biometrics</a:t>
            </a:r>
            <a:r>
              <a:rPr lang="en-US" dirty="0"/>
              <a:t>: Combining different biometric modalities, such fingerprint and face recognition, improves identification systems' overall robustness and accuracy.</a:t>
            </a:r>
          </a:p>
        </p:txBody>
      </p:sp>
    </p:spTree>
    <p:extLst>
      <p:ext uri="{BB962C8B-B14F-4D97-AF65-F5344CB8AC3E}">
        <p14:creationId xmlns:p14="http://schemas.microsoft.com/office/powerpoint/2010/main" val="38936184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Complete the 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 descr="Image result for missing patter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1600200"/>
            <a:ext cx="7793611" cy="2313432"/>
          </a:xfrm>
          <a:prstGeom prst="rect">
            <a:avLst/>
          </a:prstGeom>
          <a:noFill/>
        </p:spPr>
      </p:pic>
      <p:pic>
        <p:nvPicPr>
          <p:cNvPr id="2052" name="Picture 4" descr="Image result for missing patter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1" y="4114800"/>
            <a:ext cx="8553593" cy="2743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398229"/>
            <a:ext cx="11461898" cy="185960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According to human pathology by </a:t>
            </a:r>
            <a:r>
              <a:rPr lang="en-US" dirty="0" err="1"/>
              <a:t>Dr</a:t>
            </a:r>
            <a:r>
              <a:rPr lang="en-US" dirty="0"/>
              <a:t> </a:t>
            </a:r>
            <a:r>
              <a:rPr lang="en-US" dirty="0" err="1"/>
              <a:t>Thaimuta</a:t>
            </a:r>
            <a:r>
              <a:rPr lang="en-US" dirty="0"/>
              <a:t>, </a:t>
            </a:r>
            <a:r>
              <a:rPr lang="en-US" dirty="0" err="1"/>
              <a:t>Ocholla's</a:t>
            </a:r>
            <a:r>
              <a:rPr lang="en-US" dirty="0"/>
              <a:t> resemblance to Kenya’s third President is not an ordinary coincidence</a:t>
            </a:r>
            <a:r>
              <a:rPr lang="en-US" dirty="0" smtClean="0"/>
              <a:t>.  After </a:t>
            </a:r>
            <a:r>
              <a:rPr lang="en-US" dirty="0"/>
              <a:t>analysis of the anatomical features of both </a:t>
            </a:r>
            <a:r>
              <a:rPr lang="en-US" dirty="0" err="1"/>
              <a:t>Kibaki</a:t>
            </a:r>
            <a:r>
              <a:rPr lang="en-US" dirty="0"/>
              <a:t> and </a:t>
            </a:r>
            <a:r>
              <a:rPr lang="en-US" dirty="0" err="1"/>
              <a:t>Ocholla</a:t>
            </a:r>
            <a:r>
              <a:rPr lang="en-US" dirty="0"/>
              <a:t>, </a:t>
            </a:r>
            <a:r>
              <a:rPr lang="en-US" dirty="0" err="1"/>
              <a:t>Thaimuta</a:t>
            </a:r>
            <a:r>
              <a:rPr lang="en-US" dirty="0"/>
              <a:t> made observations which he placed before the Judge. </a:t>
            </a:r>
          </a:p>
          <a:p>
            <a:r>
              <a:rPr lang="en-US" dirty="0"/>
              <a:t>“The following items are distinctly identifiable: The craniofacial features and morphology of nose, forehead, eyelids and lips resemble. </a:t>
            </a:r>
            <a:r>
              <a:rPr lang="en-US" dirty="0" smtClean="0"/>
              <a:t>"</a:t>
            </a:r>
            <a:r>
              <a:rPr lang="en-US" dirty="0"/>
              <a:t>The cheeks and cheekbone are similar. Sustained eye contact and eye blinking are similar. The baldness between the compared photos is similar. Speech and lips movement (also show) similarity,”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94" y="0"/>
            <a:ext cx="7588584" cy="43982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57835"/>
            <a:ext cx="11578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Source: </a:t>
            </a:r>
            <a:r>
              <a:rPr lang="en-US" sz="1400" dirty="0">
                <a:hlinkClick r:id="rId3"/>
              </a:rPr>
              <a:t>https://</a:t>
            </a:r>
            <a:r>
              <a:rPr lang="en-US" sz="1400" dirty="0" smtClean="0">
                <a:hlinkClick r:id="rId3"/>
              </a:rPr>
              <a:t>www.kenyans.co.ke/news/86330-why-jacob-ocholla-resembles-mwai-kibaki-expert-compiles-medical-report</a:t>
            </a:r>
            <a:r>
              <a:rPr lang="en-US" sz="1400" dirty="0" smtClean="0"/>
              <a:t>  Date:1</a:t>
            </a:r>
            <a:r>
              <a:rPr lang="en-US" sz="1400" baseline="30000" dirty="0" smtClean="0"/>
              <a:t>st</a:t>
            </a:r>
            <a:r>
              <a:rPr lang="en-US" sz="1400" dirty="0" smtClean="0"/>
              <a:t> March 2023</a:t>
            </a:r>
            <a:endParaRPr lang="en-US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8006316" y="585215"/>
            <a:ext cx="3689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Task: </a:t>
            </a:r>
            <a:r>
              <a:rPr lang="en-US" sz="2800" dirty="0" smtClean="0"/>
              <a:t>Find the Pattern(s)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70573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3066</TotalTime>
  <Words>1379</Words>
  <Application>Microsoft Office PowerPoint</Application>
  <PresentationFormat>Widescreen</PresentationFormat>
  <Paragraphs>167</Paragraphs>
  <Slides>37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Arial</vt:lpstr>
      <vt:lpstr>Calibri</vt:lpstr>
      <vt:lpstr>Calibri Light</vt:lpstr>
      <vt:lpstr>新細明體</vt:lpstr>
      <vt:lpstr>Times New Roman</vt:lpstr>
      <vt:lpstr>Wingdings</vt:lpstr>
      <vt:lpstr>Office Theme</vt:lpstr>
      <vt:lpstr>Bitmap Image</vt:lpstr>
      <vt:lpstr>CSC229 Machine Learning Algorithms &amp; Programming</vt:lpstr>
      <vt:lpstr>Human Perception</vt:lpstr>
      <vt:lpstr>What is Pattern Recognition?</vt:lpstr>
      <vt:lpstr>Pattern recognition</vt:lpstr>
      <vt:lpstr>Pattern recognition</vt:lpstr>
      <vt:lpstr>Principles of Pattern Recognition</vt:lpstr>
      <vt:lpstr>Pattern recognition</vt:lpstr>
      <vt:lpstr>Which pattern is Next?</vt:lpstr>
      <vt:lpstr>Which pattern is Next?</vt:lpstr>
      <vt:lpstr>Which Next?</vt:lpstr>
      <vt:lpstr>Hand-written Numbers</vt:lpstr>
      <vt:lpstr>Weta</vt:lpstr>
      <vt:lpstr>Obama</vt:lpstr>
      <vt:lpstr>Recognition disrupted</vt:lpstr>
      <vt:lpstr>?</vt:lpstr>
      <vt:lpstr>?</vt:lpstr>
      <vt:lpstr>?</vt:lpstr>
      <vt:lpstr>PowerPoint Presentation</vt:lpstr>
      <vt:lpstr>Chinese Characters</vt:lpstr>
      <vt:lpstr>Unique patterns</vt:lpstr>
      <vt:lpstr>Pattern Recognition Theories/Techniques </vt:lpstr>
      <vt:lpstr>Template matching theories</vt:lpstr>
      <vt:lpstr>Feature Theory</vt:lpstr>
      <vt:lpstr>Pattern Recognition</vt:lpstr>
      <vt:lpstr>Pattern Recognition</vt:lpstr>
      <vt:lpstr>Features</vt:lpstr>
      <vt:lpstr>Guidelines for features</vt:lpstr>
      <vt:lpstr>Quick Task</vt:lpstr>
      <vt:lpstr>Distance between feature vectors</vt:lpstr>
      <vt:lpstr>Distance between feature vectors</vt:lpstr>
      <vt:lpstr>Clustering</vt:lpstr>
      <vt:lpstr>Pattern Recognition and Machines</vt:lpstr>
      <vt:lpstr>Types of Pattern Recognition</vt:lpstr>
      <vt:lpstr>Example: Text and Symbolic Pattern Recognition</vt:lpstr>
      <vt:lpstr>Example: Biometric Pattern Recognition</vt:lpstr>
      <vt:lpstr>Complete the pattern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CSC229 Machine Learning Algorithms &amp; Programming</dc:title>
  <dc:creator>pwwawacha</dc:creator>
  <cp:lastModifiedBy>pwwagacha</cp:lastModifiedBy>
  <cp:revision>37</cp:revision>
  <dcterms:created xsi:type="dcterms:W3CDTF">2021-02-10T15:32:25Z</dcterms:created>
  <dcterms:modified xsi:type="dcterms:W3CDTF">2026-02-19T10:44:22Z</dcterms:modified>
</cp:coreProperties>
</file>
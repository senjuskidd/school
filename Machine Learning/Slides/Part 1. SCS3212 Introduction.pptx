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8"/>
  </p:notesMasterIdLst>
  <p:sldIdLst>
    <p:sldId id="256" r:id="rId2"/>
    <p:sldId id="259" r:id="rId3"/>
    <p:sldId id="260" r:id="rId4"/>
    <p:sldId id="261" r:id="rId5"/>
    <p:sldId id="262" r:id="rId6"/>
    <p:sldId id="264" r:id="rId7"/>
    <p:sldId id="263" r:id="rId8"/>
    <p:sldId id="265" r:id="rId9"/>
    <p:sldId id="266" r:id="rId10"/>
    <p:sldId id="267" r:id="rId11"/>
    <p:sldId id="268" r:id="rId12"/>
    <p:sldId id="269" r:id="rId13"/>
    <p:sldId id="278" r:id="rId14"/>
    <p:sldId id="270" r:id="rId15"/>
    <p:sldId id="271" r:id="rId16"/>
    <p:sldId id="272" r:id="rId17"/>
    <p:sldId id="273" r:id="rId18"/>
    <p:sldId id="274" r:id="rId19"/>
    <p:sldId id="280" r:id="rId20"/>
    <p:sldId id="281" r:id="rId21"/>
    <p:sldId id="282" r:id="rId22"/>
    <p:sldId id="283" r:id="rId23"/>
    <p:sldId id="284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F2020-C4EE-4BF4-BF73-EBA293153FA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2BDE6-BB34-4D48-A783-B4F859B0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2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Grp2 23rdFeb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92BDE6-BB34-4D48-A783-B4F859B0EF3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13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E.G.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Tala</a:t>
            </a:r>
            <a:r>
              <a:rPr lang="en-US" baseline="0" dirty="0" smtClean="0"/>
              <a:t>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92BDE6-BB34-4D48-A783-B4F859B0EF3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30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T: Categorize email messages as spam or legitimate. P: Percentage of email messages correctly classified. E: Database of emails, some with human-given labels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92BDE6-BB34-4D48-A783-B4F859B0EF3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21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d7da156d6_2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6d7da156d6_2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8026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6d7da156d6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6d7da156d6_2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176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d7da156d6_2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6d7da156d6_2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765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5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3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1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33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15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2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01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14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95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64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81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01100" y="0"/>
            <a:ext cx="11360800" cy="8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1100" y="839100"/>
            <a:ext cx="1209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461900" y="6528800"/>
            <a:ext cx="731600" cy="3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473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6101E-8849-40D6-B56A-664AF4CE857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A8A22-EDAA-4D2A-821A-E49AC5318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6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0e2HAPTGF4" TargetMode="External"/><Relationship Id="rId2" Type="http://schemas.openxmlformats.org/officeDocument/2006/relationships/hyperlink" Target="https://youtu.be/IpGxLWOIZy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SCS3212 </a:t>
            </a:r>
            <a:r>
              <a:rPr lang="en-US" dirty="0"/>
              <a:t>Machine Learning Algorithms &amp;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29359"/>
            <a:ext cx="9144000" cy="1655762"/>
          </a:xfrm>
        </p:spPr>
        <p:txBody>
          <a:bodyPr>
            <a:noAutofit/>
          </a:bodyPr>
          <a:lstStyle/>
          <a:p>
            <a:r>
              <a:rPr lang="en-US" sz="2800" dirty="0"/>
              <a:t>Part </a:t>
            </a:r>
            <a:r>
              <a:rPr lang="en-US" sz="2800" dirty="0" smtClean="0"/>
              <a:t>1. Introduction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Peter </a:t>
            </a:r>
            <a:r>
              <a:rPr lang="en-US" sz="2800" dirty="0" err="1"/>
              <a:t>Waiganjo</a:t>
            </a:r>
            <a:r>
              <a:rPr lang="en-US" sz="2800" dirty="0"/>
              <a:t> </a:t>
            </a:r>
            <a:r>
              <a:rPr lang="en-US" sz="2800" dirty="0" err="1"/>
              <a:t>Wagacha</a:t>
            </a:r>
            <a:endParaRPr lang="en-US" sz="2800" dirty="0"/>
          </a:p>
          <a:p>
            <a:r>
              <a:rPr lang="en-US" sz="2800" dirty="0" smtClean="0"/>
              <a:t>2026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4687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&amp; Adaptation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2084832"/>
            <a:ext cx="10916235" cy="450735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”Modification of a behavioral tendency by expertise.”     (Webster, 1984)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”A learning machine, broadly defined is any device whose actions are influenced by past experiences.” (Nilsson, 1965)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“Learning is any process by which a system improves performance from experience.” - Herbert Simon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”Any change in a system that allows it to perform better the second time on repetition of the same task or on another task drawn from the same population.” (Simon, 1983)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”An improvement in information processing ability that results from information processing activity.” (</a:t>
            </a:r>
            <a:r>
              <a:rPr lang="en-US" sz="2800" dirty="0" err="1" smtClean="0"/>
              <a:t>Tanimoto</a:t>
            </a:r>
            <a:r>
              <a:rPr lang="en-US" sz="2800" dirty="0" smtClean="0"/>
              <a:t>, 1990)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Learn?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69440"/>
            <a:ext cx="10661053" cy="454152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tr-TR" sz="2800" dirty="0" smtClean="0">
                <a:solidFill>
                  <a:schemeClr val="accent5">
                    <a:lumMod val="75000"/>
                  </a:schemeClr>
                </a:solidFill>
              </a:rPr>
              <a:t>Machine learning </a:t>
            </a:r>
            <a:r>
              <a:rPr lang="tr-TR" sz="2800" b="1" dirty="0" smtClean="0">
                <a:solidFill>
                  <a:schemeClr val="accent5">
                    <a:lumMod val="75000"/>
                  </a:schemeClr>
                </a:solidFill>
              </a:rPr>
              <a:t>is programming computers to optimize a performance criterion using </a:t>
            </a:r>
            <a:r>
              <a:rPr lang="tr-TR" sz="2800" b="1" u="sng" dirty="0" smtClean="0">
                <a:solidFill>
                  <a:schemeClr val="accent5">
                    <a:lumMod val="75000"/>
                  </a:schemeClr>
                </a:solidFill>
              </a:rPr>
              <a:t>example data or past experience</a:t>
            </a:r>
            <a:r>
              <a:rPr lang="tr-TR" sz="2800" b="1" dirty="0" smtClean="0">
                <a:solidFill>
                  <a:schemeClr val="accent5">
                    <a:lumMod val="75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endParaRPr lang="en-US" sz="1800" dirty="0" smtClean="0"/>
          </a:p>
          <a:p>
            <a:pPr>
              <a:lnSpc>
                <a:spcPct val="90000"/>
              </a:lnSpc>
            </a:pPr>
            <a:r>
              <a:rPr lang="tr-TR" sz="2800" dirty="0" smtClean="0"/>
              <a:t>There is no need to “learn” to calculate </a:t>
            </a:r>
            <a:r>
              <a:rPr lang="en-US" sz="2800" dirty="0" smtClean="0"/>
              <a:t>the </a:t>
            </a:r>
            <a:r>
              <a:rPr lang="tr-TR" sz="2800" dirty="0" smtClean="0"/>
              <a:t>payroll</a:t>
            </a:r>
            <a:endParaRPr lang="en-US" sz="2800" dirty="0" smtClean="0"/>
          </a:p>
          <a:p>
            <a:pPr>
              <a:lnSpc>
                <a:spcPct val="90000"/>
              </a:lnSpc>
            </a:pPr>
            <a:endParaRPr lang="tr-TR" sz="1400" dirty="0" smtClean="0"/>
          </a:p>
          <a:p>
            <a:pPr>
              <a:lnSpc>
                <a:spcPct val="90000"/>
              </a:lnSpc>
            </a:pPr>
            <a:r>
              <a:rPr lang="tr-TR" sz="2800" dirty="0" smtClean="0"/>
              <a:t>Learning is used when:</a:t>
            </a:r>
          </a:p>
          <a:p>
            <a:pPr lvl="1">
              <a:lnSpc>
                <a:spcPct val="90000"/>
              </a:lnSpc>
            </a:pPr>
            <a:r>
              <a:rPr lang="tr-TR" sz="2400" dirty="0" smtClean="0"/>
              <a:t>Humans are unable to explain their expertise (</a:t>
            </a:r>
            <a:r>
              <a:rPr lang="en-US" sz="2400" dirty="0" smtClean="0"/>
              <a:t>e.g. </a:t>
            </a:r>
            <a:r>
              <a:rPr lang="tr-TR" sz="2400" dirty="0" smtClean="0"/>
              <a:t>speech recognition)</a:t>
            </a:r>
          </a:p>
          <a:p>
            <a:pPr lvl="1">
              <a:lnSpc>
                <a:spcPct val="90000"/>
              </a:lnSpc>
            </a:pPr>
            <a:r>
              <a:rPr lang="tr-TR" sz="2400" dirty="0" smtClean="0"/>
              <a:t>Solution changes in time (</a:t>
            </a:r>
            <a:r>
              <a:rPr lang="en-US" sz="2400" dirty="0" smtClean="0"/>
              <a:t>e.g. </a:t>
            </a:r>
            <a:r>
              <a:rPr lang="tr-TR" sz="2400" dirty="0" smtClean="0"/>
              <a:t>routing on a computer </a:t>
            </a:r>
            <a:r>
              <a:rPr lang="en-US" sz="2400" dirty="0" smtClean="0"/>
              <a:t>or road </a:t>
            </a:r>
            <a:r>
              <a:rPr lang="tr-TR" sz="2400" dirty="0" smtClean="0"/>
              <a:t>network)</a:t>
            </a:r>
            <a:endParaRPr lang="en-US" sz="2400" dirty="0" smtClean="0"/>
          </a:p>
          <a:p>
            <a:pPr lvl="1">
              <a:lnSpc>
                <a:spcPct val="90000"/>
              </a:lnSpc>
            </a:pPr>
            <a:r>
              <a:rPr lang="tr-TR" sz="2400" dirty="0" smtClean="0"/>
              <a:t>Human expertise does not exist</a:t>
            </a:r>
            <a:r>
              <a:rPr lang="en-US" sz="2400" dirty="0" smtClean="0"/>
              <a:t> or we don’t know “how to”</a:t>
            </a:r>
            <a:r>
              <a:rPr lang="tr-TR" sz="2400" dirty="0" smtClean="0"/>
              <a:t> (</a:t>
            </a:r>
            <a:r>
              <a:rPr lang="en-US" sz="2400" dirty="0" smtClean="0"/>
              <a:t>e.g. </a:t>
            </a:r>
            <a:r>
              <a:rPr lang="tr-TR" sz="2400" dirty="0" smtClean="0"/>
              <a:t>navigating on Mars)</a:t>
            </a:r>
          </a:p>
          <a:p>
            <a:pPr lvl="1">
              <a:lnSpc>
                <a:spcPct val="90000"/>
              </a:lnSpc>
            </a:pPr>
            <a:r>
              <a:rPr lang="tr-TR" sz="2400" dirty="0" smtClean="0"/>
              <a:t>Solution needs to be adapted to particular cases (</a:t>
            </a:r>
            <a:r>
              <a:rPr lang="en-US" sz="2400" dirty="0" smtClean="0"/>
              <a:t>e.g. </a:t>
            </a:r>
            <a:r>
              <a:rPr lang="tr-TR" sz="2400" dirty="0" smtClean="0"/>
              <a:t>user biometrics)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34970"/>
          </a:xfrm>
        </p:spPr>
        <p:txBody>
          <a:bodyPr>
            <a:normAutofit/>
          </a:bodyPr>
          <a:lstStyle/>
          <a:p>
            <a:r>
              <a:rPr lang="en-US" dirty="0" smtClean="0"/>
              <a:t>Learning involves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60699"/>
            <a:ext cx="10384770" cy="485907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Learning general models from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Data is cheap and abundant. Knowledge is expensive and scarce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Build a model that is a good and useful approximation to the data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Examples: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From customer transactions to computer behaviour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From social media posts to opinions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From mobile loan data to automated loan appraisals and funds disbursement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ja-JP" sz="2400" dirty="0" smtClean="0">
                <a:ea typeface="ＭＳ Ｐゴシック" pitchFamily="34" charset="-128"/>
              </a:rPr>
              <a:t>Classification of texts based on content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From student </a:t>
            </a:r>
            <a:r>
              <a:rPr lang="en-US" sz="2400" dirty="0" smtClean="0"/>
              <a:t>tests performance records to identifying knowledge gaps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Machine Learning Possible?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690688"/>
            <a:ext cx="10370703" cy="4618672"/>
          </a:xfrm>
        </p:spPr>
        <p:txBody>
          <a:bodyPr>
            <a:normAutofit/>
          </a:bodyPr>
          <a:lstStyle/>
          <a:p>
            <a:r>
              <a:rPr lang="en-US" altLang="ja-JP" sz="3200" dirty="0" smtClean="0">
                <a:ea typeface="ＭＳ Ｐゴシック" pitchFamily="34" charset="-128"/>
              </a:rPr>
              <a:t>Mass Storage</a:t>
            </a:r>
          </a:p>
          <a:p>
            <a:pPr lvl="1"/>
            <a:r>
              <a:rPr lang="en-US" altLang="ja-JP" sz="2800" dirty="0" smtClean="0">
                <a:ea typeface="ＭＳ Ｐゴシック" pitchFamily="34" charset="-128"/>
              </a:rPr>
              <a:t>More data available</a:t>
            </a:r>
          </a:p>
          <a:p>
            <a:r>
              <a:rPr lang="en-US" altLang="ja-JP" sz="3200" dirty="0" smtClean="0">
                <a:ea typeface="ＭＳ Ｐゴシック" pitchFamily="34" charset="-128"/>
              </a:rPr>
              <a:t>Higher Performance of Computer</a:t>
            </a:r>
          </a:p>
          <a:p>
            <a:pPr lvl="1"/>
            <a:r>
              <a:rPr lang="en-US" altLang="ja-JP" sz="2800" dirty="0" smtClean="0">
                <a:ea typeface="ＭＳ Ｐゴシック" pitchFamily="34" charset="-128"/>
              </a:rPr>
              <a:t>Larger memory in handling the data</a:t>
            </a:r>
          </a:p>
          <a:p>
            <a:pPr lvl="1"/>
            <a:r>
              <a:rPr lang="en-US" altLang="ja-JP" sz="2800" dirty="0" smtClean="0">
                <a:ea typeface="ＭＳ Ｐゴシック" pitchFamily="34" charset="-128"/>
              </a:rPr>
              <a:t>Greater computational power, GPU, </a:t>
            </a:r>
          </a:p>
          <a:p>
            <a:pPr lvl="1"/>
            <a:r>
              <a:rPr lang="en-US" altLang="ja-JP" sz="2800" dirty="0" smtClean="0">
                <a:ea typeface="ＭＳ Ｐゴシック" pitchFamily="34" charset="-128"/>
              </a:rPr>
              <a:t>Distribution/Clusters</a:t>
            </a:r>
          </a:p>
          <a:p>
            <a:pPr lvl="1"/>
            <a:endParaRPr lang="en-US" sz="2800" dirty="0">
              <a:ea typeface="ＭＳ Ｐゴシック" pitchFamily="34" charset="-128"/>
            </a:endParaRPr>
          </a:p>
          <a:p>
            <a:pPr marL="128016" lvl="1" indent="0">
              <a:buNone/>
            </a:pPr>
            <a:r>
              <a:rPr lang="en-US" sz="2800" i="1" dirty="0" smtClean="0">
                <a:ea typeface="ＭＳ Ｐゴシック" pitchFamily="34" charset="-128"/>
              </a:rPr>
              <a:t>…And of course the Algorithms/improvements</a:t>
            </a:r>
          </a:p>
          <a:p>
            <a:pPr marL="128016" lvl="1" indent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Disciplines relevant to ML</a:t>
            </a:r>
            <a:endParaRPr lang="en-US" dirty="0" smtClean="0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idx="1"/>
          </p:nvPr>
        </p:nvSpPr>
        <p:spPr>
          <a:xfrm>
            <a:off x="1024128" y="1860698"/>
            <a:ext cx="10314432" cy="488432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v-SE" sz="2800" b="1" dirty="0"/>
              <a:t>Artificial intelligence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v-SE" sz="2800" dirty="0"/>
              <a:t>Bayesian methods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v-SE" sz="2800" dirty="0"/>
              <a:t>Statistic</a:t>
            </a:r>
            <a:r>
              <a:rPr lang="en-US" sz="2800" dirty="0"/>
              <a:t>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v-SE" sz="2800" dirty="0"/>
              <a:t>Information theory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v-SE" sz="2800" dirty="0"/>
              <a:t>Computational complexity theory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v-SE" sz="2800" dirty="0"/>
              <a:t>Philosophy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v-SE" sz="2800" dirty="0"/>
              <a:t>Psychology and neurobiology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v-SE" sz="2800" dirty="0"/>
              <a:t>Control theory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Game Theory </a:t>
            </a:r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17D10CBA-4B46-4BA1-BCB6-D283B5B02031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Learning</a:t>
            </a:r>
            <a:endParaRPr lang="en-US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024128" y="1969477"/>
            <a:ext cx="10314432" cy="43398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ja-JP" sz="2800" dirty="0" smtClean="0">
                <a:ea typeface="ＭＳ Ｐゴシック" pitchFamily="34" charset="-128"/>
              </a:rPr>
              <a:t>Machine Learning (Mitchell 1997)</a:t>
            </a:r>
          </a:p>
          <a:p>
            <a:pPr lvl="1">
              <a:lnSpc>
                <a:spcPct val="90000"/>
              </a:lnSpc>
            </a:pPr>
            <a:r>
              <a:rPr lang="en-US" altLang="ja-JP" sz="2400" dirty="0" smtClean="0">
                <a:ea typeface="ＭＳ Ｐゴシック" pitchFamily="34" charset="-128"/>
              </a:rPr>
              <a:t>Learn from past experiences</a:t>
            </a:r>
          </a:p>
          <a:p>
            <a:pPr lvl="1">
              <a:lnSpc>
                <a:spcPct val="90000"/>
              </a:lnSpc>
            </a:pPr>
            <a:r>
              <a:rPr lang="en-US" altLang="ja-JP" sz="2400" dirty="0" smtClean="0">
                <a:ea typeface="ＭＳ Ｐゴシック" pitchFamily="34" charset="-128"/>
              </a:rPr>
              <a:t>Improve the performances of intelligent programs</a:t>
            </a:r>
          </a:p>
          <a:p>
            <a:pPr>
              <a:buFont typeface="Wingdings" pitchFamily="2" charset="2"/>
              <a:buNone/>
            </a:pPr>
            <a:endParaRPr lang="sv-SE" altLang="ja-JP" sz="2400" dirty="0" smtClean="0">
              <a:ea typeface="ＭＳ Ｐゴシック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sv-SE" altLang="ja-JP" sz="2400" b="1" dirty="0" smtClean="0">
                <a:ea typeface="ＭＳ Ｐゴシック" pitchFamily="34" charset="-128"/>
              </a:rPr>
              <a:t>Definition:</a:t>
            </a:r>
          </a:p>
          <a:p>
            <a:pPr>
              <a:buFont typeface="Wingdings" pitchFamily="2" charset="2"/>
              <a:buNone/>
            </a:pPr>
            <a:r>
              <a:rPr lang="sv-SE" sz="2400" dirty="0" smtClean="0"/>
              <a:t>	</a:t>
            </a:r>
            <a:r>
              <a:rPr lang="sv-SE" sz="3200" dirty="0"/>
              <a:t>A computer program is said to </a:t>
            </a:r>
            <a:r>
              <a:rPr lang="sv-SE" sz="3200" b="1" dirty="0">
                <a:solidFill>
                  <a:srgbClr val="FF0000"/>
                </a:solidFill>
              </a:rPr>
              <a:t>learn</a:t>
            </a:r>
            <a:r>
              <a:rPr lang="sv-SE" sz="3200" dirty="0"/>
              <a:t> from </a:t>
            </a:r>
            <a:r>
              <a:rPr lang="sv-SE" sz="3200" b="1" dirty="0"/>
              <a:t>experience</a:t>
            </a:r>
            <a:r>
              <a:rPr lang="sv-SE" sz="3200" dirty="0"/>
              <a:t> </a:t>
            </a:r>
            <a:r>
              <a:rPr lang="sv-SE" sz="3200" b="1" dirty="0"/>
              <a:t>E</a:t>
            </a:r>
            <a:r>
              <a:rPr lang="sv-SE" sz="3200" dirty="0"/>
              <a:t> with respect to some class of </a:t>
            </a:r>
            <a:r>
              <a:rPr lang="sv-SE" sz="3200" b="1" dirty="0"/>
              <a:t>tasks T</a:t>
            </a:r>
            <a:r>
              <a:rPr lang="sv-SE" sz="3200" dirty="0"/>
              <a:t> and </a:t>
            </a:r>
            <a:r>
              <a:rPr lang="sv-SE" sz="3200" b="1" dirty="0"/>
              <a:t>performance measure P</a:t>
            </a:r>
            <a:r>
              <a:rPr lang="sv-SE" sz="3200" dirty="0"/>
              <a:t>, if its performance at tasks in T, as measured by P, improves with experience.</a:t>
            </a:r>
            <a:endParaRPr lang="en-US" sz="3200" dirty="0"/>
          </a:p>
        </p:txBody>
      </p:sp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96CB35C3-D020-4654-ACFE-F04CA59DC3E7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Learning Problem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024128" y="1899138"/>
            <a:ext cx="10786871" cy="46540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Learning: </a:t>
            </a:r>
            <a:r>
              <a:rPr lang="en-US" sz="2800" dirty="0">
                <a:solidFill>
                  <a:srgbClr val="C00000"/>
                </a:solidFill>
              </a:rPr>
              <a:t>improving</a:t>
            </a:r>
            <a:r>
              <a:rPr lang="en-US" sz="2800" dirty="0"/>
              <a:t> with experience at some task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:&gt;Improve </a:t>
            </a:r>
            <a:r>
              <a:rPr lang="en-US" sz="2800" dirty="0"/>
              <a:t>over task </a:t>
            </a:r>
            <a:r>
              <a:rPr lang="en-US" sz="2800" b="1" dirty="0" smtClean="0"/>
              <a:t>T</a:t>
            </a:r>
            <a:endParaRPr lang="en-US" sz="2800" b="1" dirty="0"/>
          </a:p>
          <a:p>
            <a:pPr>
              <a:lnSpc>
                <a:spcPct val="90000"/>
              </a:lnSpc>
            </a:pPr>
            <a:r>
              <a:rPr lang="en-US" sz="2800" dirty="0" smtClean="0"/>
              <a:t>:&gt;With </a:t>
            </a:r>
            <a:r>
              <a:rPr lang="en-US" sz="2800" dirty="0"/>
              <a:t>respect to performance measure </a:t>
            </a:r>
            <a:r>
              <a:rPr lang="en-US" sz="2800" b="1" dirty="0"/>
              <a:t>P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:&gt;Based </a:t>
            </a:r>
            <a:r>
              <a:rPr lang="en-US" sz="2800" dirty="0"/>
              <a:t>on experience </a:t>
            </a:r>
            <a:r>
              <a:rPr lang="en-US" sz="2800" b="1" dirty="0"/>
              <a:t>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  <a:p>
            <a:pPr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chemeClr val="hlink"/>
                </a:solidFill>
              </a:rPr>
              <a:t>Example: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2"/>
                </a:solidFill>
              </a:rPr>
              <a:t>Learn to play </a:t>
            </a:r>
            <a:r>
              <a:rPr lang="en-US" sz="2800" dirty="0" smtClean="0">
                <a:solidFill>
                  <a:schemeClr val="tx2"/>
                </a:solidFill>
              </a:rPr>
              <a:t>draughts</a:t>
            </a:r>
            <a:r>
              <a:rPr lang="en-US" sz="2800" dirty="0" smtClean="0"/>
              <a:t>:</a:t>
            </a:r>
            <a:endParaRPr lang="en-US" sz="2800" dirty="0"/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2800" b="1" dirty="0"/>
              <a:t>T</a:t>
            </a:r>
            <a:r>
              <a:rPr lang="en-US" sz="2800" dirty="0"/>
              <a:t>: play draughts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2800" b="1" dirty="0"/>
              <a:t>P</a:t>
            </a:r>
            <a:r>
              <a:rPr lang="en-US" sz="2800" dirty="0"/>
              <a:t>: percentage of games won in a tournament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2800" b="1" dirty="0"/>
              <a:t>E</a:t>
            </a:r>
            <a:r>
              <a:rPr lang="en-US" sz="2800" dirty="0"/>
              <a:t>: opportunity to play against itself</a:t>
            </a:r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7CD5427A-05BE-4AEC-A7AA-FEBA452A85D6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9720072" cy="1170661"/>
          </a:xfrm>
        </p:spPr>
        <p:txBody>
          <a:bodyPr/>
          <a:lstStyle/>
          <a:p>
            <a:r>
              <a:rPr lang="en-US" dirty="0" smtClean="0"/>
              <a:t>Learning to play draught board game</a:t>
            </a:r>
            <a:endParaRPr lang="sv-SE" dirty="0" smtClean="0"/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1B9E786B-8907-4697-9B9E-1DF637279E94}" type="slidenum">
              <a:rPr lang="en-US"/>
              <a:pPr>
                <a:defRPr/>
              </a:pPr>
              <a:t>9</a:t>
            </a:fld>
            <a:endParaRPr lang="en-US"/>
          </a:p>
        </p:txBody>
      </p:sp>
      <p:pic>
        <p:nvPicPr>
          <p:cNvPr id="11268" name="Picture 5" descr="C:\WINDOWS\DESKTOP\checkers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1" y="1568552"/>
            <a:ext cx="2595563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6" descr="C:\WINDOWS\DESKTOP\checkers1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4235552"/>
            <a:ext cx="3124200" cy="250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7" descr="C:\WINDOWS\DESKTOP\checkers3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24800" y="1755877"/>
            <a:ext cx="205740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8" descr="C:\WINDOWS\DESKTOP\checkers4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86401" y="1873353"/>
            <a:ext cx="1781175" cy="161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2" name="Picture 9" descr="C:\WINDOWS\DESKTOP\checkers5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71800" y="4387953"/>
            <a:ext cx="30480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Learning to play Draughts</a:t>
            </a:r>
            <a:endParaRPr lang="sv-SE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024128" y="1860698"/>
            <a:ext cx="9454960" cy="4610006"/>
          </a:xfrm>
        </p:spPr>
        <p:txBody>
          <a:bodyPr>
            <a:normAutofit/>
          </a:bodyPr>
          <a:lstStyle/>
          <a:p>
            <a:r>
              <a:rPr lang="sv-SE" sz="2800" b="1" dirty="0" smtClean="0"/>
              <a:t>T</a:t>
            </a:r>
            <a:r>
              <a:rPr lang="sv-SE" sz="2800" dirty="0" smtClean="0"/>
              <a:t>: play draughts</a:t>
            </a:r>
          </a:p>
          <a:p>
            <a:r>
              <a:rPr lang="sv-SE" sz="2800" b="1" dirty="0" smtClean="0"/>
              <a:t>P</a:t>
            </a:r>
            <a:r>
              <a:rPr lang="sv-SE" sz="2800" dirty="0" smtClean="0"/>
              <a:t>: percentage of games won</a:t>
            </a:r>
          </a:p>
          <a:p>
            <a:r>
              <a:rPr lang="sv-SE" sz="2800" b="1" dirty="0" smtClean="0"/>
              <a:t>E</a:t>
            </a:r>
            <a:r>
              <a:rPr lang="sv-SE" sz="2800" dirty="0" smtClean="0"/>
              <a:t>: What experience?</a:t>
            </a:r>
          </a:p>
          <a:p>
            <a:pPr>
              <a:lnSpc>
                <a:spcPct val="30000"/>
              </a:lnSpc>
              <a:buFont typeface="Wingdings" pitchFamily="2" charset="2"/>
              <a:buNone/>
            </a:pPr>
            <a:endParaRPr lang="sv-SE" sz="2800" dirty="0" smtClean="0"/>
          </a:p>
          <a:p>
            <a:pPr>
              <a:buFont typeface="Wingdings" pitchFamily="2" charset="2"/>
              <a:buNone/>
            </a:pPr>
            <a:r>
              <a:rPr lang="sv-SE" sz="2800" dirty="0" smtClean="0"/>
              <a:t>In designing the learning system we need to choose:</a:t>
            </a:r>
          </a:p>
          <a:p>
            <a:r>
              <a:rPr lang="sv-SE" sz="2800" dirty="0" smtClean="0"/>
              <a:t>What exactly should be learned?</a:t>
            </a:r>
          </a:p>
          <a:p>
            <a:r>
              <a:rPr lang="sv-SE" sz="2800" dirty="0" smtClean="0"/>
              <a:t>How shall it be represented?</a:t>
            </a:r>
          </a:p>
          <a:p>
            <a:r>
              <a:rPr lang="sv-SE" sz="2800" dirty="0" smtClean="0"/>
              <a:t>What specific algorithm to learn it?</a:t>
            </a:r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C8B50E6B-150E-4563-8A61-1DDD12D47765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9720072" cy="1055296"/>
          </a:xfrm>
        </p:spPr>
        <p:txBody>
          <a:bodyPr/>
          <a:lstStyle/>
          <a:p>
            <a:r>
              <a:rPr lang="sv-SE" dirty="0" smtClean="0"/>
              <a:t>Type of Training Experience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024128" y="1562986"/>
            <a:ext cx="10398838" cy="504691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sv-SE" sz="2800" dirty="0"/>
              <a:t>Direct or indirect?</a:t>
            </a:r>
          </a:p>
          <a:p>
            <a:pPr lvl="1">
              <a:lnSpc>
                <a:spcPct val="90000"/>
              </a:lnSpc>
            </a:pPr>
            <a:r>
              <a:rPr lang="sv-SE" sz="2400" dirty="0"/>
              <a:t>Direct: board state -&gt; correct move</a:t>
            </a:r>
          </a:p>
          <a:p>
            <a:pPr lvl="1">
              <a:lnSpc>
                <a:spcPct val="90000"/>
              </a:lnSpc>
            </a:pPr>
            <a:r>
              <a:rPr lang="sv-SE" sz="2400" dirty="0"/>
              <a:t>Indirect: outcome of a complete game</a:t>
            </a:r>
          </a:p>
          <a:p>
            <a:pPr lvl="1">
              <a:lnSpc>
                <a:spcPct val="90000"/>
              </a:lnSpc>
            </a:pPr>
            <a:r>
              <a:rPr lang="sv-SE" sz="2400" dirty="0"/>
              <a:t>Credit assignment problem</a:t>
            </a:r>
          </a:p>
          <a:p>
            <a:pPr>
              <a:lnSpc>
                <a:spcPct val="90000"/>
              </a:lnSpc>
            </a:pPr>
            <a:r>
              <a:rPr lang="sv-SE" sz="2800" dirty="0"/>
              <a:t>Teacher or no Teacher?</a:t>
            </a:r>
          </a:p>
          <a:p>
            <a:pPr lvl="1">
              <a:lnSpc>
                <a:spcPct val="90000"/>
              </a:lnSpc>
            </a:pPr>
            <a:r>
              <a:rPr lang="sv-SE" sz="2400" dirty="0"/>
              <a:t>Teacher selects board states</a:t>
            </a:r>
          </a:p>
          <a:p>
            <a:pPr lvl="1">
              <a:lnSpc>
                <a:spcPct val="90000"/>
              </a:lnSpc>
            </a:pPr>
            <a:r>
              <a:rPr lang="sv-SE" sz="2400" dirty="0"/>
              <a:t>Learner can select board states </a:t>
            </a:r>
          </a:p>
          <a:p>
            <a:pPr lvl="2">
              <a:lnSpc>
                <a:spcPct val="90000"/>
              </a:lnSpc>
            </a:pPr>
            <a:r>
              <a:rPr lang="sv-SE" sz="2000" dirty="0"/>
              <a:t>that are confusing and is assisted by the teacher</a:t>
            </a:r>
          </a:p>
          <a:p>
            <a:pPr lvl="2">
              <a:lnSpc>
                <a:spcPct val="90000"/>
              </a:lnSpc>
            </a:pPr>
            <a:r>
              <a:rPr lang="sv-SE" sz="2000" dirty="0"/>
              <a:t>learner has complete control of the board states and training -no teacher</a:t>
            </a:r>
          </a:p>
          <a:p>
            <a:pPr>
              <a:lnSpc>
                <a:spcPct val="90000"/>
              </a:lnSpc>
            </a:pPr>
            <a:r>
              <a:rPr lang="sv-SE" sz="2800" dirty="0"/>
              <a:t>Is training experience representative of performance goal?</a:t>
            </a:r>
          </a:p>
          <a:p>
            <a:pPr lvl="1">
              <a:lnSpc>
                <a:spcPct val="90000"/>
              </a:lnSpc>
            </a:pPr>
            <a:r>
              <a:rPr lang="sv-SE" sz="2400" dirty="0"/>
              <a:t>Training playing against itself</a:t>
            </a:r>
          </a:p>
          <a:p>
            <a:pPr lvl="1">
              <a:lnSpc>
                <a:spcPct val="90000"/>
              </a:lnSpc>
            </a:pPr>
            <a:r>
              <a:rPr lang="sv-SE" sz="2400" dirty="0"/>
              <a:t>Performance evaluated playing against world champion</a:t>
            </a:r>
            <a:endParaRPr lang="en-US" sz="2400" dirty="0"/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65DD42EB-94DB-4882-903C-F713414DE273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mtClean="0"/>
              <a:t>Possible Definition of Target Function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024128" y="1941342"/>
            <a:ext cx="10483244" cy="461185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v-SE" sz="2400" dirty="0"/>
              <a:t>If b is a final board state that is won then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sv-SE" sz="2400" dirty="0"/>
              <a:t>	V(b) = 100</a:t>
            </a:r>
          </a:p>
          <a:p>
            <a:pPr>
              <a:lnSpc>
                <a:spcPct val="90000"/>
              </a:lnSpc>
            </a:pPr>
            <a:r>
              <a:rPr lang="sv-SE" sz="2400" dirty="0"/>
              <a:t>If b is a final board state that is lost then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sv-SE" sz="2400" dirty="0"/>
              <a:t>	V(b) = -100</a:t>
            </a:r>
          </a:p>
          <a:p>
            <a:pPr>
              <a:lnSpc>
                <a:spcPct val="90000"/>
              </a:lnSpc>
            </a:pPr>
            <a:r>
              <a:rPr lang="sv-SE" sz="2400" dirty="0"/>
              <a:t>If b is a final board state that is drawn then V(b)=0</a:t>
            </a:r>
          </a:p>
          <a:p>
            <a:pPr>
              <a:lnSpc>
                <a:spcPct val="90000"/>
              </a:lnSpc>
            </a:pPr>
            <a:r>
              <a:rPr lang="sv-SE" sz="2400" dirty="0"/>
              <a:t>If b is not a final board state, then V(b)=V(b’), where b’ is the best final board state that can be achieved starting from b and playing optimally until the end of the game. </a:t>
            </a:r>
          </a:p>
          <a:p>
            <a:pPr>
              <a:lnSpc>
                <a:spcPct val="90000"/>
              </a:lnSpc>
            </a:pPr>
            <a:r>
              <a:rPr lang="sv-SE" sz="2400" dirty="0"/>
              <a:t>Gives correct values that are possible within realistic time bounds</a:t>
            </a:r>
            <a:endParaRPr lang="en-US" sz="2400" dirty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909C14EE-FD37-403C-B3BF-C0537E814FD4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Draughts 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133" y="1825625"/>
            <a:ext cx="6979200" cy="450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61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9720072" cy="1201094"/>
          </a:xfrm>
        </p:spPr>
        <p:txBody>
          <a:bodyPr/>
          <a:lstStyle/>
          <a:p>
            <a:r>
              <a:rPr lang="sv-SE" dirty="0" smtClean="0"/>
              <a:t>State Space Search</a:t>
            </a:r>
          </a:p>
        </p:txBody>
      </p:sp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CB3EC28-833A-4E72-9FD5-2AF5D7E001EA}" type="slidenum">
              <a:rPr lang="en-US"/>
              <a:pPr>
                <a:defRPr/>
              </a:pPr>
              <a:t>14</a:t>
            </a:fld>
            <a:endParaRPr lang="en-US"/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4800600" y="1729160"/>
            <a:ext cx="1828800" cy="1676400"/>
            <a:chOff x="1776" y="960"/>
            <a:chExt cx="1152" cy="1056"/>
          </a:xfrm>
        </p:grpSpPr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1776" y="960"/>
              <a:ext cx="1152" cy="288"/>
              <a:chOff x="1248" y="1632"/>
              <a:chExt cx="1152" cy="288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6542" name="Rectangle 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43" name="Rectangle 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7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6540" name="Rectangle 8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41" name="Rectangle 9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11"/>
            <p:cNvGrpSpPr>
              <a:grpSpLocks/>
            </p:cNvGrpSpPr>
            <p:nvPr/>
          </p:nvGrpSpPr>
          <p:grpSpPr bwMode="auto">
            <a:xfrm flipH="1">
              <a:off x="1776" y="1200"/>
              <a:ext cx="1152" cy="288"/>
              <a:chOff x="1248" y="1632"/>
              <a:chExt cx="1152" cy="288"/>
            </a:xfrm>
          </p:grpSpPr>
          <p:grpSp>
            <p:nvGrpSpPr>
              <p:cNvPr id="7" name="Group 12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6536" name="Rectangle 13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37" name="Rectangle 14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15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6534" name="Rectangle 16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35" name="Rectangle 17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18"/>
            <p:cNvGrpSpPr>
              <a:grpSpLocks/>
            </p:cNvGrpSpPr>
            <p:nvPr/>
          </p:nvGrpSpPr>
          <p:grpSpPr bwMode="auto">
            <a:xfrm>
              <a:off x="1776" y="1488"/>
              <a:ext cx="1152" cy="288"/>
              <a:chOff x="1248" y="1632"/>
              <a:chExt cx="1152" cy="288"/>
            </a:xfrm>
          </p:grpSpPr>
          <p:grpSp>
            <p:nvGrpSpPr>
              <p:cNvPr id="10" name="Group 19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6530" name="Rectangle 20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31" name="Rectangle 21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22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6528" name="Rectangle 23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29" name="Rectangle 24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25"/>
            <p:cNvGrpSpPr>
              <a:grpSpLocks/>
            </p:cNvGrpSpPr>
            <p:nvPr/>
          </p:nvGrpSpPr>
          <p:grpSpPr bwMode="auto">
            <a:xfrm flipH="1">
              <a:off x="1776" y="1728"/>
              <a:ext cx="1152" cy="288"/>
              <a:chOff x="1248" y="1632"/>
              <a:chExt cx="1152" cy="288"/>
            </a:xfrm>
          </p:grpSpPr>
          <p:grpSp>
            <p:nvGrpSpPr>
              <p:cNvPr id="13" name="Group 26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6524" name="Rectangle 27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25" name="Rectangle 28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29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6522" name="Rectangle 30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23" name="Rectangle 31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6389" name="Oval 34"/>
          <p:cNvSpPr>
            <a:spLocks noChangeArrowheads="1"/>
          </p:cNvSpPr>
          <p:nvPr/>
        </p:nvSpPr>
        <p:spPr bwMode="auto">
          <a:xfrm>
            <a:off x="4876800" y="172916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Oval 35"/>
          <p:cNvSpPr>
            <a:spLocks noChangeArrowheads="1"/>
          </p:cNvSpPr>
          <p:nvPr/>
        </p:nvSpPr>
        <p:spPr bwMode="auto">
          <a:xfrm>
            <a:off x="5791200" y="172916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Oval 36"/>
          <p:cNvSpPr>
            <a:spLocks noChangeArrowheads="1"/>
          </p:cNvSpPr>
          <p:nvPr/>
        </p:nvSpPr>
        <p:spPr bwMode="auto">
          <a:xfrm>
            <a:off x="5334000" y="302456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Oval 37"/>
          <p:cNvSpPr>
            <a:spLocks noChangeArrowheads="1"/>
          </p:cNvSpPr>
          <p:nvPr/>
        </p:nvSpPr>
        <p:spPr bwMode="auto">
          <a:xfrm>
            <a:off x="6248400" y="302456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Text Box 38"/>
          <p:cNvSpPr txBox="1">
            <a:spLocks noChangeArrowheads="1"/>
          </p:cNvSpPr>
          <p:nvPr/>
        </p:nvSpPr>
        <p:spPr bwMode="auto">
          <a:xfrm>
            <a:off x="7086600" y="1905373"/>
            <a:ext cx="12715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v-SE" sz="2800"/>
              <a:t>V(b)= ?</a:t>
            </a:r>
            <a:endParaRPr lang="en-US" sz="2800"/>
          </a:p>
        </p:txBody>
      </p:sp>
      <p:sp>
        <p:nvSpPr>
          <p:cNvPr id="33937" name="Text Box 145"/>
          <p:cNvSpPr txBox="1">
            <a:spLocks noChangeArrowheads="1"/>
          </p:cNvSpPr>
          <p:nvPr/>
        </p:nvSpPr>
        <p:spPr bwMode="auto">
          <a:xfrm>
            <a:off x="7543800" y="2667373"/>
            <a:ext cx="25667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v-SE" sz="2800"/>
              <a:t>V(b)= max</a:t>
            </a:r>
            <a:r>
              <a:rPr lang="sv-SE" sz="2800" baseline="-25000"/>
              <a:t>i</a:t>
            </a:r>
            <a:r>
              <a:rPr lang="sv-SE" sz="2800"/>
              <a:t> V(b</a:t>
            </a:r>
            <a:r>
              <a:rPr lang="sv-SE" sz="2800" baseline="-25000"/>
              <a:t>i</a:t>
            </a:r>
            <a:r>
              <a:rPr lang="sv-SE" sz="2800"/>
              <a:t>)</a:t>
            </a:r>
            <a:endParaRPr lang="en-US" sz="2800"/>
          </a:p>
        </p:txBody>
      </p:sp>
      <p:sp>
        <p:nvSpPr>
          <p:cNvPr id="16395" name="Text Box 146"/>
          <p:cNvSpPr txBox="1">
            <a:spLocks noChangeArrowheads="1"/>
          </p:cNvSpPr>
          <p:nvPr/>
        </p:nvSpPr>
        <p:spPr bwMode="auto">
          <a:xfrm>
            <a:off x="2193926" y="191489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15" name="Group 159"/>
          <p:cNvGrpSpPr>
            <a:grpSpLocks/>
          </p:cNvGrpSpPr>
          <p:nvPr/>
        </p:nvGrpSpPr>
        <p:grpSpPr bwMode="auto">
          <a:xfrm>
            <a:off x="1524000" y="2719760"/>
            <a:ext cx="3124200" cy="3733800"/>
            <a:chOff x="0" y="1536"/>
            <a:chExt cx="1968" cy="2352"/>
          </a:xfrm>
        </p:grpSpPr>
        <p:grpSp>
          <p:nvGrpSpPr>
            <p:cNvPr id="16" name="Group 39"/>
            <p:cNvGrpSpPr>
              <a:grpSpLocks/>
            </p:cNvGrpSpPr>
            <p:nvPr/>
          </p:nvGrpSpPr>
          <p:grpSpPr bwMode="auto">
            <a:xfrm>
              <a:off x="346" y="2475"/>
              <a:ext cx="1152" cy="1056"/>
              <a:chOff x="1776" y="960"/>
              <a:chExt cx="1152" cy="1056"/>
            </a:xfrm>
          </p:grpSpPr>
          <p:grpSp>
            <p:nvGrpSpPr>
              <p:cNvPr id="17" name="Group 40"/>
              <p:cNvGrpSpPr>
                <a:grpSpLocks/>
              </p:cNvGrpSpPr>
              <p:nvPr/>
            </p:nvGrpSpPr>
            <p:grpSpPr bwMode="auto">
              <a:xfrm>
                <a:off x="1776" y="960"/>
                <a:ext cx="1152" cy="288"/>
                <a:chOff x="1248" y="1632"/>
                <a:chExt cx="1152" cy="288"/>
              </a:xfrm>
            </p:grpSpPr>
            <p:grpSp>
              <p:nvGrpSpPr>
                <p:cNvPr id="18" name="Group 41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514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515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oup 44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512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513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0" name="Group 47"/>
              <p:cNvGrpSpPr>
                <a:grpSpLocks/>
              </p:cNvGrpSpPr>
              <p:nvPr/>
            </p:nvGrpSpPr>
            <p:grpSpPr bwMode="auto">
              <a:xfrm flipH="1">
                <a:off x="1776" y="1200"/>
                <a:ext cx="1152" cy="288"/>
                <a:chOff x="1248" y="1632"/>
                <a:chExt cx="1152" cy="288"/>
              </a:xfrm>
            </p:grpSpPr>
            <p:grpSp>
              <p:nvGrpSpPr>
                <p:cNvPr id="21" name="Group 48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508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509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2" name="Group 51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506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507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3" name="Group 54"/>
              <p:cNvGrpSpPr>
                <a:grpSpLocks/>
              </p:cNvGrpSpPr>
              <p:nvPr/>
            </p:nvGrpSpPr>
            <p:grpSpPr bwMode="auto">
              <a:xfrm>
                <a:off x="1776" y="1488"/>
                <a:ext cx="1152" cy="288"/>
                <a:chOff x="1248" y="1632"/>
                <a:chExt cx="1152" cy="288"/>
              </a:xfrm>
            </p:grpSpPr>
            <p:grpSp>
              <p:nvGrpSpPr>
                <p:cNvPr id="24" name="Group 55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502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503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5" name="Group 58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500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501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6" name="Group 61"/>
              <p:cNvGrpSpPr>
                <a:grpSpLocks/>
              </p:cNvGrpSpPr>
              <p:nvPr/>
            </p:nvGrpSpPr>
            <p:grpSpPr bwMode="auto">
              <a:xfrm flipH="1">
                <a:off x="1776" y="1728"/>
                <a:ext cx="1152" cy="288"/>
                <a:chOff x="1248" y="1632"/>
                <a:chExt cx="1152" cy="288"/>
              </a:xfrm>
            </p:grpSpPr>
            <p:grpSp>
              <p:nvGrpSpPr>
                <p:cNvPr id="27" name="Group 62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96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97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8" name="Group 65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94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95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sp>
          <p:nvSpPr>
            <p:cNvPr id="16478" name="Oval 68"/>
            <p:cNvSpPr>
              <a:spLocks noChangeArrowheads="1"/>
            </p:cNvSpPr>
            <p:nvPr/>
          </p:nvSpPr>
          <p:spPr bwMode="auto">
            <a:xfrm>
              <a:off x="394" y="2475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79" name="Oval 69"/>
            <p:cNvSpPr>
              <a:spLocks noChangeArrowheads="1"/>
            </p:cNvSpPr>
            <p:nvPr/>
          </p:nvSpPr>
          <p:spPr bwMode="auto">
            <a:xfrm>
              <a:off x="970" y="2475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80" name="Oval 70"/>
            <p:cNvSpPr>
              <a:spLocks noChangeArrowheads="1"/>
            </p:cNvSpPr>
            <p:nvPr/>
          </p:nvSpPr>
          <p:spPr bwMode="auto">
            <a:xfrm>
              <a:off x="384" y="3024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81" name="Oval 71"/>
            <p:cNvSpPr>
              <a:spLocks noChangeArrowheads="1"/>
            </p:cNvSpPr>
            <p:nvPr/>
          </p:nvSpPr>
          <p:spPr bwMode="auto">
            <a:xfrm>
              <a:off x="1258" y="3291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82" name="Line 139"/>
            <p:cNvSpPr>
              <a:spLocks noChangeShapeType="1"/>
            </p:cNvSpPr>
            <p:nvPr/>
          </p:nvSpPr>
          <p:spPr bwMode="auto">
            <a:xfrm flipH="1">
              <a:off x="1200" y="1536"/>
              <a:ext cx="768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483" name="Text Box 142"/>
            <p:cNvSpPr txBox="1">
              <a:spLocks noChangeArrowheads="1"/>
            </p:cNvSpPr>
            <p:nvPr/>
          </p:nvSpPr>
          <p:spPr bwMode="auto">
            <a:xfrm>
              <a:off x="0" y="2064"/>
              <a:ext cx="108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sv-SE" sz="2800"/>
                <a:t>m</a:t>
              </a:r>
              <a:r>
                <a:rPr lang="sv-SE" sz="2800" baseline="-25000"/>
                <a:t>1</a:t>
              </a:r>
              <a:r>
                <a:rPr lang="sv-SE" sz="2800"/>
                <a:t> : b</a:t>
              </a:r>
              <a:r>
                <a:rPr lang="sv-SE" sz="2800">
                  <a:sym typeface="Symbol" pitchFamily="18" charset="2"/>
                </a:rPr>
                <a:t>b</a:t>
              </a:r>
              <a:r>
                <a:rPr lang="sv-SE" sz="2800" baseline="-25000">
                  <a:sym typeface="Symbol" pitchFamily="18" charset="2"/>
                </a:rPr>
                <a:t>1</a:t>
              </a:r>
              <a:endParaRPr lang="en-US" sz="2800" baseline="-25000"/>
            </a:p>
          </p:txBody>
        </p:sp>
        <p:grpSp>
          <p:nvGrpSpPr>
            <p:cNvPr id="29" name="Group 150"/>
            <p:cNvGrpSpPr>
              <a:grpSpLocks/>
            </p:cNvGrpSpPr>
            <p:nvPr/>
          </p:nvGrpSpPr>
          <p:grpSpPr bwMode="auto">
            <a:xfrm>
              <a:off x="576" y="3600"/>
              <a:ext cx="720" cy="288"/>
              <a:chOff x="576" y="3600"/>
              <a:chExt cx="720" cy="288"/>
            </a:xfrm>
          </p:grpSpPr>
          <p:sp>
            <p:nvSpPr>
              <p:cNvPr id="16485" name="Line 147"/>
              <p:cNvSpPr>
                <a:spLocks noChangeShapeType="1"/>
              </p:cNvSpPr>
              <p:nvPr/>
            </p:nvSpPr>
            <p:spPr bwMode="auto">
              <a:xfrm>
                <a:off x="912" y="360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486" name="Line 148"/>
              <p:cNvSpPr>
                <a:spLocks noChangeShapeType="1"/>
              </p:cNvSpPr>
              <p:nvPr/>
            </p:nvSpPr>
            <p:spPr bwMode="auto">
              <a:xfrm>
                <a:off x="1152" y="3600"/>
                <a:ext cx="144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487" name="Line 149"/>
              <p:cNvSpPr>
                <a:spLocks noChangeShapeType="1"/>
              </p:cNvSpPr>
              <p:nvPr/>
            </p:nvSpPr>
            <p:spPr bwMode="auto">
              <a:xfrm flipH="1">
                <a:off x="576" y="3600"/>
                <a:ext cx="144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30" name="Group 160"/>
          <p:cNvGrpSpPr>
            <a:grpSpLocks/>
          </p:cNvGrpSpPr>
          <p:nvPr/>
        </p:nvGrpSpPr>
        <p:grpSpPr bwMode="auto">
          <a:xfrm>
            <a:off x="3810000" y="3481760"/>
            <a:ext cx="2819400" cy="2971800"/>
            <a:chOff x="1440" y="2016"/>
            <a:chExt cx="1776" cy="1872"/>
          </a:xfrm>
        </p:grpSpPr>
        <p:grpSp>
          <p:nvGrpSpPr>
            <p:cNvPr id="31" name="Group 73"/>
            <p:cNvGrpSpPr>
              <a:grpSpLocks/>
            </p:cNvGrpSpPr>
            <p:nvPr/>
          </p:nvGrpSpPr>
          <p:grpSpPr bwMode="auto">
            <a:xfrm>
              <a:off x="2064" y="2448"/>
              <a:ext cx="1152" cy="1056"/>
              <a:chOff x="1776" y="960"/>
              <a:chExt cx="1152" cy="1056"/>
            </a:xfrm>
          </p:grpSpPr>
          <p:grpSp>
            <p:nvGrpSpPr>
              <p:cNvPr id="16384" name="Group 74"/>
              <p:cNvGrpSpPr>
                <a:grpSpLocks/>
              </p:cNvGrpSpPr>
              <p:nvPr/>
            </p:nvGrpSpPr>
            <p:grpSpPr bwMode="auto">
              <a:xfrm>
                <a:off x="1776" y="960"/>
                <a:ext cx="1152" cy="288"/>
                <a:chOff x="1248" y="1632"/>
                <a:chExt cx="1152" cy="288"/>
              </a:xfrm>
            </p:grpSpPr>
            <p:grpSp>
              <p:nvGrpSpPr>
                <p:cNvPr id="16385" name="Group 75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75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76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387" name="Group 78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73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74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6388" name="Group 81"/>
              <p:cNvGrpSpPr>
                <a:grpSpLocks/>
              </p:cNvGrpSpPr>
              <p:nvPr/>
            </p:nvGrpSpPr>
            <p:grpSpPr bwMode="auto">
              <a:xfrm flipH="1">
                <a:off x="1776" y="1200"/>
                <a:ext cx="1152" cy="288"/>
                <a:chOff x="1248" y="1632"/>
                <a:chExt cx="1152" cy="288"/>
              </a:xfrm>
            </p:grpSpPr>
            <p:grpSp>
              <p:nvGrpSpPr>
                <p:cNvPr id="16394" name="Group 82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69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70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396" name="Group 85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67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68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6397" name="Group 88"/>
              <p:cNvGrpSpPr>
                <a:grpSpLocks/>
              </p:cNvGrpSpPr>
              <p:nvPr/>
            </p:nvGrpSpPr>
            <p:grpSpPr bwMode="auto">
              <a:xfrm>
                <a:off x="1776" y="1488"/>
                <a:ext cx="1152" cy="288"/>
                <a:chOff x="1248" y="1632"/>
                <a:chExt cx="1152" cy="288"/>
              </a:xfrm>
            </p:grpSpPr>
            <p:grpSp>
              <p:nvGrpSpPr>
                <p:cNvPr id="16398" name="Group 89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63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64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399" name="Group 92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61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62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6406" name="Group 95"/>
              <p:cNvGrpSpPr>
                <a:grpSpLocks/>
              </p:cNvGrpSpPr>
              <p:nvPr/>
            </p:nvGrpSpPr>
            <p:grpSpPr bwMode="auto">
              <a:xfrm flipH="1">
                <a:off x="1776" y="1728"/>
                <a:ext cx="1152" cy="288"/>
                <a:chOff x="1248" y="1632"/>
                <a:chExt cx="1152" cy="288"/>
              </a:xfrm>
            </p:grpSpPr>
            <p:grpSp>
              <p:nvGrpSpPr>
                <p:cNvPr id="16410" name="Group 96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57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58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411" name="Group 99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55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56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sp>
          <p:nvSpPr>
            <p:cNvPr id="16439" name="Oval 102"/>
            <p:cNvSpPr>
              <a:spLocks noChangeArrowheads="1"/>
            </p:cNvSpPr>
            <p:nvPr/>
          </p:nvSpPr>
          <p:spPr bwMode="auto">
            <a:xfrm>
              <a:off x="2112" y="2448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0" name="Oval 103"/>
            <p:cNvSpPr>
              <a:spLocks noChangeArrowheads="1"/>
            </p:cNvSpPr>
            <p:nvPr/>
          </p:nvSpPr>
          <p:spPr bwMode="auto">
            <a:xfrm>
              <a:off x="2688" y="2448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1" name="Oval 104"/>
            <p:cNvSpPr>
              <a:spLocks noChangeArrowheads="1"/>
            </p:cNvSpPr>
            <p:nvPr/>
          </p:nvSpPr>
          <p:spPr bwMode="auto">
            <a:xfrm>
              <a:off x="2688" y="3024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2" name="Oval 105"/>
            <p:cNvSpPr>
              <a:spLocks noChangeArrowheads="1"/>
            </p:cNvSpPr>
            <p:nvPr/>
          </p:nvSpPr>
          <p:spPr bwMode="auto">
            <a:xfrm>
              <a:off x="2976" y="3264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3" name="Line 141"/>
            <p:cNvSpPr>
              <a:spLocks noChangeShapeType="1"/>
            </p:cNvSpPr>
            <p:nvPr/>
          </p:nvSpPr>
          <p:spPr bwMode="auto">
            <a:xfrm>
              <a:off x="2640" y="206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444" name="Text Box 143"/>
            <p:cNvSpPr txBox="1">
              <a:spLocks noChangeArrowheads="1"/>
            </p:cNvSpPr>
            <p:nvPr/>
          </p:nvSpPr>
          <p:spPr bwMode="auto">
            <a:xfrm>
              <a:off x="1440" y="2016"/>
              <a:ext cx="108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sv-SE" sz="2800"/>
                <a:t>m</a:t>
              </a:r>
              <a:r>
                <a:rPr lang="sv-SE" sz="2800" baseline="-25000"/>
                <a:t>2</a:t>
              </a:r>
              <a:r>
                <a:rPr lang="sv-SE" sz="2800"/>
                <a:t> : b</a:t>
              </a:r>
              <a:r>
                <a:rPr lang="sv-SE" sz="2800">
                  <a:sym typeface="Symbol" pitchFamily="18" charset="2"/>
                </a:rPr>
                <a:t>b</a:t>
              </a:r>
              <a:r>
                <a:rPr lang="sv-SE" sz="2800" baseline="-25000">
                  <a:sym typeface="Symbol" pitchFamily="18" charset="2"/>
                </a:rPr>
                <a:t>2</a:t>
              </a:r>
              <a:endParaRPr lang="en-US" sz="2800" baseline="-25000"/>
            </a:p>
          </p:txBody>
        </p:sp>
        <p:grpSp>
          <p:nvGrpSpPr>
            <p:cNvPr id="16412" name="Group 151"/>
            <p:cNvGrpSpPr>
              <a:grpSpLocks/>
            </p:cNvGrpSpPr>
            <p:nvPr/>
          </p:nvGrpSpPr>
          <p:grpSpPr bwMode="auto">
            <a:xfrm>
              <a:off x="2304" y="3600"/>
              <a:ext cx="720" cy="288"/>
              <a:chOff x="576" y="3600"/>
              <a:chExt cx="720" cy="288"/>
            </a:xfrm>
          </p:grpSpPr>
          <p:sp>
            <p:nvSpPr>
              <p:cNvPr id="16446" name="Line 152"/>
              <p:cNvSpPr>
                <a:spLocks noChangeShapeType="1"/>
              </p:cNvSpPr>
              <p:nvPr/>
            </p:nvSpPr>
            <p:spPr bwMode="auto">
              <a:xfrm>
                <a:off x="912" y="360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447" name="Line 153"/>
              <p:cNvSpPr>
                <a:spLocks noChangeShapeType="1"/>
              </p:cNvSpPr>
              <p:nvPr/>
            </p:nvSpPr>
            <p:spPr bwMode="auto">
              <a:xfrm>
                <a:off x="1152" y="3600"/>
                <a:ext cx="144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448" name="Line 154"/>
              <p:cNvSpPr>
                <a:spLocks noChangeShapeType="1"/>
              </p:cNvSpPr>
              <p:nvPr/>
            </p:nvSpPr>
            <p:spPr bwMode="auto">
              <a:xfrm flipH="1">
                <a:off x="576" y="3600"/>
                <a:ext cx="144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16413" name="Group 161"/>
          <p:cNvGrpSpPr>
            <a:grpSpLocks/>
          </p:cNvGrpSpPr>
          <p:nvPr/>
        </p:nvGrpSpPr>
        <p:grpSpPr bwMode="auto">
          <a:xfrm>
            <a:off x="6934201" y="2719760"/>
            <a:ext cx="3240088" cy="3657600"/>
            <a:chOff x="3408" y="1536"/>
            <a:chExt cx="2041" cy="2304"/>
          </a:xfrm>
        </p:grpSpPr>
        <p:grpSp>
          <p:nvGrpSpPr>
            <p:cNvPr id="16414" name="Group 106"/>
            <p:cNvGrpSpPr>
              <a:grpSpLocks/>
            </p:cNvGrpSpPr>
            <p:nvPr/>
          </p:nvGrpSpPr>
          <p:grpSpPr bwMode="auto">
            <a:xfrm>
              <a:off x="3888" y="2448"/>
              <a:ext cx="1152" cy="1056"/>
              <a:chOff x="1776" y="960"/>
              <a:chExt cx="1152" cy="1056"/>
            </a:xfrm>
          </p:grpSpPr>
          <p:grpSp>
            <p:nvGrpSpPr>
              <p:cNvPr id="16415" name="Group 107"/>
              <p:cNvGrpSpPr>
                <a:grpSpLocks/>
              </p:cNvGrpSpPr>
              <p:nvPr/>
            </p:nvGrpSpPr>
            <p:grpSpPr bwMode="auto">
              <a:xfrm>
                <a:off x="1776" y="960"/>
                <a:ext cx="1152" cy="288"/>
                <a:chOff x="1248" y="1632"/>
                <a:chExt cx="1152" cy="288"/>
              </a:xfrm>
            </p:grpSpPr>
            <p:grpSp>
              <p:nvGrpSpPr>
                <p:cNvPr id="16420" name="Group 108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36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37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421" name="Group 111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34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35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6426" name="Group 114"/>
              <p:cNvGrpSpPr>
                <a:grpSpLocks/>
              </p:cNvGrpSpPr>
              <p:nvPr/>
            </p:nvGrpSpPr>
            <p:grpSpPr bwMode="auto">
              <a:xfrm flipH="1">
                <a:off x="1776" y="1200"/>
                <a:ext cx="1152" cy="288"/>
                <a:chOff x="1248" y="1632"/>
                <a:chExt cx="1152" cy="288"/>
              </a:xfrm>
            </p:grpSpPr>
            <p:grpSp>
              <p:nvGrpSpPr>
                <p:cNvPr id="16427" name="Group 115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30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31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432" name="Group 118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28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29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6433" name="Group 121"/>
              <p:cNvGrpSpPr>
                <a:grpSpLocks/>
              </p:cNvGrpSpPr>
              <p:nvPr/>
            </p:nvGrpSpPr>
            <p:grpSpPr bwMode="auto">
              <a:xfrm>
                <a:off x="1776" y="1488"/>
                <a:ext cx="1152" cy="288"/>
                <a:chOff x="1248" y="1632"/>
                <a:chExt cx="1152" cy="288"/>
              </a:xfrm>
            </p:grpSpPr>
            <p:grpSp>
              <p:nvGrpSpPr>
                <p:cNvPr id="16438" name="Group 122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24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25" name="Rectangle 124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445" name="Group 125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22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23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33920" name="Group 128"/>
              <p:cNvGrpSpPr>
                <a:grpSpLocks/>
              </p:cNvGrpSpPr>
              <p:nvPr/>
            </p:nvGrpSpPr>
            <p:grpSpPr bwMode="auto">
              <a:xfrm flipH="1">
                <a:off x="1776" y="1728"/>
                <a:ext cx="1152" cy="288"/>
                <a:chOff x="1248" y="1632"/>
                <a:chExt cx="1152" cy="288"/>
              </a:xfrm>
            </p:grpSpPr>
            <p:grpSp>
              <p:nvGrpSpPr>
                <p:cNvPr id="33921" name="Group 129"/>
                <p:cNvGrpSpPr>
                  <a:grpSpLocks/>
                </p:cNvGrpSpPr>
                <p:nvPr/>
              </p:nvGrpSpPr>
              <p:grpSpPr bwMode="auto">
                <a:xfrm>
                  <a:off x="1248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18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19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3922" name="Group 132"/>
                <p:cNvGrpSpPr>
                  <a:grpSpLocks/>
                </p:cNvGrpSpPr>
                <p:nvPr/>
              </p:nvGrpSpPr>
              <p:grpSpPr bwMode="auto">
                <a:xfrm>
                  <a:off x="1824" y="1632"/>
                  <a:ext cx="576" cy="288"/>
                  <a:chOff x="1248" y="1632"/>
                  <a:chExt cx="576" cy="288"/>
                </a:xfrm>
              </p:grpSpPr>
              <p:sp>
                <p:nvSpPr>
                  <p:cNvPr id="16416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1632"/>
                    <a:ext cx="288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417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1632"/>
                    <a:ext cx="288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sp>
          <p:nvSpPr>
            <p:cNvPr id="16400" name="Oval 135"/>
            <p:cNvSpPr>
              <a:spLocks noChangeArrowheads="1"/>
            </p:cNvSpPr>
            <p:nvPr/>
          </p:nvSpPr>
          <p:spPr bwMode="auto">
            <a:xfrm>
              <a:off x="3936" y="2448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1" name="Oval 136"/>
            <p:cNvSpPr>
              <a:spLocks noChangeArrowheads="1"/>
            </p:cNvSpPr>
            <p:nvPr/>
          </p:nvSpPr>
          <p:spPr bwMode="auto">
            <a:xfrm>
              <a:off x="4512" y="2448"/>
              <a:ext cx="192" cy="19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2" name="Oval 137"/>
            <p:cNvSpPr>
              <a:spLocks noChangeArrowheads="1"/>
            </p:cNvSpPr>
            <p:nvPr/>
          </p:nvSpPr>
          <p:spPr bwMode="auto">
            <a:xfrm>
              <a:off x="4224" y="3264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3" name="Oval 138"/>
            <p:cNvSpPr>
              <a:spLocks noChangeArrowheads="1"/>
            </p:cNvSpPr>
            <p:nvPr/>
          </p:nvSpPr>
          <p:spPr bwMode="auto">
            <a:xfrm>
              <a:off x="4512" y="3024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4" name="Line 140"/>
            <p:cNvSpPr>
              <a:spLocks noChangeShapeType="1"/>
            </p:cNvSpPr>
            <p:nvPr/>
          </p:nvSpPr>
          <p:spPr bwMode="auto">
            <a:xfrm>
              <a:off x="3408" y="1536"/>
              <a:ext cx="816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405" name="Text Box 144"/>
            <p:cNvSpPr txBox="1">
              <a:spLocks noChangeArrowheads="1"/>
            </p:cNvSpPr>
            <p:nvPr/>
          </p:nvSpPr>
          <p:spPr bwMode="auto">
            <a:xfrm>
              <a:off x="4368" y="1968"/>
              <a:ext cx="108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sv-SE" sz="2800"/>
                <a:t>m</a:t>
              </a:r>
              <a:r>
                <a:rPr lang="sv-SE" sz="2800" baseline="-25000"/>
                <a:t>3</a:t>
              </a:r>
              <a:r>
                <a:rPr lang="sv-SE" sz="2800"/>
                <a:t> : b</a:t>
              </a:r>
              <a:r>
                <a:rPr lang="sv-SE" sz="2800">
                  <a:sym typeface="Symbol" pitchFamily="18" charset="2"/>
                </a:rPr>
                <a:t>b</a:t>
              </a:r>
              <a:r>
                <a:rPr lang="sv-SE" sz="2800" baseline="-25000">
                  <a:sym typeface="Symbol" pitchFamily="18" charset="2"/>
                </a:rPr>
                <a:t>3</a:t>
              </a:r>
              <a:endParaRPr lang="en-US" sz="2800" baseline="-25000"/>
            </a:p>
          </p:txBody>
        </p:sp>
        <p:grpSp>
          <p:nvGrpSpPr>
            <p:cNvPr id="33923" name="Group 155"/>
            <p:cNvGrpSpPr>
              <a:grpSpLocks/>
            </p:cNvGrpSpPr>
            <p:nvPr/>
          </p:nvGrpSpPr>
          <p:grpSpPr bwMode="auto">
            <a:xfrm>
              <a:off x="4176" y="3552"/>
              <a:ext cx="720" cy="288"/>
              <a:chOff x="576" y="3600"/>
              <a:chExt cx="720" cy="288"/>
            </a:xfrm>
          </p:grpSpPr>
          <p:sp>
            <p:nvSpPr>
              <p:cNvPr id="16407" name="Line 156"/>
              <p:cNvSpPr>
                <a:spLocks noChangeShapeType="1"/>
              </p:cNvSpPr>
              <p:nvPr/>
            </p:nvSpPr>
            <p:spPr bwMode="auto">
              <a:xfrm>
                <a:off x="912" y="360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408" name="Line 157"/>
              <p:cNvSpPr>
                <a:spLocks noChangeShapeType="1"/>
              </p:cNvSpPr>
              <p:nvPr/>
            </p:nvSpPr>
            <p:spPr bwMode="auto">
              <a:xfrm>
                <a:off x="1152" y="3600"/>
                <a:ext cx="144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409" name="Line 158"/>
              <p:cNvSpPr>
                <a:spLocks noChangeShapeType="1"/>
              </p:cNvSpPr>
              <p:nvPr/>
            </p:nvSpPr>
            <p:spPr bwMode="auto">
              <a:xfrm flipH="1">
                <a:off x="576" y="3600"/>
                <a:ext cx="144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3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9720072" cy="1038142"/>
          </a:xfrm>
        </p:spPr>
        <p:txBody>
          <a:bodyPr/>
          <a:lstStyle/>
          <a:p>
            <a:r>
              <a:rPr lang="sv-SE" dirty="0" smtClean="0"/>
              <a:t>State Space Search</a:t>
            </a:r>
          </a:p>
        </p:txBody>
      </p:sp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9D7835D-D26E-4D73-AD8A-BC171A8B3EE6}" type="slidenum">
              <a:rPr lang="en-US"/>
              <a:pPr>
                <a:defRPr/>
              </a:pPr>
              <a:t>15</a:t>
            </a:fld>
            <a:endParaRPr lang="en-US"/>
          </a:p>
        </p:txBody>
      </p:sp>
      <p:grpSp>
        <p:nvGrpSpPr>
          <p:cNvPr id="2" name="Group 1027"/>
          <p:cNvGrpSpPr>
            <a:grpSpLocks/>
          </p:cNvGrpSpPr>
          <p:nvPr/>
        </p:nvGrpSpPr>
        <p:grpSpPr bwMode="auto">
          <a:xfrm>
            <a:off x="4800600" y="1447800"/>
            <a:ext cx="1828800" cy="1676400"/>
            <a:chOff x="1776" y="960"/>
            <a:chExt cx="1152" cy="1056"/>
          </a:xfrm>
        </p:grpSpPr>
        <p:grpSp>
          <p:nvGrpSpPr>
            <p:cNvPr id="3" name="Group 1028"/>
            <p:cNvGrpSpPr>
              <a:grpSpLocks/>
            </p:cNvGrpSpPr>
            <p:nvPr/>
          </p:nvGrpSpPr>
          <p:grpSpPr bwMode="auto">
            <a:xfrm>
              <a:off x="1776" y="960"/>
              <a:ext cx="1152" cy="288"/>
              <a:chOff x="1248" y="1632"/>
              <a:chExt cx="1152" cy="288"/>
            </a:xfrm>
          </p:grpSpPr>
          <p:grpSp>
            <p:nvGrpSpPr>
              <p:cNvPr id="4" name="Group 1029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563" name="Rectangle 1030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64" name="Rectangle 1031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032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561" name="Rectangle 1033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62" name="Rectangle 1034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1035"/>
            <p:cNvGrpSpPr>
              <a:grpSpLocks/>
            </p:cNvGrpSpPr>
            <p:nvPr/>
          </p:nvGrpSpPr>
          <p:grpSpPr bwMode="auto">
            <a:xfrm flipH="1">
              <a:off x="1776" y="1200"/>
              <a:ext cx="1152" cy="288"/>
              <a:chOff x="1248" y="1632"/>
              <a:chExt cx="1152" cy="288"/>
            </a:xfrm>
          </p:grpSpPr>
          <p:grpSp>
            <p:nvGrpSpPr>
              <p:cNvPr id="7" name="Group 1036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557" name="Rectangle 1037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58" name="Rectangle 1038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1039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555" name="Rectangle 1040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56" name="Rectangle 1041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1042"/>
            <p:cNvGrpSpPr>
              <a:grpSpLocks/>
            </p:cNvGrpSpPr>
            <p:nvPr/>
          </p:nvGrpSpPr>
          <p:grpSpPr bwMode="auto">
            <a:xfrm>
              <a:off x="1776" y="1488"/>
              <a:ext cx="1152" cy="288"/>
              <a:chOff x="1248" y="1632"/>
              <a:chExt cx="1152" cy="288"/>
            </a:xfrm>
          </p:grpSpPr>
          <p:grpSp>
            <p:nvGrpSpPr>
              <p:cNvPr id="10" name="Group 1043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551" name="Rectangle 104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52" name="Rectangle 104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1046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549" name="Rectangle 1047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50" name="Rectangle 1048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049"/>
            <p:cNvGrpSpPr>
              <a:grpSpLocks/>
            </p:cNvGrpSpPr>
            <p:nvPr/>
          </p:nvGrpSpPr>
          <p:grpSpPr bwMode="auto">
            <a:xfrm flipH="1">
              <a:off x="1776" y="1728"/>
              <a:ext cx="1152" cy="288"/>
              <a:chOff x="1248" y="1632"/>
              <a:chExt cx="1152" cy="288"/>
            </a:xfrm>
          </p:grpSpPr>
          <p:grpSp>
            <p:nvGrpSpPr>
              <p:cNvPr id="13" name="Group 1050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545" name="Rectangle 1051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46" name="Rectangle 1052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053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543" name="Rectangle 105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44" name="Rectangle 105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7413" name="Oval 1056"/>
          <p:cNvSpPr>
            <a:spLocks noChangeArrowheads="1"/>
          </p:cNvSpPr>
          <p:nvPr/>
        </p:nvSpPr>
        <p:spPr bwMode="auto">
          <a:xfrm>
            <a:off x="4876800" y="14478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Oval 1057"/>
          <p:cNvSpPr>
            <a:spLocks noChangeArrowheads="1"/>
          </p:cNvSpPr>
          <p:nvPr/>
        </p:nvSpPr>
        <p:spPr bwMode="auto">
          <a:xfrm>
            <a:off x="5791200" y="14478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Oval 1058"/>
          <p:cNvSpPr>
            <a:spLocks noChangeArrowheads="1"/>
          </p:cNvSpPr>
          <p:nvPr/>
        </p:nvSpPr>
        <p:spPr bwMode="auto">
          <a:xfrm>
            <a:off x="4876800" y="23622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Oval 1059"/>
          <p:cNvSpPr>
            <a:spLocks noChangeArrowheads="1"/>
          </p:cNvSpPr>
          <p:nvPr/>
        </p:nvSpPr>
        <p:spPr bwMode="auto">
          <a:xfrm>
            <a:off x="6248400" y="27432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Text Box 1060"/>
          <p:cNvSpPr txBox="1">
            <a:spLocks noChangeArrowheads="1"/>
          </p:cNvSpPr>
          <p:nvPr/>
        </p:nvSpPr>
        <p:spPr bwMode="auto">
          <a:xfrm>
            <a:off x="7086600" y="1624013"/>
            <a:ext cx="14029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v-SE" sz="2800"/>
              <a:t>V(b</a:t>
            </a:r>
            <a:r>
              <a:rPr lang="sv-SE" sz="2800" baseline="-25000"/>
              <a:t>1</a:t>
            </a:r>
            <a:r>
              <a:rPr lang="sv-SE" sz="2800"/>
              <a:t>)= ?</a:t>
            </a:r>
            <a:endParaRPr lang="en-US" sz="2800"/>
          </a:p>
        </p:txBody>
      </p:sp>
      <p:grpSp>
        <p:nvGrpSpPr>
          <p:cNvPr id="15" name="Group 1061"/>
          <p:cNvGrpSpPr>
            <a:grpSpLocks/>
          </p:cNvGrpSpPr>
          <p:nvPr/>
        </p:nvGrpSpPr>
        <p:grpSpPr bwMode="auto">
          <a:xfrm>
            <a:off x="2073275" y="3929063"/>
            <a:ext cx="1828800" cy="1676400"/>
            <a:chOff x="1776" y="960"/>
            <a:chExt cx="1152" cy="1056"/>
          </a:xfrm>
        </p:grpSpPr>
        <p:grpSp>
          <p:nvGrpSpPr>
            <p:cNvPr id="16" name="Group 1062"/>
            <p:cNvGrpSpPr>
              <a:grpSpLocks/>
            </p:cNvGrpSpPr>
            <p:nvPr/>
          </p:nvGrpSpPr>
          <p:grpSpPr bwMode="auto">
            <a:xfrm>
              <a:off x="1776" y="960"/>
              <a:ext cx="1152" cy="288"/>
              <a:chOff x="1248" y="1632"/>
              <a:chExt cx="1152" cy="288"/>
            </a:xfrm>
          </p:grpSpPr>
          <p:grpSp>
            <p:nvGrpSpPr>
              <p:cNvPr id="17" name="Group 1063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535" name="Rectangle 106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36" name="Rectangle 106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1066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533" name="Rectangle 1067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34" name="Rectangle 1068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9" name="Group 1069"/>
            <p:cNvGrpSpPr>
              <a:grpSpLocks/>
            </p:cNvGrpSpPr>
            <p:nvPr/>
          </p:nvGrpSpPr>
          <p:grpSpPr bwMode="auto">
            <a:xfrm flipH="1">
              <a:off x="1776" y="1200"/>
              <a:ext cx="1152" cy="288"/>
              <a:chOff x="1248" y="1632"/>
              <a:chExt cx="1152" cy="288"/>
            </a:xfrm>
          </p:grpSpPr>
          <p:grpSp>
            <p:nvGrpSpPr>
              <p:cNvPr id="20" name="Group 1070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529" name="Rectangle 1071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30" name="Rectangle 1072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1073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527" name="Rectangle 107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28" name="Rectangle 107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2" name="Group 1076"/>
            <p:cNvGrpSpPr>
              <a:grpSpLocks/>
            </p:cNvGrpSpPr>
            <p:nvPr/>
          </p:nvGrpSpPr>
          <p:grpSpPr bwMode="auto">
            <a:xfrm>
              <a:off x="1776" y="1488"/>
              <a:ext cx="1152" cy="288"/>
              <a:chOff x="1248" y="1632"/>
              <a:chExt cx="1152" cy="288"/>
            </a:xfrm>
          </p:grpSpPr>
          <p:grpSp>
            <p:nvGrpSpPr>
              <p:cNvPr id="23" name="Group 1077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523" name="Rectangle 1078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24" name="Rectangle 1079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1080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521" name="Rectangle 1081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22" name="Rectangle 1082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5" name="Group 1083"/>
            <p:cNvGrpSpPr>
              <a:grpSpLocks/>
            </p:cNvGrpSpPr>
            <p:nvPr/>
          </p:nvGrpSpPr>
          <p:grpSpPr bwMode="auto">
            <a:xfrm flipH="1">
              <a:off x="1776" y="1728"/>
              <a:ext cx="1152" cy="288"/>
              <a:chOff x="1248" y="1632"/>
              <a:chExt cx="1152" cy="288"/>
            </a:xfrm>
          </p:grpSpPr>
          <p:grpSp>
            <p:nvGrpSpPr>
              <p:cNvPr id="26" name="Group 1084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517" name="Rectangle 1085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18" name="Rectangle 1086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1087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515" name="Rectangle 1088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16" name="Rectangle 1089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7419" name="Oval 1090"/>
          <p:cNvSpPr>
            <a:spLocks noChangeArrowheads="1"/>
          </p:cNvSpPr>
          <p:nvPr/>
        </p:nvSpPr>
        <p:spPr bwMode="auto">
          <a:xfrm>
            <a:off x="2590800" y="44196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0" name="Oval 1091"/>
          <p:cNvSpPr>
            <a:spLocks noChangeArrowheads="1"/>
          </p:cNvSpPr>
          <p:nvPr/>
        </p:nvSpPr>
        <p:spPr bwMode="auto">
          <a:xfrm>
            <a:off x="3063875" y="3929063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Oval 1092"/>
          <p:cNvSpPr>
            <a:spLocks noChangeArrowheads="1"/>
          </p:cNvSpPr>
          <p:nvPr/>
        </p:nvSpPr>
        <p:spPr bwMode="auto">
          <a:xfrm>
            <a:off x="2133600" y="48006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2" name="Oval 1093"/>
          <p:cNvSpPr>
            <a:spLocks noChangeArrowheads="1"/>
          </p:cNvSpPr>
          <p:nvPr/>
        </p:nvSpPr>
        <p:spPr bwMode="auto">
          <a:xfrm>
            <a:off x="3521075" y="5224463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" name="Group 1094"/>
          <p:cNvGrpSpPr>
            <a:grpSpLocks/>
          </p:cNvGrpSpPr>
          <p:nvPr/>
        </p:nvGrpSpPr>
        <p:grpSpPr bwMode="auto">
          <a:xfrm>
            <a:off x="4800600" y="3886200"/>
            <a:ext cx="1828800" cy="1676400"/>
            <a:chOff x="1776" y="960"/>
            <a:chExt cx="1152" cy="1056"/>
          </a:xfrm>
        </p:grpSpPr>
        <p:grpSp>
          <p:nvGrpSpPr>
            <p:cNvPr id="29" name="Group 1095"/>
            <p:cNvGrpSpPr>
              <a:grpSpLocks/>
            </p:cNvGrpSpPr>
            <p:nvPr/>
          </p:nvGrpSpPr>
          <p:grpSpPr bwMode="auto">
            <a:xfrm>
              <a:off x="1776" y="960"/>
              <a:ext cx="1152" cy="288"/>
              <a:chOff x="1248" y="1632"/>
              <a:chExt cx="1152" cy="288"/>
            </a:xfrm>
          </p:grpSpPr>
          <p:grpSp>
            <p:nvGrpSpPr>
              <p:cNvPr id="30" name="Group 1096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507" name="Rectangle 1097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08" name="Rectangle 1098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1" name="Group 1099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505" name="Rectangle 1100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06" name="Rectangle 1101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7475" name="Group 1102"/>
            <p:cNvGrpSpPr>
              <a:grpSpLocks/>
            </p:cNvGrpSpPr>
            <p:nvPr/>
          </p:nvGrpSpPr>
          <p:grpSpPr bwMode="auto">
            <a:xfrm flipH="1">
              <a:off x="1776" y="1200"/>
              <a:ext cx="1152" cy="288"/>
              <a:chOff x="1248" y="1632"/>
              <a:chExt cx="1152" cy="288"/>
            </a:xfrm>
          </p:grpSpPr>
          <p:grpSp>
            <p:nvGrpSpPr>
              <p:cNvPr id="17476" name="Group 1103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501" name="Rectangle 110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02" name="Rectangle 110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481" name="Group 1106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499" name="Rectangle 1107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00" name="Rectangle 1108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7482" name="Group 1109"/>
            <p:cNvGrpSpPr>
              <a:grpSpLocks/>
            </p:cNvGrpSpPr>
            <p:nvPr/>
          </p:nvGrpSpPr>
          <p:grpSpPr bwMode="auto">
            <a:xfrm>
              <a:off x="1776" y="1488"/>
              <a:ext cx="1152" cy="288"/>
              <a:chOff x="1248" y="1632"/>
              <a:chExt cx="1152" cy="288"/>
            </a:xfrm>
          </p:grpSpPr>
          <p:grpSp>
            <p:nvGrpSpPr>
              <p:cNvPr id="17483" name="Group 1110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495" name="Rectangle 1111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96" name="Rectangle 1112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484" name="Group 1113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493" name="Rectangle 111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94" name="Rectangle 111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7485" name="Group 1116"/>
            <p:cNvGrpSpPr>
              <a:grpSpLocks/>
            </p:cNvGrpSpPr>
            <p:nvPr/>
          </p:nvGrpSpPr>
          <p:grpSpPr bwMode="auto">
            <a:xfrm flipH="1">
              <a:off x="1776" y="1728"/>
              <a:ext cx="1152" cy="288"/>
              <a:chOff x="1248" y="1632"/>
              <a:chExt cx="1152" cy="288"/>
            </a:xfrm>
          </p:grpSpPr>
          <p:grpSp>
            <p:nvGrpSpPr>
              <p:cNvPr id="17486" name="Group 1117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489" name="Rectangle 1118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90" name="Rectangle 1119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491" name="Group 1120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487" name="Rectangle 1121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88" name="Rectangle 1122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7424" name="Oval 1123"/>
          <p:cNvSpPr>
            <a:spLocks noChangeArrowheads="1"/>
          </p:cNvSpPr>
          <p:nvPr/>
        </p:nvSpPr>
        <p:spPr bwMode="auto">
          <a:xfrm>
            <a:off x="4876800" y="38862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Oval 1124"/>
          <p:cNvSpPr>
            <a:spLocks noChangeArrowheads="1"/>
          </p:cNvSpPr>
          <p:nvPr/>
        </p:nvSpPr>
        <p:spPr bwMode="auto">
          <a:xfrm>
            <a:off x="5334000" y="43434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Oval 1125"/>
          <p:cNvSpPr>
            <a:spLocks noChangeArrowheads="1"/>
          </p:cNvSpPr>
          <p:nvPr/>
        </p:nvSpPr>
        <p:spPr bwMode="auto">
          <a:xfrm>
            <a:off x="4876800" y="48006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Oval 1126"/>
          <p:cNvSpPr>
            <a:spLocks noChangeArrowheads="1"/>
          </p:cNvSpPr>
          <p:nvPr/>
        </p:nvSpPr>
        <p:spPr bwMode="auto">
          <a:xfrm>
            <a:off x="6248400" y="51816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492" name="Group 1127"/>
          <p:cNvGrpSpPr>
            <a:grpSpLocks/>
          </p:cNvGrpSpPr>
          <p:nvPr/>
        </p:nvGrpSpPr>
        <p:grpSpPr bwMode="auto">
          <a:xfrm>
            <a:off x="7696200" y="3886200"/>
            <a:ext cx="1828800" cy="1676400"/>
            <a:chOff x="1776" y="960"/>
            <a:chExt cx="1152" cy="1056"/>
          </a:xfrm>
        </p:grpSpPr>
        <p:grpSp>
          <p:nvGrpSpPr>
            <p:cNvPr id="17497" name="Group 1128"/>
            <p:cNvGrpSpPr>
              <a:grpSpLocks/>
            </p:cNvGrpSpPr>
            <p:nvPr/>
          </p:nvGrpSpPr>
          <p:grpSpPr bwMode="auto">
            <a:xfrm>
              <a:off x="1776" y="960"/>
              <a:ext cx="1152" cy="288"/>
              <a:chOff x="1248" y="1632"/>
              <a:chExt cx="1152" cy="288"/>
            </a:xfrm>
          </p:grpSpPr>
          <p:grpSp>
            <p:nvGrpSpPr>
              <p:cNvPr id="17498" name="Group 1129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479" name="Rectangle 1130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80" name="Rectangle 1131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503" name="Group 1132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477" name="Rectangle 1133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78" name="Rectangle 1134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7504" name="Group 1135"/>
            <p:cNvGrpSpPr>
              <a:grpSpLocks/>
            </p:cNvGrpSpPr>
            <p:nvPr/>
          </p:nvGrpSpPr>
          <p:grpSpPr bwMode="auto">
            <a:xfrm flipH="1">
              <a:off x="1776" y="1200"/>
              <a:ext cx="1152" cy="288"/>
              <a:chOff x="1248" y="1632"/>
              <a:chExt cx="1152" cy="288"/>
            </a:xfrm>
          </p:grpSpPr>
          <p:grpSp>
            <p:nvGrpSpPr>
              <p:cNvPr id="17509" name="Group 1136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473" name="Rectangle 1137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74" name="Rectangle 1138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510" name="Group 1139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471" name="Rectangle 1140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72" name="Rectangle 1141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7511" name="Group 1142"/>
            <p:cNvGrpSpPr>
              <a:grpSpLocks/>
            </p:cNvGrpSpPr>
            <p:nvPr/>
          </p:nvGrpSpPr>
          <p:grpSpPr bwMode="auto">
            <a:xfrm>
              <a:off x="1776" y="1488"/>
              <a:ext cx="1152" cy="288"/>
              <a:chOff x="1248" y="1632"/>
              <a:chExt cx="1152" cy="288"/>
            </a:xfrm>
          </p:grpSpPr>
          <p:grpSp>
            <p:nvGrpSpPr>
              <p:cNvPr id="17512" name="Group 1143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467" name="Rectangle 114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68" name="Rectangle 114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513" name="Group 1146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465" name="Rectangle 1147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66" name="Rectangle 1148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7514" name="Group 1149"/>
            <p:cNvGrpSpPr>
              <a:grpSpLocks/>
            </p:cNvGrpSpPr>
            <p:nvPr/>
          </p:nvGrpSpPr>
          <p:grpSpPr bwMode="auto">
            <a:xfrm flipH="1">
              <a:off x="1776" y="1728"/>
              <a:ext cx="1152" cy="288"/>
              <a:chOff x="1248" y="1632"/>
              <a:chExt cx="1152" cy="288"/>
            </a:xfrm>
          </p:grpSpPr>
          <p:grpSp>
            <p:nvGrpSpPr>
              <p:cNvPr id="17519" name="Group 1150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7461" name="Rectangle 1151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62" name="Rectangle 1152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520" name="Group 1153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7459" name="Rectangle 115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60" name="Rectangle 115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7429" name="Oval 1156"/>
          <p:cNvSpPr>
            <a:spLocks noChangeArrowheads="1"/>
          </p:cNvSpPr>
          <p:nvPr/>
        </p:nvSpPr>
        <p:spPr bwMode="auto">
          <a:xfrm>
            <a:off x="7772400" y="38862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Oval 1157"/>
          <p:cNvSpPr>
            <a:spLocks noChangeArrowheads="1"/>
          </p:cNvSpPr>
          <p:nvPr/>
        </p:nvSpPr>
        <p:spPr bwMode="auto">
          <a:xfrm>
            <a:off x="9144000" y="43434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Oval 1158"/>
          <p:cNvSpPr>
            <a:spLocks noChangeArrowheads="1"/>
          </p:cNvSpPr>
          <p:nvPr/>
        </p:nvSpPr>
        <p:spPr bwMode="auto">
          <a:xfrm>
            <a:off x="7772400" y="47244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2" name="Oval 1159"/>
          <p:cNvSpPr>
            <a:spLocks noChangeArrowheads="1"/>
          </p:cNvSpPr>
          <p:nvPr/>
        </p:nvSpPr>
        <p:spPr bwMode="auto">
          <a:xfrm>
            <a:off x="9144000" y="51816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3" name="Line 1160"/>
          <p:cNvSpPr>
            <a:spLocks noChangeShapeType="1"/>
          </p:cNvSpPr>
          <p:nvPr/>
        </p:nvSpPr>
        <p:spPr bwMode="auto">
          <a:xfrm flipH="1">
            <a:off x="3429000" y="2438400"/>
            <a:ext cx="1219200" cy="12954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7434" name="Line 1161"/>
          <p:cNvSpPr>
            <a:spLocks noChangeShapeType="1"/>
          </p:cNvSpPr>
          <p:nvPr/>
        </p:nvSpPr>
        <p:spPr bwMode="auto">
          <a:xfrm>
            <a:off x="6934200" y="2438400"/>
            <a:ext cx="1295400" cy="12192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7435" name="Line 1162"/>
          <p:cNvSpPr>
            <a:spLocks noChangeShapeType="1"/>
          </p:cNvSpPr>
          <p:nvPr/>
        </p:nvSpPr>
        <p:spPr bwMode="auto">
          <a:xfrm>
            <a:off x="5715000" y="3276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7436" name="Text Box 1163"/>
          <p:cNvSpPr txBox="1">
            <a:spLocks noChangeArrowheads="1"/>
          </p:cNvSpPr>
          <p:nvPr/>
        </p:nvSpPr>
        <p:spPr bwMode="auto">
          <a:xfrm>
            <a:off x="1524000" y="3276600"/>
            <a:ext cx="17155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v-SE" sz="2800"/>
              <a:t>m</a:t>
            </a:r>
            <a:r>
              <a:rPr lang="sv-SE" sz="2800" baseline="-25000"/>
              <a:t>4</a:t>
            </a:r>
            <a:r>
              <a:rPr lang="sv-SE" sz="2800"/>
              <a:t> : b</a:t>
            </a:r>
            <a:r>
              <a:rPr lang="sv-SE" sz="2800">
                <a:sym typeface="Symbol" pitchFamily="18" charset="2"/>
              </a:rPr>
              <a:t>b</a:t>
            </a:r>
            <a:r>
              <a:rPr lang="sv-SE" sz="2800" baseline="-25000">
                <a:sym typeface="Symbol" pitchFamily="18" charset="2"/>
              </a:rPr>
              <a:t>4</a:t>
            </a:r>
            <a:endParaRPr lang="en-US" sz="2800" baseline="-25000"/>
          </a:p>
        </p:txBody>
      </p:sp>
      <p:sp>
        <p:nvSpPr>
          <p:cNvPr id="17437" name="Text Box 1164"/>
          <p:cNvSpPr txBox="1">
            <a:spLocks noChangeArrowheads="1"/>
          </p:cNvSpPr>
          <p:nvPr/>
        </p:nvSpPr>
        <p:spPr bwMode="auto">
          <a:xfrm>
            <a:off x="3810000" y="3200400"/>
            <a:ext cx="17155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v-SE" sz="2800"/>
              <a:t>m</a:t>
            </a:r>
            <a:r>
              <a:rPr lang="sv-SE" sz="2800" baseline="-25000"/>
              <a:t>5</a:t>
            </a:r>
            <a:r>
              <a:rPr lang="sv-SE" sz="2800"/>
              <a:t> : b</a:t>
            </a:r>
            <a:r>
              <a:rPr lang="sv-SE" sz="2800">
                <a:sym typeface="Symbol" pitchFamily="18" charset="2"/>
              </a:rPr>
              <a:t>b</a:t>
            </a:r>
            <a:r>
              <a:rPr lang="sv-SE" sz="2800" baseline="-25000">
                <a:sym typeface="Symbol" pitchFamily="18" charset="2"/>
              </a:rPr>
              <a:t>5</a:t>
            </a:r>
            <a:endParaRPr lang="en-US" sz="2800" baseline="-25000"/>
          </a:p>
        </p:txBody>
      </p:sp>
      <p:sp>
        <p:nvSpPr>
          <p:cNvPr id="17438" name="Text Box 1165"/>
          <p:cNvSpPr txBox="1">
            <a:spLocks noChangeArrowheads="1"/>
          </p:cNvSpPr>
          <p:nvPr/>
        </p:nvSpPr>
        <p:spPr bwMode="auto">
          <a:xfrm>
            <a:off x="8458200" y="3124200"/>
            <a:ext cx="17155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v-SE" sz="2800"/>
              <a:t>m</a:t>
            </a:r>
            <a:r>
              <a:rPr lang="sv-SE" sz="2800" baseline="-25000"/>
              <a:t>6</a:t>
            </a:r>
            <a:r>
              <a:rPr lang="sv-SE" sz="2800"/>
              <a:t> : b</a:t>
            </a:r>
            <a:r>
              <a:rPr lang="sv-SE" sz="2800">
                <a:sym typeface="Symbol" pitchFamily="18" charset="2"/>
              </a:rPr>
              <a:t>b</a:t>
            </a:r>
            <a:r>
              <a:rPr lang="sv-SE" sz="2800" baseline="-25000">
                <a:sym typeface="Symbol" pitchFamily="18" charset="2"/>
              </a:rPr>
              <a:t>6</a:t>
            </a:r>
            <a:endParaRPr lang="en-US" sz="2800" baseline="-25000"/>
          </a:p>
        </p:txBody>
      </p:sp>
      <p:sp>
        <p:nvSpPr>
          <p:cNvPr id="17439" name="Text Box 1166"/>
          <p:cNvSpPr txBox="1">
            <a:spLocks noChangeArrowheads="1"/>
          </p:cNvSpPr>
          <p:nvPr/>
        </p:nvSpPr>
        <p:spPr bwMode="auto">
          <a:xfrm>
            <a:off x="7543800" y="2386013"/>
            <a:ext cx="25555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v-SE" sz="2800"/>
              <a:t>V(b</a:t>
            </a:r>
            <a:r>
              <a:rPr lang="sv-SE" sz="2800" baseline="-25000"/>
              <a:t>1</a:t>
            </a:r>
            <a:r>
              <a:rPr lang="sv-SE" sz="2800"/>
              <a:t>)= min</a:t>
            </a:r>
            <a:r>
              <a:rPr lang="sv-SE" sz="2800" baseline="-25000"/>
              <a:t>i</a:t>
            </a:r>
            <a:r>
              <a:rPr lang="sv-SE" sz="2800"/>
              <a:t> V(b</a:t>
            </a:r>
            <a:r>
              <a:rPr lang="sv-SE" sz="2800" baseline="-25000"/>
              <a:t>i</a:t>
            </a:r>
            <a:r>
              <a:rPr lang="sv-SE" sz="2800"/>
              <a:t>)</a:t>
            </a:r>
            <a:endParaRPr lang="en-US" sz="2800"/>
          </a:p>
        </p:txBody>
      </p:sp>
      <p:sp>
        <p:nvSpPr>
          <p:cNvPr id="17440" name="Text Box 1167"/>
          <p:cNvSpPr txBox="1">
            <a:spLocks noChangeArrowheads="1"/>
          </p:cNvSpPr>
          <p:nvPr/>
        </p:nvSpPr>
        <p:spPr bwMode="auto">
          <a:xfrm>
            <a:off x="2193926" y="1633538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17525" name="Group 1168"/>
          <p:cNvGrpSpPr>
            <a:grpSpLocks/>
          </p:cNvGrpSpPr>
          <p:nvPr/>
        </p:nvGrpSpPr>
        <p:grpSpPr bwMode="auto">
          <a:xfrm>
            <a:off x="2438400" y="5715000"/>
            <a:ext cx="1143000" cy="457200"/>
            <a:chOff x="576" y="3600"/>
            <a:chExt cx="720" cy="288"/>
          </a:xfrm>
        </p:grpSpPr>
        <p:sp>
          <p:nvSpPr>
            <p:cNvPr id="17450" name="Line 1169"/>
            <p:cNvSpPr>
              <a:spLocks noChangeShapeType="1"/>
            </p:cNvSpPr>
            <p:nvPr/>
          </p:nvSpPr>
          <p:spPr bwMode="auto">
            <a:xfrm>
              <a:off x="912" y="360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451" name="Line 1170"/>
            <p:cNvSpPr>
              <a:spLocks noChangeShapeType="1"/>
            </p:cNvSpPr>
            <p:nvPr/>
          </p:nvSpPr>
          <p:spPr bwMode="auto">
            <a:xfrm>
              <a:off x="1152" y="3600"/>
              <a:ext cx="14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452" name="Line 1171"/>
            <p:cNvSpPr>
              <a:spLocks noChangeShapeType="1"/>
            </p:cNvSpPr>
            <p:nvPr/>
          </p:nvSpPr>
          <p:spPr bwMode="auto">
            <a:xfrm flipH="1">
              <a:off x="576" y="3600"/>
              <a:ext cx="14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7526" name="Group 1172"/>
          <p:cNvGrpSpPr>
            <a:grpSpLocks/>
          </p:cNvGrpSpPr>
          <p:nvPr/>
        </p:nvGrpSpPr>
        <p:grpSpPr bwMode="auto">
          <a:xfrm>
            <a:off x="5181600" y="5715000"/>
            <a:ext cx="1143000" cy="457200"/>
            <a:chOff x="576" y="3600"/>
            <a:chExt cx="720" cy="288"/>
          </a:xfrm>
        </p:grpSpPr>
        <p:sp>
          <p:nvSpPr>
            <p:cNvPr id="17447" name="Line 1173"/>
            <p:cNvSpPr>
              <a:spLocks noChangeShapeType="1"/>
            </p:cNvSpPr>
            <p:nvPr/>
          </p:nvSpPr>
          <p:spPr bwMode="auto">
            <a:xfrm>
              <a:off x="912" y="360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448" name="Line 1174"/>
            <p:cNvSpPr>
              <a:spLocks noChangeShapeType="1"/>
            </p:cNvSpPr>
            <p:nvPr/>
          </p:nvSpPr>
          <p:spPr bwMode="auto">
            <a:xfrm>
              <a:off x="1152" y="3600"/>
              <a:ext cx="14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449" name="Line 1175"/>
            <p:cNvSpPr>
              <a:spLocks noChangeShapeType="1"/>
            </p:cNvSpPr>
            <p:nvPr/>
          </p:nvSpPr>
          <p:spPr bwMode="auto">
            <a:xfrm flipH="1">
              <a:off x="576" y="3600"/>
              <a:ext cx="14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7531" name="Group 1176"/>
          <p:cNvGrpSpPr>
            <a:grpSpLocks/>
          </p:cNvGrpSpPr>
          <p:nvPr/>
        </p:nvGrpSpPr>
        <p:grpSpPr bwMode="auto">
          <a:xfrm>
            <a:off x="8153400" y="5638800"/>
            <a:ext cx="1143000" cy="457200"/>
            <a:chOff x="576" y="3600"/>
            <a:chExt cx="720" cy="288"/>
          </a:xfrm>
        </p:grpSpPr>
        <p:sp>
          <p:nvSpPr>
            <p:cNvPr id="17444" name="Line 1177"/>
            <p:cNvSpPr>
              <a:spLocks noChangeShapeType="1"/>
            </p:cNvSpPr>
            <p:nvPr/>
          </p:nvSpPr>
          <p:spPr bwMode="auto">
            <a:xfrm>
              <a:off x="912" y="360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445" name="Line 1178"/>
            <p:cNvSpPr>
              <a:spLocks noChangeShapeType="1"/>
            </p:cNvSpPr>
            <p:nvPr/>
          </p:nvSpPr>
          <p:spPr bwMode="auto">
            <a:xfrm>
              <a:off x="1152" y="3600"/>
              <a:ext cx="14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446" name="Line 1179"/>
            <p:cNvSpPr>
              <a:spLocks noChangeShapeType="1"/>
            </p:cNvSpPr>
            <p:nvPr/>
          </p:nvSpPr>
          <p:spPr bwMode="auto">
            <a:xfrm flipH="1">
              <a:off x="576" y="3600"/>
              <a:ext cx="144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9720072" cy="1091184"/>
          </a:xfrm>
        </p:spPr>
        <p:txBody>
          <a:bodyPr/>
          <a:lstStyle/>
          <a:p>
            <a:r>
              <a:rPr lang="sv-SE" dirty="0" smtClean="0"/>
              <a:t>Final Board States</a:t>
            </a:r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9B5B54A2-6432-4D2F-969C-EBD3230B511E}" type="slidenum">
              <a:rPr lang="en-US"/>
              <a:pPr>
                <a:defRPr/>
              </a:pPr>
              <a:t>16</a:t>
            </a:fld>
            <a:endParaRPr lang="en-US"/>
          </a:p>
        </p:txBody>
      </p:sp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2438400" y="1447800"/>
            <a:ext cx="1828800" cy="1676400"/>
            <a:chOff x="1776" y="960"/>
            <a:chExt cx="1152" cy="1056"/>
          </a:xfrm>
        </p:grpSpPr>
        <p:grpSp>
          <p:nvGrpSpPr>
            <p:cNvPr id="3" name="Group 1029"/>
            <p:cNvGrpSpPr>
              <a:grpSpLocks/>
            </p:cNvGrpSpPr>
            <p:nvPr/>
          </p:nvGrpSpPr>
          <p:grpSpPr bwMode="auto">
            <a:xfrm>
              <a:off x="1776" y="960"/>
              <a:ext cx="1152" cy="288"/>
              <a:chOff x="1248" y="1632"/>
              <a:chExt cx="1152" cy="288"/>
            </a:xfrm>
          </p:grpSpPr>
          <p:grpSp>
            <p:nvGrpSpPr>
              <p:cNvPr id="4" name="Group 1030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620" name="Rectangle 1031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21" name="Rectangle 1032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033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618" name="Rectangle 103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19" name="Rectangle 103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1036"/>
            <p:cNvGrpSpPr>
              <a:grpSpLocks/>
            </p:cNvGrpSpPr>
            <p:nvPr/>
          </p:nvGrpSpPr>
          <p:grpSpPr bwMode="auto">
            <a:xfrm flipH="1">
              <a:off x="1776" y="1200"/>
              <a:ext cx="1152" cy="288"/>
              <a:chOff x="1248" y="1632"/>
              <a:chExt cx="1152" cy="288"/>
            </a:xfrm>
          </p:grpSpPr>
          <p:grpSp>
            <p:nvGrpSpPr>
              <p:cNvPr id="7" name="Group 1037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614" name="Rectangle 1038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15" name="Rectangle 1039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1040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612" name="Rectangle 1041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13" name="Rectangle 1042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1043"/>
            <p:cNvGrpSpPr>
              <a:grpSpLocks/>
            </p:cNvGrpSpPr>
            <p:nvPr/>
          </p:nvGrpSpPr>
          <p:grpSpPr bwMode="auto">
            <a:xfrm>
              <a:off x="1776" y="1488"/>
              <a:ext cx="1152" cy="288"/>
              <a:chOff x="1248" y="1632"/>
              <a:chExt cx="1152" cy="288"/>
            </a:xfrm>
          </p:grpSpPr>
          <p:grpSp>
            <p:nvGrpSpPr>
              <p:cNvPr id="10" name="Group 1044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608" name="Rectangle 1045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09" name="Rectangle 1046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1047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606" name="Rectangle 1048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07" name="Rectangle 1049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2" name="Group 1050"/>
            <p:cNvGrpSpPr>
              <a:grpSpLocks/>
            </p:cNvGrpSpPr>
            <p:nvPr/>
          </p:nvGrpSpPr>
          <p:grpSpPr bwMode="auto">
            <a:xfrm flipH="1">
              <a:off x="1776" y="1728"/>
              <a:ext cx="1152" cy="288"/>
              <a:chOff x="1248" y="1632"/>
              <a:chExt cx="1152" cy="288"/>
            </a:xfrm>
          </p:grpSpPr>
          <p:grpSp>
            <p:nvGrpSpPr>
              <p:cNvPr id="13" name="Group 1051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602" name="Rectangle 1052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03" name="Rectangle 1053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054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600" name="Rectangle 1055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01" name="Rectangle 1056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8437" name="Oval 1057"/>
          <p:cNvSpPr>
            <a:spLocks noChangeArrowheads="1"/>
          </p:cNvSpPr>
          <p:nvPr/>
        </p:nvSpPr>
        <p:spPr bwMode="auto">
          <a:xfrm>
            <a:off x="2971800" y="27432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Text Box 1061"/>
          <p:cNvSpPr txBox="1">
            <a:spLocks noChangeArrowheads="1"/>
          </p:cNvSpPr>
          <p:nvPr/>
        </p:nvSpPr>
        <p:spPr bwMode="auto">
          <a:xfrm>
            <a:off x="6858000" y="1981200"/>
            <a:ext cx="2922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v-SE" sz="2400" dirty="0"/>
              <a:t>Black wins: V(b)=-100</a:t>
            </a:r>
            <a:endParaRPr lang="en-US" sz="2400" dirty="0"/>
          </a:p>
        </p:txBody>
      </p:sp>
      <p:grpSp>
        <p:nvGrpSpPr>
          <p:cNvPr id="15" name="Group 1062"/>
          <p:cNvGrpSpPr>
            <a:grpSpLocks/>
          </p:cNvGrpSpPr>
          <p:nvPr/>
        </p:nvGrpSpPr>
        <p:grpSpPr bwMode="auto">
          <a:xfrm>
            <a:off x="4800600" y="1447800"/>
            <a:ext cx="1828800" cy="1676400"/>
            <a:chOff x="1776" y="960"/>
            <a:chExt cx="1152" cy="1056"/>
          </a:xfrm>
        </p:grpSpPr>
        <p:grpSp>
          <p:nvGrpSpPr>
            <p:cNvPr id="16" name="Group 1063"/>
            <p:cNvGrpSpPr>
              <a:grpSpLocks/>
            </p:cNvGrpSpPr>
            <p:nvPr/>
          </p:nvGrpSpPr>
          <p:grpSpPr bwMode="auto">
            <a:xfrm>
              <a:off x="1776" y="960"/>
              <a:ext cx="1152" cy="288"/>
              <a:chOff x="1248" y="1632"/>
              <a:chExt cx="1152" cy="288"/>
            </a:xfrm>
          </p:grpSpPr>
          <p:grpSp>
            <p:nvGrpSpPr>
              <p:cNvPr id="17" name="Group 1064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92" name="Rectangle 1065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93" name="Rectangle 1066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1067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90" name="Rectangle 1068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91" name="Rectangle 1069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9" name="Group 1070"/>
            <p:cNvGrpSpPr>
              <a:grpSpLocks/>
            </p:cNvGrpSpPr>
            <p:nvPr/>
          </p:nvGrpSpPr>
          <p:grpSpPr bwMode="auto">
            <a:xfrm flipH="1">
              <a:off x="1776" y="1200"/>
              <a:ext cx="1152" cy="288"/>
              <a:chOff x="1248" y="1632"/>
              <a:chExt cx="1152" cy="288"/>
            </a:xfrm>
          </p:grpSpPr>
          <p:grpSp>
            <p:nvGrpSpPr>
              <p:cNvPr id="20" name="Group 1071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86" name="Rectangle 1072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87" name="Rectangle 1073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1074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84" name="Rectangle 1075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85" name="Rectangle 1076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2" name="Group 1077"/>
            <p:cNvGrpSpPr>
              <a:grpSpLocks/>
            </p:cNvGrpSpPr>
            <p:nvPr/>
          </p:nvGrpSpPr>
          <p:grpSpPr bwMode="auto">
            <a:xfrm>
              <a:off x="1776" y="1488"/>
              <a:ext cx="1152" cy="288"/>
              <a:chOff x="1248" y="1632"/>
              <a:chExt cx="1152" cy="288"/>
            </a:xfrm>
          </p:grpSpPr>
          <p:grpSp>
            <p:nvGrpSpPr>
              <p:cNvPr id="23" name="Group 1078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80" name="Rectangle 1079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81" name="Rectangle 1080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1081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78" name="Rectangle 1082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79" name="Rectangle 1083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5" name="Group 1084"/>
            <p:cNvGrpSpPr>
              <a:grpSpLocks/>
            </p:cNvGrpSpPr>
            <p:nvPr/>
          </p:nvGrpSpPr>
          <p:grpSpPr bwMode="auto">
            <a:xfrm flipH="1">
              <a:off x="1776" y="1728"/>
              <a:ext cx="1152" cy="288"/>
              <a:chOff x="1248" y="1632"/>
              <a:chExt cx="1152" cy="288"/>
            </a:xfrm>
          </p:grpSpPr>
          <p:grpSp>
            <p:nvGrpSpPr>
              <p:cNvPr id="26" name="Group 1085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74" name="Rectangle 1086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75" name="Rectangle 1087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1088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72" name="Rectangle 1089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73" name="Rectangle 1090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8440" name="Oval 1091"/>
          <p:cNvSpPr>
            <a:spLocks noChangeArrowheads="1"/>
          </p:cNvSpPr>
          <p:nvPr/>
        </p:nvSpPr>
        <p:spPr bwMode="auto">
          <a:xfrm>
            <a:off x="4876800" y="2362200"/>
            <a:ext cx="304800" cy="304800"/>
          </a:xfrm>
          <a:prstGeom prst="ellips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" name="Group 1093"/>
          <p:cNvGrpSpPr>
            <a:grpSpLocks/>
          </p:cNvGrpSpPr>
          <p:nvPr/>
        </p:nvGrpSpPr>
        <p:grpSpPr bwMode="auto">
          <a:xfrm>
            <a:off x="2438400" y="3276600"/>
            <a:ext cx="1828800" cy="1676400"/>
            <a:chOff x="1776" y="960"/>
            <a:chExt cx="1152" cy="1056"/>
          </a:xfrm>
        </p:grpSpPr>
        <p:grpSp>
          <p:nvGrpSpPr>
            <p:cNvPr id="29" name="Group 1094"/>
            <p:cNvGrpSpPr>
              <a:grpSpLocks/>
            </p:cNvGrpSpPr>
            <p:nvPr/>
          </p:nvGrpSpPr>
          <p:grpSpPr bwMode="auto">
            <a:xfrm>
              <a:off x="1776" y="960"/>
              <a:ext cx="1152" cy="288"/>
              <a:chOff x="1248" y="1632"/>
              <a:chExt cx="1152" cy="288"/>
            </a:xfrm>
          </p:grpSpPr>
          <p:grpSp>
            <p:nvGrpSpPr>
              <p:cNvPr id="30" name="Group 1095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64" name="Rectangle 1096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65" name="Rectangle 1097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1" name="Group 1098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62" name="Rectangle 1099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63" name="Rectangle 1100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594" name="Group 1101"/>
            <p:cNvGrpSpPr>
              <a:grpSpLocks/>
            </p:cNvGrpSpPr>
            <p:nvPr/>
          </p:nvGrpSpPr>
          <p:grpSpPr bwMode="auto">
            <a:xfrm flipH="1">
              <a:off x="1776" y="1200"/>
              <a:ext cx="1152" cy="288"/>
              <a:chOff x="1248" y="1632"/>
              <a:chExt cx="1152" cy="288"/>
            </a:xfrm>
          </p:grpSpPr>
          <p:grpSp>
            <p:nvGrpSpPr>
              <p:cNvPr id="18595" name="Group 1102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58" name="Rectangle 1103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59" name="Rectangle 1104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596" name="Group 1105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56" name="Rectangle 1106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57" name="Rectangle 1107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597" name="Group 1108"/>
            <p:cNvGrpSpPr>
              <a:grpSpLocks/>
            </p:cNvGrpSpPr>
            <p:nvPr/>
          </p:nvGrpSpPr>
          <p:grpSpPr bwMode="auto">
            <a:xfrm>
              <a:off x="1776" y="1488"/>
              <a:ext cx="1152" cy="288"/>
              <a:chOff x="1248" y="1632"/>
              <a:chExt cx="1152" cy="288"/>
            </a:xfrm>
          </p:grpSpPr>
          <p:grpSp>
            <p:nvGrpSpPr>
              <p:cNvPr id="18598" name="Group 1109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52" name="Rectangle 1110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53" name="Rectangle 1111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599" name="Group 1112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50" name="Rectangle 1113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51" name="Rectangle 1114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604" name="Group 1115"/>
            <p:cNvGrpSpPr>
              <a:grpSpLocks/>
            </p:cNvGrpSpPr>
            <p:nvPr/>
          </p:nvGrpSpPr>
          <p:grpSpPr bwMode="auto">
            <a:xfrm flipH="1">
              <a:off x="1776" y="1728"/>
              <a:ext cx="1152" cy="288"/>
              <a:chOff x="1248" y="1632"/>
              <a:chExt cx="1152" cy="288"/>
            </a:xfrm>
          </p:grpSpPr>
          <p:grpSp>
            <p:nvGrpSpPr>
              <p:cNvPr id="18605" name="Group 1116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46" name="Rectangle 1117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47" name="Rectangle 1118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610" name="Group 1119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44" name="Rectangle 1120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45" name="Rectangle 1121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8442" name="Oval 1122"/>
          <p:cNvSpPr>
            <a:spLocks noChangeArrowheads="1"/>
          </p:cNvSpPr>
          <p:nvPr/>
        </p:nvSpPr>
        <p:spPr bwMode="auto">
          <a:xfrm>
            <a:off x="3429000" y="41148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3" name="Text Box 1123"/>
          <p:cNvSpPr txBox="1">
            <a:spLocks noChangeArrowheads="1"/>
          </p:cNvSpPr>
          <p:nvPr/>
        </p:nvSpPr>
        <p:spPr bwMode="auto">
          <a:xfrm>
            <a:off x="6858001" y="3810000"/>
            <a:ext cx="26377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v-SE" sz="2400" dirty="0"/>
              <a:t>Red wins: V(b)=100</a:t>
            </a:r>
            <a:endParaRPr lang="en-US" sz="2400" dirty="0"/>
          </a:p>
        </p:txBody>
      </p:sp>
      <p:grpSp>
        <p:nvGrpSpPr>
          <p:cNvPr id="18611" name="Group 1124"/>
          <p:cNvGrpSpPr>
            <a:grpSpLocks/>
          </p:cNvGrpSpPr>
          <p:nvPr/>
        </p:nvGrpSpPr>
        <p:grpSpPr bwMode="auto">
          <a:xfrm>
            <a:off x="4800600" y="3276600"/>
            <a:ext cx="1828800" cy="1676400"/>
            <a:chOff x="1776" y="960"/>
            <a:chExt cx="1152" cy="1056"/>
          </a:xfrm>
        </p:grpSpPr>
        <p:grpSp>
          <p:nvGrpSpPr>
            <p:cNvPr id="18616" name="Group 1125"/>
            <p:cNvGrpSpPr>
              <a:grpSpLocks/>
            </p:cNvGrpSpPr>
            <p:nvPr/>
          </p:nvGrpSpPr>
          <p:grpSpPr bwMode="auto">
            <a:xfrm>
              <a:off x="1776" y="960"/>
              <a:ext cx="1152" cy="288"/>
              <a:chOff x="1248" y="1632"/>
              <a:chExt cx="1152" cy="288"/>
            </a:xfrm>
          </p:grpSpPr>
          <p:grpSp>
            <p:nvGrpSpPr>
              <p:cNvPr id="18617" name="Group 1126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36" name="Rectangle 1127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37" name="Rectangle 1128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622" name="Group 1129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34" name="Rectangle 1130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35" name="Rectangle 1131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623" name="Group 1132"/>
            <p:cNvGrpSpPr>
              <a:grpSpLocks/>
            </p:cNvGrpSpPr>
            <p:nvPr/>
          </p:nvGrpSpPr>
          <p:grpSpPr bwMode="auto">
            <a:xfrm flipH="1">
              <a:off x="1776" y="1200"/>
              <a:ext cx="1152" cy="288"/>
              <a:chOff x="1248" y="1632"/>
              <a:chExt cx="1152" cy="288"/>
            </a:xfrm>
          </p:grpSpPr>
          <p:grpSp>
            <p:nvGrpSpPr>
              <p:cNvPr id="18432" name="Group 1133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30" name="Rectangle 113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31" name="Rectangle 113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433" name="Group 1136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28" name="Rectangle 1137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29" name="Rectangle 1138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435" name="Group 1139"/>
            <p:cNvGrpSpPr>
              <a:grpSpLocks/>
            </p:cNvGrpSpPr>
            <p:nvPr/>
          </p:nvGrpSpPr>
          <p:grpSpPr bwMode="auto">
            <a:xfrm>
              <a:off x="1776" y="1488"/>
              <a:ext cx="1152" cy="288"/>
              <a:chOff x="1248" y="1632"/>
              <a:chExt cx="1152" cy="288"/>
            </a:xfrm>
          </p:grpSpPr>
          <p:grpSp>
            <p:nvGrpSpPr>
              <p:cNvPr id="18436" name="Group 1140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24" name="Rectangle 1141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25" name="Rectangle 1142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439" name="Group 1143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22" name="Rectangle 1144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23" name="Rectangle 1145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441" name="Group 1146"/>
            <p:cNvGrpSpPr>
              <a:grpSpLocks/>
            </p:cNvGrpSpPr>
            <p:nvPr/>
          </p:nvGrpSpPr>
          <p:grpSpPr bwMode="auto">
            <a:xfrm flipH="1">
              <a:off x="1776" y="1728"/>
              <a:ext cx="1152" cy="288"/>
              <a:chOff x="1248" y="1632"/>
              <a:chExt cx="1152" cy="288"/>
            </a:xfrm>
          </p:grpSpPr>
          <p:grpSp>
            <p:nvGrpSpPr>
              <p:cNvPr id="18444" name="Group 1147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18" name="Rectangle 1148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19" name="Rectangle 1149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447" name="Group 1150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16" name="Rectangle 1151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17" name="Rectangle 1152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8445" name="Oval 1153"/>
          <p:cNvSpPr>
            <a:spLocks noChangeArrowheads="1"/>
          </p:cNvSpPr>
          <p:nvPr/>
        </p:nvSpPr>
        <p:spPr bwMode="auto">
          <a:xfrm>
            <a:off x="6248400" y="4572000"/>
            <a:ext cx="3048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6" name="Oval 1154"/>
          <p:cNvSpPr>
            <a:spLocks noChangeArrowheads="1"/>
          </p:cNvSpPr>
          <p:nvPr/>
        </p:nvSpPr>
        <p:spPr bwMode="auto">
          <a:xfrm>
            <a:off x="4876800" y="41910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450" name="Group 1155"/>
          <p:cNvGrpSpPr>
            <a:grpSpLocks/>
          </p:cNvGrpSpPr>
          <p:nvPr/>
        </p:nvGrpSpPr>
        <p:grpSpPr bwMode="auto">
          <a:xfrm>
            <a:off x="2514600" y="5181600"/>
            <a:ext cx="1828800" cy="1676400"/>
            <a:chOff x="1776" y="960"/>
            <a:chExt cx="1152" cy="1056"/>
          </a:xfrm>
        </p:grpSpPr>
        <p:grpSp>
          <p:nvGrpSpPr>
            <p:cNvPr id="18454" name="Group 1156"/>
            <p:cNvGrpSpPr>
              <a:grpSpLocks/>
            </p:cNvGrpSpPr>
            <p:nvPr/>
          </p:nvGrpSpPr>
          <p:grpSpPr bwMode="auto">
            <a:xfrm>
              <a:off x="1776" y="960"/>
              <a:ext cx="1152" cy="288"/>
              <a:chOff x="1248" y="1632"/>
              <a:chExt cx="1152" cy="288"/>
            </a:xfrm>
          </p:grpSpPr>
          <p:grpSp>
            <p:nvGrpSpPr>
              <p:cNvPr id="18455" name="Group 1157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08" name="Rectangle 1158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09" name="Rectangle 1159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456" name="Group 1160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06" name="Rectangle 1161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07" name="Rectangle 1162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457" name="Group 1163"/>
            <p:cNvGrpSpPr>
              <a:grpSpLocks/>
            </p:cNvGrpSpPr>
            <p:nvPr/>
          </p:nvGrpSpPr>
          <p:grpSpPr bwMode="auto">
            <a:xfrm flipH="1">
              <a:off x="1776" y="1200"/>
              <a:ext cx="1152" cy="288"/>
              <a:chOff x="1248" y="1632"/>
              <a:chExt cx="1152" cy="288"/>
            </a:xfrm>
          </p:grpSpPr>
          <p:grpSp>
            <p:nvGrpSpPr>
              <p:cNvPr id="18458" name="Group 1164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502" name="Rectangle 1165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03" name="Rectangle 1166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459" name="Group 1167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500" name="Rectangle 1168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501" name="Rectangle 1169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464" name="Group 1170"/>
            <p:cNvGrpSpPr>
              <a:grpSpLocks/>
            </p:cNvGrpSpPr>
            <p:nvPr/>
          </p:nvGrpSpPr>
          <p:grpSpPr bwMode="auto">
            <a:xfrm>
              <a:off x="1776" y="1488"/>
              <a:ext cx="1152" cy="288"/>
              <a:chOff x="1248" y="1632"/>
              <a:chExt cx="1152" cy="288"/>
            </a:xfrm>
          </p:grpSpPr>
          <p:grpSp>
            <p:nvGrpSpPr>
              <p:cNvPr id="18465" name="Group 1171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496" name="Rectangle 1172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97" name="Rectangle 1173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470" name="Group 1174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494" name="Rectangle 1175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95" name="Rectangle 1176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471" name="Group 1177"/>
            <p:cNvGrpSpPr>
              <a:grpSpLocks/>
            </p:cNvGrpSpPr>
            <p:nvPr/>
          </p:nvGrpSpPr>
          <p:grpSpPr bwMode="auto">
            <a:xfrm flipH="1">
              <a:off x="1776" y="1728"/>
              <a:ext cx="1152" cy="288"/>
              <a:chOff x="1248" y="1632"/>
              <a:chExt cx="1152" cy="288"/>
            </a:xfrm>
          </p:grpSpPr>
          <p:grpSp>
            <p:nvGrpSpPr>
              <p:cNvPr id="18476" name="Group 1178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490" name="Rectangle 1179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91" name="Rectangle 1180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477" name="Group 1181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488" name="Rectangle 1182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89" name="Rectangle 1183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8448" name="Oval 1184"/>
          <p:cNvSpPr>
            <a:spLocks noChangeArrowheads="1"/>
          </p:cNvSpPr>
          <p:nvPr/>
        </p:nvSpPr>
        <p:spPr bwMode="auto">
          <a:xfrm>
            <a:off x="3962400" y="5638800"/>
            <a:ext cx="304800" cy="304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9" name="Text Box 1185"/>
          <p:cNvSpPr txBox="1">
            <a:spLocks noChangeArrowheads="1"/>
          </p:cNvSpPr>
          <p:nvPr/>
        </p:nvSpPr>
        <p:spPr bwMode="auto">
          <a:xfrm>
            <a:off x="6934201" y="5715000"/>
            <a:ext cx="18792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sv-SE" sz="2400" dirty="0"/>
              <a:t>draw: V(b)=0</a:t>
            </a:r>
            <a:endParaRPr lang="en-US" sz="2400" dirty="0"/>
          </a:p>
        </p:txBody>
      </p:sp>
      <p:grpSp>
        <p:nvGrpSpPr>
          <p:cNvPr id="18482" name="Group 1186"/>
          <p:cNvGrpSpPr>
            <a:grpSpLocks/>
          </p:cNvGrpSpPr>
          <p:nvPr/>
        </p:nvGrpSpPr>
        <p:grpSpPr bwMode="auto">
          <a:xfrm>
            <a:off x="4876800" y="5181600"/>
            <a:ext cx="1828800" cy="1676400"/>
            <a:chOff x="1776" y="960"/>
            <a:chExt cx="1152" cy="1056"/>
          </a:xfrm>
        </p:grpSpPr>
        <p:grpSp>
          <p:nvGrpSpPr>
            <p:cNvPr id="18483" name="Group 1187"/>
            <p:cNvGrpSpPr>
              <a:grpSpLocks/>
            </p:cNvGrpSpPr>
            <p:nvPr/>
          </p:nvGrpSpPr>
          <p:grpSpPr bwMode="auto">
            <a:xfrm>
              <a:off x="1776" y="960"/>
              <a:ext cx="1152" cy="288"/>
              <a:chOff x="1248" y="1632"/>
              <a:chExt cx="1152" cy="288"/>
            </a:xfrm>
          </p:grpSpPr>
          <p:grpSp>
            <p:nvGrpSpPr>
              <p:cNvPr id="18484" name="Group 1188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480" name="Rectangle 1189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81" name="Rectangle 1190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485" name="Group 1191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478" name="Rectangle 1192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79" name="Rectangle 1193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486" name="Group 1194"/>
            <p:cNvGrpSpPr>
              <a:grpSpLocks/>
            </p:cNvGrpSpPr>
            <p:nvPr/>
          </p:nvGrpSpPr>
          <p:grpSpPr bwMode="auto">
            <a:xfrm flipH="1">
              <a:off x="1776" y="1200"/>
              <a:ext cx="1152" cy="288"/>
              <a:chOff x="1248" y="1632"/>
              <a:chExt cx="1152" cy="288"/>
            </a:xfrm>
          </p:grpSpPr>
          <p:grpSp>
            <p:nvGrpSpPr>
              <p:cNvPr id="18487" name="Group 1195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474" name="Rectangle 1196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75" name="Rectangle 1197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492" name="Group 1198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472" name="Rectangle 1199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73" name="Rectangle 1200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493" name="Group 1201"/>
            <p:cNvGrpSpPr>
              <a:grpSpLocks/>
            </p:cNvGrpSpPr>
            <p:nvPr/>
          </p:nvGrpSpPr>
          <p:grpSpPr bwMode="auto">
            <a:xfrm>
              <a:off x="1776" y="1488"/>
              <a:ext cx="1152" cy="288"/>
              <a:chOff x="1248" y="1632"/>
              <a:chExt cx="1152" cy="288"/>
            </a:xfrm>
          </p:grpSpPr>
          <p:grpSp>
            <p:nvGrpSpPr>
              <p:cNvPr id="18498" name="Group 1202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468" name="Rectangle 1203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69" name="Rectangle 1204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499" name="Group 1205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466" name="Rectangle 1206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67" name="Rectangle 1207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504" name="Group 1208"/>
            <p:cNvGrpSpPr>
              <a:grpSpLocks/>
            </p:cNvGrpSpPr>
            <p:nvPr/>
          </p:nvGrpSpPr>
          <p:grpSpPr bwMode="auto">
            <a:xfrm flipH="1">
              <a:off x="1776" y="1728"/>
              <a:ext cx="1152" cy="288"/>
              <a:chOff x="1248" y="1632"/>
              <a:chExt cx="1152" cy="288"/>
            </a:xfrm>
          </p:grpSpPr>
          <p:grpSp>
            <p:nvGrpSpPr>
              <p:cNvPr id="18505" name="Group 1209"/>
              <p:cNvGrpSpPr>
                <a:grpSpLocks/>
              </p:cNvGrpSpPr>
              <p:nvPr/>
            </p:nvGrpSpPr>
            <p:grpSpPr bwMode="auto">
              <a:xfrm>
                <a:off x="1248" y="1632"/>
                <a:ext cx="576" cy="288"/>
                <a:chOff x="1248" y="1632"/>
                <a:chExt cx="576" cy="288"/>
              </a:xfrm>
            </p:grpSpPr>
            <p:sp>
              <p:nvSpPr>
                <p:cNvPr id="18462" name="Rectangle 1210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63" name="Rectangle 1211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510" name="Group 1212"/>
              <p:cNvGrpSpPr>
                <a:grpSpLocks/>
              </p:cNvGrpSpPr>
              <p:nvPr/>
            </p:nvGrpSpPr>
            <p:grpSpPr bwMode="auto">
              <a:xfrm>
                <a:off x="1824" y="1632"/>
                <a:ext cx="576" cy="288"/>
                <a:chOff x="1248" y="1632"/>
                <a:chExt cx="576" cy="288"/>
              </a:xfrm>
            </p:grpSpPr>
            <p:sp>
              <p:nvSpPr>
                <p:cNvPr id="18460" name="Rectangle 1213"/>
                <p:cNvSpPr>
                  <a:spLocks noChangeArrowheads="1"/>
                </p:cNvSpPr>
                <p:nvPr/>
              </p:nvSpPr>
              <p:spPr bwMode="auto">
                <a:xfrm>
                  <a:off x="1248" y="1632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61" name="Rectangle 1214"/>
                <p:cNvSpPr>
                  <a:spLocks noChangeArrowheads="1"/>
                </p:cNvSpPr>
                <p:nvPr/>
              </p:nvSpPr>
              <p:spPr bwMode="auto">
                <a:xfrm>
                  <a:off x="1536" y="1632"/>
                  <a:ext cx="288" cy="28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8451" name="Oval 1215"/>
          <p:cNvSpPr>
            <a:spLocks noChangeArrowheads="1"/>
          </p:cNvSpPr>
          <p:nvPr/>
        </p:nvSpPr>
        <p:spPr bwMode="auto">
          <a:xfrm>
            <a:off x="6324600" y="6477000"/>
            <a:ext cx="3048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52" name="Oval 1217"/>
          <p:cNvSpPr>
            <a:spLocks noChangeArrowheads="1"/>
          </p:cNvSpPr>
          <p:nvPr/>
        </p:nvSpPr>
        <p:spPr bwMode="auto">
          <a:xfrm>
            <a:off x="3505200" y="5181600"/>
            <a:ext cx="304800" cy="304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53" name="Oval 1218"/>
          <p:cNvSpPr>
            <a:spLocks noChangeArrowheads="1"/>
          </p:cNvSpPr>
          <p:nvPr/>
        </p:nvSpPr>
        <p:spPr bwMode="auto">
          <a:xfrm>
            <a:off x="6324600" y="5638800"/>
            <a:ext cx="304800" cy="304800"/>
          </a:xfrm>
          <a:prstGeom prst="ellips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Learning Problems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6660"/>
            <a:ext cx="10515600" cy="472030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ja-JP" sz="3200" dirty="0" smtClean="0">
                <a:solidFill>
                  <a:schemeClr val="accent2">
                    <a:lumMod val="50000"/>
                  </a:schemeClr>
                </a:solidFill>
                <a:ea typeface="ＭＳ Ｐゴシック" pitchFamily="34" charset="-128"/>
              </a:rPr>
              <a:t>Text Classification</a:t>
            </a:r>
          </a:p>
          <a:p>
            <a:pPr lvl="1">
              <a:lnSpc>
                <a:spcPct val="90000"/>
              </a:lnSpc>
            </a:pPr>
            <a:r>
              <a:rPr lang="en-US" altLang="ja-JP" sz="2800" dirty="0" smtClean="0">
                <a:ea typeface="ＭＳ Ｐゴシック" pitchFamily="34" charset="-128"/>
              </a:rPr>
              <a:t>Task </a:t>
            </a:r>
            <a:r>
              <a:rPr lang="en-US" altLang="ja-JP" sz="2800" b="1" dirty="0" smtClean="0">
                <a:ea typeface="ＭＳ Ｐゴシック" pitchFamily="34" charset="-128"/>
              </a:rPr>
              <a:t>T - </a:t>
            </a:r>
            <a:r>
              <a:rPr lang="en-US" altLang="ja-JP" sz="2000" dirty="0" smtClean="0">
                <a:ea typeface="ＭＳ Ｐゴシック" pitchFamily="34" charset="-128"/>
              </a:rPr>
              <a:t>Assigning texts to a set of predefined categories</a:t>
            </a:r>
          </a:p>
          <a:p>
            <a:pPr lvl="1">
              <a:lnSpc>
                <a:spcPct val="90000"/>
              </a:lnSpc>
            </a:pPr>
            <a:r>
              <a:rPr lang="en-US" altLang="ja-JP" sz="2800" dirty="0" smtClean="0">
                <a:ea typeface="ＭＳ Ｐゴシック" pitchFamily="34" charset="-128"/>
              </a:rPr>
              <a:t>Performance measure </a:t>
            </a:r>
            <a:r>
              <a:rPr lang="en-US" altLang="ja-JP" sz="2800" b="1" dirty="0" smtClean="0">
                <a:ea typeface="ＭＳ Ｐゴシック" pitchFamily="34" charset="-128"/>
              </a:rPr>
              <a:t>P - </a:t>
            </a:r>
            <a:r>
              <a:rPr lang="en-US" altLang="ja-JP" sz="2000" dirty="0" smtClean="0">
                <a:ea typeface="ＭＳ Ｐゴシック" pitchFamily="34" charset="-128"/>
              </a:rPr>
              <a:t>Precision and recall of each category</a:t>
            </a:r>
          </a:p>
          <a:p>
            <a:pPr lvl="1">
              <a:lnSpc>
                <a:spcPct val="90000"/>
              </a:lnSpc>
            </a:pPr>
            <a:r>
              <a:rPr lang="en-US" altLang="ja-JP" sz="2800" dirty="0" smtClean="0">
                <a:ea typeface="ＭＳ Ｐゴシック" pitchFamily="34" charset="-128"/>
              </a:rPr>
              <a:t>Training experiences </a:t>
            </a:r>
            <a:r>
              <a:rPr lang="en-US" altLang="ja-JP" sz="2800" b="1" dirty="0" smtClean="0">
                <a:ea typeface="ＭＳ Ｐゴシック" pitchFamily="34" charset="-128"/>
              </a:rPr>
              <a:t>E - </a:t>
            </a:r>
            <a:r>
              <a:rPr lang="en-US" altLang="ja-JP" sz="2000" dirty="0" smtClean="0">
                <a:ea typeface="ＭＳ Ｐゴシック" pitchFamily="34" charset="-128"/>
              </a:rPr>
              <a:t>A database of texts with their corresponding categories</a:t>
            </a:r>
          </a:p>
          <a:p>
            <a:r>
              <a:rPr lang="en-US" sz="3200" dirty="0" smtClean="0"/>
              <a:t>Hand written words</a:t>
            </a:r>
          </a:p>
          <a:p>
            <a:pPr lvl="1"/>
            <a:r>
              <a:rPr lang="en-US" altLang="ja-JP" sz="2800" dirty="0">
                <a:ea typeface="ＭＳ Ｐゴシック" pitchFamily="34" charset="-128"/>
              </a:rPr>
              <a:t>Task </a:t>
            </a:r>
            <a:r>
              <a:rPr lang="en-US" altLang="ja-JP" sz="2800" b="1" dirty="0">
                <a:ea typeface="ＭＳ Ｐゴシック" pitchFamily="34" charset="-128"/>
              </a:rPr>
              <a:t>T -</a:t>
            </a:r>
            <a:r>
              <a:rPr lang="en-US" altLang="ja-JP" b="1" dirty="0">
                <a:ea typeface="ＭＳ Ｐゴシック" pitchFamily="34" charset="-128"/>
              </a:rPr>
              <a:t> </a:t>
            </a:r>
            <a:r>
              <a:rPr lang="en-US" sz="2000" dirty="0" smtClean="0"/>
              <a:t>Recognizing </a:t>
            </a:r>
            <a:r>
              <a:rPr lang="en-US" sz="2000" dirty="0"/>
              <a:t>hand-written words </a:t>
            </a:r>
            <a:endParaRPr lang="en-US" sz="2000" dirty="0" smtClean="0"/>
          </a:p>
          <a:p>
            <a:pPr lvl="1"/>
            <a:r>
              <a:rPr lang="en-US" altLang="ja-JP" sz="2800" dirty="0">
                <a:ea typeface="ＭＳ Ｐゴシック" pitchFamily="34" charset="-128"/>
              </a:rPr>
              <a:t>Performance measure </a:t>
            </a:r>
            <a:r>
              <a:rPr lang="en-US" altLang="ja-JP" sz="2800" b="1" dirty="0">
                <a:ea typeface="ＭＳ Ｐゴシック" pitchFamily="34" charset="-128"/>
              </a:rPr>
              <a:t>P </a:t>
            </a:r>
            <a:r>
              <a:rPr lang="en-US" altLang="ja-JP" sz="2000" dirty="0" smtClean="0">
                <a:ea typeface="ＭＳ Ｐゴシック" pitchFamily="34" charset="-128"/>
              </a:rPr>
              <a:t>-</a:t>
            </a:r>
            <a:r>
              <a:rPr lang="en-US" sz="2000" dirty="0" smtClean="0"/>
              <a:t> </a:t>
            </a:r>
            <a:r>
              <a:rPr lang="en-US" sz="2000" dirty="0"/>
              <a:t>Percentage of words correctly classified </a:t>
            </a:r>
            <a:endParaRPr lang="en-US" sz="2000" dirty="0" smtClean="0"/>
          </a:p>
          <a:p>
            <a:pPr lvl="1"/>
            <a:r>
              <a:rPr lang="en-US" altLang="ja-JP" sz="2800" dirty="0" smtClean="0">
                <a:ea typeface="ＭＳ Ｐゴシック" pitchFamily="34" charset="-128"/>
              </a:rPr>
              <a:t>Training </a:t>
            </a:r>
            <a:r>
              <a:rPr lang="en-US" altLang="ja-JP" sz="2800" dirty="0">
                <a:ea typeface="ＭＳ Ｐゴシック" pitchFamily="34" charset="-128"/>
              </a:rPr>
              <a:t>experiences </a:t>
            </a:r>
            <a:r>
              <a:rPr lang="en-US" altLang="ja-JP" sz="2800" b="1" dirty="0">
                <a:ea typeface="ＭＳ Ｐゴシック" pitchFamily="34" charset="-128"/>
              </a:rPr>
              <a:t>E - </a:t>
            </a:r>
            <a:r>
              <a:rPr lang="en-US" sz="2000" dirty="0" smtClean="0"/>
              <a:t>Database </a:t>
            </a:r>
            <a:r>
              <a:rPr lang="en-US" sz="2000" dirty="0"/>
              <a:t>of human-labeled images of handwritten words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Learning Problem Example – Mobile-phone based Lending Requests appraisal</a:t>
            </a:r>
            <a:endParaRPr lang="sv-SE" dirty="0" smtClean="0"/>
          </a:p>
        </p:txBody>
      </p:sp>
      <p:sp>
        <p:nvSpPr>
          <p:cNvPr id="27651" name="Rectangle 1027"/>
          <p:cNvSpPr>
            <a:spLocks noGrp="1" noChangeArrowheads="1"/>
          </p:cNvSpPr>
          <p:nvPr>
            <p:ph idx="1"/>
          </p:nvPr>
        </p:nvSpPr>
        <p:spPr>
          <a:xfrm>
            <a:off x="1024128" y="2084832"/>
            <a:ext cx="9034272" cy="4385872"/>
          </a:xfrm>
        </p:spPr>
        <p:txBody>
          <a:bodyPr>
            <a:noAutofit/>
          </a:bodyPr>
          <a:lstStyle/>
          <a:p>
            <a:r>
              <a:rPr lang="sv-SE" sz="3200" dirty="0" smtClean="0">
                <a:solidFill>
                  <a:schemeClr val="accent2">
                    <a:lumMod val="50000"/>
                  </a:schemeClr>
                </a:solidFill>
              </a:rPr>
              <a:t>Mobile lending applications</a:t>
            </a:r>
          </a:p>
          <a:p>
            <a:pPr lvl="1"/>
            <a:r>
              <a:rPr lang="sv-SE" sz="2800" dirty="0" smtClean="0"/>
              <a:t>Task </a:t>
            </a:r>
            <a:r>
              <a:rPr lang="sv-SE" sz="2800" b="1" i="1" dirty="0" smtClean="0"/>
              <a:t>T</a:t>
            </a:r>
            <a:r>
              <a:rPr lang="sv-SE" sz="2800" dirty="0" smtClean="0"/>
              <a:t>: </a:t>
            </a:r>
          </a:p>
          <a:p>
            <a:pPr lvl="2"/>
            <a:r>
              <a:rPr lang="sv-SE" sz="2000" dirty="0" smtClean="0"/>
              <a:t>Distinguish ”good” requests (applicants) from ”risky” applicants who are mobile phone users.</a:t>
            </a:r>
          </a:p>
          <a:p>
            <a:pPr lvl="1"/>
            <a:r>
              <a:rPr lang="sv-SE" sz="2800" dirty="0" smtClean="0"/>
              <a:t>Performance measure </a:t>
            </a:r>
            <a:r>
              <a:rPr lang="sv-SE" sz="2800" b="1" i="1" dirty="0" smtClean="0"/>
              <a:t>P</a:t>
            </a:r>
            <a:r>
              <a:rPr lang="sv-SE" sz="2800" dirty="0" smtClean="0"/>
              <a:t> : </a:t>
            </a:r>
          </a:p>
          <a:p>
            <a:pPr lvl="2"/>
            <a:r>
              <a:rPr lang="sv-SE" sz="2000" dirty="0" smtClean="0"/>
              <a:t>?</a:t>
            </a:r>
          </a:p>
          <a:p>
            <a:pPr lvl="1"/>
            <a:r>
              <a:rPr lang="sv-SE" sz="2800" dirty="0" smtClean="0"/>
              <a:t>Experience </a:t>
            </a:r>
            <a:r>
              <a:rPr lang="sv-SE" sz="2800" b="1" i="1" dirty="0" smtClean="0"/>
              <a:t>E</a:t>
            </a:r>
            <a:r>
              <a:rPr lang="sv-SE" sz="2800" dirty="0" smtClean="0"/>
              <a:t> : </a:t>
            </a:r>
          </a:p>
          <a:p>
            <a:pPr lvl="2"/>
            <a:r>
              <a:rPr lang="sv-SE" sz="2000" dirty="0" smtClean="0"/>
              <a:t>? (direct/indirect)</a:t>
            </a:r>
          </a:p>
          <a:p>
            <a:pPr lvl="1"/>
            <a:r>
              <a:rPr lang="sv-SE" sz="2800" dirty="0" smtClean="0"/>
              <a:t>Target function : </a:t>
            </a:r>
          </a:p>
          <a:p>
            <a:pPr lvl="2"/>
            <a:r>
              <a:rPr lang="sv-SE" sz="2000" dirty="0" smtClean="0"/>
              <a:t>?</a:t>
            </a:r>
          </a:p>
          <a:p>
            <a:pPr lvl="1"/>
            <a:endParaRPr lang="en-US" sz="2800" dirty="0" smtClean="0"/>
          </a:p>
        </p:txBody>
      </p:sp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1E542D83-4F88-436C-AAC8-0548E87F4FD1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Learning Problem Example – email spam detection</a:t>
            </a:r>
            <a:endParaRPr lang="sv-SE" dirty="0" smtClean="0"/>
          </a:p>
        </p:txBody>
      </p:sp>
      <p:sp>
        <p:nvSpPr>
          <p:cNvPr id="27651" name="Rectangle 1027"/>
          <p:cNvSpPr>
            <a:spLocks noGrp="1" noChangeArrowheads="1"/>
          </p:cNvSpPr>
          <p:nvPr>
            <p:ph idx="1"/>
          </p:nvPr>
        </p:nvSpPr>
        <p:spPr>
          <a:xfrm>
            <a:off x="1024128" y="2084832"/>
            <a:ext cx="9034272" cy="4385872"/>
          </a:xfrm>
        </p:spPr>
        <p:txBody>
          <a:bodyPr>
            <a:noAutofit/>
          </a:bodyPr>
          <a:lstStyle/>
          <a:p>
            <a:r>
              <a:rPr lang="sv-SE" sz="3200" dirty="0" smtClean="0">
                <a:solidFill>
                  <a:schemeClr val="accent2">
                    <a:lumMod val="50000"/>
                  </a:schemeClr>
                </a:solidFill>
              </a:rPr>
              <a:t>Email spam detection</a:t>
            </a:r>
          </a:p>
          <a:p>
            <a:pPr lvl="1"/>
            <a:r>
              <a:rPr lang="sv-SE" sz="2800" dirty="0" smtClean="0"/>
              <a:t>Task </a:t>
            </a:r>
            <a:r>
              <a:rPr lang="sv-SE" sz="2800" b="1" i="1" dirty="0" smtClean="0"/>
              <a:t>T</a:t>
            </a:r>
            <a:r>
              <a:rPr lang="sv-SE" sz="2800" dirty="0" smtClean="0"/>
              <a:t>: </a:t>
            </a:r>
          </a:p>
          <a:p>
            <a:pPr lvl="2"/>
            <a:r>
              <a:rPr lang="sv-SE" sz="2000" dirty="0" smtClean="0"/>
              <a:t>?</a:t>
            </a:r>
          </a:p>
          <a:p>
            <a:pPr lvl="1"/>
            <a:r>
              <a:rPr lang="sv-SE" sz="2800" dirty="0" smtClean="0"/>
              <a:t>Performance measure </a:t>
            </a:r>
            <a:r>
              <a:rPr lang="sv-SE" sz="2800" b="1" i="1" dirty="0" smtClean="0"/>
              <a:t>P</a:t>
            </a:r>
            <a:r>
              <a:rPr lang="sv-SE" sz="2800" dirty="0" smtClean="0"/>
              <a:t> : </a:t>
            </a:r>
          </a:p>
          <a:p>
            <a:pPr lvl="2"/>
            <a:r>
              <a:rPr lang="sv-SE" sz="2000" dirty="0" smtClean="0"/>
              <a:t>?</a:t>
            </a:r>
          </a:p>
          <a:p>
            <a:pPr lvl="1"/>
            <a:r>
              <a:rPr lang="sv-SE" sz="2800" dirty="0" smtClean="0"/>
              <a:t>Experience </a:t>
            </a:r>
            <a:r>
              <a:rPr lang="sv-SE" sz="2800" b="1" i="1" dirty="0" smtClean="0"/>
              <a:t>E</a:t>
            </a:r>
            <a:r>
              <a:rPr lang="sv-SE" sz="2800" dirty="0" smtClean="0"/>
              <a:t> : </a:t>
            </a:r>
          </a:p>
          <a:p>
            <a:pPr lvl="2"/>
            <a:r>
              <a:rPr lang="sv-SE" sz="2000" dirty="0" smtClean="0"/>
              <a:t>? (direct/indirect)</a:t>
            </a:r>
          </a:p>
          <a:p>
            <a:pPr lvl="1"/>
            <a:r>
              <a:rPr lang="sv-SE" sz="2800" dirty="0" smtClean="0"/>
              <a:t>Target function : </a:t>
            </a:r>
          </a:p>
          <a:p>
            <a:pPr lvl="2"/>
            <a:r>
              <a:rPr lang="sv-SE" sz="2000" dirty="0" smtClean="0"/>
              <a:t>?</a:t>
            </a:r>
          </a:p>
          <a:p>
            <a:pPr lvl="1"/>
            <a:endParaRPr lang="en-US" sz="2800" dirty="0" smtClean="0"/>
          </a:p>
        </p:txBody>
      </p:sp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1E542D83-4F88-436C-AAC8-0548E87F4FD1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8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Learning (learning paradigms)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(inductive) </a:t>
            </a:r>
            <a:r>
              <a:rPr lang="en-US" dirty="0" smtClean="0"/>
              <a:t>learning</a:t>
            </a:r>
          </a:p>
          <a:p>
            <a:pPr lvl="1"/>
            <a:r>
              <a:rPr lang="en-US" dirty="0" smtClean="0"/>
              <a:t>Provided: </a:t>
            </a:r>
            <a:r>
              <a:rPr lang="en-US" b="1" dirty="0"/>
              <a:t>training data + desired outputs (labels</a:t>
            </a:r>
            <a:r>
              <a:rPr lang="en-US" b="1" dirty="0" smtClean="0"/>
              <a:t>)</a:t>
            </a:r>
            <a:endParaRPr lang="en-US" b="1" dirty="0"/>
          </a:p>
          <a:p>
            <a:r>
              <a:rPr lang="en-US" dirty="0" smtClean="0"/>
              <a:t>Unsupervised learning</a:t>
            </a:r>
          </a:p>
          <a:p>
            <a:pPr lvl="1"/>
            <a:r>
              <a:rPr lang="en-US" dirty="0"/>
              <a:t>Provided:</a:t>
            </a:r>
            <a:r>
              <a:rPr lang="en-US" dirty="0" smtClean="0"/>
              <a:t> </a:t>
            </a:r>
            <a:r>
              <a:rPr lang="en-US" b="1" dirty="0"/>
              <a:t>training data (without desired outputs) </a:t>
            </a:r>
          </a:p>
          <a:p>
            <a:endParaRPr lang="en-US" dirty="0" smtClean="0"/>
          </a:p>
          <a:p>
            <a:r>
              <a:rPr lang="en-US" dirty="0" smtClean="0"/>
              <a:t>Reinforcement learning</a:t>
            </a:r>
          </a:p>
          <a:p>
            <a:pPr lvl="1"/>
            <a:r>
              <a:rPr lang="en-US" b="1" dirty="0" smtClean="0"/>
              <a:t>Rewards (or penalties) </a:t>
            </a:r>
            <a:r>
              <a:rPr lang="en-US" b="1" dirty="0"/>
              <a:t>from sequence of actions</a:t>
            </a:r>
          </a:p>
        </p:txBody>
      </p:sp>
    </p:spTree>
    <p:extLst>
      <p:ext uri="{BB962C8B-B14F-4D97-AF65-F5344CB8AC3E}">
        <p14:creationId xmlns:p14="http://schemas.microsoft.com/office/powerpoint/2010/main" val="225604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7"/>
          <p:cNvSpPr txBox="1">
            <a:spLocks noGrp="1"/>
          </p:cNvSpPr>
          <p:nvPr>
            <p:ph type="title"/>
          </p:nvPr>
        </p:nvSpPr>
        <p:spPr>
          <a:xfrm>
            <a:off x="101100" y="0"/>
            <a:ext cx="11360800" cy="83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Paradigm shift</a:t>
            </a:r>
            <a:endParaRPr/>
          </a:p>
        </p:txBody>
      </p:sp>
      <p:sp>
        <p:nvSpPr>
          <p:cNvPr id="348" name="Google Shape;348;p47"/>
          <p:cNvSpPr txBox="1">
            <a:spLocks noGrp="1"/>
          </p:cNvSpPr>
          <p:nvPr>
            <p:ph type="sldNum" idx="12"/>
          </p:nvPr>
        </p:nvSpPr>
        <p:spPr>
          <a:xfrm>
            <a:off x="11461900" y="6528800"/>
            <a:ext cx="731600" cy="3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-GB"/>
              <a:pPr/>
              <a:t>21</a:t>
            </a:fld>
            <a:endParaRPr/>
          </a:p>
        </p:txBody>
      </p:sp>
      <p:sp>
        <p:nvSpPr>
          <p:cNvPr id="349" name="Google Shape;349;p47"/>
          <p:cNvSpPr/>
          <p:nvPr/>
        </p:nvSpPr>
        <p:spPr>
          <a:xfrm>
            <a:off x="5404000" y="125826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7"/>
          <p:cNvSpPr/>
          <p:nvPr/>
        </p:nvSpPr>
        <p:spPr>
          <a:xfrm>
            <a:off x="5404000" y="303719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7"/>
          <p:cNvSpPr/>
          <p:nvPr/>
        </p:nvSpPr>
        <p:spPr>
          <a:xfrm>
            <a:off x="5404000" y="4816095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7"/>
          <p:cNvSpPr txBox="1">
            <a:spLocks noGrp="1"/>
          </p:cNvSpPr>
          <p:nvPr>
            <p:ph type="title"/>
          </p:nvPr>
        </p:nvSpPr>
        <p:spPr>
          <a:xfrm>
            <a:off x="5404000" y="-80800"/>
            <a:ext cx="1384000" cy="72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Code</a:t>
            </a:r>
            <a:endParaRPr sz="2800">
              <a:solidFill>
                <a:schemeClr val="dk2"/>
              </a:solidFill>
            </a:endParaRPr>
          </a:p>
        </p:txBody>
      </p:sp>
      <p:cxnSp>
        <p:nvCxnSpPr>
          <p:cNvPr id="353" name="Google Shape;353;p47"/>
          <p:cNvCxnSpPr/>
          <p:nvPr/>
        </p:nvCxnSpPr>
        <p:spPr>
          <a:xfrm>
            <a:off x="6096000" y="519033"/>
            <a:ext cx="0" cy="32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4" name="Google Shape;354;p47"/>
          <p:cNvSpPr/>
          <p:nvPr/>
        </p:nvSpPr>
        <p:spPr>
          <a:xfrm>
            <a:off x="3506567" y="16343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7"/>
          <p:cNvSpPr/>
          <p:nvPr/>
        </p:nvSpPr>
        <p:spPr>
          <a:xfrm>
            <a:off x="3506567" y="21375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7"/>
          <p:cNvSpPr/>
          <p:nvPr/>
        </p:nvSpPr>
        <p:spPr>
          <a:xfrm>
            <a:off x="6958233" y="18158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7"/>
          <p:cNvSpPr/>
          <p:nvPr/>
        </p:nvSpPr>
        <p:spPr>
          <a:xfrm>
            <a:off x="3506567" y="34290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7"/>
          <p:cNvSpPr/>
          <p:nvPr/>
        </p:nvSpPr>
        <p:spPr>
          <a:xfrm>
            <a:off x="3506567" y="39322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7"/>
          <p:cNvSpPr/>
          <p:nvPr/>
        </p:nvSpPr>
        <p:spPr>
          <a:xfrm>
            <a:off x="6958233" y="36105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7"/>
          <p:cNvSpPr/>
          <p:nvPr/>
        </p:nvSpPr>
        <p:spPr>
          <a:xfrm>
            <a:off x="6958233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7"/>
          <p:cNvSpPr/>
          <p:nvPr/>
        </p:nvSpPr>
        <p:spPr>
          <a:xfrm>
            <a:off x="3506567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7"/>
          <p:cNvSpPr txBox="1">
            <a:spLocks noGrp="1"/>
          </p:cNvSpPr>
          <p:nvPr>
            <p:ph type="title"/>
          </p:nvPr>
        </p:nvSpPr>
        <p:spPr>
          <a:xfrm>
            <a:off x="2069567" y="14040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3" name="Google Shape;363;p47"/>
          <p:cNvSpPr txBox="1">
            <a:spLocks noGrp="1"/>
          </p:cNvSpPr>
          <p:nvPr>
            <p:ph type="title"/>
          </p:nvPr>
        </p:nvSpPr>
        <p:spPr>
          <a:xfrm>
            <a:off x="2069567" y="19031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Rules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4" name="Google Shape;364;p47"/>
          <p:cNvSpPr txBox="1">
            <a:spLocks noGrp="1"/>
          </p:cNvSpPr>
          <p:nvPr>
            <p:ph type="title"/>
          </p:nvPr>
        </p:nvSpPr>
        <p:spPr>
          <a:xfrm>
            <a:off x="8840033" y="1575167"/>
            <a:ext cx="1812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Answers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5" name="Google Shape;365;p47"/>
          <p:cNvSpPr txBox="1">
            <a:spLocks noGrp="1"/>
          </p:cNvSpPr>
          <p:nvPr>
            <p:ph type="title"/>
          </p:nvPr>
        </p:nvSpPr>
        <p:spPr>
          <a:xfrm>
            <a:off x="2069567" y="31936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6" name="Google Shape;366;p47"/>
          <p:cNvSpPr txBox="1">
            <a:spLocks noGrp="1"/>
          </p:cNvSpPr>
          <p:nvPr>
            <p:ph type="title"/>
          </p:nvPr>
        </p:nvSpPr>
        <p:spPr>
          <a:xfrm>
            <a:off x="1641167" y="3665917"/>
            <a:ext cx="1812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Answers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7" name="Google Shape;367;p47"/>
          <p:cNvSpPr txBox="1">
            <a:spLocks noGrp="1"/>
          </p:cNvSpPr>
          <p:nvPr>
            <p:ph type="title"/>
          </p:nvPr>
        </p:nvSpPr>
        <p:spPr>
          <a:xfrm>
            <a:off x="8855667" y="33471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Rules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8" name="Google Shape;368;p47"/>
          <p:cNvSpPr txBox="1">
            <a:spLocks noGrp="1"/>
          </p:cNvSpPr>
          <p:nvPr>
            <p:ph type="title"/>
          </p:nvPr>
        </p:nvSpPr>
        <p:spPr>
          <a:xfrm>
            <a:off x="2069567" y="51367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9" name="Google Shape;369;p47"/>
          <p:cNvSpPr txBox="1">
            <a:spLocks noGrp="1"/>
          </p:cNvSpPr>
          <p:nvPr>
            <p:ph type="title"/>
          </p:nvPr>
        </p:nvSpPr>
        <p:spPr>
          <a:xfrm>
            <a:off x="8899633" y="5119033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Rules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70" name="Google Shape;370;p47"/>
          <p:cNvSpPr txBox="1"/>
          <p:nvPr/>
        </p:nvSpPr>
        <p:spPr>
          <a:xfrm>
            <a:off x="660400" y="972800"/>
            <a:ext cx="533600" cy="2220800"/>
          </a:xfrm>
          <a:prstGeom prst="rect">
            <a:avLst/>
          </a:prstGeom>
          <a:solidFill>
            <a:srgbClr val="DEF0FF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A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I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7"/>
          <p:cNvSpPr txBox="1"/>
          <p:nvPr/>
        </p:nvSpPr>
        <p:spPr>
          <a:xfrm>
            <a:off x="660400" y="3429000"/>
            <a:ext cx="533600" cy="2355600"/>
          </a:xfrm>
          <a:prstGeom prst="rect">
            <a:avLst/>
          </a:prstGeom>
          <a:solidFill>
            <a:srgbClr val="EEFF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M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 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349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8"/>
          <p:cNvSpPr txBox="1">
            <a:spLocks noGrp="1"/>
          </p:cNvSpPr>
          <p:nvPr>
            <p:ph type="title"/>
          </p:nvPr>
        </p:nvSpPr>
        <p:spPr>
          <a:xfrm>
            <a:off x="101100" y="0"/>
            <a:ext cx="11360800" cy="83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Paradigm shift</a:t>
            </a:r>
            <a:endParaRPr/>
          </a:p>
        </p:txBody>
      </p:sp>
      <p:sp>
        <p:nvSpPr>
          <p:cNvPr id="377" name="Google Shape;377;p48"/>
          <p:cNvSpPr txBox="1">
            <a:spLocks noGrp="1"/>
          </p:cNvSpPr>
          <p:nvPr>
            <p:ph type="sldNum" idx="12"/>
          </p:nvPr>
        </p:nvSpPr>
        <p:spPr>
          <a:xfrm>
            <a:off x="11461900" y="6528800"/>
            <a:ext cx="731600" cy="3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-GB"/>
              <a:pPr/>
              <a:t>22</a:t>
            </a:fld>
            <a:endParaRPr/>
          </a:p>
        </p:txBody>
      </p:sp>
      <p:sp>
        <p:nvSpPr>
          <p:cNvPr id="378" name="Google Shape;378;p48"/>
          <p:cNvSpPr/>
          <p:nvPr/>
        </p:nvSpPr>
        <p:spPr>
          <a:xfrm>
            <a:off x="5404000" y="125826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8"/>
          <p:cNvSpPr/>
          <p:nvPr/>
        </p:nvSpPr>
        <p:spPr>
          <a:xfrm>
            <a:off x="5404000" y="303719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8"/>
          <p:cNvSpPr/>
          <p:nvPr/>
        </p:nvSpPr>
        <p:spPr>
          <a:xfrm>
            <a:off x="5404000" y="4816095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8"/>
          <p:cNvSpPr txBox="1">
            <a:spLocks noGrp="1"/>
          </p:cNvSpPr>
          <p:nvPr>
            <p:ph type="title"/>
          </p:nvPr>
        </p:nvSpPr>
        <p:spPr>
          <a:xfrm>
            <a:off x="5404000" y="-80800"/>
            <a:ext cx="1384000" cy="72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Model</a:t>
            </a:r>
            <a:endParaRPr sz="2800">
              <a:solidFill>
                <a:schemeClr val="dk2"/>
              </a:solidFill>
            </a:endParaRPr>
          </a:p>
        </p:txBody>
      </p:sp>
      <p:cxnSp>
        <p:nvCxnSpPr>
          <p:cNvPr id="382" name="Google Shape;382;p48"/>
          <p:cNvCxnSpPr/>
          <p:nvPr/>
        </p:nvCxnSpPr>
        <p:spPr>
          <a:xfrm>
            <a:off x="6096000" y="519033"/>
            <a:ext cx="0" cy="32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3" name="Google Shape;383;p48"/>
          <p:cNvSpPr/>
          <p:nvPr/>
        </p:nvSpPr>
        <p:spPr>
          <a:xfrm>
            <a:off x="3506567" y="16343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8"/>
          <p:cNvSpPr/>
          <p:nvPr/>
        </p:nvSpPr>
        <p:spPr>
          <a:xfrm>
            <a:off x="3506567" y="21375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8"/>
          <p:cNvSpPr/>
          <p:nvPr/>
        </p:nvSpPr>
        <p:spPr>
          <a:xfrm>
            <a:off x="6958233" y="18158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8"/>
          <p:cNvSpPr/>
          <p:nvPr/>
        </p:nvSpPr>
        <p:spPr>
          <a:xfrm>
            <a:off x="3506567" y="34290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8"/>
          <p:cNvSpPr/>
          <p:nvPr/>
        </p:nvSpPr>
        <p:spPr>
          <a:xfrm>
            <a:off x="3506567" y="39322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8"/>
          <p:cNvSpPr/>
          <p:nvPr/>
        </p:nvSpPr>
        <p:spPr>
          <a:xfrm>
            <a:off x="6958233" y="36105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8"/>
          <p:cNvSpPr/>
          <p:nvPr/>
        </p:nvSpPr>
        <p:spPr>
          <a:xfrm>
            <a:off x="6958233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8"/>
          <p:cNvSpPr/>
          <p:nvPr/>
        </p:nvSpPr>
        <p:spPr>
          <a:xfrm>
            <a:off x="3506567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8"/>
          <p:cNvSpPr txBox="1">
            <a:spLocks noGrp="1"/>
          </p:cNvSpPr>
          <p:nvPr>
            <p:ph type="title"/>
          </p:nvPr>
        </p:nvSpPr>
        <p:spPr>
          <a:xfrm>
            <a:off x="2069567" y="14040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2" name="Google Shape;392;p48"/>
          <p:cNvSpPr txBox="1">
            <a:spLocks noGrp="1"/>
          </p:cNvSpPr>
          <p:nvPr>
            <p:ph type="title"/>
          </p:nvPr>
        </p:nvSpPr>
        <p:spPr>
          <a:xfrm>
            <a:off x="2069567" y="19031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Rules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3" name="Google Shape;393;p48"/>
          <p:cNvSpPr txBox="1">
            <a:spLocks noGrp="1"/>
          </p:cNvSpPr>
          <p:nvPr>
            <p:ph type="title"/>
          </p:nvPr>
        </p:nvSpPr>
        <p:spPr>
          <a:xfrm>
            <a:off x="8840033" y="1575167"/>
            <a:ext cx="1812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Answers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4" name="Google Shape;394;p48"/>
          <p:cNvSpPr txBox="1">
            <a:spLocks noGrp="1"/>
          </p:cNvSpPr>
          <p:nvPr>
            <p:ph type="title"/>
          </p:nvPr>
        </p:nvSpPr>
        <p:spPr>
          <a:xfrm>
            <a:off x="2069567" y="31936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5" name="Google Shape;395;p48"/>
          <p:cNvSpPr txBox="1">
            <a:spLocks noGrp="1"/>
          </p:cNvSpPr>
          <p:nvPr>
            <p:ph type="title"/>
          </p:nvPr>
        </p:nvSpPr>
        <p:spPr>
          <a:xfrm>
            <a:off x="1943100" y="3970733"/>
            <a:ext cx="1612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Labels</a:t>
            </a:r>
            <a:endParaRPr sz="2800">
              <a:solidFill>
                <a:schemeClr val="dk2"/>
              </a:solidFill>
            </a:endParaRPr>
          </a:p>
          <a:p>
            <a:pPr algn="ctr"/>
            <a:r>
              <a:rPr lang="en-GB" sz="2800">
                <a:solidFill>
                  <a:schemeClr val="dk2"/>
                </a:solidFill>
              </a:rPr>
              <a:t>= targets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6" name="Google Shape;396;p48"/>
          <p:cNvSpPr txBox="1">
            <a:spLocks noGrp="1"/>
          </p:cNvSpPr>
          <p:nvPr>
            <p:ph type="title"/>
          </p:nvPr>
        </p:nvSpPr>
        <p:spPr>
          <a:xfrm>
            <a:off x="8855667" y="3347100"/>
            <a:ext cx="2358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Predictions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7" name="Google Shape;397;p48"/>
          <p:cNvSpPr txBox="1">
            <a:spLocks noGrp="1"/>
          </p:cNvSpPr>
          <p:nvPr>
            <p:ph type="title"/>
          </p:nvPr>
        </p:nvSpPr>
        <p:spPr>
          <a:xfrm>
            <a:off x="2069567" y="51367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8" name="Google Shape;398;p48"/>
          <p:cNvSpPr txBox="1">
            <a:spLocks noGrp="1"/>
          </p:cNvSpPr>
          <p:nvPr>
            <p:ph type="title"/>
          </p:nvPr>
        </p:nvSpPr>
        <p:spPr>
          <a:xfrm>
            <a:off x="8855667" y="5119033"/>
            <a:ext cx="2358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Predictions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9" name="Google Shape;399;p48"/>
          <p:cNvSpPr txBox="1"/>
          <p:nvPr/>
        </p:nvSpPr>
        <p:spPr>
          <a:xfrm>
            <a:off x="660400" y="972800"/>
            <a:ext cx="533600" cy="2220800"/>
          </a:xfrm>
          <a:prstGeom prst="rect">
            <a:avLst/>
          </a:prstGeom>
          <a:solidFill>
            <a:srgbClr val="DEF0FF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A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I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8"/>
          <p:cNvSpPr txBox="1"/>
          <p:nvPr/>
        </p:nvSpPr>
        <p:spPr>
          <a:xfrm>
            <a:off x="660400" y="3429000"/>
            <a:ext cx="533600" cy="2355600"/>
          </a:xfrm>
          <a:prstGeom prst="rect">
            <a:avLst/>
          </a:prstGeom>
          <a:solidFill>
            <a:srgbClr val="EEFF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M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 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150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9"/>
          <p:cNvSpPr/>
          <p:nvPr/>
        </p:nvSpPr>
        <p:spPr>
          <a:xfrm>
            <a:off x="1854200" y="2921000"/>
            <a:ext cx="10122000" cy="3390800"/>
          </a:xfrm>
          <a:prstGeom prst="roundRect">
            <a:avLst>
              <a:gd name="adj" fmla="val 10862"/>
            </a:avLst>
          </a:prstGeom>
          <a:solidFill>
            <a:srgbClr val="EEFFE7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9"/>
          <p:cNvSpPr/>
          <p:nvPr/>
        </p:nvSpPr>
        <p:spPr>
          <a:xfrm>
            <a:off x="1854200" y="939800"/>
            <a:ext cx="10122000" cy="1855200"/>
          </a:xfrm>
          <a:prstGeom prst="roundRect">
            <a:avLst>
              <a:gd name="adj" fmla="val 16667"/>
            </a:avLst>
          </a:prstGeom>
          <a:solidFill>
            <a:srgbClr val="E8F5FF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9"/>
          <p:cNvSpPr txBox="1">
            <a:spLocks noGrp="1"/>
          </p:cNvSpPr>
          <p:nvPr>
            <p:ph type="title"/>
          </p:nvPr>
        </p:nvSpPr>
        <p:spPr>
          <a:xfrm>
            <a:off x="101100" y="0"/>
            <a:ext cx="11360800" cy="83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Paradigm shift</a:t>
            </a:r>
            <a:endParaRPr/>
          </a:p>
        </p:txBody>
      </p:sp>
      <p:sp>
        <p:nvSpPr>
          <p:cNvPr id="408" name="Google Shape;408;p49"/>
          <p:cNvSpPr txBox="1">
            <a:spLocks noGrp="1"/>
          </p:cNvSpPr>
          <p:nvPr>
            <p:ph type="sldNum" idx="12"/>
          </p:nvPr>
        </p:nvSpPr>
        <p:spPr>
          <a:xfrm>
            <a:off x="11461900" y="6528800"/>
            <a:ext cx="731600" cy="3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-GB"/>
              <a:pPr/>
              <a:t>23</a:t>
            </a:fld>
            <a:endParaRPr/>
          </a:p>
        </p:txBody>
      </p:sp>
      <p:sp>
        <p:nvSpPr>
          <p:cNvPr id="409" name="Google Shape;409;p49"/>
          <p:cNvSpPr/>
          <p:nvPr/>
        </p:nvSpPr>
        <p:spPr>
          <a:xfrm>
            <a:off x="5404000" y="125826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9"/>
          <p:cNvSpPr/>
          <p:nvPr/>
        </p:nvSpPr>
        <p:spPr>
          <a:xfrm>
            <a:off x="5404000" y="303719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9"/>
          <p:cNvSpPr/>
          <p:nvPr/>
        </p:nvSpPr>
        <p:spPr>
          <a:xfrm>
            <a:off x="5404000" y="4816095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9"/>
          <p:cNvSpPr txBox="1">
            <a:spLocks noGrp="1"/>
          </p:cNvSpPr>
          <p:nvPr>
            <p:ph type="title"/>
          </p:nvPr>
        </p:nvSpPr>
        <p:spPr>
          <a:xfrm>
            <a:off x="5404000" y="-80800"/>
            <a:ext cx="1384000" cy="72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Model</a:t>
            </a:r>
            <a:endParaRPr sz="2800">
              <a:solidFill>
                <a:schemeClr val="dk2"/>
              </a:solidFill>
            </a:endParaRPr>
          </a:p>
        </p:txBody>
      </p:sp>
      <p:cxnSp>
        <p:nvCxnSpPr>
          <p:cNvPr id="413" name="Google Shape;413;p49"/>
          <p:cNvCxnSpPr/>
          <p:nvPr/>
        </p:nvCxnSpPr>
        <p:spPr>
          <a:xfrm>
            <a:off x="6096000" y="519033"/>
            <a:ext cx="0" cy="32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4" name="Google Shape;414;p49"/>
          <p:cNvSpPr/>
          <p:nvPr/>
        </p:nvSpPr>
        <p:spPr>
          <a:xfrm>
            <a:off x="3506567" y="16343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9"/>
          <p:cNvSpPr/>
          <p:nvPr/>
        </p:nvSpPr>
        <p:spPr>
          <a:xfrm>
            <a:off x="3506567" y="21375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9"/>
          <p:cNvSpPr/>
          <p:nvPr/>
        </p:nvSpPr>
        <p:spPr>
          <a:xfrm>
            <a:off x="6958233" y="18158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9"/>
          <p:cNvSpPr/>
          <p:nvPr/>
        </p:nvSpPr>
        <p:spPr>
          <a:xfrm>
            <a:off x="3506567" y="34290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9"/>
          <p:cNvSpPr/>
          <p:nvPr/>
        </p:nvSpPr>
        <p:spPr>
          <a:xfrm>
            <a:off x="3506567" y="39322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9"/>
          <p:cNvSpPr/>
          <p:nvPr/>
        </p:nvSpPr>
        <p:spPr>
          <a:xfrm>
            <a:off x="6958233" y="36105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9"/>
          <p:cNvSpPr/>
          <p:nvPr/>
        </p:nvSpPr>
        <p:spPr>
          <a:xfrm>
            <a:off x="6958233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9"/>
          <p:cNvSpPr/>
          <p:nvPr/>
        </p:nvSpPr>
        <p:spPr>
          <a:xfrm>
            <a:off x="3506567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9"/>
          <p:cNvSpPr txBox="1">
            <a:spLocks noGrp="1"/>
          </p:cNvSpPr>
          <p:nvPr>
            <p:ph type="title"/>
          </p:nvPr>
        </p:nvSpPr>
        <p:spPr>
          <a:xfrm>
            <a:off x="2069567" y="14040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3" name="Google Shape;423;p49"/>
          <p:cNvSpPr txBox="1">
            <a:spLocks noGrp="1"/>
          </p:cNvSpPr>
          <p:nvPr>
            <p:ph type="title"/>
          </p:nvPr>
        </p:nvSpPr>
        <p:spPr>
          <a:xfrm>
            <a:off x="2069567" y="19031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Rules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4" name="Google Shape;424;p49"/>
          <p:cNvSpPr txBox="1">
            <a:spLocks noGrp="1"/>
          </p:cNvSpPr>
          <p:nvPr>
            <p:ph type="title"/>
          </p:nvPr>
        </p:nvSpPr>
        <p:spPr>
          <a:xfrm>
            <a:off x="8840033" y="1575167"/>
            <a:ext cx="1812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Answers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5" name="Google Shape;425;p49"/>
          <p:cNvSpPr txBox="1">
            <a:spLocks noGrp="1"/>
          </p:cNvSpPr>
          <p:nvPr>
            <p:ph type="title"/>
          </p:nvPr>
        </p:nvSpPr>
        <p:spPr>
          <a:xfrm>
            <a:off x="2069567" y="31936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6" name="Google Shape;426;p49"/>
          <p:cNvSpPr txBox="1">
            <a:spLocks noGrp="1"/>
          </p:cNvSpPr>
          <p:nvPr>
            <p:ph type="title"/>
          </p:nvPr>
        </p:nvSpPr>
        <p:spPr>
          <a:xfrm>
            <a:off x="8855667" y="3347100"/>
            <a:ext cx="2358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Predictions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7" name="Google Shape;427;p49"/>
          <p:cNvSpPr txBox="1">
            <a:spLocks noGrp="1"/>
          </p:cNvSpPr>
          <p:nvPr>
            <p:ph type="title"/>
          </p:nvPr>
        </p:nvSpPr>
        <p:spPr>
          <a:xfrm>
            <a:off x="2069567" y="51367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8" name="Google Shape;428;p49"/>
          <p:cNvSpPr txBox="1">
            <a:spLocks noGrp="1"/>
          </p:cNvSpPr>
          <p:nvPr>
            <p:ph type="title"/>
          </p:nvPr>
        </p:nvSpPr>
        <p:spPr>
          <a:xfrm>
            <a:off x="8855667" y="5119033"/>
            <a:ext cx="2358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Predictions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9" name="Google Shape;429;p49"/>
          <p:cNvSpPr txBox="1"/>
          <p:nvPr/>
        </p:nvSpPr>
        <p:spPr>
          <a:xfrm rot="1147">
            <a:off x="9497624" y="947863"/>
            <a:ext cx="23976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933" b="1">
                <a:solidFill>
                  <a:srgbClr val="1C4587"/>
                </a:solidFill>
                <a:latin typeface="Play"/>
                <a:ea typeface="Play"/>
                <a:cs typeface="Play"/>
                <a:sym typeface="Play"/>
              </a:rPr>
              <a:t>Rule-based</a:t>
            </a:r>
            <a:endParaRPr sz="2933" b="1">
              <a:solidFill>
                <a:srgbClr val="1C4587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30" name="Google Shape;430;p49"/>
          <p:cNvSpPr txBox="1"/>
          <p:nvPr/>
        </p:nvSpPr>
        <p:spPr>
          <a:xfrm rot="573">
            <a:off x="8959782" y="2832940"/>
            <a:ext cx="2398000" cy="6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933" b="1" dirty="0">
                <a:solidFill>
                  <a:srgbClr val="38761D"/>
                </a:solidFill>
                <a:latin typeface="Play"/>
                <a:ea typeface="Play"/>
                <a:cs typeface="Play"/>
                <a:sym typeface="Play"/>
              </a:rPr>
              <a:t>Data-driven</a:t>
            </a:r>
            <a:endParaRPr sz="2933" b="1" dirty="0">
              <a:solidFill>
                <a:srgbClr val="38761D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32" name="Google Shape;432;p49"/>
          <p:cNvSpPr txBox="1"/>
          <p:nvPr/>
        </p:nvSpPr>
        <p:spPr>
          <a:xfrm rot="389">
            <a:off x="8338600" y="4455317"/>
            <a:ext cx="3536000" cy="6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800" b="1" dirty="0">
                <a:solidFill>
                  <a:srgbClr val="38761D"/>
                </a:solidFill>
                <a:latin typeface="Play"/>
                <a:ea typeface="Play"/>
                <a:cs typeface="Play"/>
                <a:sym typeface="Play"/>
              </a:rPr>
              <a:t>Goal is to predict</a:t>
            </a:r>
            <a:endParaRPr sz="2800" b="1" dirty="0">
              <a:solidFill>
                <a:srgbClr val="38761D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33" name="Google Shape;433;p49"/>
          <p:cNvSpPr txBox="1">
            <a:spLocks noGrp="1"/>
          </p:cNvSpPr>
          <p:nvPr>
            <p:ph type="title"/>
          </p:nvPr>
        </p:nvSpPr>
        <p:spPr>
          <a:xfrm>
            <a:off x="1943100" y="3970733"/>
            <a:ext cx="1612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Labels</a:t>
            </a:r>
            <a:endParaRPr sz="2800">
              <a:solidFill>
                <a:schemeClr val="dk2"/>
              </a:solidFill>
            </a:endParaRPr>
          </a:p>
          <a:p>
            <a:pPr algn="ctr"/>
            <a:r>
              <a:rPr lang="en-GB" sz="2800">
                <a:solidFill>
                  <a:schemeClr val="dk2"/>
                </a:solidFill>
              </a:rPr>
              <a:t>= targets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34" name="Google Shape;434;p49"/>
          <p:cNvSpPr txBox="1"/>
          <p:nvPr/>
        </p:nvSpPr>
        <p:spPr>
          <a:xfrm>
            <a:off x="660400" y="972800"/>
            <a:ext cx="533600" cy="2220800"/>
          </a:xfrm>
          <a:prstGeom prst="rect">
            <a:avLst/>
          </a:prstGeom>
          <a:solidFill>
            <a:srgbClr val="DEF0FF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A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I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660400" y="3429000"/>
            <a:ext cx="533600" cy="2355600"/>
          </a:xfrm>
          <a:prstGeom prst="rect">
            <a:avLst/>
          </a:prstGeom>
          <a:solidFill>
            <a:srgbClr val="EEFF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M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 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325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Issues in Machine Learning</a:t>
            </a:r>
            <a:endParaRPr 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1024127" y="2084832"/>
            <a:ext cx="10873705" cy="378256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sv-SE" sz="3200" dirty="0"/>
              <a:t>What algorithms can approximate functions well and when?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3200" dirty="0"/>
              <a:t>How does the number of training examples influence accuracy?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3200" dirty="0"/>
              <a:t>How does the complexity of hypothesis representation impact it?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3200" dirty="0"/>
              <a:t>How does noisy data influence accuracy?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3200" dirty="0"/>
              <a:t>What are the theoretical limits of learnability?</a:t>
            </a:r>
            <a:endParaRPr lang="en-US" sz="3200" dirty="0"/>
          </a:p>
        </p:txBody>
      </p:sp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C39E55F-773D-40A7-BD72-2287DE674A5E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Finally,..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We need to think about:</a:t>
            </a:r>
          </a:p>
          <a:p>
            <a:pPr lvl="1"/>
            <a:r>
              <a:rPr lang="en-US" sz="3200" dirty="0" smtClean="0"/>
              <a:t>What will be learned?</a:t>
            </a:r>
          </a:p>
          <a:p>
            <a:pPr lvl="1"/>
            <a:r>
              <a:rPr lang="en-US" sz="3200" dirty="0" smtClean="0"/>
              <a:t>How it will be learned?</a:t>
            </a:r>
          </a:p>
          <a:p>
            <a:pPr lvl="1"/>
            <a:r>
              <a:rPr lang="en-US" sz="3200" dirty="0" smtClean="0"/>
              <a:t>How will we evaluate performance?</a:t>
            </a:r>
          </a:p>
          <a:p>
            <a:pPr lvl="1"/>
            <a:r>
              <a:rPr lang="en-US" sz="3200" dirty="0" smtClean="0"/>
              <a:t>What is the source of the data that is required?</a:t>
            </a:r>
          </a:p>
          <a:p>
            <a:pPr lvl="1"/>
            <a:r>
              <a:rPr lang="en-US" sz="3200" dirty="0" smtClean="0"/>
              <a:t>What learning methods will we use?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289866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Friendly Introduction to Machine Learning (</a:t>
            </a:r>
            <a:r>
              <a:rPr lang="en-US" dirty="0" err="1"/>
              <a:t>Coursera</a:t>
            </a:r>
            <a:r>
              <a:rPr lang="en-US" dirty="0"/>
              <a:t>) 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youtu.be/IpGxLWOIZy4</a:t>
            </a:r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Introduction </a:t>
            </a:r>
            <a:r>
              <a:rPr lang="en-US" dirty="0"/>
              <a:t>to Machine </a:t>
            </a:r>
            <a:r>
              <a:rPr lang="en-US" dirty="0" smtClean="0"/>
              <a:t>Learning (MIT Open Courseware) </a:t>
            </a: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youtu.be/h0e2HAPTGF4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3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3363</TotalTime>
  <Words>1214</Words>
  <Application>Microsoft Office PowerPoint</Application>
  <PresentationFormat>Widescreen</PresentationFormat>
  <Paragraphs>254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ＭＳ Ｐゴシック</vt:lpstr>
      <vt:lpstr>Arial</vt:lpstr>
      <vt:lpstr>Calibri</vt:lpstr>
      <vt:lpstr>Calibri Light</vt:lpstr>
      <vt:lpstr>Play</vt:lpstr>
      <vt:lpstr>Symbol</vt:lpstr>
      <vt:lpstr>Wingdings</vt:lpstr>
      <vt:lpstr>Office Theme</vt:lpstr>
      <vt:lpstr>SCS3212 Machine Learning Algorithms &amp; Programming</vt:lpstr>
      <vt:lpstr>Learning &amp; Adaptation</vt:lpstr>
      <vt:lpstr>Why Learn?</vt:lpstr>
      <vt:lpstr>Learning involves</vt:lpstr>
      <vt:lpstr>Why is Machine Learning Possible?</vt:lpstr>
      <vt:lpstr>Disciplines relevant to ML</vt:lpstr>
      <vt:lpstr>Learning</vt:lpstr>
      <vt:lpstr>Learning Problem</vt:lpstr>
      <vt:lpstr>Learning to play draught board game</vt:lpstr>
      <vt:lpstr>Learning to play Draughts</vt:lpstr>
      <vt:lpstr>Type of Training Experience</vt:lpstr>
      <vt:lpstr>Possible Definition of Target Function</vt:lpstr>
      <vt:lpstr>Draughts board</vt:lpstr>
      <vt:lpstr>State Space Search</vt:lpstr>
      <vt:lpstr>State Space Search</vt:lpstr>
      <vt:lpstr>Final Board States</vt:lpstr>
      <vt:lpstr>Learning Problems Examples</vt:lpstr>
      <vt:lpstr>Learning Problem Example – Mobile-phone based Lending Requests appraisal</vt:lpstr>
      <vt:lpstr>Learning Problem Example – email spam detection</vt:lpstr>
      <vt:lpstr>Types of Learning (learning paradigms)</vt:lpstr>
      <vt:lpstr>Paradigm shift</vt:lpstr>
      <vt:lpstr>Paradigm shift</vt:lpstr>
      <vt:lpstr>Paradigm shift</vt:lpstr>
      <vt:lpstr>Issues in Machine Learning</vt:lpstr>
      <vt:lpstr>Finally,..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CSC229 Machine Learning Algorithms &amp; Programming</dc:title>
  <dc:creator>pwwawacha</dc:creator>
  <cp:lastModifiedBy>pwwagacha</cp:lastModifiedBy>
  <cp:revision>27</cp:revision>
  <dcterms:created xsi:type="dcterms:W3CDTF">2021-02-04T07:47:16Z</dcterms:created>
  <dcterms:modified xsi:type="dcterms:W3CDTF">2026-02-25T06:12:54Z</dcterms:modified>
</cp:coreProperties>
</file>
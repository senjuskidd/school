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60" r:id="rId4"/>
    <p:sldId id="275" r:id="rId5"/>
    <p:sldId id="261" r:id="rId6"/>
    <p:sldId id="262" r:id="rId7"/>
    <p:sldId id="263" r:id="rId8"/>
    <p:sldId id="264" r:id="rId9"/>
    <p:sldId id="265" r:id="rId10"/>
    <p:sldId id="266" r:id="rId11"/>
    <p:sldId id="268" r:id="rId12"/>
    <p:sldId id="269" r:id="rId13"/>
    <p:sldId id="270" r:id="rId14"/>
    <p:sldId id="279" r:id="rId15"/>
    <p:sldId id="280" r:id="rId16"/>
    <p:sldId id="281" r:id="rId17"/>
    <p:sldId id="271" r:id="rId18"/>
    <p:sldId id="274" r:id="rId19"/>
    <p:sldId id="273" r:id="rId20"/>
    <p:sldId id="278"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60"/>
  </p:normalViewPr>
  <p:slideViewPr>
    <p:cSldViewPr snapToGrid="0">
      <p:cViewPr varScale="1">
        <p:scale>
          <a:sx n="60" d="100"/>
          <a:sy n="60" d="100"/>
        </p:scale>
        <p:origin x="5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8D50045-2002-4DB1-AF01-561DF48FD60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404092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D50045-2002-4DB1-AF01-561DF48FD60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1910016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8D50045-2002-4DB1-AF01-561DF48FD60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3093009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8D50045-2002-4DB1-AF01-561DF48FD608}"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331900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8D50045-2002-4DB1-AF01-561DF48FD608}"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2525807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8D50045-2002-4DB1-AF01-561DF48FD608}"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4082747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D50045-2002-4DB1-AF01-561DF48FD608}"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2318084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8D50045-2002-4DB1-AF01-561DF48FD608}"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2494818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8D50045-2002-4DB1-AF01-561DF48FD608}"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2943982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D50045-2002-4DB1-AF01-561DF48FD60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1130931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D50045-2002-4DB1-AF01-561DF48FD60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AF4353-590A-4B48-B5FB-93832BDC3EA9}" type="slidenum">
              <a:rPr lang="en-US" smtClean="0"/>
              <a:t>‹#›</a:t>
            </a:fld>
            <a:endParaRPr lang="en-US"/>
          </a:p>
        </p:txBody>
      </p:sp>
    </p:spTree>
    <p:extLst>
      <p:ext uri="{BB962C8B-B14F-4D97-AF65-F5344CB8AC3E}">
        <p14:creationId xmlns:p14="http://schemas.microsoft.com/office/powerpoint/2010/main" val="3620163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D50045-2002-4DB1-AF01-561DF48FD608}" type="datetimeFigureOut">
              <a:rPr lang="en-US" smtClean="0"/>
              <a:t>2/23/2026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AF4353-590A-4B48-B5FB-93832BDC3EA9}" type="slidenum">
              <a:rPr lang="en-US" smtClean="0"/>
              <a:t>‹#›</a:t>
            </a:fld>
            <a:endParaRPr lang="en-US"/>
          </a:p>
        </p:txBody>
      </p:sp>
    </p:spTree>
    <p:extLst>
      <p:ext uri="{BB962C8B-B14F-4D97-AF65-F5344CB8AC3E}">
        <p14:creationId xmlns:p14="http://schemas.microsoft.com/office/powerpoint/2010/main" val="39478385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SCS3212 </a:t>
            </a:r>
            <a:r>
              <a:rPr lang="en-US" dirty="0"/>
              <a:t>Machine Learning Algorithms &amp; Programming</a:t>
            </a:r>
          </a:p>
        </p:txBody>
      </p:sp>
      <p:sp>
        <p:nvSpPr>
          <p:cNvPr id="3" name="Subtitle 2"/>
          <p:cNvSpPr>
            <a:spLocks noGrp="1"/>
          </p:cNvSpPr>
          <p:nvPr>
            <p:ph type="subTitle" idx="1"/>
          </p:nvPr>
        </p:nvSpPr>
        <p:spPr>
          <a:xfrm>
            <a:off x="1524000" y="3995443"/>
            <a:ext cx="9144000" cy="1655762"/>
          </a:xfrm>
        </p:spPr>
        <p:txBody>
          <a:bodyPr>
            <a:normAutofit fontScale="92500" lnSpcReduction="10000"/>
          </a:bodyPr>
          <a:lstStyle/>
          <a:p>
            <a:r>
              <a:rPr lang="en-US" sz="3200" dirty="0"/>
              <a:t>Part </a:t>
            </a:r>
            <a:r>
              <a:rPr lang="en-US" sz="3200" dirty="0" smtClean="0"/>
              <a:t>3. Instance Based Learning</a:t>
            </a:r>
            <a:endParaRPr lang="en-US" sz="2400" dirty="0"/>
          </a:p>
          <a:p>
            <a:endParaRPr lang="en-US" sz="2400" dirty="0"/>
          </a:p>
          <a:p>
            <a:r>
              <a:rPr lang="en-US" sz="2400" dirty="0"/>
              <a:t>Peter </a:t>
            </a:r>
            <a:r>
              <a:rPr lang="en-US" sz="2400" dirty="0" err="1"/>
              <a:t>Waiganjo</a:t>
            </a:r>
            <a:r>
              <a:rPr lang="en-US" sz="2400" dirty="0"/>
              <a:t> </a:t>
            </a:r>
            <a:r>
              <a:rPr lang="en-US" sz="2400" dirty="0" err="1"/>
              <a:t>Wagacha</a:t>
            </a:r>
            <a:endParaRPr lang="en-US" sz="2400" dirty="0"/>
          </a:p>
          <a:p>
            <a:r>
              <a:rPr lang="en-US" sz="2400" dirty="0" smtClean="0"/>
              <a:t>2026</a:t>
            </a:r>
            <a:endParaRPr 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sv-SE"/>
              <a:t>Instance based learning methods</a:t>
            </a:r>
            <a:endParaRPr lang="en-US"/>
          </a:p>
        </p:txBody>
      </p:sp>
      <p:sp>
        <p:nvSpPr>
          <p:cNvPr id="1027" name="Rectangle 3"/>
          <p:cNvSpPr>
            <a:spLocks noGrp="1" noChangeArrowheads="1"/>
          </p:cNvSpPr>
          <p:nvPr>
            <p:ph idx="1"/>
          </p:nvPr>
        </p:nvSpPr>
        <p:spPr>
          <a:xfrm>
            <a:off x="1097279" y="1831149"/>
            <a:ext cx="8918917" cy="3697287"/>
          </a:xfrm>
        </p:spPr>
        <p:txBody>
          <a:bodyPr>
            <a:normAutofit/>
          </a:bodyPr>
          <a:lstStyle/>
          <a:p>
            <a:pPr>
              <a:buFont typeface="Wingdings" pitchFamily="2" charset="2"/>
              <a:buNone/>
            </a:pPr>
            <a:r>
              <a:rPr lang="sv-SE" sz="2800" dirty="0"/>
              <a:t>Include the following:</a:t>
            </a:r>
          </a:p>
          <a:p>
            <a:pPr>
              <a:buFont typeface="Wingdings" panose="05000000000000000000" pitchFamily="2" charset="2"/>
              <a:buChar char="§"/>
            </a:pPr>
            <a:r>
              <a:rPr lang="sv-SE" sz="2800" dirty="0"/>
              <a:t>Nearest Neighbor</a:t>
            </a:r>
          </a:p>
          <a:p>
            <a:pPr>
              <a:buFont typeface="Wingdings" panose="05000000000000000000" pitchFamily="2" charset="2"/>
              <a:buChar char="§"/>
            </a:pPr>
            <a:r>
              <a:rPr lang="en-US" sz="2800" dirty="0"/>
              <a:t>Locally weighted regression</a:t>
            </a:r>
          </a:p>
          <a:p>
            <a:pPr>
              <a:buFont typeface="Wingdings" panose="05000000000000000000" pitchFamily="2" charset="2"/>
              <a:buChar char="§"/>
            </a:pPr>
            <a:r>
              <a:rPr lang="en-US" sz="2800" dirty="0"/>
              <a:t>Case based reasoning (CBR)</a:t>
            </a:r>
          </a:p>
          <a:p>
            <a:endParaRPr lang="sv-SE" sz="2800" dirty="0"/>
          </a:p>
          <a:p>
            <a:pPr>
              <a:buFont typeface="Wingdings" pitchFamily="2" charset="2"/>
              <a:buNone/>
            </a:pPr>
            <a:endParaRPr lang="sv-SE" sz="2800" dirty="0"/>
          </a:p>
        </p:txBody>
      </p:sp>
      <p:sp>
        <p:nvSpPr>
          <p:cNvPr id="5" name="Slide Number Placeholder 5"/>
          <p:cNvSpPr>
            <a:spLocks noGrp="1"/>
          </p:cNvSpPr>
          <p:nvPr>
            <p:ph type="sldNum" sz="quarter" idx="12"/>
          </p:nvPr>
        </p:nvSpPr>
        <p:spPr/>
        <p:txBody>
          <a:bodyPr>
            <a:normAutofit/>
          </a:bodyPr>
          <a:lstStyle/>
          <a:p>
            <a:fld id="{F81C6BEF-0ADB-4BE9-8D0E-050EE74C75BF}" type="slidenum">
              <a:rPr lang="en-US"/>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sv-SE" dirty="0"/>
              <a:t>Instance Based Learning</a:t>
            </a:r>
          </a:p>
        </p:txBody>
      </p:sp>
      <p:sp>
        <p:nvSpPr>
          <p:cNvPr id="5123" name="Rectangle 3"/>
          <p:cNvSpPr>
            <a:spLocks noGrp="1" noChangeArrowheads="1"/>
          </p:cNvSpPr>
          <p:nvPr>
            <p:ph idx="1"/>
          </p:nvPr>
        </p:nvSpPr>
        <p:spPr>
          <a:xfrm>
            <a:off x="1024128" y="1657709"/>
            <a:ext cx="9454960" cy="5016499"/>
          </a:xfrm>
        </p:spPr>
        <p:txBody>
          <a:bodyPr/>
          <a:lstStyle/>
          <a:p>
            <a:pPr>
              <a:buFont typeface="Wingdings" pitchFamily="2" charset="2"/>
              <a:buNone/>
            </a:pPr>
            <a:r>
              <a:rPr lang="sv-SE" sz="2800" dirty="0"/>
              <a:t>Key idea: just store all training examples &lt;x</a:t>
            </a:r>
            <a:r>
              <a:rPr lang="sv-SE" sz="2800" baseline="-25000" dirty="0"/>
              <a:t>i</a:t>
            </a:r>
            <a:r>
              <a:rPr lang="sv-SE" sz="2800" dirty="0"/>
              <a:t>,f(x</a:t>
            </a:r>
            <a:r>
              <a:rPr lang="sv-SE" sz="2800" baseline="-25000" dirty="0"/>
              <a:t>i</a:t>
            </a:r>
            <a:r>
              <a:rPr lang="sv-SE" sz="2800" dirty="0"/>
              <a:t>)&gt;</a:t>
            </a:r>
          </a:p>
          <a:p>
            <a:pPr>
              <a:buFont typeface="Wingdings" pitchFamily="2" charset="2"/>
              <a:buNone/>
            </a:pPr>
            <a:r>
              <a:rPr lang="sv-SE" sz="2800" dirty="0">
                <a:solidFill>
                  <a:schemeClr val="tx2"/>
                </a:solidFill>
              </a:rPr>
              <a:t>Nearest </a:t>
            </a:r>
            <a:r>
              <a:rPr lang="sv-SE" sz="2800" dirty="0" smtClean="0">
                <a:solidFill>
                  <a:schemeClr val="tx2"/>
                </a:solidFill>
              </a:rPr>
              <a:t>neighbour</a:t>
            </a:r>
            <a:r>
              <a:rPr lang="sv-SE" sz="2800" dirty="0">
                <a:solidFill>
                  <a:schemeClr val="tx2"/>
                </a:solidFill>
              </a:rPr>
              <a:t>:</a:t>
            </a:r>
          </a:p>
          <a:p>
            <a:pPr>
              <a:lnSpc>
                <a:spcPct val="90000"/>
              </a:lnSpc>
            </a:pPr>
            <a:r>
              <a:rPr lang="sv-SE" sz="2800" dirty="0"/>
              <a:t>Given query instance x</a:t>
            </a:r>
            <a:r>
              <a:rPr lang="sv-SE" sz="2800" baseline="-25000" dirty="0"/>
              <a:t>q</a:t>
            </a:r>
            <a:r>
              <a:rPr lang="sv-SE" sz="2800" dirty="0"/>
              <a:t>, first locate nearest training example x</a:t>
            </a:r>
            <a:r>
              <a:rPr lang="sv-SE" sz="2800" baseline="-25000" dirty="0"/>
              <a:t>n</a:t>
            </a:r>
            <a:r>
              <a:rPr lang="sv-SE" sz="2800" dirty="0"/>
              <a:t>, then estimate f(x</a:t>
            </a:r>
            <a:r>
              <a:rPr lang="sv-SE" sz="2800" baseline="-25000" dirty="0"/>
              <a:t>q</a:t>
            </a:r>
            <a:r>
              <a:rPr lang="sv-SE" sz="2800" dirty="0"/>
              <a:t>)=f(x</a:t>
            </a:r>
            <a:r>
              <a:rPr lang="sv-SE" sz="2800" baseline="-25000" dirty="0"/>
              <a:t>n</a:t>
            </a:r>
            <a:r>
              <a:rPr lang="sv-SE" sz="2800" dirty="0"/>
              <a:t>)</a:t>
            </a:r>
          </a:p>
          <a:p>
            <a:pPr>
              <a:buFont typeface="Wingdings" pitchFamily="2" charset="2"/>
              <a:buNone/>
            </a:pPr>
            <a:r>
              <a:rPr lang="sv-SE" sz="2800" dirty="0">
                <a:solidFill>
                  <a:schemeClr val="tx2"/>
                </a:solidFill>
              </a:rPr>
              <a:t>k-nearest </a:t>
            </a:r>
            <a:r>
              <a:rPr lang="sv-SE" sz="2800" dirty="0" smtClean="0">
                <a:solidFill>
                  <a:schemeClr val="tx2"/>
                </a:solidFill>
              </a:rPr>
              <a:t>neighbour</a:t>
            </a:r>
            <a:r>
              <a:rPr lang="sv-SE" sz="2800" dirty="0">
                <a:solidFill>
                  <a:schemeClr val="tx2"/>
                </a:solidFill>
              </a:rPr>
              <a:t>:</a:t>
            </a:r>
          </a:p>
          <a:p>
            <a:r>
              <a:rPr lang="sv-SE" sz="2800" dirty="0"/>
              <a:t>Given x</a:t>
            </a:r>
            <a:r>
              <a:rPr lang="sv-SE" sz="2800" baseline="-25000" dirty="0"/>
              <a:t>q</a:t>
            </a:r>
            <a:r>
              <a:rPr lang="sv-SE" sz="2800" dirty="0"/>
              <a:t>, take vote among its k nearest neighbors (if discrete-valued target function)</a:t>
            </a:r>
          </a:p>
          <a:p>
            <a:r>
              <a:rPr lang="sv-SE" sz="2800" dirty="0"/>
              <a:t>Take mean of f values of k nearest neighbors (if real-valued) f(x</a:t>
            </a:r>
            <a:r>
              <a:rPr lang="sv-SE" sz="2800" baseline="-25000" dirty="0"/>
              <a:t>q</a:t>
            </a:r>
            <a:r>
              <a:rPr lang="sv-SE" sz="2800" dirty="0"/>
              <a:t>)=</a:t>
            </a:r>
            <a:r>
              <a:rPr lang="sv-SE" sz="3600" dirty="0">
                <a:sym typeface="Symbol" pitchFamily="18" charset="2"/>
              </a:rPr>
              <a:t> </a:t>
            </a:r>
            <a:r>
              <a:rPr lang="sv-SE" sz="2800" dirty="0">
                <a:sym typeface="Symbol" pitchFamily="18" charset="2"/>
              </a:rPr>
              <a:t>f(x</a:t>
            </a:r>
            <a:r>
              <a:rPr lang="sv-SE" sz="2800" baseline="-25000" dirty="0">
                <a:sym typeface="Symbol" pitchFamily="18" charset="2"/>
              </a:rPr>
              <a:t>i</a:t>
            </a:r>
            <a:r>
              <a:rPr lang="sv-SE" sz="2800" dirty="0">
                <a:sym typeface="Symbol" pitchFamily="18" charset="2"/>
              </a:rPr>
              <a:t>) /k</a:t>
            </a:r>
            <a:endParaRPr lang="en-US" sz="2800" dirty="0"/>
          </a:p>
        </p:txBody>
      </p:sp>
      <p:sp>
        <p:nvSpPr>
          <p:cNvPr id="12" name="Slide Number Placeholder 5"/>
          <p:cNvSpPr>
            <a:spLocks noGrp="1"/>
          </p:cNvSpPr>
          <p:nvPr>
            <p:ph type="sldNum" sz="quarter" idx="12"/>
          </p:nvPr>
        </p:nvSpPr>
        <p:spPr/>
        <p:txBody>
          <a:bodyPr>
            <a:normAutofit/>
          </a:bodyPr>
          <a:lstStyle/>
          <a:p>
            <a:fld id="{B6AFAA87-4430-4C85-8959-F380D6D3BD9B}" type="slidenum">
              <a:rPr lang="en-US"/>
              <a:pPr/>
              <a:t>3</a:t>
            </a:fld>
            <a:endParaRPr lang="en-US"/>
          </a:p>
        </p:txBody>
      </p:sp>
      <p:sp>
        <p:nvSpPr>
          <p:cNvPr id="5125" name="Text Box 5"/>
          <p:cNvSpPr txBox="1">
            <a:spLocks noChangeArrowheads="1"/>
          </p:cNvSpPr>
          <p:nvPr/>
        </p:nvSpPr>
        <p:spPr bwMode="auto">
          <a:xfrm>
            <a:off x="4175126" y="5843588"/>
            <a:ext cx="184731" cy="369332"/>
          </a:xfrm>
          <a:prstGeom prst="rect">
            <a:avLst/>
          </a:prstGeom>
          <a:noFill/>
          <a:ln w="9525">
            <a:noFill/>
            <a:miter lim="800000"/>
            <a:headEnd/>
            <a:tailEnd/>
          </a:ln>
          <a:effectLst/>
        </p:spPr>
        <p:txBody>
          <a:bodyPr wrap="none">
            <a:spAutoFit/>
          </a:bodyPr>
          <a:lstStyle/>
          <a:p>
            <a:endParaRPr lang="en-US"/>
          </a:p>
        </p:txBody>
      </p:sp>
      <p:sp>
        <p:nvSpPr>
          <p:cNvPr id="5127" name="Rectangle 7"/>
          <p:cNvSpPr>
            <a:spLocks noChangeArrowheads="1"/>
          </p:cNvSpPr>
          <p:nvPr/>
        </p:nvSpPr>
        <p:spPr bwMode="auto">
          <a:xfrm>
            <a:off x="1712363" y="5202633"/>
            <a:ext cx="990600" cy="381000"/>
          </a:xfrm>
          <a:prstGeom prst="rect">
            <a:avLst/>
          </a:prstGeom>
          <a:noFill/>
          <a:ln w="9525">
            <a:noFill/>
            <a:miter lim="800000"/>
            <a:headEnd/>
            <a:tailEnd/>
          </a:ln>
          <a:effectLst/>
        </p:spPr>
        <p:txBody>
          <a:bodyPr wrap="none" anchor="ctr"/>
          <a:lstStyle/>
          <a:p>
            <a:pPr algn="ctr"/>
            <a:r>
              <a:rPr lang="sv-SE" dirty="0">
                <a:sym typeface="Symbol" pitchFamily="18" charset="2"/>
              </a:rPr>
              <a:t>i=1</a:t>
            </a:r>
            <a:endParaRPr lang="en-US" dirty="0">
              <a:sym typeface="Symbol" pitchFamily="18" charset="2"/>
            </a:endParaRPr>
          </a:p>
        </p:txBody>
      </p:sp>
      <p:sp>
        <p:nvSpPr>
          <p:cNvPr id="5128" name="Rectangle 8"/>
          <p:cNvSpPr>
            <a:spLocks noChangeArrowheads="1"/>
          </p:cNvSpPr>
          <p:nvPr/>
        </p:nvSpPr>
        <p:spPr bwMode="auto">
          <a:xfrm>
            <a:off x="2070748" y="5741716"/>
            <a:ext cx="381000" cy="381000"/>
          </a:xfrm>
          <a:prstGeom prst="rect">
            <a:avLst/>
          </a:prstGeom>
          <a:noFill/>
          <a:ln w="9525">
            <a:noFill/>
            <a:miter lim="800000"/>
            <a:headEnd/>
            <a:tailEnd/>
          </a:ln>
          <a:effectLst/>
        </p:spPr>
        <p:txBody>
          <a:bodyPr wrap="none" anchor="ctr"/>
          <a:lstStyle/>
          <a:p>
            <a:pPr algn="ctr"/>
            <a:r>
              <a:rPr lang="sv-SE" dirty="0">
                <a:sym typeface="Symbol" pitchFamily="18" charset="2"/>
              </a:rPr>
              <a:t>k</a:t>
            </a:r>
            <a:endParaRPr lang="en-US" dirty="0">
              <a:sym typeface="Symbol" pitchFamily="18" charset="2"/>
            </a:endParaRPr>
          </a:p>
        </p:txBody>
      </p:sp>
      <p:sp>
        <p:nvSpPr>
          <p:cNvPr id="5129" name="Rectangle 9"/>
          <p:cNvSpPr>
            <a:spLocks noChangeArrowheads="1"/>
          </p:cNvSpPr>
          <p:nvPr/>
        </p:nvSpPr>
        <p:spPr bwMode="auto">
          <a:xfrm>
            <a:off x="759016" y="5545292"/>
            <a:ext cx="990600" cy="381000"/>
          </a:xfrm>
          <a:prstGeom prst="rect">
            <a:avLst/>
          </a:prstGeom>
          <a:noFill/>
          <a:ln w="9525">
            <a:noFill/>
            <a:miter lim="800000"/>
            <a:headEnd/>
            <a:tailEnd/>
          </a:ln>
          <a:effectLst/>
        </p:spPr>
        <p:txBody>
          <a:bodyPr wrap="none" anchor="ctr"/>
          <a:lstStyle/>
          <a:p>
            <a:pPr algn="ctr"/>
            <a:r>
              <a:rPr lang="sv-SE" dirty="0">
                <a:sym typeface="Symbol" pitchFamily="18" charset="2"/>
              </a:rPr>
              <a:t>^</a:t>
            </a:r>
            <a:endParaRPr lang="en-US" dirty="0">
              <a:sym typeface="Symbol" pitchFamily="18" charset="2"/>
            </a:endParaRPr>
          </a:p>
        </p:txBody>
      </p:sp>
      <p:sp>
        <p:nvSpPr>
          <p:cNvPr id="5130" name="Rectangle 10"/>
          <p:cNvSpPr>
            <a:spLocks noChangeArrowheads="1"/>
          </p:cNvSpPr>
          <p:nvPr/>
        </p:nvSpPr>
        <p:spPr bwMode="auto">
          <a:xfrm>
            <a:off x="2671064" y="3098700"/>
            <a:ext cx="990600" cy="381000"/>
          </a:xfrm>
          <a:prstGeom prst="rect">
            <a:avLst/>
          </a:prstGeom>
          <a:noFill/>
          <a:ln w="9525">
            <a:noFill/>
            <a:miter lim="800000"/>
            <a:headEnd/>
            <a:tailEnd/>
          </a:ln>
          <a:effectLst/>
        </p:spPr>
        <p:txBody>
          <a:bodyPr wrap="none" anchor="ctr"/>
          <a:lstStyle/>
          <a:p>
            <a:pPr algn="ctr"/>
            <a:r>
              <a:rPr lang="sv-SE" dirty="0">
                <a:sym typeface="Symbol" pitchFamily="18" charset="2"/>
              </a:rPr>
              <a:t>^</a:t>
            </a:r>
            <a:endParaRPr lang="en-US" dirty="0">
              <a:sym typeface="Symbol" pitchFamily="18" charset="2"/>
            </a:endParaRPr>
          </a:p>
        </p:txBody>
      </p:sp>
      <p:sp>
        <p:nvSpPr>
          <p:cNvPr id="5131" name="Text Box 11"/>
          <p:cNvSpPr txBox="1">
            <a:spLocks noChangeArrowheads="1"/>
          </p:cNvSpPr>
          <p:nvPr/>
        </p:nvSpPr>
        <p:spPr bwMode="auto">
          <a:xfrm>
            <a:off x="2590801" y="6400800"/>
            <a:ext cx="3494867" cy="369332"/>
          </a:xfrm>
          <a:prstGeom prst="rect">
            <a:avLst/>
          </a:prstGeom>
          <a:noFill/>
          <a:ln w="9525">
            <a:noFill/>
            <a:miter lim="800000"/>
            <a:headEnd/>
            <a:tailEnd/>
          </a:ln>
          <a:effectLst/>
        </p:spPr>
        <p:txBody>
          <a:bodyPr wrap="none">
            <a:spAutoFit/>
          </a:bodyPr>
          <a:lstStyle/>
          <a:p>
            <a:pPr>
              <a:spcBef>
                <a:spcPct val="50000"/>
              </a:spcBef>
            </a:pPr>
            <a:r>
              <a:rPr lang="en-US" i="1" dirty="0"/>
              <a:t>Note: </a:t>
            </a:r>
            <a:r>
              <a:rPr lang="en-US" dirty="0"/>
              <a:t>f </a:t>
            </a:r>
            <a:r>
              <a:rPr lang="en-US" i="1" dirty="0"/>
              <a:t>- value returned by algorithm</a:t>
            </a:r>
          </a:p>
        </p:txBody>
      </p:sp>
      <p:sp>
        <p:nvSpPr>
          <p:cNvPr id="5132" name="Rectangle 12"/>
          <p:cNvSpPr>
            <a:spLocks noChangeArrowheads="1"/>
          </p:cNvSpPr>
          <p:nvPr/>
        </p:nvSpPr>
        <p:spPr bwMode="auto">
          <a:xfrm>
            <a:off x="2781370" y="6323942"/>
            <a:ext cx="990600" cy="381000"/>
          </a:xfrm>
          <a:prstGeom prst="rect">
            <a:avLst/>
          </a:prstGeom>
          <a:noFill/>
          <a:ln w="9525">
            <a:noFill/>
            <a:miter lim="800000"/>
            <a:headEnd/>
            <a:tailEnd/>
          </a:ln>
          <a:effectLst/>
        </p:spPr>
        <p:txBody>
          <a:bodyPr wrap="none" anchor="ctr"/>
          <a:lstStyle/>
          <a:p>
            <a:pPr algn="ctr"/>
            <a:r>
              <a:rPr lang="sv-SE" dirty="0">
                <a:sym typeface="Symbol" pitchFamily="18" charset="2"/>
              </a:rPr>
              <a:t>^</a:t>
            </a:r>
            <a:endParaRPr lang="en-US" dirty="0">
              <a:sym typeface="Symbol" pitchFamily="18" charset="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K-Nearest Neighbour</a:t>
            </a:r>
            <a:endParaRPr lang="en-US" dirty="0"/>
          </a:p>
        </p:txBody>
      </p:sp>
      <p:sp>
        <p:nvSpPr>
          <p:cNvPr id="3" name="Content Placeholder 2"/>
          <p:cNvSpPr>
            <a:spLocks noGrp="1"/>
          </p:cNvSpPr>
          <p:nvPr>
            <p:ph idx="1"/>
          </p:nvPr>
        </p:nvSpPr>
        <p:spPr>
          <a:xfrm>
            <a:off x="1024128" y="2164080"/>
            <a:ext cx="9720073" cy="4145280"/>
          </a:xfrm>
        </p:spPr>
        <p:txBody>
          <a:bodyPr>
            <a:normAutofit/>
          </a:bodyPr>
          <a:lstStyle/>
          <a:p>
            <a:r>
              <a:rPr lang="en-US" sz="2400" dirty="0"/>
              <a:t>To classify a new input vector x, examine the k-closest nearest data </a:t>
            </a:r>
            <a:r>
              <a:rPr lang="en-US" sz="2400" dirty="0" smtClean="0"/>
              <a:t>points </a:t>
            </a:r>
            <a:r>
              <a:rPr lang="en-US" sz="2400" dirty="0"/>
              <a:t>to x and assign the object to the most frequent </a:t>
            </a:r>
            <a:r>
              <a:rPr lang="en-US" sz="2400" dirty="0" smtClean="0"/>
              <a:t>occurring </a:t>
            </a:r>
            <a:r>
              <a:rPr lang="en-US" sz="2400" dirty="0"/>
              <a:t>class</a:t>
            </a:r>
          </a:p>
        </p:txBody>
      </p:sp>
      <p:pic>
        <p:nvPicPr>
          <p:cNvPr id="4" name="Picture 3"/>
          <p:cNvPicPr>
            <a:picLocks noChangeAspect="1"/>
          </p:cNvPicPr>
          <p:nvPr/>
        </p:nvPicPr>
        <p:blipFill>
          <a:blip r:embed="rId2"/>
          <a:stretch>
            <a:fillRect/>
          </a:stretch>
        </p:blipFill>
        <p:spPr>
          <a:xfrm>
            <a:off x="2196964" y="2978064"/>
            <a:ext cx="6107579" cy="3879936"/>
          </a:xfrm>
          <a:prstGeom prst="rect">
            <a:avLst/>
          </a:prstGeom>
        </p:spPr>
      </p:pic>
    </p:spTree>
    <p:extLst>
      <p:ext uri="{BB962C8B-B14F-4D97-AF65-F5344CB8AC3E}">
        <p14:creationId xmlns:p14="http://schemas.microsoft.com/office/powerpoint/2010/main" val="21004336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sv-SE"/>
              <a:t>Voronoi Diagram</a:t>
            </a:r>
          </a:p>
        </p:txBody>
      </p:sp>
      <p:sp>
        <p:nvSpPr>
          <p:cNvPr id="10" name="Slide Number Placeholder 5"/>
          <p:cNvSpPr>
            <a:spLocks noGrp="1"/>
          </p:cNvSpPr>
          <p:nvPr>
            <p:ph type="sldNum" sz="quarter" idx="12"/>
          </p:nvPr>
        </p:nvSpPr>
        <p:spPr/>
        <p:txBody>
          <a:bodyPr>
            <a:normAutofit/>
          </a:bodyPr>
          <a:lstStyle/>
          <a:p>
            <a:fld id="{A5136D65-5775-436E-B245-5125251330E4}" type="slidenum">
              <a:rPr lang="en-US"/>
              <a:pPr/>
              <a:t>5</a:t>
            </a:fld>
            <a:endParaRPr lang="en-US"/>
          </a:p>
        </p:txBody>
      </p:sp>
      <p:pic>
        <p:nvPicPr>
          <p:cNvPr id="7173" name="Picture 5" descr="C:\Documents and Settings\hoffmann\My Documents\MachineLearning\nn.jpg"/>
          <p:cNvPicPr>
            <a:picLocks noChangeAspect="1" noChangeArrowheads="1"/>
          </p:cNvPicPr>
          <p:nvPr/>
        </p:nvPicPr>
        <p:blipFill>
          <a:blip r:embed="rId2" cstate="print"/>
          <a:srcRect/>
          <a:stretch>
            <a:fillRect/>
          </a:stretch>
        </p:blipFill>
        <p:spPr bwMode="auto">
          <a:xfrm>
            <a:off x="4114800" y="1600201"/>
            <a:ext cx="5486400" cy="4805363"/>
          </a:xfrm>
          <a:prstGeom prst="rect">
            <a:avLst/>
          </a:prstGeom>
          <a:noFill/>
        </p:spPr>
      </p:pic>
      <p:sp>
        <p:nvSpPr>
          <p:cNvPr id="7174" name="Text Box 6"/>
          <p:cNvSpPr txBox="1">
            <a:spLocks noChangeArrowheads="1"/>
          </p:cNvSpPr>
          <p:nvPr/>
        </p:nvSpPr>
        <p:spPr bwMode="auto">
          <a:xfrm>
            <a:off x="1812925" y="2243138"/>
            <a:ext cx="1917513" cy="461665"/>
          </a:xfrm>
          <a:prstGeom prst="rect">
            <a:avLst/>
          </a:prstGeom>
          <a:noFill/>
          <a:ln w="9525">
            <a:noFill/>
            <a:miter lim="800000"/>
            <a:headEnd/>
            <a:tailEnd/>
          </a:ln>
          <a:effectLst/>
        </p:spPr>
        <p:txBody>
          <a:bodyPr wrap="none">
            <a:spAutoFit/>
          </a:bodyPr>
          <a:lstStyle/>
          <a:p>
            <a:r>
              <a:rPr lang="sv-SE" sz="2400" dirty="0"/>
              <a:t>query point q</a:t>
            </a:r>
            <a:r>
              <a:rPr lang="sv-SE" sz="2400" baseline="-25000" dirty="0"/>
              <a:t>f</a:t>
            </a:r>
            <a:endParaRPr lang="en-US" sz="2400" baseline="-25000" dirty="0"/>
          </a:p>
        </p:txBody>
      </p:sp>
      <p:sp>
        <p:nvSpPr>
          <p:cNvPr id="7175" name="Line 7"/>
          <p:cNvSpPr>
            <a:spLocks noChangeShapeType="1"/>
          </p:cNvSpPr>
          <p:nvPr/>
        </p:nvSpPr>
        <p:spPr bwMode="auto">
          <a:xfrm>
            <a:off x="3810000" y="2514600"/>
            <a:ext cx="2971800" cy="1295400"/>
          </a:xfrm>
          <a:prstGeom prst="line">
            <a:avLst/>
          </a:prstGeom>
          <a:noFill/>
          <a:ln w="38100">
            <a:solidFill>
              <a:schemeClr val="tx1"/>
            </a:solidFill>
            <a:miter lim="800000"/>
            <a:headEnd/>
            <a:tailEnd type="triangle" w="med" len="med"/>
          </a:ln>
          <a:effectLst/>
        </p:spPr>
        <p:txBody>
          <a:bodyPr wrap="none"/>
          <a:lstStyle/>
          <a:p>
            <a:endParaRPr lang="en-US"/>
          </a:p>
        </p:txBody>
      </p:sp>
      <p:sp>
        <p:nvSpPr>
          <p:cNvPr id="7176" name="Text Box 8"/>
          <p:cNvSpPr txBox="1">
            <a:spLocks noChangeArrowheads="1"/>
          </p:cNvSpPr>
          <p:nvPr/>
        </p:nvSpPr>
        <p:spPr bwMode="auto">
          <a:xfrm>
            <a:off x="1752601" y="3124200"/>
            <a:ext cx="2557110" cy="461665"/>
          </a:xfrm>
          <a:prstGeom prst="rect">
            <a:avLst/>
          </a:prstGeom>
          <a:noFill/>
          <a:ln w="9525">
            <a:noFill/>
            <a:miter lim="800000"/>
            <a:headEnd/>
            <a:tailEnd/>
          </a:ln>
          <a:effectLst/>
        </p:spPr>
        <p:txBody>
          <a:bodyPr wrap="none">
            <a:spAutoFit/>
          </a:bodyPr>
          <a:lstStyle/>
          <a:p>
            <a:r>
              <a:rPr lang="sv-SE" sz="2400"/>
              <a:t>nearest neighbor q</a:t>
            </a:r>
            <a:r>
              <a:rPr lang="sv-SE" sz="2400" baseline="-25000"/>
              <a:t>i</a:t>
            </a:r>
            <a:endParaRPr lang="en-US" sz="2400" baseline="-25000"/>
          </a:p>
        </p:txBody>
      </p:sp>
      <p:sp>
        <p:nvSpPr>
          <p:cNvPr id="7177" name="Line 9"/>
          <p:cNvSpPr>
            <a:spLocks noChangeShapeType="1"/>
          </p:cNvSpPr>
          <p:nvPr/>
        </p:nvSpPr>
        <p:spPr bwMode="auto">
          <a:xfrm>
            <a:off x="4495800" y="3429000"/>
            <a:ext cx="2057400" cy="914400"/>
          </a:xfrm>
          <a:prstGeom prst="line">
            <a:avLst/>
          </a:prstGeom>
          <a:noFill/>
          <a:ln w="38100">
            <a:solidFill>
              <a:schemeClr val="tx1"/>
            </a:solidFill>
            <a:miter lim="800000"/>
            <a:headEnd/>
            <a:tailEnd type="triangle" w="med" len="med"/>
          </a:ln>
          <a:effectLst/>
        </p:spPr>
        <p:txBody>
          <a:bodyPr wrap="none"/>
          <a:lstStyle/>
          <a:p>
            <a:endParaRPr lang="en-US"/>
          </a:p>
        </p:txBody>
      </p:sp>
      <p:sp>
        <p:nvSpPr>
          <p:cNvPr id="7178" name="Text Box 10"/>
          <p:cNvSpPr txBox="1">
            <a:spLocks noChangeArrowheads="1"/>
          </p:cNvSpPr>
          <p:nvPr/>
        </p:nvSpPr>
        <p:spPr bwMode="auto">
          <a:xfrm>
            <a:off x="1024128" y="6104209"/>
            <a:ext cx="9720072" cy="437043"/>
          </a:xfrm>
          <a:prstGeom prst="rect">
            <a:avLst/>
          </a:prstGeom>
          <a:noFill/>
          <a:ln w="9525">
            <a:noFill/>
            <a:miter lim="800000"/>
            <a:headEnd/>
            <a:tailEnd/>
          </a:ln>
          <a:effectLst/>
        </p:spPr>
        <p:txBody>
          <a:bodyPr wrap="square">
            <a:spAutoFit/>
          </a:bodyPr>
          <a:lstStyle/>
          <a:p>
            <a:pPr>
              <a:lnSpc>
                <a:spcPct val="80000"/>
              </a:lnSpc>
              <a:spcBef>
                <a:spcPct val="50000"/>
              </a:spcBef>
            </a:pPr>
            <a:r>
              <a:rPr lang="en-US" sz="2400" dirty="0"/>
              <a:t>Example: </a:t>
            </a:r>
            <a:r>
              <a:rPr lang="en-US" sz="2800" dirty="0"/>
              <a:t>complex</a:t>
            </a:r>
            <a:r>
              <a:rPr lang="en-US" sz="2400" dirty="0"/>
              <a:t> 2-class problem(</a:t>
            </a:r>
            <a:r>
              <a:rPr lang="en-US" sz="2400" b="1" dirty="0" err="1">
                <a:solidFill>
                  <a:schemeClr val="hlink"/>
                </a:solidFill>
              </a:rPr>
              <a:t>x</a:t>
            </a:r>
            <a:r>
              <a:rPr lang="en-US" sz="2400" dirty="0" err="1"/>
              <a:t>,</a:t>
            </a:r>
            <a:r>
              <a:rPr lang="en-US" sz="2400" b="1" dirty="0" err="1">
                <a:solidFill>
                  <a:schemeClr val="tx2"/>
                </a:solidFill>
              </a:rPr>
              <a:t>o</a:t>
            </a:r>
            <a:r>
              <a:rPr lang="en-US" sz="2400" dirty="0"/>
              <a:t>) using 2 attributes on x and y axis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sv-SE"/>
              <a:t>3-Nearest Neighbors</a:t>
            </a:r>
          </a:p>
        </p:txBody>
      </p:sp>
      <p:sp>
        <p:nvSpPr>
          <p:cNvPr id="12" name="Slide Number Placeholder 5"/>
          <p:cNvSpPr>
            <a:spLocks noGrp="1"/>
          </p:cNvSpPr>
          <p:nvPr>
            <p:ph type="sldNum" sz="quarter" idx="12"/>
          </p:nvPr>
        </p:nvSpPr>
        <p:spPr>
          <a:xfrm>
            <a:off x="10837333" y="6456636"/>
            <a:ext cx="973667" cy="274320"/>
          </a:xfrm>
        </p:spPr>
        <p:txBody>
          <a:bodyPr>
            <a:normAutofit/>
          </a:bodyPr>
          <a:lstStyle/>
          <a:p>
            <a:fld id="{791BCEEA-E45B-4EA0-A3B0-37056CAB5B8E}" type="slidenum">
              <a:rPr lang="en-US"/>
              <a:pPr/>
              <a:t>6</a:t>
            </a:fld>
            <a:endParaRPr lang="en-US"/>
          </a:p>
        </p:txBody>
      </p:sp>
      <p:pic>
        <p:nvPicPr>
          <p:cNvPr id="8196" name="Picture 4" descr="C:\Documents and Settings\hoffmann\My Documents\MachineLearning\nn3.jpg"/>
          <p:cNvPicPr>
            <a:picLocks noChangeAspect="1" noChangeArrowheads="1"/>
          </p:cNvPicPr>
          <p:nvPr/>
        </p:nvPicPr>
        <p:blipFill>
          <a:blip r:embed="rId2" cstate="print"/>
          <a:srcRect/>
          <a:stretch>
            <a:fillRect/>
          </a:stretch>
        </p:blipFill>
        <p:spPr bwMode="auto">
          <a:xfrm>
            <a:off x="5556739" y="1281333"/>
            <a:ext cx="5720862" cy="5148263"/>
          </a:xfrm>
          <a:prstGeom prst="rect">
            <a:avLst/>
          </a:prstGeom>
          <a:noFill/>
        </p:spPr>
      </p:pic>
      <p:sp>
        <p:nvSpPr>
          <p:cNvPr id="8197" name="Text Box 5"/>
          <p:cNvSpPr txBox="1">
            <a:spLocks noChangeArrowheads="1"/>
          </p:cNvSpPr>
          <p:nvPr/>
        </p:nvSpPr>
        <p:spPr bwMode="auto">
          <a:xfrm>
            <a:off x="2417835" y="2229070"/>
            <a:ext cx="1917513" cy="461665"/>
          </a:xfrm>
          <a:prstGeom prst="rect">
            <a:avLst/>
          </a:prstGeom>
          <a:noFill/>
          <a:ln w="9525">
            <a:noFill/>
            <a:miter lim="800000"/>
            <a:headEnd/>
            <a:tailEnd/>
          </a:ln>
          <a:effectLst/>
        </p:spPr>
        <p:txBody>
          <a:bodyPr wrap="none">
            <a:spAutoFit/>
          </a:bodyPr>
          <a:lstStyle/>
          <a:p>
            <a:r>
              <a:rPr lang="sv-SE" sz="2400" dirty="0"/>
              <a:t>query point q</a:t>
            </a:r>
            <a:r>
              <a:rPr lang="sv-SE" sz="2400" baseline="-25000" dirty="0"/>
              <a:t>f</a:t>
            </a:r>
            <a:endParaRPr lang="en-US" sz="2400" baseline="-25000" dirty="0"/>
          </a:p>
        </p:txBody>
      </p:sp>
      <p:sp>
        <p:nvSpPr>
          <p:cNvPr id="8198" name="Line 6"/>
          <p:cNvSpPr>
            <a:spLocks noChangeShapeType="1"/>
          </p:cNvSpPr>
          <p:nvPr/>
        </p:nvSpPr>
        <p:spPr bwMode="auto">
          <a:xfrm>
            <a:off x="4963554" y="2500532"/>
            <a:ext cx="3505200" cy="1219200"/>
          </a:xfrm>
          <a:prstGeom prst="line">
            <a:avLst/>
          </a:prstGeom>
          <a:noFill/>
          <a:ln w="38100">
            <a:solidFill>
              <a:srgbClr val="0070C0"/>
            </a:solidFill>
            <a:miter lim="800000"/>
            <a:headEnd/>
            <a:tailEnd type="triangle" w="med" len="med"/>
          </a:ln>
          <a:effectLst/>
        </p:spPr>
        <p:txBody>
          <a:bodyPr wrap="none"/>
          <a:lstStyle/>
          <a:p>
            <a:endParaRPr lang="en-US"/>
          </a:p>
        </p:txBody>
      </p:sp>
      <p:sp>
        <p:nvSpPr>
          <p:cNvPr id="8199" name="Text Box 7"/>
          <p:cNvSpPr txBox="1">
            <a:spLocks noChangeArrowheads="1"/>
          </p:cNvSpPr>
          <p:nvPr/>
        </p:nvSpPr>
        <p:spPr bwMode="auto">
          <a:xfrm>
            <a:off x="2128911" y="3414932"/>
            <a:ext cx="2614818" cy="461665"/>
          </a:xfrm>
          <a:prstGeom prst="rect">
            <a:avLst/>
          </a:prstGeom>
          <a:noFill/>
          <a:ln w="9525">
            <a:noFill/>
            <a:miter lim="800000"/>
            <a:headEnd/>
            <a:tailEnd/>
          </a:ln>
          <a:effectLst/>
        </p:spPr>
        <p:txBody>
          <a:bodyPr wrap="none">
            <a:spAutoFit/>
          </a:bodyPr>
          <a:lstStyle/>
          <a:p>
            <a:r>
              <a:rPr lang="sv-SE" sz="2400" dirty="0"/>
              <a:t>3 nearest neighbors</a:t>
            </a:r>
            <a:endParaRPr lang="en-US" sz="2400" baseline="-25000" dirty="0"/>
          </a:p>
        </p:txBody>
      </p:sp>
      <p:sp>
        <p:nvSpPr>
          <p:cNvPr id="8200" name="Line 8"/>
          <p:cNvSpPr>
            <a:spLocks noChangeShapeType="1"/>
          </p:cNvSpPr>
          <p:nvPr/>
        </p:nvSpPr>
        <p:spPr bwMode="auto">
          <a:xfrm>
            <a:off x="4262511" y="4080901"/>
            <a:ext cx="4206243" cy="389163"/>
          </a:xfrm>
          <a:prstGeom prst="line">
            <a:avLst/>
          </a:prstGeom>
          <a:noFill/>
          <a:ln w="38100">
            <a:solidFill>
              <a:schemeClr val="tx1"/>
            </a:solidFill>
            <a:miter lim="800000"/>
            <a:headEnd/>
            <a:tailEnd type="triangle" w="med" len="med"/>
          </a:ln>
          <a:effectLst/>
        </p:spPr>
        <p:txBody>
          <a:bodyPr wrap="none"/>
          <a:lstStyle/>
          <a:p>
            <a:endParaRPr lang="en-US"/>
          </a:p>
        </p:txBody>
      </p:sp>
      <p:sp>
        <p:nvSpPr>
          <p:cNvPr id="8201" name="Line 9"/>
          <p:cNvSpPr>
            <a:spLocks noChangeShapeType="1"/>
          </p:cNvSpPr>
          <p:nvPr/>
        </p:nvSpPr>
        <p:spPr bwMode="auto">
          <a:xfrm>
            <a:off x="4820945" y="3784264"/>
            <a:ext cx="3318531" cy="533400"/>
          </a:xfrm>
          <a:prstGeom prst="line">
            <a:avLst/>
          </a:prstGeom>
          <a:noFill/>
          <a:ln w="38100">
            <a:solidFill>
              <a:schemeClr val="tx1"/>
            </a:solidFill>
            <a:miter lim="800000"/>
            <a:headEnd/>
            <a:tailEnd type="triangle" w="med" len="med"/>
          </a:ln>
          <a:effectLst/>
        </p:spPr>
        <p:txBody>
          <a:bodyPr wrap="none"/>
          <a:lstStyle/>
          <a:p>
            <a:endParaRPr lang="en-US"/>
          </a:p>
        </p:txBody>
      </p:sp>
      <p:sp>
        <p:nvSpPr>
          <p:cNvPr id="8202" name="Line 10"/>
          <p:cNvSpPr>
            <a:spLocks noChangeShapeType="1"/>
          </p:cNvSpPr>
          <p:nvPr/>
        </p:nvSpPr>
        <p:spPr bwMode="auto">
          <a:xfrm>
            <a:off x="4743019" y="3516923"/>
            <a:ext cx="4472824" cy="898925"/>
          </a:xfrm>
          <a:prstGeom prst="line">
            <a:avLst/>
          </a:prstGeom>
          <a:noFill/>
          <a:ln w="38100">
            <a:solidFill>
              <a:schemeClr val="tx1"/>
            </a:solidFill>
            <a:miter lim="800000"/>
            <a:headEnd/>
            <a:tailEnd type="triangle" w="med" len="med"/>
          </a:ln>
          <a:effectLst/>
        </p:spPr>
        <p:txBody>
          <a:bodyPr wrap="none"/>
          <a:lstStyle/>
          <a:p>
            <a:endParaRPr lang="en-US"/>
          </a:p>
        </p:txBody>
      </p:sp>
      <p:sp>
        <p:nvSpPr>
          <p:cNvPr id="8203" name="Text Box 11"/>
          <p:cNvSpPr txBox="1">
            <a:spLocks noChangeArrowheads="1"/>
          </p:cNvSpPr>
          <p:nvPr/>
        </p:nvSpPr>
        <p:spPr bwMode="auto">
          <a:xfrm>
            <a:off x="3272536" y="3948332"/>
            <a:ext cx="1019831" cy="523220"/>
          </a:xfrm>
          <a:prstGeom prst="rect">
            <a:avLst/>
          </a:prstGeom>
          <a:noFill/>
          <a:ln w="9525">
            <a:noFill/>
            <a:miter lim="800000"/>
            <a:headEnd/>
            <a:tailEnd/>
          </a:ln>
          <a:effectLst/>
        </p:spPr>
        <p:txBody>
          <a:bodyPr wrap="none">
            <a:spAutoFit/>
          </a:bodyPr>
          <a:lstStyle/>
          <a:p>
            <a:r>
              <a:rPr lang="sv-SE" sz="2800" dirty="0">
                <a:solidFill>
                  <a:schemeClr val="hlink"/>
                </a:solidFill>
              </a:rPr>
              <a:t>2x</a:t>
            </a:r>
            <a:r>
              <a:rPr lang="sv-SE" sz="2800" dirty="0"/>
              <a:t>,</a:t>
            </a:r>
            <a:r>
              <a:rPr lang="sv-SE" sz="2800" dirty="0">
                <a:solidFill>
                  <a:schemeClr val="tx2"/>
                </a:solidFill>
              </a:rPr>
              <a:t>1o</a:t>
            </a:r>
            <a:endParaRPr lang="en-US" sz="2800" dirty="0">
              <a:solidFill>
                <a:schemeClr val="tx2"/>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sv-SE"/>
              <a:t>7-Nearest Neighbors</a:t>
            </a:r>
          </a:p>
        </p:txBody>
      </p:sp>
      <p:sp>
        <p:nvSpPr>
          <p:cNvPr id="9" name="Slide Number Placeholder 5"/>
          <p:cNvSpPr>
            <a:spLocks noGrp="1"/>
          </p:cNvSpPr>
          <p:nvPr>
            <p:ph type="sldNum" sz="quarter" idx="12"/>
          </p:nvPr>
        </p:nvSpPr>
        <p:spPr/>
        <p:txBody>
          <a:bodyPr>
            <a:normAutofit/>
          </a:bodyPr>
          <a:lstStyle/>
          <a:p>
            <a:fld id="{A4994773-9D9D-42BD-95B2-2D9E743D9F90}" type="slidenum">
              <a:rPr lang="en-US"/>
              <a:pPr/>
              <a:t>7</a:t>
            </a:fld>
            <a:endParaRPr lang="en-US"/>
          </a:p>
        </p:txBody>
      </p:sp>
      <p:pic>
        <p:nvPicPr>
          <p:cNvPr id="9220" name="Picture 4" descr="C:\Documents and Settings\hoffmann\My Documents\MachineLearning\nn7.jpg"/>
          <p:cNvPicPr>
            <a:picLocks noChangeAspect="1" noChangeArrowheads="1"/>
          </p:cNvPicPr>
          <p:nvPr/>
        </p:nvPicPr>
        <p:blipFill>
          <a:blip r:embed="rId2" cstate="print"/>
          <a:srcRect/>
          <a:stretch>
            <a:fillRect/>
          </a:stretch>
        </p:blipFill>
        <p:spPr bwMode="auto">
          <a:xfrm>
            <a:off x="5681002" y="1295400"/>
            <a:ext cx="5943600" cy="5449624"/>
          </a:xfrm>
          <a:prstGeom prst="rect">
            <a:avLst/>
          </a:prstGeom>
          <a:noFill/>
        </p:spPr>
      </p:pic>
      <p:sp>
        <p:nvSpPr>
          <p:cNvPr id="9221" name="Text Box 5"/>
          <p:cNvSpPr txBox="1">
            <a:spLocks noChangeArrowheads="1"/>
          </p:cNvSpPr>
          <p:nvPr/>
        </p:nvSpPr>
        <p:spPr bwMode="auto">
          <a:xfrm>
            <a:off x="3209829" y="2243138"/>
            <a:ext cx="1983382" cy="461665"/>
          </a:xfrm>
          <a:prstGeom prst="rect">
            <a:avLst/>
          </a:prstGeom>
          <a:noFill/>
          <a:ln w="9525">
            <a:noFill/>
            <a:miter lim="800000"/>
            <a:headEnd/>
            <a:tailEnd/>
          </a:ln>
          <a:effectLst/>
        </p:spPr>
        <p:txBody>
          <a:bodyPr wrap="square">
            <a:spAutoFit/>
          </a:bodyPr>
          <a:lstStyle/>
          <a:p>
            <a:r>
              <a:rPr lang="sv-SE" sz="2400"/>
              <a:t>query point q</a:t>
            </a:r>
            <a:r>
              <a:rPr lang="sv-SE" sz="2400" baseline="-25000"/>
              <a:t>f</a:t>
            </a:r>
            <a:endParaRPr lang="en-US" sz="2400" baseline="-25000"/>
          </a:p>
        </p:txBody>
      </p:sp>
      <p:sp>
        <p:nvSpPr>
          <p:cNvPr id="9222" name="Line 6"/>
          <p:cNvSpPr>
            <a:spLocks noChangeShapeType="1"/>
          </p:cNvSpPr>
          <p:nvPr/>
        </p:nvSpPr>
        <p:spPr bwMode="auto">
          <a:xfrm>
            <a:off x="5624733" y="2514600"/>
            <a:ext cx="2942492" cy="1424354"/>
          </a:xfrm>
          <a:prstGeom prst="line">
            <a:avLst/>
          </a:prstGeom>
          <a:noFill/>
          <a:ln w="38100">
            <a:solidFill>
              <a:schemeClr val="tx1"/>
            </a:solidFill>
            <a:miter lim="800000"/>
            <a:headEnd/>
            <a:tailEnd type="triangle" w="med" len="med"/>
          </a:ln>
          <a:effectLst/>
        </p:spPr>
        <p:txBody>
          <a:bodyPr wrap="none"/>
          <a:lstStyle/>
          <a:p>
            <a:endParaRPr lang="en-US"/>
          </a:p>
        </p:txBody>
      </p:sp>
      <p:sp>
        <p:nvSpPr>
          <p:cNvPr id="9223" name="Text Box 7"/>
          <p:cNvSpPr txBox="1">
            <a:spLocks noChangeArrowheads="1"/>
          </p:cNvSpPr>
          <p:nvPr/>
        </p:nvSpPr>
        <p:spPr bwMode="auto">
          <a:xfrm>
            <a:off x="2773680" y="3429000"/>
            <a:ext cx="2682240" cy="461665"/>
          </a:xfrm>
          <a:prstGeom prst="rect">
            <a:avLst/>
          </a:prstGeom>
          <a:noFill/>
          <a:ln w="9525">
            <a:noFill/>
            <a:miter lim="800000"/>
            <a:headEnd/>
            <a:tailEnd/>
          </a:ln>
          <a:effectLst/>
        </p:spPr>
        <p:txBody>
          <a:bodyPr wrap="square">
            <a:spAutoFit/>
          </a:bodyPr>
          <a:lstStyle/>
          <a:p>
            <a:r>
              <a:rPr lang="sv-SE" sz="2400"/>
              <a:t>7 nearest neighbors</a:t>
            </a:r>
            <a:endParaRPr lang="en-US" sz="2400" baseline="-25000"/>
          </a:p>
        </p:txBody>
      </p:sp>
      <p:sp>
        <p:nvSpPr>
          <p:cNvPr id="9227" name="Text Box 11"/>
          <p:cNvSpPr txBox="1">
            <a:spLocks noChangeArrowheads="1"/>
          </p:cNvSpPr>
          <p:nvPr/>
        </p:nvSpPr>
        <p:spPr bwMode="auto">
          <a:xfrm>
            <a:off x="3745471" y="3962400"/>
            <a:ext cx="962965" cy="461665"/>
          </a:xfrm>
          <a:prstGeom prst="rect">
            <a:avLst/>
          </a:prstGeom>
          <a:noFill/>
          <a:ln w="9525">
            <a:noFill/>
            <a:miter lim="800000"/>
            <a:headEnd/>
            <a:tailEnd/>
          </a:ln>
          <a:effectLst/>
        </p:spPr>
        <p:txBody>
          <a:bodyPr wrap="square">
            <a:spAutoFit/>
          </a:bodyPr>
          <a:lstStyle/>
          <a:p>
            <a:r>
              <a:rPr lang="sv-SE" sz="2400">
                <a:solidFill>
                  <a:schemeClr val="hlink"/>
                </a:solidFill>
              </a:rPr>
              <a:t>3x</a:t>
            </a:r>
            <a:r>
              <a:rPr lang="sv-SE" sz="2400"/>
              <a:t>,</a:t>
            </a:r>
            <a:r>
              <a:rPr lang="sv-SE" sz="2400">
                <a:solidFill>
                  <a:schemeClr val="tx2"/>
                </a:solidFill>
              </a:rPr>
              <a:t>4o</a:t>
            </a:r>
            <a:endParaRPr lang="en-US" sz="2400">
              <a:solidFill>
                <a:schemeClr val="tx2"/>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sv-SE"/>
              <a:t>Nearest Neighbor (continuous)</a:t>
            </a:r>
          </a:p>
        </p:txBody>
      </p:sp>
      <p:sp>
        <p:nvSpPr>
          <p:cNvPr id="6" name="Slide Number Placeholder 5"/>
          <p:cNvSpPr>
            <a:spLocks noGrp="1"/>
          </p:cNvSpPr>
          <p:nvPr>
            <p:ph type="sldNum" sz="quarter" idx="12"/>
          </p:nvPr>
        </p:nvSpPr>
        <p:spPr/>
        <p:txBody>
          <a:bodyPr>
            <a:normAutofit/>
          </a:bodyPr>
          <a:lstStyle/>
          <a:p>
            <a:fld id="{6E683ECC-3145-4CEF-8F0E-6CD8A5A845E0}" type="slidenum">
              <a:rPr lang="en-US"/>
              <a:pPr/>
              <a:t>8</a:t>
            </a:fld>
            <a:endParaRPr lang="en-US"/>
          </a:p>
        </p:txBody>
      </p:sp>
      <p:pic>
        <p:nvPicPr>
          <p:cNvPr id="10244" name="Picture 4" descr="C:\Documents and Settings\hoffmann\My Documents\MachineLearning\nnf1.jpg"/>
          <p:cNvPicPr>
            <a:picLocks noChangeAspect="1" noChangeArrowheads="1"/>
          </p:cNvPicPr>
          <p:nvPr/>
        </p:nvPicPr>
        <p:blipFill>
          <a:blip r:embed="rId2" cstate="print"/>
          <a:srcRect/>
          <a:stretch>
            <a:fillRect/>
          </a:stretch>
        </p:blipFill>
        <p:spPr bwMode="auto">
          <a:xfrm>
            <a:off x="2971800" y="1981201"/>
            <a:ext cx="6248400" cy="4691063"/>
          </a:xfrm>
          <a:prstGeom prst="rect">
            <a:avLst/>
          </a:prstGeom>
          <a:noFill/>
        </p:spPr>
      </p:pic>
      <p:sp>
        <p:nvSpPr>
          <p:cNvPr id="10245" name="Text Box 5"/>
          <p:cNvSpPr txBox="1">
            <a:spLocks noChangeArrowheads="1"/>
          </p:cNvSpPr>
          <p:nvPr/>
        </p:nvSpPr>
        <p:spPr bwMode="auto">
          <a:xfrm>
            <a:off x="3336926" y="1481138"/>
            <a:ext cx="1941557" cy="369332"/>
          </a:xfrm>
          <a:prstGeom prst="rect">
            <a:avLst/>
          </a:prstGeom>
          <a:noFill/>
          <a:ln w="9525">
            <a:noFill/>
            <a:miter lim="800000"/>
            <a:headEnd/>
            <a:tailEnd/>
          </a:ln>
          <a:effectLst/>
        </p:spPr>
        <p:txBody>
          <a:bodyPr wrap="none">
            <a:spAutoFit/>
          </a:bodyPr>
          <a:lstStyle/>
          <a:p>
            <a:r>
              <a:rPr lang="sv-SE"/>
              <a:t>1-nearest neighbor</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sv-SE"/>
              <a:t>Nearest Neighbor (continuous)</a:t>
            </a:r>
          </a:p>
        </p:txBody>
      </p:sp>
      <p:sp>
        <p:nvSpPr>
          <p:cNvPr id="6" name="Slide Number Placeholder 5"/>
          <p:cNvSpPr>
            <a:spLocks noGrp="1"/>
          </p:cNvSpPr>
          <p:nvPr>
            <p:ph type="sldNum" sz="quarter" idx="12"/>
          </p:nvPr>
        </p:nvSpPr>
        <p:spPr/>
        <p:txBody>
          <a:bodyPr>
            <a:normAutofit/>
          </a:bodyPr>
          <a:lstStyle/>
          <a:p>
            <a:fld id="{5E93EEC1-3725-4408-8FEB-5E762A309E74}" type="slidenum">
              <a:rPr lang="en-US"/>
              <a:pPr/>
              <a:t>9</a:t>
            </a:fld>
            <a:endParaRPr lang="en-US"/>
          </a:p>
        </p:txBody>
      </p:sp>
      <p:pic>
        <p:nvPicPr>
          <p:cNvPr id="11268" name="Picture 4" descr="C:\Documents and Settings\hoffmann\My Documents\MachineLearning\nnf3.jpg"/>
          <p:cNvPicPr>
            <a:picLocks noChangeAspect="1" noChangeArrowheads="1"/>
          </p:cNvPicPr>
          <p:nvPr/>
        </p:nvPicPr>
        <p:blipFill>
          <a:blip r:embed="rId2" cstate="print"/>
          <a:srcRect/>
          <a:stretch>
            <a:fillRect/>
          </a:stretch>
        </p:blipFill>
        <p:spPr bwMode="auto">
          <a:xfrm>
            <a:off x="3276600" y="1676401"/>
            <a:ext cx="6629400" cy="4976813"/>
          </a:xfrm>
          <a:prstGeom prst="rect">
            <a:avLst/>
          </a:prstGeom>
          <a:noFill/>
        </p:spPr>
      </p:pic>
      <p:sp>
        <p:nvSpPr>
          <p:cNvPr id="11269" name="Text Box 5"/>
          <p:cNvSpPr txBox="1">
            <a:spLocks noChangeArrowheads="1"/>
          </p:cNvSpPr>
          <p:nvPr/>
        </p:nvSpPr>
        <p:spPr bwMode="auto">
          <a:xfrm>
            <a:off x="3336926" y="1481138"/>
            <a:ext cx="1941557" cy="369332"/>
          </a:xfrm>
          <a:prstGeom prst="rect">
            <a:avLst/>
          </a:prstGeom>
          <a:noFill/>
          <a:ln w="9525">
            <a:noFill/>
            <a:miter lim="800000"/>
            <a:headEnd/>
            <a:tailEnd/>
          </a:ln>
          <a:effectLst/>
        </p:spPr>
        <p:txBody>
          <a:bodyPr wrap="none">
            <a:spAutoFit/>
          </a:bodyPr>
          <a:lstStyle/>
          <a:p>
            <a:r>
              <a:rPr lang="sv-SE"/>
              <a:t>3-nearest neighbor</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sv-SE"/>
              <a:t>Nearest Neighbor (continuous)</a:t>
            </a:r>
          </a:p>
        </p:txBody>
      </p:sp>
      <p:sp>
        <p:nvSpPr>
          <p:cNvPr id="6" name="Slide Number Placeholder 5"/>
          <p:cNvSpPr>
            <a:spLocks noGrp="1"/>
          </p:cNvSpPr>
          <p:nvPr>
            <p:ph type="sldNum" sz="quarter" idx="12"/>
          </p:nvPr>
        </p:nvSpPr>
        <p:spPr/>
        <p:txBody>
          <a:bodyPr>
            <a:normAutofit/>
          </a:bodyPr>
          <a:lstStyle/>
          <a:p>
            <a:fld id="{C6E9F17B-2E85-41CD-982C-B805DBB4C16A}" type="slidenum">
              <a:rPr lang="en-US"/>
              <a:pPr/>
              <a:t>10</a:t>
            </a:fld>
            <a:endParaRPr lang="en-US"/>
          </a:p>
        </p:txBody>
      </p:sp>
      <p:pic>
        <p:nvPicPr>
          <p:cNvPr id="12292" name="Picture 4" descr="C:\Documents and Settings\hoffmann\My Documents\MachineLearning\nnf5.jpg"/>
          <p:cNvPicPr>
            <a:picLocks noChangeAspect="1" noChangeArrowheads="1"/>
          </p:cNvPicPr>
          <p:nvPr/>
        </p:nvPicPr>
        <p:blipFill>
          <a:blip r:embed="rId2" cstate="print"/>
          <a:srcRect/>
          <a:stretch>
            <a:fillRect/>
          </a:stretch>
        </p:blipFill>
        <p:spPr bwMode="auto">
          <a:xfrm>
            <a:off x="2590800" y="1676401"/>
            <a:ext cx="6629400" cy="4976813"/>
          </a:xfrm>
          <a:prstGeom prst="rect">
            <a:avLst/>
          </a:prstGeom>
          <a:noFill/>
        </p:spPr>
      </p:pic>
      <p:sp>
        <p:nvSpPr>
          <p:cNvPr id="12293" name="Text Box 5"/>
          <p:cNvSpPr txBox="1">
            <a:spLocks noChangeArrowheads="1"/>
          </p:cNvSpPr>
          <p:nvPr/>
        </p:nvSpPr>
        <p:spPr bwMode="auto">
          <a:xfrm>
            <a:off x="3336926" y="1481138"/>
            <a:ext cx="1941557" cy="369332"/>
          </a:xfrm>
          <a:prstGeom prst="rect">
            <a:avLst/>
          </a:prstGeom>
          <a:noFill/>
          <a:ln w="9525">
            <a:noFill/>
            <a:miter lim="800000"/>
            <a:headEnd/>
            <a:tailEnd/>
          </a:ln>
          <a:effectLst/>
        </p:spPr>
        <p:txBody>
          <a:bodyPr wrap="none">
            <a:spAutoFit/>
          </a:bodyPr>
          <a:lstStyle/>
          <a:p>
            <a:r>
              <a:rPr lang="sv-SE"/>
              <a:t>5-nearest neighbor</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sv-SE"/>
              <a:t>Locally Weighted Regression</a:t>
            </a:r>
          </a:p>
        </p:txBody>
      </p:sp>
      <p:sp>
        <p:nvSpPr>
          <p:cNvPr id="18435" name="Rectangle 3"/>
          <p:cNvSpPr>
            <a:spLocks noGrp="1" noChangeArrowheads="1"/>
          </p:cNvSpPr>
          <p:nvPr>
            <p:ph idx="1"/>
          </p:nvPr>
        </p:nvSpPr>
        <p:spPr>
          <a:xfrm>
            <a:off x="2706688" y="2017714"/>
            <a:ext cx="7772400" cy="4383087"/>
          </a:xfrm>
        </p:spPr>
        <p:txBody>
          <a:bodyPr/>
          <a:lstStyle/>
          <a:p>
            <a:r>
              <a:rPr lang="sv-SE" sz="2800"/>
              <a:t>Regression means approximating a real-valued target function</a:t>
            </a:r>
          </a:p>
          <a:p>
            <a:r>
              <a:rPr lang="sv-SE" sz="2800"/>
              <a:t>Residual is the error</a:t>
            </a:r>
          </a:p>
          <a:p>
            <a:pPr>
              <a:buFont typeface="Wingdings" pitchFamily="2" charset="2"/>
              <a:buNone/>
            </a:pPr>
            <a:r>
              <a:rPr lang="sv-SE" sz="2800"/>
              <a:t>    in approximating the target function </a:t>
            </a:r>
          </a:p>
          <a:p>
            <a:r>
              <a:rPr lang="sv-SE" sz="2800"/>
              <a:t>Kernel function is the function of distance that is used to determine the weight of each training example. In other words, the kernel function is the function K such that w</a:t>
            </a:r>
            <a:r>
              <a:rPr lang="sv-SE" sz="2800" baseline="-25000"/>
              <a:t>i</a:t>
            </a:r>
            <a:r>
              <a:rPr lang="sv-SE" sz="2800"/>
              <a:t>=K(d(x</a:t>
            </a:r>
            <a:r>
              <a:rPr lang="sv-SE" sz="2800" baseline="-25000"/>
              <a:t>i</a:t>
            </a:r>
            <a:r>
              <a:rPr lang="sv-SE" sz="2800"/>
              <a:t>,x</a:t>
            </a:r>
            <a:r>
              <a:rPr lang="sv-SE" sz="2800" baseline="-25000"/>
              <a:t>q</a:t>
            </a:r>
            <a:r>
              <a:rPr lang="sv-SE" sz="2800"/>
              <a:t>)) </a:t>
            </a:r>
            <a:endParaRPr lang="en-US" sz="2800"/>
          </a:p>
        </p:txBody>
      </p:sp>
      <p:sp>
        <p:nvSpPr>
          <p:cNvPr id="6" name="Slide Number Placeholder 5"/>
          <p:cNvSpPr>
            <a:spLocks noGrp="1"/>
          </p:cNvSpPr>
          <p:nvPr>
            <p:ph type="sldNum" sz="quarter" idx="12"/>
          </p:nvPr>
        </p:nvSpPr>
        <p:spPr/>
        <p:txBody>
          <a:bodyPr>
            <a:normAutofit/>
          </a:bodyPr>
          <a:lstStyle/>
          <a:p>
            <a:fld id="{A90A80BC-ADAB-4346-8A8E-70020AAC76C6}" type="slidenum">
              <a:rPr lang="en-US"/>
              <a:pPr/>
              <a:t>11</a:t>
            </a:fld>
            <a:endParaRPr lang="en-US"/>
          </a:p>
        </p:txBody>
      </p:sp>
      <p:graphicFrame>
        <p:nvGraphicFramePr>
          <p:cNvPr id="18436" name="Object 4"/>
          <p:cNvGraphicFramePr>
            <a:graphicFrameLocks noChangeAspect="1"/>
          </p:cNvGraphicFramePr>
          <p:nvPr/>
        </p:nvGraphicFramePr>
        <p:xfrm>
          <a:off x="6629400" y="2743201"/>
          <a:ext cx="2362200" cy="747713"/>
        </p:xfrm>
        <a:graphic>
          <a:graphicData uri="http://schemas.openxmlformats.org/presentationml/2006/ole">
            <mc:AlternateContent xmlns:mc="http://schemas.openxmlformats.org/markup-compatibility/2006">
              <mc:Choice xmlns:v="urn:schemas-microsoft-com:vml" Requires="v">
                <p:oleObj spid="_x0000_s2086" name="Equation" r:id="rId3" imgW="761760" imgH="241200" progId="">
                  <p:embed/>
                </p:oleObj>
              </mc:Choice>
              <mc:Fallback>
                <p:oleObj name="Equation" r:id="rId3" imgW="761760" imgH="241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2743201"/>
                        <a:ext cx="2362200" cy="747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sv-SE" dirty="0"/>
              <a:t>Distance Weighted k-NN</a:t>
            </a:r>
          </a:p>
        </p:txBody>
      </p:sp>
      <p:sp>
        <p:nvSpPr>
          <p:cNvPr id="13315" name="Rectangle 3"/>
          <p:cNvSpPr>
            <a:spLocks noGrp="1" noChangeArrowheads="1"/>
          </p:cNvSpPr>
          <p:nvPr>
            <p:ph idx="1"/>
          </p:nvPr>
        </p:nvSpPr>
        <p:spPr>
          <a:xfrm>
            <a:off x="2275840" y="1828800"/>
            <a:ext cx="7782560" cy="4114800"/>
          </a:xfrm>
        </p:spPr>
        <p:txBody>
          <a:bodyPr>
            <a:normAutofit/>
          </a:bodyPr>
          <a:lstStyle/>
          <a:p>
            <a:pPr>
              <a:buFont typeface="Wingdings" pitchFamily="2" charset="2"/>
              <a:buNone/>
            </a:pPr>
            <a:r>
              <a:rPr lang="sv-SE" sz="2800" dirty="0"/>
              <a:t>Give more weight to neighbors closer to the query </a:t>
            </a:r>
            <a:r>
              <a:rPr lang="sv-SE" sz="2800" dirty="0" smtClean="0"/>
              <a:t>point than the ones which are further away</a:t>
            </a:r>
            <a:endParaRPr lang="sv-SE" sz="2800" dirty="0"/>
          </a:p>
          <a:p>
            <a:pPr>
              <a:buFont typeface="Wingdings" pitchFamily="2" charset="2"/>
              <a:buNone/>
            </a:pPr>
            <a:r>
              <a:rPr lang="sv-SE" sz="2800" dirty="0"/>
              <a:t>f(x</a:t>
            </a:r>
            <a:r>
              <a:rPr lang="sv-SE" sz="2800" baseline="-25000" dirty="0"/>
              <a:t>q</a:t>
            </a:r>
            <a:r>
              <a:rPr lang="sv-SE" sz="2800" dirty="0"/>
              <a:t>) = </a:t>
            </a:r>
            <a:r>
              <a:rPr lang="sv-SE" sz="3600" dirty="0">
                <a:sym typeface="Symbol" pitchFamily="18" charset="2"/>
              </a:rPr>
              <a:t></a:t>
            </a:r>
            <a:r>
              <a:rPr lang="sv-SE" sz="2800" dirty="0">
                <a:sym typeface="Symbol" pitchFamily="18" charset="2"/>
              </a:rPr>
              <a:t> w</a:t>
            </a:r>
            <a:r>
              <a:rPr lang="sv-SE" sz="2800" baseline="-25000" dirty="0">
                <a:sym typeface="Symbol" pitchFamily="18" charset="2"/>
              </a:rPr>
              <a:t>i</a:t>
            </a:r>
            <a:r>
              <a:rPr lang="sv-SE" sz="2800" dirty="0">
                <a:sym typeface="Symbol" pitchFamily="18" charset="2"/>
              </a:rPr>
              <a:t> f(x</a:t>
            </a:r>
            <a:r>
              <a:rPr lang="sv-SE" sz="2800" baseline="-25000" dirty="0">
                <a:sym typeface="Symbol" pitchFamily="18" charset="2"/>
              </a:rPr>
              <a:t>i</a:t>
            </a:r>
            <a:r>
              <a:rPr lang="sv-SE" sz="2800" dirty="0">
                <a:sym typeface="Symbol" pitchFamily="18" charset="2"/>
              </a:rPr>
              <a:t>) / </a:t>
            </a:r>
            <a:r>
              <a:rPr lang="sv-SE" sz="3600" dirty="0">
                <a:sym typeface="Symbol" pitchFamily="18" charset="2"/>
              </a:rPr>
              <a:t></a:t>
            </a:r>
            <a:r>
              <a:rPr lang="sv-SE" sz="2800" dirty="0">
                <a:sym typeface="Symbol" pitchFamily="18" charset="2"/>
              </a:rPr>
              <a:t>w</a:t>
            </a:r>
            <a:r>
              <a:rPr lang="sv-SE" sz="2800" baseline="-25000" dirty="0">
                <a:sym typeface="Symbol" pitchFamily="18" charset="2"/>
              </a:rPr>
              <a:t>i</a:t>
            </a:r>
          </a:p>
          <a:p>
            <a:pPr>
              <a:buFont typeface="Wingdings" pitchFamily="2" charset="2"/>
              <a:buNone/>
            </a:pPr>
            <a:endParaRPr lang="sv-SE" sz="2800" dirty="0">
              <a:sym typeface="Symbol" pitchFamily="18" charset="2"/>
            </a:endParaRPr>
          </a:p>
          <a:p>
            <a:pPr>
              <a:buFont typeface="Wingdings" pitchFamily="2" charset="2"/>
              <a:buNone/>
            </a:pPr>
            <a:r>
              <a:rPr lang="sv-SE" sz="2800" dirty="0">
                <a:sym typeface="Symbol" pitchFamily="18" charset="2"/>
              </a:rPr>
              <a:t>where w</a:t>
            </a:r>
            <a:r>
              <a:rPr lang="sv-SE" sz="2800" baseline="-25000" dirty="0">
                <a:sym typeface="Symbol" pitchFamily="18" charset="2"/>
              </a:rPr>
              <a:t>i</a:t>
            </a:r>
            <a:r>
              <a:rPr lang="sv-SE" sz="2800" dirty="0">
                <a:sym typeface="Symbol" pitchFamily="18" charset="2"/>
              </a:rPr>
              <a:t>=K(d(x</a:t>
            </a:r>
            <a:r>
              <a:rPr lang="sv-SE" sz="2800" baseline="-25000" dirty="0">
                <a:sym typeface="Symbol" pitchFamily="18" charset="2"/>
              </a:rPr>
              <a:t>q</a:t>
            </a:r>
            <a:r>
              <a:rPr lang="sv-SE" sz="2800" dirty="0">
                <a:sym typeface="Symbol" pitchFamily="18" charset="2"/>
              </a:rPr>
              <a:t>,x</a:t>
            </a:r>
            <a:r>
              <a:rPr lang="sv-SE" sz="2800" baseline="-25000" dirty="0">
                <a:sym typeface="Symbol" pitchFamily="18" charset="2"/>
              </a:rPr>
              <a:t>i</a:t>
            </a:r>
            <a:r>
              <a:rPr lang="sv-SE" sz="2800" dirty="0">
                <a:sym typeface="Symbol" pitchFamily="18" charset="2"/>
              </a:rPr>
              <a:t>))</a:t>
            </a:r>
            <a:endParaRPr lang="sv-SE" sz="2800" baseline="30000" dirty="0">
              <a:sym typeface="Symbol" pitchFamily="18" charset="2"/>
            </a:endParaRPr>
          </a:p>
          <a:p>
            <a:pPr>
              <a:buFont typeface="Wingdings" pitchFamily="2" charset="2"/>
              <a:buNone/>
            </a:pPr>
            <a:r>
              <a:rPr lang="sv-SE" sz="2800" dirty="0">
                <a:sym typeface="Symbol" pitchFamily="18" charset="2"/>
              </a:rPr>
              <a:t>and d(x</a:t>
            </a:r>
            <a:r>
              <a:rPr lang="sv-SE" sz="2800" baseline="-25000" dirty="0">
                <a:sym typeface="Symbol" pitchFamily="18" charset="2"/>
              </a:rPr>
              <a:t>q</a:t>
            </a:r>
            <a:r>
              <a:rPr lang="sv-SE" sz="2800" dirty="0">
                <a:sym typeface="Symbol" pitchFamily="18" charset="2"/>
              </a:rPr>
              <a:t>,x</a:t>
            </a:r>
            <a:r>
              <a:rPr lang="sv-SE" sz="2800" baseline="-25000" dirty="0">
                <a:sym typeface="Symbol" pitchFamily="18" charset="2"/>
              </a:rPr>
              <a:t>i</a:t>
            </a:r>
            <a:r>
              <a:rPr lang="sv-SE" sz="2800" dirty="0">
                <a:sym typeface="Symbol" pitchFamily="18" charset="2"/>
              </a:rPr>
              <a:t>) is the distance between x</a:t>
            </a:r>
            <a:r>
              <a:rPr lang="sv-SE" sz="2800" baseline="-25000" dirty="0">
                <a:sym typeface="Symbol" pitchFamily="18" charset="2"/>
              </a:rPr>
              <a:t>q</a:t>
            </a:r>
            <a:r>
              <a:rPr lang="sv-SE" sz="2800" dirty="0">
                <a:sym typeface="Symbol" pitchFamily="18" charset="2"/>
              </a:rPr>
              <a:t> and x</a:t>
            </a:r>
            <a:r>
              <a:rPr lang="sv-SE" sz="2800" baseline="-25000" dirty="0">
                <a:sym typeface="Symbol" pitchFamily="18" charset="2"/>
              </a:rPr>
              <a:t>i</a:t>
            </a:r>
            <a:endParaRPr lang="sv-SE" sz="2800" dirty="0">
              <a:sym typeface="Symbol" pitchFamily="18" charset="2"/>
            </a:endParaRPr>
          </a:p>
          <a:p>
            <a:pPr>
              <a:buFont typeface="Wingdings" pitchFamily="2" charset="2"/>
              <a:buNone/>
            </a:pPr>
            <a:r>
              <a:rPr lang="sv-SE" sz="2800" dirty="0">
                <a:sym typeface="Symbol" pitchFamily="18" charset="2"/>
              </a:rPr>
              <a:t>Instead of only k-nearest neighbors use all training examples (Shepard’s method) </a:t>
            </a:r>
            <a:endParaRPr lang="en-US" sz="2800" dirty="0">
              <a:sym typeface="Symbol" pitchFamily="18" charset="2"/>
            </a:endParaRPr>
          </a:p>
        </p:txBody>
      </p:sp>
      <p:sp>
        <p:nvSpPr>
          <p:cNvPr id="10" name="Slide Number Placeholder 5"/>
          <p:cNvSpPr>
            <a:spLocks noGrp="1"/>
          </p:cNvSpPr>
          <p:nvPr>
            <p:ph type="sldNum" sz="quarter" idx="12"/>
          </p:nvPr>
        </p:nvSpPr>
        <p:spPr/>
        <p:txBody>
          <a:bodyPr>
            <a:normAutofit/>
          </a:bodyPr>
          <a:lstStyle/>
          <a:p>
            <a:fld id="{B4DBB9BD-AC8F-4857-8185-88A61B4E4EFC}" type="slidenum">
              <a:rPr lang="en-US"/>
              <a:pPr/>
              <a:t>12</a:t>
            </a:fld>
            <a:endParaRPr lang="en-US"/>
          </a:p>
        </p:txBody>
      </p:sp>
      <p:sp>
        <p:nvSpPr>
          <p:cNvPr id="13316" name="Rectangle 4"/>
          <p:cNvSpPr>
            <a:spLocks noChangeArrowheads="1"/>
          </p:cNvSpPr>
          <p:nvPr/>
        </p:nvSpPr>
        <p:spPr bwMode="auto">
          <a:xfrm>
            <a:off x="3050223" y="3068320"/>
            <a:ext cx="990600" cy="381000"/>
          </a:xfrm>
          <a:prstGeom prst="rect">
            <a:avLst/>
          </a:prstGeom>
          <a:noFill/>
          <a:ln w="9525">
            <a:noFill/>
            <a:miter lim="800000"/>
            <a:headEnd/>
            <a:tailEnd/>
          </a:ln>
          <a:effectLst/>
        </p:spPr>
        <p:txBody>
          <a:bodyPr wrap="none" anchor="ctr"/>
          <a:lstStyle/>
          <a:p>
            <a:pPr algn="ctr"/>
            <a:r>
              <a:rPr lang="sv-SE" dirty="0">
                <a:sym typeface="Symbol" pitchFamily="18" charset="2"/>
              </a:rPr>
              <a:t>i=1</a:t>
            </a:r>
            <a:endParaRPr lang="en-US" dirty="0">
              <a:sym typeface="Symbol" pitchFamily="18" charset="2"/>
            </a:endParaRPr>
          </a:p>
        </p:txBody>
      </p:sp>
      <p:sp>
        <p:nvSpPr>
          <p:cNvPr id="13317" name="Rectangle 5"/>
          <p:cNvSpPr>
            <a:spLocks noChangeArrowheads="1"/>
          </p:cNvSpPr>
          <p:nvPr/>
        </p:nvSpPr>
        <p:spPr bwMode="auto">
          <a:xfrm>
            <a:off x="3329940" y="2468563"/>
            <a:ext cx="381000" cy="381000"/>
          </a:xfrm>
          <a:prstGeom prst="rect">
            <a:avLst/>
          </a:prstGeom>
          <a:noFill/>
          <a:ln w="9525">
            <a:noFill/>
            <a:miter lim="800000"/>
            <a:headEnd/>
            <a:tailEnd/>
          </a:ln>
          <a:effectLst/>
        </p:spPr>
        <p:txBody>
          <a:bodyPr wrap="none" anchor="ctr"/>
          <a:lstStyle/>
          <a:p>
            <a:pPr algn="ctr"/>
            <a:r>
              <a:rPr lang="sv-SE" dirty="0">
                <a:sym typeface="Symbol" pitchFamily="18" charset="2"/>
              </a:rPr>
              <a:t>k</a:t>
            </a:r>
            <a:endParaRPr lang="en-US" dirty="0">
              <a:sym typeface="Symbol" pitchFamily="18" charset="2"/>
            </a:endParaRPr>
          </a:p>
        </p:txBody>
      </p:sp>
      <p:sp>
        <p:nvSpPr>
          <p:cNvPr id="13318" name="Rectangle 6"/>
          <p:cNvSpPr>
            <a:spLocks noChangeArrowheads="1"/>
          </p:cNvSpPr>
          <p:nvPr/>
        </p:nvSpPr>
        <p:spPr bwMode="auto">
          <a:xfrm>
            <a:off x="1892935" y="2623503"/>
            <a:ext cx="990600" cy="381000"/>
          </a:xfrm>
          <a:prstGeom prst="rect">
            <a:avLst/>
          </a:prstGeom>
          <a:noFill/>
          <a:ln w="9525">
            <a:noFill/>
            <a:miter lim="800000"/>
            <a:headEnd/>
            <a:tailEnd/>
          </a:ln>
          <a:effectLst/>
        </p:spPr>
        <p:txBody>
          <a:bodyPr wrap="none" anchor="ctr"/>
          <a:lstStyle/>
          <a:p>
            <a:pPr algn="ctr"/>
            <a:r>
              <a:rPr lang="sv-SE" dirty="0">
                <a:sym typeface="Symbol" pitchFamily="18" charset="2"/>
              </a:rPr>
              <a:t>^</a:t>
            </a:r>
            <a:endParaRPr lang="en-US" dirty="0">
              <a:sym typeface="Symbol" pitchFamily="18" charset="2"/>
            </a:endParaRPr>
          </a:p>
        </p:txBody>
      </p:sp>
      <p:sp>
        <p:nvSpPr>
          <p:cNvPr id="13319" name="Rectangle 7"/>
          <p:cNvSpPr>
            <a:spLocks noChangeArrowheads="1"/>
          </p:cNvSpPr>
          <p:nvPr/>
        </p:nvSpPr>
        <p:spPr bwMode="auto">
          <a:xfrm>
            <a:off x="4716145" y="3018790"/>
            <a:ext cx="990600" cy="381000"/>
          </a:xfrm>
          <a:prstGeom prst="rect">
            <a:avLst/>
          </a:prstGeom>
          <a:noFill/>
          <a:ln w="9525">
            <a:noFill/>
            <a:miter lim="800000"/>
            <a:headEnd/>
            <a:tailEnd/>
          </a:ln>
          <a:effectLst/>
        </p:spPr>
        <p:txBody>
          <a:bodyPr wrap="none" anchor="ctr"/>
          <a:lstStyle/>
          <a:p>
            <a:pPr algn="ctr"/>
            <a:r>
              <a:rPr lang="sv-SE" dirty="0">
                <a:sym typeface="Symbol" pitchFamily="18" charset="2"/>
              </a:rPr>
              <a:t>i=1</a:t>
            </a:r>
            <a:endParaRPr lang="en-US" dirty="0">
              <a:sym typeface="Symbol" pitchFamily="18" charset="2"/>
            </a:endParaRPr>
          </a:p>
        </p:txBody>
      </p:sp>
      <p:sp>
        <p:nvSpPr>
          <p:cNvPr id="13320" name="Rectangle 8"/>
          <p:cNvSpPr>
            <a:spLocks noChangeArrowheads="1"/>
          </p:cNvSpPr>
          <p:nvPr/>
        </p:nvSpPr>
        <p:spPr bwMode="auto">
          <a:xfrm>
            <a:off x="4985703" y="2459673"/>
            <a:ext cx="381000" cy="381000"/>
          </a:xfrm>
          <a:prstGeom prst="rect">
            <a:avLst/>
          </a:prstGeom>
          <a:noFill/>
          <a:ln w="9525">
            <a:noFill/>
            <a:miter lim="800000"/>
            <a:headEnd/>
            <a:tailEnd/>
          </a:ln>
          <a:effectLst/>
        </p:spPr>
        <p:txBody>
          <a:bodyPr wrap="none" anchor="ctr"/>
          <a:lstStyle/>
          <a:p>
            <a:pPr algn="ctr"/>
            <a:r>
              <a:rPr lang="sv-SE" dirty="0">
                <a:sym typeface="Symbol" pitchFamily="18" charset="2"/>
              </a:rPr>
              <a:t>k</a:t>
            </a:r>
            <a:endParaRPr lang="en-US" dirty="0">
              <a:sym typeface="Symbol" pitchFamily="18" charset="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p:txBody>
          <a:bodyPr/>
          <a:lstStyle/>
          <a:p>
            <a:r>
              <a:rPr lang="sv-SE"/>
              <a:t>Distance Weighted Average</a:t>
            </a:r>
          </a:p>
        </p:txBody>
      </p:sp>
      <p:sp>
        <p:nvSpPr>
          <p:cNvPr id="20483" name="Rectangle 1027"/>
          <p:cNvSpPr>
            <a:spLocks noGrp="1" noChangeArrowheads="1"/>
          </p:cNvSpPr>
          <p:nvPr>
            <p:ph idx="1"/>
          </p:nvPr>
        </p:nvSpPr>
        <p:spPr>
          <a:xfrm>
            <a:off x="1828800" y="1676400"/>
            <a:ext cx="8229600" cy="5181600"/>
          </a:xfrm>
        </p:spPr>
        <p:txBody>
          <a:bodyPr/>
          <a:lstStyle/>
          <a:p>
            <a:r>
              <a:rPr lang="sv-SE" sz="2800" dirty="0"/>
              <a:t>Weighting the data:</a:t>
            </a:r>
          </a:p>
          <a:p>
            <a:pPr lvl="1">
              <a:buFont typeface="Wingdings" pitchFamily="2" charset="2"/>
              <a:buNone/>
            </a:pPr>
            <a:r>
              <a:rPr lang="sv-SE" dirty="0"/>
              <a:t> f(x</a:t>
            </a:r>
            <a:r>
              <a:rPr lang="sv-SE" baseline="-25000" dirty="0"/>
              <a:t>q</a:t>
            </a:r>
            <a:r>
              <a:rPr lang="sv-SE" dirty="0"/>
              <a:t>) = </a:t>
            </a:r>
            <a:r>
              <a:rPr lang="sv-SE" sz="3600" dirty="0">
                <a:sym typeface="Symbol" pitchFamily="18" charset="2"/>
              </a:rPr>
              <a:t></a:t>
            </a:r>
            <a:r>
              <a:rPr lang="sv-SE" dirty="0">
                <a:sym typeface="Symbol" pitchFamily="18" charset="2"/>
              </a:rPr>
              <a:t> f(x</a:t>
            </a:r>
            <a:r>
              <a:rPr lang="sv-SE" baseline="-25000" dirty="0">
                <a:sym typeface="Symbol" pitchFamily="18" charset="2"/>
              </a:rPr>
              <a:t>i</a:t>
            </a:r>
            <a:r>
              <a:rPr lang="sv-SE" dirty="0">
                <a:sym typeface="Symbol" pitchFamily="18" charset="2"/>
              </a:rPr>
              <a:t>) K(d(x</a:t>
            </a:r>
            <a:r>
              <a:rPr lang="sv-SE" baseline="-25000" dirty="0">
                <a:sym typeface="Symbol" pitchFamily="18" charset="2"/>
              </a:rPr>
              <a:t>i</a:t>
            </a:r>
            <a:r>
              <a:rPr lang="sv-SE" dirty="0">
                <a:sym typeface="Symbol" pitchFamily="18" charset="2"/>
              </a:rPr>
              <a:t>,xq))/ </a:t>
            </a:r>
            <a:r>
              <a:rPr lang="sv-SE" sz="3600" dirty="0">
                <a:sym typeface="Symbol" pitchFamily="18" charset="2"/>
              </a:rPr>
              <a:t></a:t>
            </a:r>
            <a:r>
              <a:rPr lang="sv-SE" dirty="0">
                <a:sym typeface="Symbol" pitchFamily="18" charset="2"/>
              </a:rPr>
              <a:t> K(d(x</a:t>
            </a:r>
            <a:r>
              <a:rPr lang="sv-SE" baseline="-25000" dirty="0">
                <a:sym typeface="Symbol" pitchFamily="18" charset="2"/>
              </a:rPr>
              <a:t>i</a:t>
            </a:r>
            <a:r>
              <a:rPr lang="sv-SE" dirty="0">
                <a:sym typeface="Symbol" pitchFamily="18" charset="2"/>
              </a:rPr>
              <a:t>,x</a:t>
            </a:r>
            <a:r>
              <a:rPr lang="sv-SE" baseline="-25000" dirty="0">
                <a:sym typeface="Symbol" pitchFamily="18" charset="2"/>
              </a:rPr>
              <a:t>q</a:t>
            </a:r>
            <a:r>
              <a:rPr lang="sv-SE" dirty="0">
                <a:sym typeface="Symbol" pitchFamily="18" charset="2"/>
              </a:rPr>
              <a:t>))</a:t>
            </a:r>
          </a:p>
          <a:p>
            <a:pPr lvl="1">
              <a:buFont typeface="Wingdings" pitchFamily="2" charset="2"/>
              <a:buNone/>
            </a:pPr>
            <a:r>
              <a:rPr lang="sv-SE" dirty="0">
                <a:sym typeface="Symbol" pitchFamily="18" charset="2"/>
              </a:rPr>
              <a:t>Relevance of a data point (x</a:t>
            </a:r>
            <a:r>
              <a:rPr lang="sv-SE" baseline="-25000" dirty="0">
                <a:sym typeface="Symbol" pitchFamily="18" charset="2"/>
              </a:rPr>
              <a:t>i</a:t>
            </a:r>
            <a:r>
              <a:rPr lang="sv-SE" dirty="0">
                <a:sym typeface="Symbol" pitchFamily="18" charset="2"/>
              </a:rPr>
              <a:t>,f(x</a:t>
            </a:r>
            <a:r>
              <a:rPr lang="sv-SE" baseline="-25000" dirty="0">
                <a:sym typeface="Symbol" pitchFamily="18" charset="2"/>
              </a:rPr>
              <a:t>i</a:t>
            </a:r>
            <a:r>
              <a:rPr lang="sv-SE" dirty="0">
                <a:sym typeface="Symbol" pitchFamily="18" charset="2"/>
              </a:rPr>
              <a:t>)) is measured by calculating the distance d(x</a:t>
            </a:r>
            <a:r>
              <a:rPr lang="sv-SE" baseline="-25000" dirty="0">
                <a:sym typeface="Symbol" pitchFamily="18" charset="2"/>
              </a:rPr>
              <a:t>i</a:t>
            </a:r>
            <a:r>
              <a:rPr lang="sv-SE" dirty="0">
                <a:sym typeface="Symbol" pitchFamily="18" charset="2"/>
              </a:rPr>
              <a:t>,x</a:t>
            </a:r>
            <a:r>
              <a:rPr lang="sv-SE" baseline="-25000" dirty="0">
                <a:sym typeface="Symbol" pitchFamily="18" charset="2"/>
              </a:rPr>
              <a:t>q</a:t>
            </a:r>
            <a:r>
              <a:rPr lang="sv-SE" dirty="0">
                <a:sym typeface="Symbol" pitchFamily="18" charset="2"/>
              </a:rPr>
              <a:t>) between the query x</a:t>
            </a:r>
            <a:r>
              <a:rPr lang="sv-SE" baseline="-25000" dirty="0">
                <a:sym typeface="Symbol" pitchFamily="18" charset="2"/>
              </a:rPr>
              <a:t>q</a:t>
            </a:r>
            <a:r>
              <a:rPr lang="sv-SE" dirty="0">
                <a:sym typeface="Symbol" pitchFamily="18" charset="2"/>
              </a:rPr>
              <a:t> and the input vector x</a:t>
            </a:r>
            <a:r>
              <a:rPr lang="sv-SE" baseline="-25000" dirty="0">
                <a:sym typeface="Symbol" pitchFamily="18" charset="2"/>
              </a:rPr>
              <a:t>i</a:t>
            </a:r>
          </a:p>
          <a:p>
            <a:r>
              <a:rPr lang="sv-SE" sz="2800" dirty="0">
                <a:sym typeface="Symbol" pitchFamily="18" charset="2"/>
              </a:rPr>
              <a:t>Weighting the error criterion:</a:t>
            </a:r>
          </a:p>
          <a:p>
            <a:pPr>
              <a:buFont typeface="Wingdings" pitchFamily="2" charset="2"/>
              <a:buNone/>
            </a:pPr>
            <a:r>
              <a:rPr lang="sv-SE" sz="2800" dirty="0">
                <a:sym typeface="Symbol" pitchFamily="18" charset="2"/>
              </a:rPr>
              <a:t> 	E(x</a:t>
            </a:r>
            <a:r>
              <a:rPr lang="sv-SE" sz="2800" baseline="-25000" dirty="0">
                <a:sym typeface="Symbol" pitchFamily="18" charset="2"/>
              </a:rPr>
              <a:t>q</a:t>
            </a:r>
            <a:r>
              <a:rPr lang="sv-SE" sz="2800" dirty="0">
                <a:sym typeface="Symbol" pitchFamily="18" charset="2"/>
              </a:rPr>
              <a:t>) = </a:t>
            </a:r>
            <a:r>
              <a:rPr lang="sv-SE" sz="3600" dirty="0">
                <a:sym typeface="Symbol" pitchFamily="18" charset="2"/>
              </a:rPr>
              <a:t></a:t>
            </a:r>
            <a:r>
              <a:rPr lang="sv-SE" sz="2800" baseline="-25000" dirty="0">
                <a:sym typeface="Symbol" pitchFamily="18" charset="2"/>
              </a:rPr>
              <a:t>i</a:t>
            </a:r>
            <a:r>
              <a:rPr lang="sv-SE" sz="2800" dirty="0">
                <a:sym typeface="Symbol" pitchFamily="18" charset="2"/>
              </a:rPr>
              <a:t> (f(x</a:t>
            </a:r>
            <a:r>
              <a:rPr lang="sv-SE" sz="2800" baseline="-25000" dirty="0">
                <a:sym typeface="Symbol" pitchFamily="18" charset="2"/>
              </a:rPr>
              <a:t>q</a:t>
            </a:r>
            <a:r>
              <a:rPr lang="sv-SE" sz="2800" dirty="0">
                <a:sym typeface="Symbol" pitchFamily="18" charset="2"/>
              </a:rPr>
              <a:t>)-f(x</a:t>
            </a:r>
            <a:r>
              <a:rPr lang="sv-SE" sz="2800" baseline="-25000" dirty="0">
                <a:sym typeface="Symbol" pitchFamily="18" charset="2"/>
              </a:rPr>
              <a:t>i</a:t>
            </a:r>
            <a:r>
              <a:rPr lang="sv-SE" sz="2800" dirty="0">
                <a:sym typeface="Symbol" pitchFamily="18" charset="2"/>
              </a:rPr>
              <a:t>))</a:t>
            </a:r>
            <a:r>
              <a:rPr lang="sv-SE" sz="2800" baseline="30000" dirty="0">
                <a:sym typeface="Symbol" pitchFamily="18" charset="2"/>
              </a:rPr>
              <a:t>2</a:t>
            </a:r>
            <a:r>
              <a:rPr lang="sv-SE" sz="2800" dirty="0">
                <a:sym typeface="Symbol" pitchFamily="18" charset="2"/>
              </a:rPr>
              <a:t> K(d(x</a:t>
            </a:r>
            <a:r>
              <a:rPr lang="sv-SE" sz="2800" baseline="-25000" dirty="0">
                <a:sym typeface="Symbol" pitchFamily="18" charset="2"/>
              </a:rPr>
              <a:t>i</a:t>
            </a:r>
            <a:r>
              <a:rPr lang="sv-SE" sz="2800" dirty="0">
                <a:sym typeface="Symbol" pitchFamily="18" charset="2"/>
              </a:rPr>
              <a:t>,xq)) </a:t>
            </a:r>
          </a:p>
          <a:p>
            <a:pPr>
              <a:buFont typeface="Wingdings" pitchFamily="2" charset="2"/>
              <a:buNone/>
            </a:pPr>
            <a:r>
              <a:rPr lang="sv-SE" sz="2800" dirty="0">
                <a:sym typeface="Symbol" pitchFamily="18" charset="2"/>
              </a:rPr>
              <a:t>   the best estimate f(x</a:t>
            </a:r>
            <a:r>
              <a:rPr lang="sv-SE" sz="2800" baseline="-25000" dirty="0">
                <a:sym typeface="Symbol" pitchFamily="18" charset="2"/>
              </a:rPr>
              <a:t>q</a:t>
            </a:r>
            <a:r>
              <a:rPr lang="sv-SE" sz="2800" dirty="0">
                <a:sym typeface="Symbol" pitchFamily="18" charset="2"/>
              </a:rPr>
              <a:t>) will minimize the cost E(q), therefore E(q)/f(x</a:t>
            </a:r>
            <a:r>
              <a:rPr lang="sv-SE" sz="2800" baseline="-25000" dirty="0">
                <a:sym typeface="Symbol" pitchFamily="18" charset="2"/>
              </a:rPr>
              <a:t>q</a:t>
            </a:r>
            <a:r>
              <a:rPr lang="sv-SE" sz="2800" dirty="0">
                <a:sym typeface="Symbol" pitchFamily="18" charset="2"/>
              </a:rPr>
              <a:t>)=0</a:t>
            </a:r>
            <a:endParaRPr lang="en-US" sz="2800" dirty="0">
              <a:sym typeface="Symbol" pitchFamily="18" charset="2"/>
            </a:endParaRPr>
          </a:p>
        </p:txBody>
      </p:sp>
      <p:sp>
        <p:nvSpPr>
          <p:cNvPr id="10" name="Slide Number Placeholder 5"/>
          <p:cNvSpPr>
            <a:spLocks noGrp="1"/>
          </p:cNvSpPr>
          <p:nvPr>
            <p:ph type="sldNum" sz="quarter" idx="12"/>
          </p:nvPr>
        </p:nvSpPr>
        <p:spPr/>
        <p:txBody>
          <a:bodyPr>
            <a:normAutofit/>
          </a:bodyPr>
          <a:lstStyle/>
          <a:p>
            <a:fld id="{09607FCD-3631-4274-9EF4-C896AA90E767}" type="slidenum">
              <a:rPr lang="en-US"/>
              <a:pPr/>
              <a:t>13</a:t>
            </a:fld>
            <a:endParaRPr lang="en-US"/>
          </a:p>
        </p:txBody>
      </p:sp>
      <p:sp>
        <p:nvSpPr>
          <p:cNvPr id="20484" name="Rectangle 1028"/>
          <p:cNvSpPr>
            <a:spLocks noChangeArrowheads="1"/>
          </p:cNvSpPr>
          <p:nvPr/>
        </p:nvSpPr>
        <p:spPr bwMode="auto">
          <a:xfrm>
            <a:off x="3733800" y="2667000"/>
            <a:ext cx="381000" cy="381000"/>
          </a:xfrm>
          <a:prstGeom prst="rect">
            <a:avLst/>
          </a:prstGeom>
          <a:noFill/>
          <a:ln w="9525">
            <a:noFill/>
            <a:miter lim="800000"/>
            <a:headEnd/>
            <a:tailEnd/>
          </a:ln>
          <a:effectLst/>
        </p:spPr>
        <p:txBody>
          <a:bodyPr wrap="none" anchor="ctr"/>
          <a:lstStyle/>
          <a:p>
            <a:pPr algn="ctr"/>
            <a:r>
              <a:rPr lang="sv-SE" b="1">
                <a:sym typeface="Symbol" pitchFamily="18" charset="2"/>
              </a:rPr>
              <a:t>i</a:t>
            </a:r>
            <a:endParaRPr lang="en-US" b="1">
              <a:sym typeface="Symbol" pitchFamily="18" charset="2"/>
            </a:endParaRPr>
          </a:p>
        </p:txBody>
      </p:sp>
      <p:sp>
        <p:nvSpPr>
          <p:cNvPr id="20485" name="Rectangle 1029"/>
          <p:cNvSpPr>
            <a:spLocks noChangeArrowheads="1"/>
          </p:cNvSpPr>
          <p:nvPr/>
        </p:nvSpPr>
        <p:spPr bwMode="auto">
          <a:xfrm>
            <a:off x="6705600" y="2667000"/>
            <a:ext cx="381000" cy="381000"/>
          </a:xfrm>
          <a:prstGeom prst="rect">
            <a:avLst/>
          </a:prstGeom>
          <a:noFill/>
          <a:ln w="9525">
            <a:noFill/>
            <a:miter lim="800000"/>
            <a:headEnd/>
            <a:tailEnd/>
          </a:ln>
          <a:effectLst/>
        </p:spPr>
        <p:txBody>
          <a:bodyPr wrap="none" anchor="ctr"/>
          <a:lstStyle/>
          <a:p>
            <a:pPr algn="ctr"/>
            <a:r>
              <a:rPr lang="sv-SE" b="1">
                <a:sym typeface="Symbol" pitchFamily="18" charset="2"/>
              </a:rPr>
              <a:t>i</a:t>
            </a:r>
            <a:endParaRPr lang="en-US" b="1">
              <a:sym typeface="Symbol" pitchFamily="18" charset="2"/>
            </a:endParaRPr>
          </a:p>
        </p:txBody>
      </p:sp>
      <p:sp>
        <p:nvSpPr>
          <p:cNvPr id="20486" name="Rectangle 1030"/>
          <p:cNvSpPr>
            <a:spLocks noChangeArrowheads="1"/>
          </p:cNvSpPr>
          <p:nvPr/>
        </p:nvSpPr>
        <p:spPr bwMode="auto">
          <a:xfrm>
            <a:off x="3983666" y="4575544"/>
            <a:ext cx="381000" cy="381000"/>
          </a:xfrm>
          <a:prstGeom prst="rect">
            <a:avLst/>
          </a:prstGeom>
          <a:noFill/>
          <a:ln w="9525">
            <a:noFill/>
            <a:miter lim="800000"/>
            <a:headEnd/>
            <a:tailEnd/>
          </a:ln>
          <a:effectLst/>
        </p:spPr>
        <p:txBody>
          <a:bodyPr wrap="none" anchor="ctr"/>
          <a:lstStyle/>
          <a:p>
            <a:pPr algn="ctr"/>
            <a:r>
              <a:rPr lang="sv-SE" b="1" dirty="0">
                <a:sym typeface="Symbol" pitchFamily="18" charset="2"/>
              </a:rPr>
              <a:t>^</a:t>
            </a:r>
            <a:endParaRPr lang="en-US" b="1" dirty="0">
              <a:sym typeface="Symbol" pitchFamily="18" charset="2"/>
            </a:endParaRPr>
          </a:p>
        </p:txBody>
      </p:sp>
      <p:sp>
        <p:nvSpPr>
          <p:cNvPr id="20487" name="Rectangle 1031"/>
          <p:cNvSpPr>
            <a:spLocks noChangeArrowheads="1"/>
          </p:cNvSpPr>
          <p:nvPr/>
        </p:nvSpPr>
        <p:spPr bwMode="auto">
          <a:xfrm>
            <a:off x="4981575" y="5286375"/>
            <a:ext cx="381000" cy="381000"/>
          </a:xfrm>
          <a:prstGeom prst="rect">
            <a:avLst/>
          </a:prstGeom>
          <a:noFill/>
          <a:ln w="9525">
            <a:noFill/>
            <a:miter lim="800000"/>
            <a:headEnd/>
            <a:tailEnd/>
          </a:ln>
          <a:effectLst/>
        </p:spPr>
        <p:txBody>
          <a:bodyPr wrap="none" anchor="ctr"/>
          <a:lstStyle/>
          <a:p>
            <a:pPr algn="ctr"/>
            <a:r>
              <a:rPr lang="sv-SE" b="1">
                <a:sym typeface="Symbol" pitchFamily="18" charset="2"/>
              </a:rPr>
              <a:t>^</a:t>
            </a:r>
            <a:endParaRPr lang="en-US" b="1">
              <a:sym typeface="Symbol" pitchFamily="18" charset="2"/>
            </a:endParaRPr>
          </a:p>
        </p:txBody>
      </p:sp>
      <p:sp>
        <p:nvSpPr>
          <p:cNvPr id="20488" name="Rectangle 1032"/>
          <p:cNvSpPr>
            <a:spLocks noChangeArrowheads="1"/>
          </p:cNvSpPr>
          <p:nvPr/>
        </p:nvSpPr>
        <p:spPr bwMode="auto">
          <a:xfrm>
            <a:off x="5757863" y="5715000"/>
            <a:ext cx="381000" cy="381000"/>
          </a:xfrm>
          <a:prstGeom prst="rect">
            <a:avLst/>
          </a:prstGeom>
          <a:noFill/>
          <a:ln w="9525">
            <a:noFill/>
            <a:miter lim="800000"/>
            <a:headEnd/>
            <a:tailEnd/>
          </a:ln>
          <a:effectLst/>
        </p:spPr>
        <p:txBody>
          <a:bodyPr wrap="none" anchor="ctr"/>
          <a:lstStyle/>
          <a:p>
            <a:pPr algn="ctr"/>
            <a:r>
              <a:rPr lang="sv-SE" b="1" dirty="0">
                <a:sym typeface="Symbol" pitchFamily="18" charset="2"/>
              </a:rPr>
              <a:t>^</a:t>
            </a:r>
            <a:endParaRPr lang="en-US" b="1" dirty="0">
              <a:sym typeface="Symbol" pitchFamily="18" charset="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24128" y="463296"/>
            <a:ext cx="9720072" cy="1345184"/>
          </a:xfrm>
        </p:spPr>
        <p:txBody>
          <a:bodyPr>
            <a:normAutofit/>
          </a:bodyPr>
          <a:lstStyle/>
          <a:p>
            <a:r>
              <a:rPr lang="sv-SE" dirty="0"/>
              <a:t>When to Consider Nearest Neighbors</a:t>
            </a:r>
            <a:endParaRPr lang="en-US" dirty="0"/>
          </a:p>
        </p:txBody>
      </p:sp>
      <p:sp>
        <p:nvSpPr>
          <p:cNvPr id="6147" name="Rectangle 3"/>
          <p:cNvSpPr>
            <a:spLocks noGrp="1" noChangeArrowheads="1"/>
          </p:cNvSpPr>
          <p:nvPr>
            <p:ph idx="1"/>
          </p:nvPr>
        </p:nvSpPr>
        <p:spPr>
          <a:xfrm>
            <a:off x="1024128" y="1676399"/>
            <a:ext cx="9186672" cy="4935415"/>
          </a:xfrm>
        </p:spPr>
        <p:txBody>
          <a:bodyPr>
            <a:normAutofit/>
          </a:bodyPr>
          <a:lstStyle/>
          <a:p>
            <a:pPr>
              <a:lnSpc>
                <a:spcPct val="90000"/>
              </a:lnSpc>
              <a:buFont typeface="Wingdings" panose="05000000000000000000" pitchFamily="2" charset="2"/>
              <a:buChar char="§"/>
            </a:pPr>
            <a:r>
              <a:rPr lang="sv-SE" sz="2400" dirty="0"/>
              <a:t>Instances map to points in </a:t>
            </a:r>
            <a:r>
              <a:rPr lang="sv-SE" sz="2400" dirty="0">
                <a:sym typeface="Symbol" pitchFamily="18" charset="2"/>
              </a:rPr>
              <a:t></a:t>
            </a:r>
            <a:r>
              <a:rPr lang="sv-SE" sz="2400" b="1" baseline="30000" dirty="0"/>
              <a:t>n </a:t>
            </a:r>
            <a:r>
              <a:rPr lang="sv-SE" sz="2000" dirty="0"/>
              <a:t>(where n-dimensional space)</a:t>
            </a:r>
            <a:endParaRPr lang="sv-SE" sz="2000" baseline="30000" dirty="0"/>
          </a:p>
          <a:p>
            <a:pPr>
              <a:lnSpc>
                <a:spcPct val="90000"/>
              </a:lnSpc>
              <a:buFont typeface="Wingdings" panose="05000000000000000000" pitchFamily="2" charset="2"/>
              <a:buChar char="§"/>
            </a:pPr>
            <a:r>
              <a:rPr lang="sv-SE" sz="2400" dirty="0"/>
              <a:t>Less than 20 attributes per instance</a:t>
            </a:r>
          </a:p>
          <a:p>
            <a:pPr>
              <a:lnSpc>
                <a:spcPct val="90000"/>
              </a:lnSpc>
              <a:buFont typeface="Wingdings" panose="05000000000000000000" pitchFamily="2" charset="2"/>
              <a:buChar char="§"/>
            </a:pPr>
            <a:r>
              <a:rPr lang="sv-SE" sz="2400" dirty="0"/>
              <a:t>Lots of training data</a:t>
            </a:r>
          </a:p>
          <a:p>
            <a:pPr>
              <a:lnSpc>
                <a:spcPct val="90000"/>
              </a:lnSpc>
              <a:buFont typeface="Wingdings" pitchFamily="2" charset="2"/>
              <a:buNone/>
            </a:pPr>
            <a:r>
              <a:rPr lang="sv-SE" sz="2400" b="1" dirty="0"/>
              <a:t>Advantages:</a:t>
            </a:r>
          </a:p>
          <a:p>
            <a:pPr>
              <a:lnSpc>
                <a:spcPct val="90000"/>
              </a:lnSpc>
              <a:buFont typeface="Wingdings" panose="05000000000000000000" pitchFamily="2" charset="2"/>
              <a:buChar char="§"/>
            </a:pPr>
            <a:r>
              <a:rPr lang="sv-SE" sz="2400" dirty="0">
                <a:solidFill>
                  <a:srgbClr val="0070C0"/>
                </a:solidFill>
              </a:rPr>
              <a:t>Training is very fast </a:t>
            </a:r>
          </a:p>
          <a:p>
            <a:pPr>
              <a:lnSpc>
                <a:spcPct val="90000"/>
              </a:lnSpc>
              <a:buFont typeface="Wingdings" panose="05000000000000000000" pitchFamily="2" charset="2"/>
              <a:buChar char="§"/>
            </a:pPr>
            <a:r>
              <a:rPr lang="sv-SE" sz="2400" dirty="0"/>
              <a:t>Learn complex target functions</a:t>
            </a:r>
          </a:p>
          <a:p>
            <a:pPr>
              <a:lnSpc>
                <a:spcPct val="90000"/>
              </a:lnSpc>
              <a:buFont typeface="Wingdings" panose="05000000000000000000" pitchFamily="2" charset="2"/>
              <a:buChar char="§"/>
            </a:pPr>
            <a:r>
              <a:rPr lang="sv-SE" sz="2400" dirty="0"/>
              <a:t>Do not loose information</a:t>
            </a:r>
          </a:p>
          <a:p>
            <a:pPr>
              <a:lnSpc>
                <a:spcPct val="90000"/>
              </a:lnSpc>
              <a:buFont typeface="Wingdings" pitchFamily="2" charset="2"/>
              <a:buNone/>
            </a:pPr>
            <a:r>
              <a:rPr lang="sv-SE" sz="2400" b="1" dirty="0"/>
              <a:t>Disadvantages:</a:t>
            </a:r>
          </a:p>
          <a:p>
            <a:pPr>
              <a:lnSpc>
                <a:spcPct val="90000"/>
              </a:lnSpc>
              <a:buFont typeface="Wingdings" panose="05000000000000000000" pitchFamily="2" charset="2"/>
              <a:buChar char="§"/>
            </a:pPr>
            <a:r>
              <a:rPr lang="sv-SE" sz="2400" dirty="0">
                <a:solidFill>
                  <a:srgbClr val="0070C0"/>
                </a:solidFill>
              </a:rPr>
              <a:t>Slow at query time </a:t>
            </a:r>
          </a:p>
          <a:p>
            <a:pPr>
              <a:lnSpc>
                <a:spcPct val="90000"/>
              </a:lnSpc>
              <a:buFont typeface="Wingdings" panose="05000000000000000000" pitchFamily="2" charset="2"/>
              <a:buChar char="§"/>
            </a:pPr>
            <a:r>
              <a:rPr lang="sv-SE" sz="2400" dirty="0"/>
              <a:t>Easily fooled by irrelevant attributes</a:t>
            </a:r>
            <a:endParaRPr lang="en-US" sz="2400" dirty="0"/>
          </a:p>
        </p:txBody>
      </p:sp>
      <p:sp>
        <p:nvSpPr>
          <p:cNvPr id="5" name="Slide Number Placeholder 5"/>
          <p:cNvSpPr>
            <a:spLocks noGrp="1"/>
          </p:cNvSpPr>
          <p:nvPr>
            <p:ph type="sldNum" sz="quarter" idx="12"/>
          </p:nvPr>
        </p:nvSpPr>
        <p:spPr/>
        <p:txBody>
          <a:bodyPr>
            <a:normAutofit/>
          </a:bodyPr>
          <a:lstStyle/>
          <a:p>
            <a:fld id="{9DDE2E2A-0FB5-4991-B290-47EFC4C54456}" type="slidenum">
              <a:rPr lang="en-US"/>
              <a:pPr/>
              <a:t>14</a:t>
            </a:fld>
            <a:endParaRPr lang="en-US"/>
          </a:p>
        </p:txBody>
      </p:sp>
    </p:spTree>
    <p:extLst>
      <p:ext uri="{BB962C8B-B14F-4D97-AF65-F5344CB8AC3E}">
        <p14:creationId xmlns:p14="http://schemas.microsoft.com/office/powerpoint/2010/main" val="13382297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Advantages</a:t>
            </a:r>
            <a:endParaRPr lang="en-US" dirty="0"/>
          </a:p>
        </p:txBody>
      </p:sp>
      <p:sp>
        <p:nvSpPr>
          <p:cNvPr id="3" name="Content Placeholder 2"/>
          <p:cNvSpPr>
            <a:spLocks noGrp="1"/>
          </p:cNvSpPr>
          <p:nvPr>
            <p:ph idx="1"/>
          </p:nvPr>
        </p:nvSpPr>
        <p:spPr/>
        <p:txBody>
          <a:bodyPr>
            <a:normAutofit/>
          </a:bodyPr>
          <a:lstStyle/>
          <a:p>
            <a:r>
              <a:rPr lang="en-US" sz="2400" dirty="0" smtClean="0"/>
              <a:t>Easy to program</a:t>
            </a:r>
          </a:p>
          <a:p>
            <a:r>
              <a:rPr lang="en-US" sz="2400" dirty="0" smtClean="0"/>
              <a:t>No optimization or training required</a:t>
            </a:r>
          </a:p>
          <a:p>
            <a:r>
              <a:rPr lang="en-US" sz="2400" dirty="0" smtClean="0"/>
              <a:t>Classification and can be very good and can outperform more complex models</a:t>
            </a:r>
          </a:p>
        </p:txBody>
      </p:sp>
    </p:spTree>
    <p:extLst>
      <p:ext uri="{BB962C8B-B14F-4D97-AF65-F5344CB8AC3E}">
        <p14:creationId xmlns:p14="http://schemas.microsoft.com/office/powerpoint/2010/main" val="38650749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 with k-NEAREST NEIGHBOUR</a:t>
            </a:r>
            <a:endParaRPr lang="en-US" dirty="0"/>
          </a:p>
        </p:txBody>
      </p:sp>
      <p:sp>
        <p:nvSpPr>
          <p:cNvPr id="3" name="Content Placeholder 2"/>
          <p:cNvSpPr>
            <a:spLocks noGrp="1"/>
          </p:cNvSpPr>
          <p:nvPr>
            <p:ph idx="1"/>
          </p:nvPr>
        </p:nvSpPr>
        <p:spPr>
          <a:xfrm>
            <a:off x="1024128" y="1786270"/>
            <a:ext cx="9720073" cy="4523090"/>
          </a:xfrm>
        </p:spPr>
        <p:txBody>
          <a:bodyPr>
            <a:normAutofit/>
          </a:bodyPr>
          <a:lstStyle/>
          <a:p>
            <a:r>
              <a:rPr lang="en-US" sz="2800" dirty="0" smtClean="0"/>
              <a:t>Distance measure</a:t>
            </a:r>
          </a:p>
          <a:p>
            <a:pPr lvl="1"/>
            <a:r>
              <a:rPr lang="en-US" sz="2400" dirty="0" smtClean="0"/>
              <a:t>Most common: Euclidean</a:t>
            </a:r>
          </a:p>
          <a:p>
            <a:r>
              <a:rPr lang="en-US" sz="2800" dirty="0" smtClean="0"/>
              <a:t>Choosing k </a:t>
            </a:r>
          </a:p>
          <a:p>
            <a:pPr lvl="1"/>
            <a:r>
              <a:rPr lang="en-US" sz="2400" dirty="0" smtClean="0"/>
              <a:t>Increasing k reduces variance, increases bias</a:t>
            </a:r>
          </a:p>
          <a:p>
            <a:r>
              <a:rPr lang="en-US" sz="2800" dirty="0" smtClean="0"/>
              <a:t>For high dimensional space, problem is that the nearest </a:t>
            </a:r>
            <a:r>
              <a:rPr lang="en-US" sz="2800" dirty="0" err="1" smtClean="0"/>
              <a:t>neighbour</a:t>
            </a:r>
            <a:r>
              <a:rPr lang="en-US" sz="2800" dirty="0" smtClean="0"/>
              <a:t> may not be very close at all!</a:t>
            </a:r>
          </a:p>
          <a:p>
            <a:r>
              <a:rPr lang="en-US" sz="2800" dirty="0" smtClean="0"/>
              <a:t>Memory based technique. </a:t>
            </a:r>
          </a:p>
          <a:p>
            <a:pPr lvl="1"/>
            <a:r>
              <a:rPr lang="en-US" sz="2400" dirty="0" smtClean="0"/>
              <a:t>Must make a pass through the data for each classification. This can be prohibitive for large data sets.</a:t>
            </a:r>
            <a:endParaRPr lang="en-US" sz="2400" dirty="0"/>
          </a:p>
        </p:txBody>
      </p:sp>
    </p:spTree>
    <p:extLst>
      <p:ext uri="{BB962C8B-B14F-4D97-AF65-F5344CB8AC3E}">
        <p14:creationId xmlns:p14="http://schemas.microsoft.com/office/powerpoint/2010/main" val="39578028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sv-SE"/>
              <a:t>Curse of Dimensionality</a:t>
            </a:r>
          </a:p>
        </p:txBody>
      </p:sp>
      <p:sp>
        <p:nvSpPr>
          <p:cNvPr id="17411" name="Rectangle 3"/>
          <p:cNvSpPr>
            <a:spLocks noGrp="1" noChangeArrowheads="1"/>
          </p:cNvSpPr>
          <p:nvPr>
            <p:ph idx="1"/>
          </p:nvPr>
        </p:nvSpPr>
        <p:spPr>
          <a:xfrm>
            <a:off x="924560" y="1828800"/>
            <a:ext cx="10639083" cy="4916224"/>
          </a:xfrm>
        </p:spPr>
        <p:txBody>
          <a:bodyPr>
            <a:noAutofit/>
          </a:bodyPr>
          <a:lstStyle/>
          <a:p>
            <a:pPr>
              <a:lnSpc>
                <a:spcPct val="90000"/>
              </a:lnSpc>
              <a:buFont typeface="Wingdings" pitchFamily="2" charset="2"/>
              <a:buNone/>
            </a:pPr>
            <a:r>
              <a:rPr lang="sv-SE" sz="2800" dirty="0"/>
              <a:t>Imagine instances described by 20 attributes but only 2 are relevant to target function</a:t>
            </a:r>
          </a:p>
          <a:p>
            <a:pPr>
              <a:lnSpc>
                <a:spcPct val="90000"/>
              </a:lnSpc>
              <a:buFont typeface="Wingdings" pitchFamily="2" charset="2"/>
              <a:buNone/>
            </a:pPr>
            <a:r>
              <a:rPr lang="sv-SE" sz="2800" dirty="0">
                <a:solidFill>
                  <a:schemeClr val="hlink"/>
                </a:solidFill>
              </a:rPr>
              <a:t>Curse of dimensionality:</a:t>
            </a:r>
            <a:r>
              <a:rPr lang="sv-SE" sz="2800" dirty="0"/>
              <a:t> nearest neighbor is easily misled when instance space is high-dimensional</a:t>
            </a:r>
          </a:p>
          <a:p>
            <a:pPr>
              <a:lnSpc>
                <a:spcPct val="90000"/>
              </a:lnSpc>
              <a:buFont typeface="Wingdings" pitchFamily="2" charset="2"/>
              <a:buNone/>
            </a:pPr>
            <a:r>
              <a:rPr lang="sv-SE" sz="2800" b="1" dirty="0"/>
              <a:t>One approach:</a:t>
            </a:r>
          </a:p>
          <a:p>
            <a:pPr lvl="1"/>
            <a:r>
              <a:rPr lang="sv-SE" dirty="0"/>
              <a:t>Stretch j-th axis by weight z</a:t>
            </a:r>
            <a:r>
              <a:rPr lang="sv-SE" baseline="-25000" dirty="0"/>
              <a:t>j</a:t>
            </a:r>
            <a:r>
              <a:rPr lang="sv-SE" dirty="0"/>
              <a:t>, where z</a:t>
            </a:r>
            <a:r>
              <a:rPr lang="sv-SE" baseline="-25000" dirty="0"/>
              <a:t>1</a:t>
            </a:r>
            <a:r>
              <a:rPr lang="sv-SE" dirty="0"/>
              <a:t>,…,z</a:t>
            </a:r>
            <a:r>
              <a:rPr lang="sv-SE" baseline="-25000" dirty="0"/>
              <a:t>n</a:t>
            </a:r>
            <a:r>
              <a:rPr lang="sv-SE" dirty="0"/>
              <a:t> chosen to minimize prediction error</a:t>
            </a:r>
          </a:p>
          <a:p>
            <a:pPr lvl="1"/>
            <a:r>
              <a:rPr lang="sv-SE" dirty="0"/>
              <a:t>Use cross-validation to automatically choose weights z</a:t>
            </a:r>
            <a:r>
              <a:rPr lang="sv-SE" baseline="-25000" dirty="0"/>
              <a:t>1</a:t>
            </a:r>
            <a:r>
              <a:rPr lang="sv-SE" dirty="0"/>
              <a:t>,…,z</a:t>
            </a:r>
            <a:r>
              <a:rPr lang="sv-SE" baseline="-25000" dirty="0"/>
              <a:t>n</a:t>
            </a:r>
            <a:r>
              <a:rPr lang="sv-SE" dirty="0"/>
              <a:t> </a:t>
            </a:r>
          </a:p>
          <a:p>
            <a:pPr lvl="1"/>
            <a:r>
              <a:rPr lang="sv-SE" dirty="0"/>
              <a:t>Note setting zj to zero eliminates this dimension alltogether (feature subset selection)</a:t>
            </a:r>
            <a:endParaRPr lang="en-US" dirty="0"/>
          </a:p>
        </p:txBody>
      </p:sp>
      <p:sp>
        <p:nvSpPr>
          <p:cNvPr id="5" name="Slide Number Placeholder 5"/>
          <p:cNvSpPr>
            <a:spLocks noGrp="1"/>
          </p:cNvSpPr>
          <p:nvPr>
            <p:ph type="sldNum" sz="quarter" idx="12"/>
          </p:nvPr>
        </p:nvSpPr>
        <p:spPr/>
        <p:txBody>
          <a:bodyPr>
            <a:normAutofit/>
          </a:bodyPr>
          <a:lstStyle/>
          <a:p>
            <a:fld id="{3AC514AD-489E-4053-9B32-C28AB4976E92}" type="slidenum">
              <a:rPr lang="en-US"/>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k-NN Time Complexity</a:t>
            </a:r>
            <a:endParaRPr lang="en-US" dirty="0"/>
          </a:p>
        </p:txBody>
      </p:sp>
      <p:sp>
        <p:nvSpPr>
          <p:cNvPr id="3" name="Content Placeholder 2"/>
          <p:cNvSpPr>
            <a:spLocks noGrp="1"/>
          </p:cNvSpPr>
          <p:nvPr>
            <p:ph idx="1"/>
          </p:nvPr>
        </p:nvSpPr>
        <p:spPr>
          <a:xfrm>
            <a:off x="1024128" y="2286000"/>
            <a:ext cx="10568432" cy="4023360"/>
          </a:xfrm>
        </p:spPr>
        <p:txBody>
          <a:bodyPr>
            <a:normAutofit/>
          </a:bodyPr>
          <a:lstStyle/>
          <a:p>
            <a:r>
              <a:rPr lang="en-US" altLang="en-US" sz="2800" dirty="0"/>
              <a:t>Suppose there are </a:t>
            </a:r>
            <a:r>
              <a:rPr lang="en-US" altLang="en-US" sz="2800" b="1" dirty="0" smtClean="0"/>
              <a:t>m</a:t>
            </a:r>
            <a:r>
              <a:rPr lang="en-US" altLang="en-US" sz="2800" dirty="0" smtClean="0"/>
              <a:t> </a:t>
            </a:r>
            <a:r>
              <a:rPr lang="en-US" altLang="en-US" sz="2800" dirty="0"/>
              <a:t>instances and </a:t>
            </a:r>
            <a:r>
              <a:rPr lang="en-US" altLang="en-US" sz="2800" b="1" dirty="0"/>
              <a:t>n</a:t>
            </a:r>
            <a:r>
              <a:rPr lang="en-US" altLang="en-US" sz="2800" dirty="0"/>
              <a:t> features in the dataset</a:t>
            </a:r>
          </a:p>
          <a:p>
            <a:r>
              <a:rPr lang="en-US" altLang="en-US" sz="2800" dirty="0"/>
              <a:t>Nearest neighbor algorithm requires computing </a:t>
            </a:r>
            <a:r>
              <a:rPr lang="en-US" altLang="en-US" sz="2800" b="1" dirty="0"/>
              <a:t>m</a:t>
            </a:r>
            <a:r>
              <a:rPr lang="en-US" altLang="en-US" sz="2800" dirty="0"/>
              <a:t> distances</a:t>
            </a:r>
          </a:p>
          <a:p>
            <a:r>
              <a:rPr lang="en-US" altLang="en-US" sz="2800" dirty="0"/>
              <a:t>Each distance computation involves scanning through each feature value</a:t>
            </a:r>
          </a:p>
          <a:p>
            <a:r>
              <a:rPr lang="en-US" altLang="en-US" sz="2800" dirty="0"/>
              <a:t>Running time complexity is proportional to </a:t>
            </a:r>
            <a:r>
              <a:rPr lang="en-US" altLang="en-US" sz="2800" b="1" dirty="0"/>
              <a:t>m</a:t>
            </a:r>
            <a:r>
              <a:rPr lang="en-US" altLang="en-US" sz="2800" dirty="0"/>
              <a:t> X </a:t>
            </a:r>
            <a:r>
              <a:rPr lang="en-US" altLang="en-US" sz="2800" b="1" dirty="0"/>
              <a:t>n</a:t>
            </a:r>
          </a:p>
          <a:p>
            <a:endParaRPr lang="en-US" sz="2800" dirty="0"/>
          </a:p>
        </p:txBody>
      </p:sp>
    </p:spTree>
    <p:extLst>
      <p:ext uri="{BB962C8B-B14F-4D97-AF65-F5344CB8AC3E}">
        <p14:creationId xmlns:p14="http://schemas.microsoft.com/office/powerpoint/2010/main" val="2384372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 How do we deal with Non-Numeric Data?</a:t>
            </a:r>
            <a:endParaRPr lang="en-US" dirty="0"/>
          </a:p>
        </p:txBody>
      </p:sp>
      <p:sp>
        <p:nvSpPr>
          <p:cNvPr id="3" name="Content Placeholder 2"/>
          <p:cNvSpPr>
            <a:spLocks noGrp="1"/>
          </p:cNvSpPr>
          <p:nvPr>
            <p:ph idx="1"/>
          </p:nvPr>
        </p:nvSpPr>
        <p:spPr/>
        <p:txBody>
          <a:bodyPr>
            <a:normAutofit/>
          </a:bodyPr>
          <a:lstStyle/>
          <a:p>
            <a:r>
              <a:rPr lang="en-US" altLang="en-US" sz="2800" dirty="0"/>
              <a:t>Feature values are not always numbers</a:t>
            </a:r>
          </a:p>
          <a:p>
            <a:r>
              <a:rPr lang="en-US" altLang="en-US" sz="2800" dirty="0"/>
              <a:t>Example</a:t>
            </a:r>
          </a:p>
          <a:p>
            <a:pPr lvl="1"/>
            <a:r>
              <a:rPr lang="en-US" altLang="en-US" sz="2400" dirty="0"/>
              <a:t>Boolean values:  Yes or no, presence or absence of an attribute</a:t>
            </a:r>
          </a:p>
          <a:p>
            <a:pPr lvl="1"/>
            <a:r>
              <a:rPr lang="en-US" altLang="en-US" sz="2400" dirty="0"/>
              <a:t>Categories:  </a:t>
            </a:r>
            <a:r>
              <a:rPr lang="en-US" altLang="en-US" sz="2400" dirty="0" smtClean="0"/>
              <a:t>Colours</a:t>
            </a:r>
            <a:r>
              <a:rPr lang="en-US" altLang="en-US" sz="2400" dirty="0"/>
              <a:t>, educational attainment, gender</a:t>
            </a:r>
          </a:p>
          <a:p>
            <a:r>
              <a:rPr lang="en-US" altLang="en-US" sz="2800" dirty="0"/>
              <a:t>How do these values factor into the computation of distance?</a:t>
            </a:r>
          </a:p>
          <a:p>
            <a:endParaRPr lang="en-US" sz="2800" dirty="0"/>
          </a:p>
        </p:txBody>
      </p:sp>
    </p:spTree>
    <p:extLst>
      <p:ext uri="{BB962C8B-B14F-4D97-AF65-F5344CB8AC3E}">
        <p14:creationId xmlns:p14="http://schemas.microsoft.com/office/powerpoint/2010/main" val="5597608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Based Reasoning</a:t>
            </a:r>
            <a:endParaRPr lang="en-US" dirty="0"/>
          </a:p>
        </p:txBody>
      </p:sp>
      <p:sp>
        <p:nvSpPr>
          <p:cNvPr id="3" name="Content Placeholder 2"/>
          <p:cNvSpPr>
            <a:spLocks noGrp="1"/>
          </p:cNvSpPr>
          <p:nvPr>
            <p:ph idx="1"/>
          </p:nvPr>
        </p:nvSpPr>
        <p:spPr>
          <a:xfrm>
            <a:off x="243839" y="2204720"/>
            <a:ext cx="5831841" cy="4450080"/>
          </a:xfrm>
        </p:spPr>
        <p:txBody>
          <a:bodyPr>
            <a:normAutofit/>
          </a:bodyPr>
          <a:lstStyle/>
          <a:p>
            <a:r>
              <a:rPr lang="en-US" sz="2400" b="1" dirty="0"/>
              <a:t>CBR is reasoning by remembering</a:t>
            </a:r>
            <a:r>
              <a:rPr lang="en-US" sz="2400" dirty="0"/>
              <a:t>: previously solved problems (cases) are used to suggest solutions for novel but similar problems. </a:t>
            </a:r>
            <a:endParaRPr lang="en-US" sz="2400" dirty="0" smtClean="0"/>
          </a:p>
          <a:p>
            <a:r>
              <a:rPr lang="en-US" sz="2400" dirty="0" smtClean="0"/>
              <a:t>Once </a:t>
            </a:r>
            <a:r>
              <a:rPr lang="en-US" sz="2400" dirty="0"/>
              <a:t>the currently encountered problem is described in terms of previously solved problems, the most similar solved problem can be found. The solution to this problem might be directly applicable to the current problem but, usually, some adaptation is required.</a:t>
            </a:r>
          </a:p>
        </p:txBody>
      </p:sp>
      <p:pic>
        <p:nvPicPr>
          <p:cNvPr id="4" name="Picture 3"/>
          <p:cNvPicPr>
            <a:picLocks noChangeAspect="1"/>
          </p:cNvPicPr>
          <p:nvPr/>
        </p:nvPicPr>
        <p:blipFill>
          <a:blip r:embed="rId2"/>
          <a:stretch>
            <a:fillRect/>
          </a:stretch>
        </p:blipFill>
        <p:spPr>
          <a:xfrm>
            <a:off x="6301657" y="1615631"/>
            <a:ext cx="5769030" cy="4338129"/>
          </a:xfrm>
          <a:prstGeom prst="rect">
            <a:avLst/>
          </a:prstGeom>
        </p:spPr>
      </p:pic>
    </p:spTree>
    <p:extLst>
      <p:ext uri="{BB962C8B-B14F-4D97-AF65-F5344CB8AC3E}">
        <p14:creationId xmlns:p14="http://schemas.microsoft.com/office/powerpoint/2010/main" val="9299074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sv-SE"/>
              <a:t>Lazy and Eager Learning</a:t>
            </a:r>
          </a:p>
        </p:txBody>
      </p:sp>
      <p:sp>
        <p:nvSpPr>
          <p:cNvPr id="32771" name="Rectangle 3"/>
          <p:cNvSpPr>
            <a:spLocks noGrp="1" noChangeArrowheads="1"/>
          </p:cNvSpPr>
          <p:nvPr>
            <p:ph idx="1"/>
          </p:nvPr>
        </p:nvSpPr>
        <p:spPr>
          <a:xfrm>
            <a:off x="1237957" y="1828800"/>
            <a:ext cx="9241131" cy="4611688"/>
          </a:xfrm>
        </p:spPr>
        <p:txBody>
          <a:bodyPr/>
          <a:lstStyle/>
          <a:p>
            <a:pPr>
              <a:lnSpc>
                <a:spcPct val="90000"/>
              </a:lnSpc>
            </a:pPr>
            <a:r>
              <a:rPr lang="sv-SE" sz="2800" dirty="0">
                <a:solidFill>
                  <a:srgbClr val="0070C0"/>
                </a:solidFill>
              </a:rPr>
              <a:t>Lazy: </a:t>
            </a:r>
            <a:r>
              <a:rPr lang="sv-SE" sz="2800" dirty="0"/>
              <a:t>wait for query before generalizing</a:t>
            </a:r>
          </a:p>
          <a:p>
            <a:pPr lvl="1">
              <a:lnSpc>
                <a:spcPct val="90000"/>
              </a:lnSpc>
            </a:pPr>
            <a:r>
              <a:rPr lang="sv-SE" sz="2400" dirty="0"/>
              <a:t>k-nearest neighbors, weighted linear regression</a:t>
            </a:r>
          </a:p>
          <a:p>
            <a:pPr>
              <a:lnSpc>
                <a:spcPct val="90000"/>
              </a:lnSpc>
            </a:pPr>
            <a:r>
              <a:rPr lang="sv-SE" sz="2800" dirty="0">
                <a:solidFill>
                  <a:srgbClr val="0070C0"/>
                </a:solidFill>
              </a:rPr>
              <a:t>Eager: </a:t>
            </a:r>
            <a:r>
              <a:rPr lang="sv-SE" sz="2800" dirty="0"/>
              <a:t>generalize before seeing query</a:t>
            </a:r>
          </a:p>
          <a:p>
            <a:pPr lvl="1">
              <a:lnSpc>
                <a:spcPct val="90000"/>
              </a:lnSpc>
            </a:pPr>
            <a:r>
              <a:rPr lang="sv-SE" sz="2400" dirty="0"/>
              <a:t>Radial basis function networks, decision trees, back-propagation</a:t>
            </a:r>
          </a:p>
          <a:p>
            <a:pPr>
              <a:lnSpc>
                <a:spcPct val="90000"/>
              </a:lnSpc>
            </a:pPr>
            <a:r>
              <a:rPr lang="sv-SE" sz="2800" dirty="0">
                <a:solidFill>
                  <a:srgbClr val="0070C0"/>
                </a:solidFill>
              </a:rPr>
              <a:t>Eager learner </a:t>
            </a:r>
            <a:r>
              <a:rPr lang="sv-SE" sz="2800" dirty="0"/>
              <a:t>must create global approximation</a:t>
            </a:r>
          </a:p>
          <a:p>
            <a:pPr>
              <a:lnSpc>
                <a:spcPct val="90000"/>
              </a:lnSpc>
            </a:pPr>
            <a:r>
              <a:rPr lang="sv-SE" sz="2800" dirty="0">
                <a:solidFill>
                  <a:srgbClr val="0070C0"/>
                </a:solidFill>
              </a:rPr>
              <a:t>Lazy learner </a:t>
            </a:r>
            <a:r>
              <a:rPr lang="sv-SE" sz="2800" dirty="0"/>
              <a:t>can create local approximations</a:t>
            </a:r>
          </a:p>
          <a:p>
            <a:pPr>
              <a:lnSpc>
                <a:spcPct val="90000"/>
              </a:lnSpc>
            </a:pPr>
            <a:r>
              <a:rPr lang="sv-SE" sz="2800" dirty="0"/>
              <a:t>If they use the same hypothesis space, lazy can represent more complex functions (H=linear functions)</a:t>
            </a:r>
          </a:p>
          <a:p>
            <a:pPr>
              <a:lnSpc>
                <a:spcPct val="90000"/>
              </a:lnSpc>
            </a:pPr>
            <a:r>
              <a:rPr lang="sv-SE" sz="2800" b="1" dirty="0">
                <a:solidFill>
                  <a:srgbClr val="0070C0"/>
                </a:solidFill>
              </a:rPr>
              <a:t>Instance Based Learning is Lazy</a:t>
            </a:r>
            <a:endParaRPr lang="en-US" sz="2800" b="1" dirty="0">
              <a:solidFill>
                <a:srgbClr val="0070C0"/>
              </a:solidFill>
            </a:endParaRPr>
          </a:p>
        </p:txBody>
      </p:sp>
      <p:sp>
        <p:nvSpPr>
          <p:cNvPr id="5" name="Slide Number Placeholder 5"/>
          <p:cNvSpPr>
            <a:spLocks noGrp="1"/>
          </p:cNvSpPr>
          <p:nvPr>
            <p:ph type="sldNum" sz="quarter" idx="12"/>
          </p:nvPr>
        </p:nvSpPr>
        <p:spPr/>
        <p:txBody>
          <a:bodyPr>
            <a:normAutofit/>
          </a:bodyPr>
          <a:lstStyle/>
          <a:p>
            <a:fld id="{B1BFDD16-0A20-400D-882F-389878FC4C7C}" type="slidenum">
              <a:rPr lang="en-US"/>
              <a:pPr/>
              <a:t>21</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4202</TotalTime>
  <Words>864</Words>
  <Application>Microsoft Office PowerPoint</Application>
  <PresentationFormat>Widescreen</PresentationFormat>
  <Paragraphs>139</Paragraphs>
  <Slides>21</Slides>
  <Notes>0</Notes>
  <HiddenSlides>3</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8" baseType="lpstr">
      <vt:lpstr>Arial</vt:lpstr>
      <vt:lpstr>Calibri</vt:lpstr>
      <vt:lpstr>Calibri Light</vt:lpstr>
      <vt:lpstr>Symbol</vt:lpstr>
      <vt:lpstr>Wingdings</vt:lpstr>
      <vt:lpstr>Office Theme</vt:lpstr>
      <vt:lpstr>Equation</vt:lpstr>
      <vt:lpstr>SCS3212 Machine Learning Algorithms &amp; Programming</vt:lpstr>
      <vt:lpstr>Instance based learning methods</vt:lpstr>
      <vt:lpstr>Instance Based Learning</vt:lpstr>
      <vt:lpstr>K-Nearest Neighbour</vt:lpstr>
      <vt:lpstr>Voronoi Diagram</vt:lpstr>
      <vt:lpstr>3-Nearest Neighbors</vt:lpstr>
      <vt:lpstr>7-Nearest Neighbors</vt:lpstr>
      <vt:lpstr>Nearest Neighbor (continuous)</vt:lpstr>
      <vt:lpstr>Nearest Neighbor (continuous)</vt:lpstr>
      <vt:lpstr>Nearest Neighbor (continuous)</vt:lpstr>
      <vt:lpstr>Locally Weighted Regression</vt:lpstr>
      <vt:lpstr>Distance Weighted k-NN</vt:lpstr>
      <vt:lpstr>Distance Weighted Average</vt:lpstr>
      <vt:lpstr>When to Consider Nearest Neighbors</vt:lpstr>
      <vt:lpstr>Other Advantages</vt:lpstr>
      <vt:lpstr>Issues with k-NEAREST NEIGHBOUR</vt:lpstr>
      <vt:lpstr>Curse of Dimensionality</vt:lpstr>
      <vt:lpstr>k-NN Time Complexity</vt:lpstr>
      <vt:lpstr>Q: How do we deal with Non-Numeric Data?</vt:lpstr>
      <vt:lpstr>Case Based Reasoning</vt:lpstr>
      <vt:lpstr>Lazy and Eager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pwwawacha</dc:creator>
  <cp:lastModifiedBy>pwwagacha</cp:lastModifiedBy>
  <cp:revision>25</cp:revision>
  <dcterms:created xsi:type="dcterms:W3CDTF">2021-02-18T07:29:46Z</dcterms:created>
  <dcterms:modified xsi:type="dcterms:W3CDTF">2026-02-23T08:26:38Z</dcterms:modified>
</cp:coreProperties>
</file>
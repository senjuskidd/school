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74" r:id="rId3"/>
    <p:sldId id="275" r:id="rId4"/>
    <p:sldId id="276" r:id="rId5"/>
    <p:sldId id="277" r:id="rId6"/>
    <p:sldId id="263" r:id="rId7"/>
    <p:sldId id="264" r:id="rId8"/>
    <p:sldId id="265" r:id="rId9"/>
    <p:sldId id="266" r:id="rId10"/>
    <p:sldId id="278" r:id="rId11"/>
    <p:sldId id="257" r:id="rId12"/>
    <p:sldId id="260" r:id="rId13"/>
    <p:sldId id="259" r:id="rId14"/>
    <p:sldId id="261" r:id="rId15"/>
    <p:sldId id="262" r:id="rId16"/>
    <p:sldId id="267" r:id="rId17"/>
    <p:sldId id="268" r:id="rId18"/>
    <p:sldId id="269" r:id="rId19"/>
    <p:sldId id="273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D3421-EECD-4FC0-9D2C-7E8494C7CFE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14000-79CA-4F77-B728-6BD164BF5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5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d7da156d6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6d7da156d6_2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2248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d7da156d6_2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6d7da156d6_2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059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6d7da156d6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6d7da156d6_2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5175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d7da156d6_2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6d7da156d6_2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540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44039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71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61871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77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75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14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82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55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6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79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79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50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461900" y="6528800"/>
            <a:ext cx="731600" cy="3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455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01100" y="0"/>
            <a:ext cx="11360800" cy="8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1100" y="839100"/>
            <a:ext cx="1209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461900" y="6528800"/>
            <a:ext cx="731600" cy="3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 rtl="0">
              <a:buNone/>
              <a:defRPr sz="1333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398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0C0A62D-F356-457B-B88D-F0E989CF585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9C0D6347-3C9C-4DBD-BC49-1816FD24E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5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tofbetterprogramming.com/2020/06/21/supervised-machine-learning-algorithms-topics-of-machine-learnin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omputing4all.com/courses/introductory-data-science/lessons/what-is-a-classification-proble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metrics-to-evaluate-your-machine-learning-algorithm-f10ba6e38234" TargetMode="External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algolytics.com/tutorial-how-to-determine-the-quality-and-correctness-of-classification-models-part-1-introduction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SCS3212 </a:t>
            </a:r>
            <a:r>
              <a:rPr lang="en-US" sz="4400" dirty="0"/>
              <a:t>Machine Learning Algorithms &amp; </a:t>
            </a:r>
            <a:r>
              <a:rPr lang="en-US" sz="4400" dirty="0" smtClean="0"/>
              <a:t>Programming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5241302"/>
            <a:ext cx="9418320" cy="1250937"/>
          </a:xfrm>
        </p:spPr>
        <p:txBody>
          <a:bodyPr/>
          <a:lstStyle/>
          <a:p>
            <a:r>
              <a:rPr lang="en-US" sz="2800" dirty="0" smtClean="0"/>
              <a:t>Part 4 Classification</a:t>
            </a:r>
          </a:p>
          <a:p>
            <a:r>
              <a:rPr lang="en-US" sz="2000" dirty="0"/>
              <a:t>Peter Waiganjo </a:t>
            </a:r>
            <a:r>
              <a:rPr lang="en-US" sz="2000" dirty="0" smtClean="0"/>
              <a:t>Wagacha, </a:t>
            </a:r>
            <a:r>
              <a:rPr lang="en-US" sz="2000" dirty="0" smtClean="0"/>
              <a:t>2026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96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 sz="4400" dirty="0" smtClean="0"/>
              <a:t>Machine Learning: A </a:t>
            </a:r>
            <a:r>
              <a:rPr lang="en-GB" sz="4400" dirty="0"/>
              <a:t>paradigm shift</a:t>
            </a:r>
            <a:endParaRPr sz="4400" dirty="0"/>
          </a:p>
        </p:txBody>
      </p:sp>
      <p:sp>
        <p:nvSpPr>
          <p:cNvPr id="342" name="Google Shape;342;p46"/>
          <p:cNvSpPr txBox="1">
            <a:spLocks noGrp="1"/>
          </p:cNvSpPr>
          <p:nvPr>
            <p:ph type="sldNum" idx="12"/>
          </p:nvPr>
        </p:nvSpPr>
        <p:spPr>
          <a:xfrm>
            <a:off x="11461900" y="6528800"/>
            <a:ext cx="731600" cy="3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r"/>
            <a:fld id="{00000000-1234-1234-1234-123412341234}" type="slidenum">
              <a:rPr lang="en-GB"/>
              <a:pPr algn="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979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7"/>
          <p:cNvSpPr txBox="1">
            <a:spLocks noGrp="1"/>
          </p:cNvSpPr>
          <p:nvPr>
            <p:ph type="title"/>
          </p:nvPr>
        </p:nvSpPr>
        <p:spPr>
          <a:xfrm>
            <a:off x="101100" y="0"/>
            <a:ext cx="11360800" cy="83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Paradigm shift</a:t>
            </a:r>
            <a:endParaRPr/>
          </a:p>
        </p:txBody>
      </p:sp>
      <p:sp>
        <p:nvSpPr>
          <p:cNvPr id="348" name="Google Shape;348;p47"/>
          <p:cNvSpPr txBox="1">
            <a:spLocks noGrp="1"/>
          </p:cNvSpPr>
          <p:nvPr>
            <p:ph type="sldNum" idx="12"/>
          </p:nvPr>
        </p:nvSpPr>
        <p:spPr>
          <a:xfrm>
            <a:off x="11461900" y="6528800"/>
            <a:ext cx="731600" cy="3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-GB"/>
              <a:pPr/>
              <a:t>3</a:t>
            </a:fld>
            <a:endParaRPr/>
          </a:p>
        </p:txBody>
      </p:sp>
      <p:sp>
        <p:nvSpPr>
          <p:cNvPr id="349" name="Google Shape;349;p47"/>
          <p:cNvSpPr/>
          <p:nvPr/>
        </p:nvSpPr>
        <p:spPr>
          <a:xfrm>
            <a:off x="5404000" y="125826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7"/>
          <p:cNvSpPr/>
          <p:nvPr/>
        </p:nvSpPr>
        <p:spPr>
          <a:xfrm>
            <a:off x="5404000" y="303719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7"/>
          <p:cNvSpPr/>
          <p:nvPr/>
        </p:nvSpPr>
        <p:spPr>
          <a:xfrm>
            <a:off x="5404000" y="4816095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7"/>
          <p:cNvSpPr txBox="1">
            <a:spLocks noGrp="1"/>
          </p:cNvSpPr>
          <p:nvPr>
            <p:ph type="title"/>
          </p:nvPr>
        </p:nvSpPr>
        <p:spPr>
          <a:xfrm>
            <a:off x="5404000" y="-80800"/>
            <a:ext cx="1384000" cy="72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Code</a:t>
            </a:r>
            <a:endParaRPr sz="2800">
              <a:solidFill>
                <a:schemeClr val="dk2"/>
              </a:solidFill>
            </a:endParaRPr>
          </a:p>
        </p:txBody>
      </p:sp>
      <p:cxnSp>
        <p:nvCxnSpPr>
          <p:cNvPr id="353" name="Google Shape;353;p47"/>
          <p:cNvCxnSpPr/>
          <p:nvPr/>
        </p:nvCxnSpPr>
        <p:spPr>
          <a:xfrm>
            <a:off x="6096000" y="519033"/>
            <a:ext cx="0" cy="32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4" name="Google Shape;354;p47"/>
          <p:cNvSpPr/>
          <p:nvPr/>
        </p:nvSpPr>
        <p:spPr>
          <a:xfrm>
            <a:off x="3506567" y="16343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7"/>
          <p:cNvSpPr/>
          <p:nvPr/>
        </p:nvSpPr>
        <p:spPr>
          <a:xfrm>
            <a:off x="3506567" y="21375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7"/>
          <p:cNvSpPr/>
          <p:nvPr/>
        </p:nvSpPr>
        <p:spPr>
          <a:xfrm>
            <a:off x="6958233" y="18158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7"/>
          <p:cNvSpPr/>
          <p:nvPr/>
        </p:nvSpPr>
        <p:spPr>
          <a:xfrm>
            <a:off x="3506567" y="34290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7"/>
          <p:cNvSpPr/>
          <p:nvPr/>
        </p:nvSpPr>
        <p:spPr>
          <a:xfrm>
            <a:off x="3506567" y="39322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7"/>
          <p:cNvSpPr/>
          <p:nvPr/>
        </p:nvSpPr>
        <p:spPr>
          <a:xfrm>
            <a:off x="6958233" y="36105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7"/>
          <p:cNvSpPr/>
          <p:nvPr/>
        </p:nvSpPr>
        <p:spPr>
          <a:xfrm>
            <a:off x="6958233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7"/>
          <p:cNvSpPr/>
          <p:nvPr/>
        </p:nvSpPr>
        <p:spPr>
          <a:xfrm>
            <a:off x="3506567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7"/>
          <p:cNvSpPr txBox="1">
            <a:spLocks noGrp="1"/>
          </p:cNvSpPr>
          <p:nvPr>
            <p:ph type="title"/>
          </p:nvPr>
        </p:nvSpPr>
        <p:spPr>
          <a:xfrm>
            <a:off x="2069567" y="14040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3" name="Google Shape;363;p47"/>
          <p:cNvSpPr txBox="1">
            <a:spLocks noGrp="1"/>
          </p:cNvSpPr>
          <p:nvPr>
            <p:ph type="title"/>
          </p:nvPr>
        </p:nvSpPr>
        <p:spPr>
          <a:xfrm>
            <a:off x="2069567" y="19031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Rules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4" name="Google Shape;364;p47"/>
          <p:cNvSpPr txBox="1">
            <a:spLocks noGrp="1"/>
          </p:cNvSpPr>
          <p:nvPr>
            <p:ph type="title"/>
          </p:nvPr>
        </p:nvSpPr>
        <p:spPr>
          <a:xfrm>
            <a:off x="8840033" y="1575167"/>
            <a:ext cx="1812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Answers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5" name="Google Shape;365;p47"/>
          <p:cNvSpPr txBox="1">
            <a:spLocks noGrp="1"/>
          </p:cNvSpPr>
          <p:nvPr>
            <p:ph type="title"/>
          </p:nvPr>
        </p:nvSpPr>
        <p:spPr>
          <a:xfrm>
            <a:off x="2069567" y="31936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6" name="Google Shape;366;p47"/>
          <p:cNvSpPr txBox="1">
            <a:spLocks noGrp="1"/>
          </p:cNvSpPr>
          <p:nvPr>
            <p:ph type="title"/>
          </p:nvPr>
        </p:nvSpPr>
        <p:spPr>
          <a:xfrm>
            <a:off x="1641167" y="3665917"/>
            <a:ext cx="1812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Answers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7" name="Google Shape;367;p47"/>
          <p:cNvSpPr txBox="1">
            <a:spLocks noGrp="1"/>
          </p:cNvSpPr>
          <p:nvPr>
            <p:ph type="title"/>
          </p:nvPr>
        </p:nvSpPr>
        <p:spPr>
          <a:xfrm>
            <a:off x="8855667" y="33471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Rules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8" name="Google Shape;368;p47"/>
          <p:cNvSpPr txBox="1">
            <a:spLocks noGrp="1"/>
          </p:cNvSpPr>
          <p:nvPr>
            <p:ph type="title"/>
          </p:nvPr>
        </p:nvSpPr>
        <p:spPr>
          <a:xfrm>
            <a:off x="2069567" y="51367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69" name="Google Shape;369;p47"/>
          <p:cNvSpPr txBox="1">
            <a:spLocks noGrp="1"/>
          </p:cNvSpPr>
          <p:nvPr>
            <p:ph type="title"/>
          </p:nvPr>
        </p:nvSpPr>
        <p:spPr>
          <a:xfrm>
            <a:off x="8899633" y="5119033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Rules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70" name="Google Shape;370;p47"/>
          <p:cNvSpPr txBox="1"/>
          <p:nvPr/>
        </p:nvSpPr>
        <p:spPr>
          <a:xfrm>
            <a:off x="660400" y="972800"/>
            <a:ext cx="533600" cy="2220800"/>
          </a:xfrm>
          <a:prstGeom prst="rect">
            <a:avLst/>
          </a:prstGeom>
          <a:solidFill>
            <a:srgbClr val="DEF0FF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A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I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7"/>
          <p:cNvSpPr txBox="1"/>
          <p:nvPr/>
        </p:nvSpPr>
        <p:spPr>
          <a:xfrm>
            <a:off x="660400" y="3429000"/>
            <a:ext cx="533600" cy="2355600"/>
          </a:xfrm>
          <a:prstGeom prst="rect">
            <a:avLst/>
          </a:prstGeom>
          <a:solidFill>
            <a:srgbClr val="EEFF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M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 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4210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8"/>
          <p:cNvSpPr txBox="1">
            <a:spLocks noGrp="1"/>
          </p:cNvSpPr>
          <p:nvPr>
            <p:ph type="title"/>
          </p:nvPr>
        </p:nvSpPr>
        <p:spPr>
          <a:xfrm>
            <a:off x="101100" y="0"/>
            <a:ext cx="11360800" cy="83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Paradigm shift</a:t>
            </a:r>
            <a:endParaRPr/>
          </a:p>
        </p:txBody>
      </p:sp>
      <p:sp>
        <p:nvSpPr>
          <p:cNvPr id="377" name="Google Shape;377;p48"/>
          <p:cNvSpPr txBox="1">
            <a:spLocks noGrp="1"/>
          </p:cNvSpPr>
          <p:nvPr>
            <p:ph type="sldNum" idx="12"/>
          </p:nvPr>
        </p:nvSpPr>
        <p:spPr>
          <a:xfrm>
            <a:off x="11461900" y="6528800"/>
            <a:ext cx="731600" cy="3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-GB"/>
              <a:pPr/>
              <a:t>4</a:t>
            </a:fld>
            <a:endParaRPr/>
          </a:p>
        </p:txBody>
      </p:sp>
      <p:sp>
        <p:nvSpPr>
          <p:cNvPr id="378" name="Google Shape;378;p48"/>
          <p:cNvSpPr/>
          <p:nvPr/>
        </p:nvSpPr>
        <p:spPr>
          <a:xfrm>
            <a:off x="5404000" y="125826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5404000" y="303719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8"/>
          <p:cNvSpPr/>
          <p:nvPr/>
        </p:nvSpPr>
        <p:spPr>
          <a:xfrm>
            <a:off x="5404000" y="4816095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8"/>
          <p:cNvSpPr txBox="1">
            <a:spLocks noGrp="1"/>
          </p:cNvSpPr>
          <p:nvPr>
            <p:ph type="title"/>
          </p:nvPr>
        </p:nvSpPr>
        <p:spPr>
          <a:xfrm>
            <a:off x="5404000" y="-80800"/>
            <a:ext cx="1384000" cy="72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Model</a:t>
            </a:r>
            <a:endParaRPr sz="2800">
              <a:solidFill>
                <a:schemeClr val="dk2"/>
              </a:solidFill>
            </a:endParaRPr>
          </a:p>
        </p:txBody>
      </p:sp>
      <p:cxnSp>
        <p:nvCxnSpPr>
          <p:cNvPr id="382" name="Google Shape;382;p48"/>
          <p:cNvCxnSpPr/>
          <p:nvPr/>
        </p:nvCxnSpPr>
        <p:spPr>
          <a:xfrm>
            <a:off x="6096000" y="519033"/>
            <a:ext cx="0" cy="32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3" name="Google Shape;383;p48"/>
          <p:cNvSpPr/>
          <p:nvPr/>
        </p:nvSpPr>
        <p:spPr>
          <a:xfrm>
            <a:off x="3506567" y="16343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8"/>
          <p:cNvSpPr/>
          <p:nvPr/>
        </p:nvSpPr>
        <p:spPr>
          <a:xfrm>
            <a:off x="3506567" y="21375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8"/>
          <p:cNvSpPr/>
          <p:nvPr/>
        </p:nvSpPr>
        <p:spPr>
          <a:xfrm>
            <a:off x="6958233" y="18158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8"/>
          <p:cNvSpPr/>
          <p:nvPr/>
        </p:nvSpPr>
        <p:spPr>
          <a:xfrm>
            <a:off x="3506567" y="34290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8"/>
          <p:cNvSpPr/>
          <p:nvPr/>
        </p:nvSpPr>
        <p:spPr>
          <a:xfrm>
            <a:off x="3506567" y="39322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8"/>
          <p:cNvSpPr/>
          <p:nvPr/>
        </p:nvSpPr>
        <p:spPr>
          <a:xfrm>
            <a:off x="6958233" y="36105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8"/>
          <p:cNvSpPr/>
          <p:nvPr/>
        </p:nvSpPr>
        <p:spPr>
          <a:xfrm>
            <a:off x="6958233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8"/>
          <p:cNvSpPr/>
          <p:nvPr/>
        </p:nvSpPr>
        <p:spPr>
          <a:xfrm>
            <a:off x="3506567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8"/>
          <p:cNvSpPr txBox="1">
            <a:spLocks noGrp="1"/>
          </p:cNvSpPr>
          <p:nvPr>
            <p:ph type="title"/>
          </p:nvPr>
        </p:nvSpPr>
        <p:spPr>
          <a:xfrm>
            <a:off x="2069567" y="14040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2" name="Google Shape;392;p48"/>
          <p:cNvSpPr txBox="1">
            <a:spLocks noGrp="1"/>
          </p:cNvSpPr>
          <p:nvPr>
            <p:ph type="title"/>
          </p:nvPr>
        </p:nvSpPr>
        <p:spPr>
          <a:xfrm>
            <a:off x="2069567" y="19031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Rules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3" name="Google Shape;393;p48"/>
          <p:cNvSpPr txBox="1">
            <a:spLocks noGrp="1"/>
          </p:cNvSpPr>
          <p:nvPr>
            <p:ph type="title"/>
          </p:nvPr>
        </p:nvSpPr>
        <p:spPr>
          <a:xfrm>
            <a:off x="8840033" y="1575167"/>
            <a:ext cx="1812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Answers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4" name="Google Shape;394;p48"/>
          <p:cNvSpPr txBox="1">
            <a:spLocks noGrp="1"/>
          </p:cNvSpPr>
          <p:nvPr>
            <p:ph type="title"/>
          </p:nvPr>
        </p:nvSpPr>
        <p:spPr>
          <a:xfrm>
            <a:off x="2069567" y="31936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5" name="Google Shape;395;p48"/>
          <p:cNvSpPr txBox="1">
            <a:spLocks noGrp="1"/>
          </p:cNvSpPr>
          <p:nvPr>
            <p:ph type="title"/>
          </p:nvPr>
        </p:nvSpPr>
        <p:spPr>
          <a:xfrm>
            <a:off x="1943100" y="3970733"/>
            <a:ext cx="1612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Labels</a:t>
            </a:r>
            <a:endParaRPr sz="2800">
              <a:solidFill>
                <a:schemeClr val="dk2"/>
              </a:solidFill>
            </a:endParaRPr>
          </a:p>
          <a:p>
            <a:pPr algn="ctr"/>
            <a:r>
              <a:rPr lang="en-GB" sz="2800">
                <a:solidFill>
                  <a:schemeClr val="dk2"/>
                </a:solidFill>
              </a:rPr>
              <a:t>= targets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6" name="Google Shape;396;p48"/>
          <p:cNvSpPr txBox="1">
            <a:spLocks noGrp="1"/>
          </p:cNvSpPr>
          <p:nvPr>
            <p:ph type="title"/>
          </p:nvPr>
        </p:nvSpPr>
        <p:spPr>
          <a:xfrm>
            <a:off x="8855667" y="3347100"/>
            <a:ext cx="2358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Predictions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7" name="Google Shape;397;p48"/>
          <p:cNvSpPr txBox="1">
            <a:spLocks noGrp="1"/>
          </p:cNvSpPr>
          <p:nvPr>
            <p:ph type="title"/>
          </p:nvPr>
        </p:nvSpPr>
        <p:spPr>
          <a:xfrm>
            <a:off x="2069567" y="51367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8" name="Google Shape;398;p48"/>
          <p:cNvSpPr txBox="1">
            <a:spLocks noGrp="1"/>
          </p:cNvSpPr>
          <p:nvPr>
            <p:ph type="title"/>
          </p:nvPr>
        </p:nvSpPr>
        <p:spPr>
          <a:xfrm>
            <a:off x="8855667" y="5119033"/>
            <a:ext cx="2358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Predictions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399" name="Google Shape;399;p48"/>
          <p:cNvSpPr txBox="1"/>
          <p:nvPr/>
        </p:nvSpPr>
        <p:spPr>
          <a:xfrm>
            <a:off x="660400" y="972800"/>
            <a:ext cx="533600" cy="2220800"/>
          </a:xfrm>
          <a:prstGeom prst="rect">
            <a:avLst/>
          </a:prstGeom>
          <a:solidFill>
            <a:srgbClr val="DEF0FF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A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I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8"/>
          <p:cNvSpPr txBox="1"/>
          <p:nvPr/>
        </p:nvSpPr>
        <p:spPr>
          <a:xfrm>
            <a:off x="660400" y="3429000"/>
            <a:ext cx="533600" cy="2355600"/>
          </a:xfrm>
          <a:prstGeom prst="rect">
            <a:avLst/>
          </a:prstGeom>
          <a:solidFill>
            <a:srgbClr val="EEFF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M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 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046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9"/>
          <p:cNvSpPr/>
          <p:nvPr/>
        </p:nvSpPr>
        <p:spPr>
          <a:xfrm>
            <a:off x="1854200" y="2921000"/>
            <a:ext cx="10122000" cy="3390800"/>
          </a:xfrm>
          <a:prstGeom prst="roundRect">
            <a:avLst>
              <a:gd name="adj" fmla="val 10862"/>
            </a:avLst>
          </a:prstGeom>
          <a:solidFill>
            <a:srgbClr val="EEFFE7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9"/>
          <p:cNvSpPr/>
          <p:nvPr/>
        </p:nvSpPr>
        <p:spPr>
          <a:xfrm>
            <a:off x="1854200" y="939800"/>
            <a:ext cx="10122000" cy="1855200"/>
          </a:xfrm>
          <a:prstGeom prst="roundRect">
            <a:avLst>
              <a:gd name="adj" fmla="val 16667"/>
            </a:avLst>
          </a:prstGeom>
          <a:solidFill>
            <a:srgbClr val="E8F5FF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9"/>
          <p:cNvSpPr txBox="1">
            <a:spLocks noGrp="1"/>
          </p:cNvSpPr>
          <p:nvPr>
            <p:ph type="title"/>
          </p:nvPr>
        </p:nvSpPr>
        <p:spPr>
          <a:xfrm>
            <a:off x="101100" y="0"/>
            <a:ext cx="11360800" cy="83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GB"/>
              <a:t>Paradigm shift</a:t>
            </a:r>
            <a:endParaRPr/>
          </a:p>
        </p:txBody>
      </p:sp>
      <p:sp>
        <p:nvSpPr>
          <p:cNvPr id="408" name="Google Shape;408;p49"/>
          <p:cNvSpPr txBox="1">
            <a:spLocks noGrp="1"/>
          </p:cNvSpPr>
          <p:nvPr>
            <p:ph type="sldNum" idx="12"/>
          </p:nvPr>
        </p:nvSpPr>
        <p:spPr>
          <a:xfrm>
            <a:off x="11461900" y="6528800"/>
            <a:ext cx="731600" cy="3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-GB"/>
              <a:pPr/>
              <a:t>5</a:t>
            </a:fld>
            <a:endParaRPr/>
          </a:p>
        </p:txBody>
      </p:sp>
      <p:sp>
        <p:nvSpPr>
          <p:cNvPr id="409" name="Google Shape;409;p49"/>
          <p:cNvSpPr/>
          <p:nvPr/>
        </p:nvSpPr>
        <p:spPr>
          <a:xfrm>
            <a:off x="5404000" y="125826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9"/>
          <p:cNvSpPr/>
          <p:nvPr/>
        </p:nvSpPr>
        <p:spPr>
          <a:xfrm>
            <a:off x="5404000" y="3037197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9"/>
          <p:cNvSpPr/>
          <p:nvPr/>
        </p:nvSpPr>
        <p:spPr>
          <a:xfrm>
            <a:off x="5404000" y="4816095"/>
            <a:ext cx="1384000" cy="1384000"/>
          </a:xfrm>
          <a:prstGeom prst="cube">
            <a:avLst>
              <a:gd name="adj" fmla="val 13383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9"/>
          <p:cNvSpPr txBox="1">
            <a:spLocks noGrp="1"/>
          </p:cNvSpPr>
          <p:nvPr>
            <p:ph type="title"/>
          </p:nvPr>
        </p:nvSpPr>
        <p:spPr>
          <a:xfrm>
            <a:off x="5404000" y="-80800"/>
            <a:ext cx="1384000" cy="72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Model</a:t>
            </a:r>
            <a:endParaRPr sz="2800">
              <a:solidFill>
                <a:schemeClr val="dk2"/>
              </a:solidFill>
            </a:endParaRPr>
          </a:p>
        </p:txBody>
      </p:sp>
      <p:cxnSp>
        <p:nvCxnSpPr>
          <p:cNvPr id="413" name="Google Shape;413;p49"/>
          <p:cNvCxnSpPr/>
          <p:nvPr/>
        </p:nvCxnSpPr>
        <p:spPr>
          <a:xfrm>
            <a:off x="6096000" y="519033"/>
            <a:ext cx="0" cy="32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4" name="Google Shape;414;p49"/>
          <p:cNvSpPr/>
          <p:nvPr/>
        </p:nvSpPr>
        <p:spPr>
          <a:xfrm>
            <a:off x="3506567" y="16343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9"/>
          <p:cNvSpPr/>
          <p:nvPr/>
        </p:nvSpPr>
        <p:spPr>
          <a:xfrm>
            <a:off x="3506567" y="21375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9"/>
          <p:cNvSpPr/>
          <p:nvPr/>
        </p:nvSpPr>
        <p:spPr>
          <a:xfrm>
            <a:off x="6958233" y="1815867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9"/>
          <p:cNvSpPr/>
          <p:nvPr/>
        </p:nvSpPr>
        <p:spPr>
          <a:xfrm>
            <a:off x="3506567" y="34290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9"/>
          <p:cNvSpPr/>
          <p:nvPr/>
        </p:nvSpPr>
        <p:spPr>
          <a:xfrm>
            <a:off x="3506567" y="39322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9"/>
          <p:cNvSpPr/>
          <p:nvPr/>
        </p:nvSpPr>
        <p:spPr>
          <a:xfrm>
            <a:off x="6958233" y="3610500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9"/>
          <p:cNvSpPr/>
          <p:nvPr/>
        </p:nvSpPr>
        <p:spPr>
          <a:xfrm>
            <a:off x="6958233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9"/>
          <p:cNvSpPr/>
          <p:nvPr/>
        </p:nvSpPr>
        <p:spPr>
          <a:xfrm>
            <a:off x="3506567" y="5405133"/>
            <a:ext cx="1727200" cy="268800"/>
          </a:xfrm>
          <a:prstGeom prst="rightArrow">
            <a:avLst>
              <a:gd name="adj1" fmla="val 50000"/>
              <a:gd name="adj2" fmla="val 73078"/>
            </a:avLst>
          </a:prstGeom>
          <a:solidFill>
            <a:srgbClr val="B6D7A8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9"/>
          <p:cNvSpPr txBox="1">
            <a:spLocks noGrp="1"/>
          </p:cNvSpPr>
          <p:nvPr>
            <p:ph type="title"/>
          </p:nvPr>
        </p:nvSpPr>
        <p:spPr>
          <a:xfrm>
            <a:off x="2069567" y="14040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3" name="Google Shape;423;p49"/>
          <p:cNvSpPr txBox="1">
            <a:spLocks noGrp="1"/>
          </p:cNvSpPr>
          <p:nvPr>
            <p:ph type="title"/>
          </p:nvPr>
        </p:nvSpPr>
        <p:spPr>
          <a:xfrm>
            <a:off x="2069567" y="1903167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Rules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4" name="Google Shape;424;p49"/>
          <p:cNvSpPr txBox="1">
            <a:spLocks noGrp="1"/>
          </p:cNvSpPr>
          <p:nvPr>
            <p:ph type="title"/>
          </p:nvPr>
        </p:nvSpPr>
        <p:spPr>
          <a:xfrm>
            <a:off x="8840033" y="1575167"/>
            <a:ext cx="1812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Answers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5" name="Google Shape;425;p49"/>
          <p:cNvSpPr txBox="1">
            <a:spLocks noGrp="1"/>
          </p:cNvSpPr>
          <p:nvPr>
            <p:ph type="title"/>
          </p:nvPr>
        </p:nvSpPr>
        <p:spPr>
          <a:xfrm>
            <a:off x="2069567" y="31936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6" name="Google Shape;426;p49"/>
          <p:cNvSpPr txBox="1">
            <a:spLocks noGrp="1"/>
          </p:cNvSpPr>
          <p:nvPr>
            <p:ph type="title"/>
          </p:nvPr>
        </p:nvSpPr>
        <p:spPr>
          <a:xfrm>
            <a:off x="8855667" y="3347100"/>
            <a:ext cx="2358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Predictions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7" name="Google Shape;427;p49"/>
          <p:cNvSpPr txBox="1">
            <a:spLocks noGrp="1"/>
          </p:cNvSpPr>
          <p:nvPr>
            <p:ph type="title"/>
          </p:nvPr>
        </p:nvSpPr>
        <p:spPr>
          <a:xfrm>
            <a:off x="2069567" y="5136700"/>
            <a:ext cx="1384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Data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8" name="Google Shape;428;p49"/>
          <p:cNvSpPr txBox="1">
            <a:spLocks noGrp="1"/>
          </p:cNvSpPr>
          <p:nvPr>
            <p:ph type="title"/>
          </p:nvPr>
        </p:nvSpPr>
        <p:spPr>
          <a:xfrm>
            <a:off x="8855667" y="5119033"/>
            <a:ext cx="23584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Predictions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9" name="Google Shape;429;p49"/>
          <p:cNvSpPr txBox="1"/>
          <p:nvPr/>
        </p:nvSpPr>
        <p:spPr>
          <a:xfrm rot="1147">
            <a:off x="9497624" y="947863"/>
            <a:ext cx="23976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933" b="1">
                <a:solidFill>
                  <a:srgbClr val="1C4587"/>
                </a:solidFill>
                <a:latin typeface="Play"/>
                <a:ea typeface="Play"/>
                <a:cs typeface="Play"/>
                <a:sym typeface="Play"/>
              </a:rPr>
              <a:t>Rule-based</a:t>
            </a:r>
            <a:endParaRPr sz="2933" b="1">
              <a:solidFill>
                <a:srgbClr val="1C4587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0" name="Google Shape;430;p49"/>
          <p:cNvSpPr txBox="1"/>
          <p:nvPr/>
        </p:nvSpPr>
        <p:spPr>
          <a:xfrm rot="573">
            <a:off x="8959782" y="2832940"/>
            <a:ext cx="2398000" cy="6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933" b="1" dirty="0">
                <a:solidFill>
                  <a:srgbClr val="38761D"/>
                </a:solidFill>
                <a:latin typeface="Play"/>
                <a:ea typeface="Play"/>
                <a:cs typeface="Play"/>
                <a:sym typeface="Play"/>
              </a:rPr>
              <a:t>Data-driven</a:t>
            </a:r>
            <a:endParaRPr sz="2933" b="1" dirty="0">
              <a:solidFill>
                <a:srgbClr val="38761D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2" name="Google Shape;432;p49"/>
          <p:cNvSpPr txBox="1"/>
          <p:nvPr/>
        </p:nvSpPr>
        <p:spPr>
          <a:xfrm rot="389">
            <a:off x="8338600" y="4455317"/>
            <a:ext cx="3536000" cy="6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GB" sz="2800" b="1" dirty="0">
                <a:solidFill>
                  <a:srgbClr val="38761D"/>
                </a:solidFill>
                <a:latin typeface="Play"/>
                <a:ea typeface="Play"/>
                <a:cs typeface="Play"/>
                <a:sym typeface="Play"/>
              </a:rPr>
              <a:t>Goal is to predict</a:t>
            </a:r>
            <a:endParaRPr sz="2800" b="1" dirty="0">
              <a:solidFill>
                <a:srgbClr val="38761D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3" name="Google Shape;433;p49"/>
          <p:cNvSpPr txBox="1">
            <a:spLocks noGrp="1"/>
          </p:cNvSpPr>
          <p:nvPr>
            <p:ph type="title"/>
          </p:nvPr>
        </p:nvSpPr>
        <p:spPr>
          <a:xfrm>
            <a:off x="1943100" y="3970733"/>
            <a:ext cx="1612000" cy="62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sz="2800">
                <a:solidFill>
                  <a:schemeClr val="dk2"/>
                </a:solidFill>
              </a:rPr>
              <a:t>Labels</a:t>
            </a:r>
            <a:endParaRPr sz="2800">
              <a:solidFill>
                <a:schemeClr val="dk2"/>
              </a:solidFill>
            </a:endParaRPr>
          </a:p>
          <a:p>
            <a:pPr algn="ctr"/>
            <a:r>
              <a:rPr lang="en-GB" sz="2800">
                <a:solidFill>
                  <a:schemeClr val="dk2"/>
                </a:solidFill>
              </a:rPr>
              <a:t>= targets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34" name="Google Shape;434;p49"/>
          <p:cNvSpPr txBox="1"/>
          <p:nvPr/>
        </p:nvSpPr>
        <p:spPr>
          <a:xfrm>
            <a:off x="660400" y="972800"/>
            <a:ext cx="533600" cy="2220800"/>
          </a:xfrm>
          <a:prstGeom prst="rect">
            <a:avLst/>
          </a:prstGeom>
          <a:solidFill>
            <a:srgbClr val="DEF0FF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A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S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I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C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660400" y="3429000"/>
            <a:ext cx="533600" cy="2355600"/>
          </a:xfrm>
          <a:prstGeom prst="rect">
            <a:avLst/>
          </a:prstGeom>
          <a:solidFill>
            <a:srgbClr val="EEFFE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M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80000"/>
              </a:lnSpc>
            </a:pPr>
            <a:r>
              <a:rPr lang="en-GB" sz="2133" b="1">
                <a:latin typeface="Calibri"/>
                <a:ea typeface="Calibri"/>
                <a:cs typeface="Calibri"/>
                <a:sym typeface="Calibri"/>
              </a:rPr>
              <a:t> L</a:t>
            </a:r>
            <a:endParaRPr sz="2133" b="1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5076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28052"/>
            <a:ext cx="9692640" cy="699469"/>
          </a:xfrm>
        </p:spPr>
        <p:txBody>
          <a:bodyPr>
            <a:normAutofit/>
          </a:bodyPr>
          <a:lstStyle/>
          <a:p>
            <a:r>
              <a:rPr lang="en-US" dirty="0" smtClean="0"/>
              <a:t>Types of </a:t>
            </a:r>
            <a:r>
              <a:rPr lang="en-US" dirty="0" smtClean="0"/>
              <a:t>Learning </a:t>
            </a:r>
            <a:r>
              <a:rPr lang="en-US" sz="3200" dirty="0" smtClean="0"/>
              <a:t>(Learning Paradigms)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69065"/>
            <a:ext cx="10515600" cy="3206056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Supervised learning </a:t>
            </a:r>
            <a:r>
              <a:rPr lang="en-US" sz="2000" dirty="0" smtClean="0"/>
              <a:t>- is when the model is getting trained on a labelled dataset. Labelled dataset is one which have both input and output data vectors. This is synonymous with learning with a teacher.</a:t>
            </a:r>
          </a:p>
          <a:p>
            <a:r>
              <a:rPr lang="en-US" sz="2000" b="1" dirty="0" smtClean="0"/>
              <a:t>Unsupervised learning </a:t>
            </a:r>
            <a:r>
              <a:rPr lang="en-US" sz="2000" dirty="0" smtClean="0"/>
              <a:t>- is when the model is getting trained using an un-labelled dataset. The dataset here only has input data vector. This is synonymous with learning with no teacher</a:t>
            </a:r>
          </a:p>
          <a:p>
            <a:r>
              <a:rPr lang="en-US" sz="2000" b="1" dirty="0" smtClean="0"/>
              <a:t>Reinforcement Learning </a:t>
            </a:r>
            <a:r>
              <a:rPr lang="en-US" sz="2000" dirty="0" smtClean="0"/>
              <a:t>– is when the model uses rewards in the training process. This is synonymous with learning with a teacher who gives rewards and penalties. </a:t>
            </a:r>
          </a:p>
          <a:p>
            <a:endParaRPr lang="en-US" sz="2000" dirty="0" smtClean="0"/>
          </a:p>
          <a:p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4626427" y="1062449"/>
            <a:ext cx="289995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Machine Learning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223553" y="2467535"/>
            <a:ext cx="2899954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Supervised </a:t>
            </a:r>
          </a:p>
          <a:p>
            <a:pPr algn="ctr"/>
            <a:r>
              <a:rPr lang="en-US" sz="2000" b="1" dirty="0" smtClean="0"/>
              <a:t>Learning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626427" y="2462830"/>
            <a:ext cx="2899954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Unsupervised Learning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029301" y="2462829"/>
            <a:ext cx="2899954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Reinforcement Learning</a:t>
            </a:r>
            <a:endParaRPr lang="en-US" sz="2000" b="1" dirty="0"/>
          </a:p>
        </p:txBody>
      </p:sp>
      <p:cxnSp>
        <p:nvCxnSpPr>
          <p:cNvPr id="12" name="Elbow Connector 11"/>
          <p:cNvCxnSpPr>
            <a:endCxn id="6" idx="0"/>
          </p:cNvCxnSpPr>
          <p:nvPr/>
        </p:nvCxnSpPr>
        <p:spPr>
          <a:xfrm rot="10800000" flipV="1">
            <a:off x="2673530" y="1957923"/>
            <a:ext cx="3402874" cy="509612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5" idx="2"/>
          </p:cNvCxnSpPr>
          <p:nvPr/>
        </p:nvCxnSpPr>
        <p:spPr>
          <a:xfrm flipV="1">
            <a:off x="6076404" y="1462559"/>
            <a:ext cx="0" cy="10002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endCxn id="8" idx="0"/>
          </p:cNvCxnSpPr>
          <p:nvPr/>
        </p:nvCxnSpPr>
        <p:spPr>
          <a:xfrm>
            <a:off x="6076404" y="1957923"/>
            <a:ext cx="3402874" cy="504906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165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Learning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58880" y="2095355"/>
            <a:ext cx="347849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Machine Learning</a:t>
            </a:r>
            <a:endParaRPr lang="en-US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341120" y="3500441"/>
            <a:ext cx="2899954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Supervised </a:t>
            </a:r>
          </a:p>
          <a:p>
            <a:pPr algn="ctr"/>
            <a:r>
              <a:rPr lang="en-US" sz="2400" b="1" dirty="0" smtClean="0"/>
              <a:t>Learning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743994" y="3495736"/>
            <a:ext cx="2899954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Unsupervised Learning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146868" y="3495735"/>
            <a:ext cx="2899954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Reinforcement Learning</a:t>
            </a:r>
            <a:endParaRPr lang="en-US" sz="2400" b="1" dirty="0"/>
          </a:p>
        </p:txBody>
      </p:sp>
      <p:cxnSp>
        <p:nvCxnSpPr>
          <p:cNvPr id="12" name="Elbow Connector 11"/>
          <p:cNvCxnSpPr>
            <a:endCxn id="6" idx="0"/>
          </p:cNvCxnSpPr>
          <p:nvPr/>
        </p:nvCxnSpPr>
        <p:spPr>
          <a:xfrm rot="10800000" flipV="1">
            <a:off x="2791097" y="2990829"/>
            <a:ext cx="3402874" cy="509611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7" idx="0"/>
            <a:endCxn id="5" idx="2"/>
          </p:cNvCxnSpPr>
          <p:nvPr/>
        </p:nvCxnSpPr>
        <p:spPr>
          <a:xfrm flipV="1">
            <a:off x="6193971" y="2557020"/>
            <a:ext cx="4154" cy="9387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endCxn id="8" idx="0"/>
          </p:cNvCxnSpPr>
          <p:nvPr/>
        </p:nvCxnSpPr>
        <p:spPr>
          <a:xfrm>
            <a:off x="6193971" y="2990829"/>
            <a:ext cx="3402874" cy="504906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0179" y="4856488"/>
            <a:ext cx="1641565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Classification</a:t>
            </a:r>
            <a:endParaRPr lang="en-US" sz="16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743994" y="4856488"/>
            <a:ext cx="1449977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Clustering</a:t>
            </a:r>
            <a:endParaRPr lang="en-US" sz="16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138642" y="5078229"/>
            <a:ext cx="1641565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Regression</a:t>
            </a:r>
            <a:endParaRPr lang="en-US" sz="1600" b="1" dirty="0"/>
          </a:p>
        </p:txBody>
      </p:sp>
      <p:cxnSp>
        <p:nvCxnSpPr>
          <p:cNvPr id="9" name="Straight Connector 8"/>
          <p:cNvCxnSpPr>
            <a:stCxn id="6" idx="2"/>
            <a:endCxn id="11" idx="0"/>
          </p:cNvCxnSpPr>
          <p:nvPr/>
        </p:nvCxnSpPr>
        <p:spPr>
          <a:xfrm flipH="1">
            <a:off x="1160962" y="4331438"/>
            <a:ext cx="1630135" cy="525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2"/>
            <a:endCxn id="14" idx="0"/>
          </p:cNvCxnSpPr>
          <p:nvPr/>
        </p:nvCxnSpPr>
        <p:spPr>
          <a:xfrm>
            <a:off x="2791097" y="4331438"/>
            <a:ext cx="168328" cy="7467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2"/>
            <a:endCxn id="13" idx="0"/>
          </p:cNvCxnSpPr>
          <p:nvPr/>
        </p:nvCxnSpPr>
        <p:spPr>
          <a:xfrm flipH="1">
            <a:off x="5468983" y="4326733"/>
            <a:ext cx="724988" cy="52975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90306" y="5116593"/>
            <a:ext cx="687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,…</a:t>
            </a:r>
            <a:endParaRPr lang="en-US" sz="28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3829355" y="4902990"/>
            <a:ext cx="687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,…</a:t>
            </a:r>
            <a:endParaRPr lang="en-US" sz="28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202208" y="5274989"/>
            <a:ext cx="1857833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Assoc. Analysis</a:t>
            </a:r>
            <a:endParaRPr lang="en-US" sz="1600" b="1" dirty="0"/>
          </a:p>
        </p:txBody>
      </p:sp>
      <p:cxnSp>
        <p:nvCxnSpPr>
          <p:cNvPr id="21" name="Straight Connector 20"/>
          <p:cNvCxnSpPr>
            <a:stCxn id="7" idx="2"/>
            <a:endCxn id="20" idx="0"/>
          </p:cNvCxnSpPr>
          <p:nvPr/>
        </p:nvCxnSpPr>
        <p:spPr>
          <a:xfrm>
            <a:off x="6193971" y="4326733"/>
            <a:ext cx="937154" cy="9482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96683" y="5808483"/>
            <a:ext cx="1449977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Q Learning</a:t>
            </a:r>
            <a:endParaRPr lang="en-US" sz="1600" b="1" dirty="0"/>
          </a:p>
        </p:txBody>
      </p:sp>
      <p:cxnSp>
        <p:nvCxnSpPr>
          <p:cNvPr id="26" name="Straight Connector 25"/>
          <p:cNvCxnSpPr>
            <a:stCxn id="8" idx="2"/>
            <a:endCxn id="25" idx="0"/>
          </p:cNvCxnSpPr>
          <p:nvPr/>
        </p:nvCxnSpPr>
        <p:spPr>
          <a:xfrm flipH="1">
            <a:off x="8921672" y="4326732"/>
            <a:ext cx="675173" cy="148175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737503" y="5607925"/>
            <a:ext cx="687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,…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03618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49086"/>
          </a:xfrm>
        </p:spPr>
        <p:txBody>
          <a:bodyPr/>
          <a:lstStyle/>
          <a:p>
            <a:r>
              <a:rPr lang="en-US" dirty="0" smtClean="0"/>
              <a:t>Classification and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05" y="1480494"/>
            <a:ext cx="4449930" cy="40189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327" y="2460208"/>
            <a:ext cx="5301597" cy="418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33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and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036" y="1828801"/>
            <a:ext cx="7782421" cy="44435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40526" y="6518364"/>
            <a:ext cx="10413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Source: </a:t>
            </a:r>
            <a:r>
              <a:rPr lang="en-US" sz="1200" dirty="0" smtClean="0">
                <a:hlinkClick r:id="rId3"/>
              </a:rPr>
              <a:t>https://artofbetterprogramming.com/2020/06/21/supervised-machine-learning-algorithms-topics-of-machine-learning/</a:t>
            </a:r>
            <a:r>
              <a:rPr lang="en-US" sz="1200" dirty="0" smtClean="0"/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6463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585541"/>
          </a:xfrm>
        </p:spPr>
        <p:txBody>
          <a:bodyPr>
            <a:normAutofit fontScale="90000"/>
          </a:bodyPr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68556"/>
            <a:ext cx="8595360" cy="435133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909" y="554039"/>
            <a:ext cx="5855738" cy="48588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1842" y="5376830"/>
            <a:ext cx="9720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Illustration of a simple four-class classification model for a two-dimensional data set (filled circles denote the samples, whereas stars denote the </a:t>
            </a:r>
            <a:r>
              <a:rPr lang="en-US" dirty="0" err="1" smtClean="0"/>
              <a:t>centre</a:t>
            </a:r>
            <a:r>
              <a:rPr lang="en-US" dirty="0" smtClean="0"/>
              <a:t> of </a:t>
            </a:r>
            <a:r>
              <a:rPr lang="en-US" dirty="0"/>
              <a:t>each class). Note </a:t>
            </a:r>
            <a:r>
              <a:rPr lang="en-US" dirty="0" smtClean="0"/>
              <a:t>the decision </a:t>
            </a:r>
            <a:r>
              <a:rPr lang="en-US" dirty="0"/>
              <a:t>boundaries </a:t>
            </a:r>
            <a:r>
              <a:rPr lang="en-US" dirty="0" smtClean="0"/>
              <a:t>– they are </a:t>
            </a:r>
            <a:r>
              <a:rPr lang="en-US" dirty="0"/>
              <a:t>not necessarily parallel to the coordinate axes; they can be oblique or even </a:t>
            </a:r>
            <a:r>
              <a:rPr lang="en-US" dirty="0" smtClean="0"/>
              <a:t>curvilinear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75649" y="6508547"/>
            <a:ext cx="7076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Source: </a:t>
            </a:r>
            <a:r>
              <a:rPr lang="en-US" sz="1200" dirty="0"/>
              <a:t>Clara </a:t>
            </a:r>
            <a:r>
              <a:rPr lang="en-US" sz="1200" dirty="0" err="1"/>
              <a:t>Curiel-Lewandrowski</a:t>
            </a:r>
            <a:r>
              <a:rPr lang="en-US" sz="1200" dirty="0"/>
              <a:t>, et.al</a:t>
            </a:r>
            <a:r>
              <a:rPr lang="en-US" sz="1200" dirty="0" smtClean="0"/>
              <a:t>.  </a:t>
            </a:r>
            <a:r>
              <a:rPr lang="en-US" sz="1200" dirty="0"/>
              <a:t>Artificial Intelligence </a:t>
            </a:r>
            <a:r>
              <a:rPr lang="en-US" sz="1200" dirty="0" smtClean="0"/>
              <a:t>Approach in Melanoma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72325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a classification problem?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In </a:t>
            </a:r>
            <a:r>
              <a:rPr lang="en-US" sz="2000" dirty="0"/>
              <a:t>a classification problem, you are given the data and for each data point a label. The data is commonly called </a:t>
            </a:r>
            <a:r>
              <a:rPr lang="en-US" sz="2000" b="1" dirty="0"/>
              <a:t>labeled data</a:t>
            </a:r>
            <a:r>
              <a:rPr lang="en-US" sz="2000" dirty="0"/>
              <a:t>. </a:t>
            </a:r>
            <a:r>
              <a:rPr lang="en-US" sz="2000" dirty="0" smtClean="0"/>
              <a:t>Also referred to as “L</a:t>
            </a:r>
            <a:r>
              <a:rPr lang="en-US" sz="2000" b="1" dirty="0" smtClean="0"/>
              <a:t>abeled by a teacher</a:t>
            </a:r>
            <a:r>
              <a:rPr lang="en-US" sz="2000" dirty="0" smtClean="0"/>
              <a:t>”</a:t>
            </a:r>
          </a:p>
          <a:p>
            <a:r>
              <a:rPr lang="en-US" sz="2000" dirty="0" smtClean="0"/>
              <a:t>The </a:t>
            </a:r>
            <a:r>
              <a:rPr lang="en-US" sz="2000" dirty="0"/>
              <a:t>task is to create a model from the labeled data so that the model can predict a label for any new data point for which the label is unknown.</a:t>
            </a:r>
          </a:p>
          <a:p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463040" y="6492240"/>
            <a:ext cx="9679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Source: </a:t>
            </a:r>
            <a:r>
              <a:rPr lang="en-US" sz="1400" dirty="0" smtClean="0">
                <a:hlinkClick r:id="rId2"/>
              </a:rPr>
              <a:t>https://computing4all.com/courses/introductory-data-science/lessons/what-is-a-classification-problem/</a:t>
            </a:r>
            <a:endParaRPr lang="en-US" sz="1400" dirty="0" smtClean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66328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For example, the following table contains (fictitious) data regarding coronavirus infection. Each row reflects information of a patient.</a:t>
            </a:r>
          </a:p>
          <a:p>
            <a:endParaRPr lang="en-US" sz="2000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726228"/>
              </p:ext>
            </p:extLst>
          </p:nvPr>
        </p:nvGraphicFramePr>
        <p:xfrm>
          <a:off x="1635034" y="2997903"/>
          <a:ext cx="8921931" cy="27184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4757">
                  <a:extLst>
                    <a:ext uri="{9D8B030D-6E8A-4147-A177-3AD203B41FA5}">
                      <a16:colId xmlns:a16="http://schemas.microsoft.com/office/drawing/2014/main" val="4028865779"/>
                    </a:ext>
                  </a:extLst>
                </a:gridCol>
                <a:gridCol w="1435582">
                  <a:extLst>
                    <a:ext uri="{9D8B030D-6E8A-4147-A177-3AD203B41FA5}">
                      <a16:colId xmlns:a16="http://schemas.microsoft.com/office/drawing/2014/main" val="172290192"/>
                    </a:ext>
                  </a:extLst>
                </a:gridCol>
                <a:gridCol w="1463624">
                  <a:extLst>
                    <a:ext uri="{9D8B030D-6E8A-4147-A177-3AD203B41FA5}">
                      <a16:colId xmlns:a16="http://schemas.microsoft.com/office/drawing/2014/main" val="2447448901"/>
                    </a:ext>
                  </a:extLst>
                </a:gridCol>
                <a:gridCol w="1390721">
                  <a:extLst>
                    <a:ext uri="{9D8B030D-6E8A-4147-A177-3AD203B41FA5}">
                      <a16:colId xmlns:a16="http://schemas.microsoft.com/office/drawing/2014/main" val="1300671951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3828300302"/>
                    </a:ext>
                  </a:extLst>
                </a:gridCol>
                <a:gridCol w="1665502">
                  <a:extLst>
                    <a:ext uri="{9D8B030D-6E8A-4147-A177-3AD203B41FA5}">
                      <a16:colId xmlns:a16="http://schemas.microsoft.com/office/drawing/2014/main" val="3219283836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Average </a:t>
                      </a:r>
                      <a:r>
                        <a:rPr lang="en-US" sz="1800" b="1" u="none" strike="noStrike" dirty="0" smtClean="0">
                          <a:effectLst/>
                        </a:rPr>
                        <a:t>temp.</a:t>
                      </a:r>
                      <a:endParaRPr lang="en-US" sz="18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Oxygen processing (%)</a:t>
                      </a:r>
                      <a:endParaRPr lang="en-US" sz="18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Congestion (%)</a:t>
                      </a:r>
                      <a:endParaRPr lang="en-US" sz="18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Cough (per hour)</a:t>
                      </a:r>
                      <a:endParaRPr lang="en-US" sz="18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Factor in blood</a:t>
                      </a:r>
                      <a:endParaRPr lang="en-US" sz="18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Coronavirus</a:t>
                      </a:r>
                      <a:endParaRPr lang="en-US" sz="18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74974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38.9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70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50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30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Infected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075927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36.7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85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80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Infected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157484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36.1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99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Not infected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681697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37.8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82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60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15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2.5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Infected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761198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36.1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85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30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30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Not infected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49005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37.2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90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20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u="none" strike="noStrike" dirty="0">
                          <a:effectLst/>
                        </a:rPr>
                        <a:t>Infected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2825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960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Training dataset</a:t>
            </a:r>
          </a:p>
          <a:p>
            <a:pPr lvl="1"/>
            <a:r>
              <a:rPr lang="en-US" sz="2000" dirty="0"/>
              <a:t>Training data is the data that is used to build the classification model. A training dataset contains a column with class labels. </a:t>
            </a:r>
            <a:endParaRPr lang="en-US" sz="2000" dirty="0" smtClean="0"/>
          </a:p>
          <a:p>
            <a:pPr lvl="1"/>
            <a:r>
              <a:rPr lang="en-US" sz="2000" dirty="0" smtClean="0"/>
              <a:t>For </a:t>
            </a:r>
            <a:r>
              <a:rPr lang="en-US" sz="2000" dirty="0"/>
              <a:t>example, the </a:t>
            </a:r>
            <a:r>
              <a:rPr lang="en-US" sz="2000" dirty="0" smtClean="0"/>
              <a:t>labeled data can </a:t>
            </a:r>
            <a:r>
              <a:rPr lang="en-US" sz="2000" dirty="0"/>
              <a:t>be used as the training data do build a classification model.</a:t>
            </a:r>
          </a:p>
          <a:p>
            <a:r>
              <a:rPr lang="en-US" sz="2400" b="1" dirty="0"/>
              <a:t>Test data</a:t>
            </a:r>
          </a:p>
          <a:p>
            <a:pPr lvl="1"/>
            <a:r>
              <a:rPr lang="en-US" sz="2000" dirty="0"/>
              <a:t>Test data is the data that </a:t>
            </a:r>
            <a:r>
              <a:rPr lang="en-US" sz="2000" dirty="0" smtClean="0"/>
              <a:t>we hide the </a:t>
            </a:r>
            <a:r>
              <a:rPr lang="en-US" sz="2000" dirty="0"/>
              <a:t>column for class labels but </a:t>
            </a:r>
            <a:r>
              <a:rPr lang="en-US" sz="2000" dirty="0" smtClean="0"/>
              <a:t>with </a:t>
            </a:r>
            <a:r>
              <a:rPr lang="en-US" sz="2000" dirty="0"/>
              <a:t>all the other columns like the training data. </a:t>
            </a:r>
            <a:endParaRPr lang="en-US" sz="2000" dirty="0" smtClean="0"/>
          </a:p>
          <a:p>
            <a:pPr lvl="1"/>
            <a:r>
              <a:rPr lang="en-US" sz="2000" dirty="0" smtClean="0"/>
              <a:t>That </a:t>
            </a:r>
            <a:r>
              <a:rPr lang="en-US" sz="2000" dirty="0"/>
              <a:t>is, test data </a:t>
            </a:r>
            <a:r>
              <a:rPr lang="en-US" sz="2000" dirty="0" smtClean="0"/>
              <a:t>will be used by the model to predict/classify the test examples/instance, then we compare with the actual (hidden) class labels. </a:t>
            </a: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1890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The data below can be used to predict classes using the classification model built using the first table. That means, a classifier that uses a classification model built from the first table (training data) can classify each row of the second table (query data) to either Infected or Not infected.</a:t>
            </a:r>
          </a:p>
          <a:p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060726"/>
              </p:ext>
            </p:extLst>
          </p:nvPr>
        </p:nvGraphicFramePr>
        <p:xfrm>
          <a:off x="1907177" y="3827418"/>
          <a:ext cx="7837714" cy="1998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7590">
                  <a:extLst>
                    <a:ext uri="{9D8B030D-6E8A-4147-A177-3AD203B41FA5}">
                      <a16:colId xmlns:a16="http://schemas.microsoft.com/office/drawing/2014/main" val="553591849"/>
                    </a:ext>
                  </a:extLst>
                </a:gridCol>
                <a:gridCol w="1261128">
                  <a:extLst>
                    <a:ext uri="{9D8B030D-6E8A-4147-A177-3AD203B41FA5}">
                      <a16:colId xmlns:a16="http://schemas.microsoft.com/office/drawing/2014/main" val="734878668"/>
                    </a:ext>
                  </a:extLst>
                </a:gridCol>
                <a:gridCol w="1285759">
                  <a:extLst>
                    <a:ext uri="{9D8B030D-6E8A-4147-A177-3AD203B41FA5}">
                      <a16:colId xmlns:a16="http://schemas.microsoft.com/office/drawing/2014/main" val="1826703582"/>
                    </a:ext>
                  </a:extLst>
                </a:gridCol>
                <a:gridCol w="1221717">
                  <a:extLst>
                    <a:ext uri="{9D8B030D-6E8A-4147-A177-3AD203B41FA5}">
                      <a16:colId xmlns:a16="http://schemas.microsoft.com/office/drawing/2014/main" val="575666655"/>
                    </a:ext>
                  </a:extLst>
                </a:gridCol>
                <a:gridCol w="1108414">
                  <a:extLst>
                    <a:ext uri="{9D8B030D-6E8A-4147-A177-3AD203B41FA5}">
                      <a16:colId xmlns:a16="http://schemas.microsoft.com/office/drawing/2014/main" val="2481027687"/>
                    </a:ext>
                  </a:extLst>
                </a:gridCol>
                <a:gridCol w="1463106">
                  <a:extLst>
                    <a:ext uri="{9D8B030D-6E8A-4147-A177-3AD203B41FA5}">
                      <a16:colId xmlns:a16="http://schemas.microsoft.com/office/drawing/2014/main" val="192118996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Average </a:t>
                      </a:r>
                      <a:r>
                        <a:rPr lang="en-US" sz="1600" b="1" u="none" strike="noStrike" dirty="0" smtClean="0">
                          <a:effectLst/>
                        </a:rPr>
                        <a:t>temp.</a:t>
                      </a:r>
                      <a:endParaRPr lang="en-US" sz="16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Oxygen processing (%)</a:t>
                      </a:r>
                      <a:endParaRPr lang="en-US" sz="16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Congestion (%)</a:t>
                      </a:r>
                      <a:endParaRPr lang="en-US" sz="16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Cough </a:t>
                      </a:r>
                      <a:endParaRPr lang="en-US" sz="1600" b="1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en-US" sz="1600" b="1" u="none" strike="noStrike" dirty="0" smtClean="0">
                          <a:effectLst/>
                        </a:rPr>
                        <a:t>(</a:t>
                      </a:r>
                      <a:r>
                        <a:rPr lang="en-US" sz="1600" b="1" u="none" strike="noStrike" dirty="0">
                          <a:effectLst/>
                        </a:rPr>
                        <a:t>per hour)</a:t>
                      </a:r>
                      <a:endParaRPr lang="en-US" sz="16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Factor in blood</a:t>
                      </a:r>
                      <a:endParaRPr lang="en-US" sz="16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Coronavirus</a:t>
                      </a:r>
                      <a:endParaRPr lang="en-US" sz="1600" b="1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540464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38.3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83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62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17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2.6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r>
                        <a:rPr lang="en-US" sz="2000" u="none" strike="noStrike" dirty="0" smtClean="0">
                          <a:effectLst/>
                        </a:rPr>
                        <a:t>?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74454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36.6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84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31</a:t>
                      </a:r>
                      <a:endParaRPr lang="en-US" sz="2000" b="0" i="0" u="none" strike="noStrike" dirty="0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32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2.1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r>
                        <a:rPr lang="en-US" sz="2000" u="none" strike="noStrike" dirty="0" smtClean="0">
                          <a:effectLst/>
                        </a:rPr>
                        <a:t>?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18772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37.2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88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81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4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r>
                        <a:rPr lang="en-US" sz="2000" u="none" strike="noStrike" dirty="0" smtClean="0">
                          <a:effectLst/>
                        </a:rPr>
                        <a:t>?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483683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36.1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91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21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666666"/>
                        </a:solidFill>
                        <a:effectLst/>
                        <a:latin typeface="Roboto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r>
                        <a:rPr lang="en-US" sz="2000" u="none" strike="noStrike" dirty="0" smtClean="0">
                          <a:effectLst/>
                        </a:rPr>
                        <a:t>?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15942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461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Model – Train and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666" y="2437687"/>
            <a:ext cx="8509326" cy="32838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4643" y="5794825"/>
            <a:ext cx="8995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The Training and Test Sets should have similar representation to that of the original dataset. </a:t>
            </a:r>
            <a:r>
              <a:rPr lang="en-US" dirty="0" smtClean="0"/>
              <a:t>We can also have a validation set for parameter tuning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195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There are many performance measures depending on the task. </a:t>
            </a:r>
          </a:p>
          <a:p>
            <a:r>
              <a:rPr lang="en-US" sz="2400" dirty="0" smtClean="0"/>
              <a:t>A shortlist:</a:t>
            </a:r>
            <a:endParaRPr lang="en-US" sz="2400" dirty="0"/>
          </a:p>
          <a:p>
            <a:pPr lvl="1"/>
            <a:r>
              <a:rPr lang="en-US" sz="2000" dirty="0"/>
              <a:t>Classification Accuracy</a:t>
            </a:r>
          </a:p>
          <a:p>
            <a:pPr lvl="1"/>
            <a:r>
              <a:rPr lang="en-US" sz="2000" dirty="0"/>
              <a:t>Logarithmic Loss</a:t>
            </a:r>
          </a:p>
          <a:p>
            <a:pPr lvl="1"/>
            <a:r>
              <a:rPr lang="en-US" sz="2000" dirty="0"/>
              <a:t>Confusion Matrix</a:t>
            </a:r>
          </a:p>
          <a:p>
            <a:pPr lvl="1"/>
            <a:r>
              <a:rPr lang="en-US" sz="2000" dirty="0"/>
              <a:t>Area under </a:t>
            </a:r>
            <a:r>
              <a:rPr lang="en-US" sz="2000" dirty="0" smtClean="0"/>
              <a:t>Curve (ROC curve)</a:t>
            </a:r>
            <a:endParaRPr lang="en-US" sz="2000" dirty="0"/>
          </a:p>
          <a:p>
            <a:pPr lvl="1"/>
            <a:r>
              <a:rPr lang="en-US" sz="2000" dirty="0"/>
              <a:t>F1 Score</a:t>
            </a:r>
          </a:p>
          <a:p>
            <a:pPr lvl="1"/>
            <a:r>
              <a:rPr lang="en-US" sz="2000" dirty="0"/>
              <a:t>Mean Absolute Error</a:t>
            </a:r>
          </a:p>
          <a:p>
            <a:pPr lvl="1"/>
            <a:r>
              <a:rPr lang="en-US" sz="2000" dirty="0"/>
              <a:t>Mean Squared </a:t>
            </a:r>
            <a:r>
              <a:rPr lang="en-US" sz="2000" dirty="0" smtClean="0"/>
              <a:t>Error</a:t>
            </a:r>
          </a:p>
          <a:p>
            <a:pPr lvl="1"/>
            <a:r>
              <a:rPr lang="en-US" sz="2000" dirty="0" smtClean="0"/>
              <a:t>..</a:t>
            </a: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84470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991700"/>
          </a:xfrm>
        </p:spPr>
        <p:txBody>
          <a:bodyPr/>
          <a:lstStyle/>
          <a:p>
            <a:r>
              <a:rPr lang="en-US" dirty="0"/>
              <a:t>Performance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659118"/>
            <a:ext cx="9541246" cy="4521019"/>
          </a:xfrm>
        </p:spPr>
        <p:txBody>
          <a:bodyPr>
            <a:noAutofit/>
          </a:bodyPr>
          <a:lstStyle/>
          <a:p>
            <a:r>
              <a:rPr lang="en-US" sz="2000" b="1" dirty="0" smtClean="0"/>
              <a:t>Classification Accuracy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Works </a:t>
            </a:r>
            <a:r>
              <a:rPr lang="en-US" sz="2000" dirty="0"/>
              <a:t>well </a:t>
            </a:r>
            <a:r>
              <a:rPr lang="en-US" sz="2000" dirty="0" smtClean="0"/>
              <a:t>if </a:t>
            </a:r>
            <a:r>
              <a:rPr lang="en-US" sz="2000" dirty="0"/>
              <a:t>there are equal number of samples belonging to each class.</a:t>
            </a:r>
          </a:p>
          <a:p>
            <a:r>
              <a:rPr lang="en-US" sz="2000" dirty="0"/>
              <a:t>For example, consider that there are 98% samples of class A and 2% samples of class B in our training set. </a:t>
            </a:r>
            <a:r>
              <a:rPr lang="en-US" sz="2000" dirty="0" smtClean="0"/>
              <a:t>Our </a:t>
            </a:r>
            <a:r>
              <a:rPr lang="en-US" sz="2000" dirty="0"/>
              <a:t>model can easily get 98% training accuracy by simply predicting every training sample </a:t>
            </a:r>
            <a:r>
              <a:rPr lang="en-US" sz="2000" dirty="0" smtClean="0"/>
              <a:t>belongs to </a:t>
            </a:r>
            <a:r>
              <a:rPr lang="en-US" sz="2000" dirty="0"/>
              <a:t>class A.</a:t>
            </a:r>
          </a:p>
          <a:p>
            <a:r>
              <a:rPr lang="en-US" sz="2000" dirty="0"/>
              <a:t>When the same model is tested on a test set with 60% samples of class A and 40% samples of class B, then the test accuracy would drop down to 60%. </a:t>
            </a:r>
            <a:endParaRPr lang="en-US" sz="2000" dirty="0" smtClean="0"/>
          </a:p>
          <a:p>
            <a:r>
              <a:rPr lang="en-US" sz="2000" dirty="0"/>
              <a:t>C</a:t>
            </a:r>
            <a:r>
              <a:rPr lang="en-US" sz="2000" dirty="0" smtClean="0"/>
              <a:t>lassification </a:t>
            </a:r>
            <a:r>
              <a:rPr lang="en-US" sz="2000" dirty="0"/>
              <a:t>Accuracy is </a:t>
            </a:r>
            <a:r>
              <a:rPr lang="en-US" sz="2000" dirty="0" smtClean="0"/>
              <a:t>convenient, but can give a </a:t>
            </a:r>
            <a:r>
              <a:rPr lang="en-US" sz="2000" dirty="0"/>
              <a:t>false sense of achieving high accuracy.</a:t>
            </a:r>
          </a:p>
        </p:txBody>
      </p:sp>
      <p:pic>
        <p:nvPicPr>
          <p:cNvPr id="1026" name="Picture 2" descr="https://miro.medium.com/max/610/1*yRa2inzTnyASJOre93ep3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7193" y="2251041"/>
            <a:ext cx="6045220" cy="680695"/>
          </a:xfrm>
          <a:prstGeom prst="rect">
            <a:avLst/>
          </a:prstGeom>
          <a:solidFill>
            <a:srgbClr val="FFFF00"/>
          </a:solidFill>
          <a:extLst/>
        </p:spPr>
      </p:pic>
      <p:sp>
        <p:nvSpPr>
          <p:cNvPr id="4" name="TextBox 3"/>
          <p:cNvSpPr txBox="1"/>
          <p:nvPr/>
        </p:nvSpPr>
        <p:spPr>
          <a:xfrm>
            <a:off x="414779" y="6278252"/>
            <a:ext cx="10312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 </a:t>
            </a:r>
            <a:r>
              <a:rPr lang="en-US" sz="1400" dirty="0">
                <a:hlinkClick r:id="rId3"/>
              </a:rPr>
              <a:t>https://towardsdatascience.com/metrics-to-evaluate-your-machine-learning-algorithm-f10ba6e38234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40303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1"/>
            <a:ext cx="9692640" cy="59577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Performance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1" y="961536"/>
            <a:ext cx="9795769" cy="1489433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Confusion Matrix - </a:t>
            </a:r>
            <a:r>
              <a:rPr lang="en-US" sz="2000" dirty="0" smtClean="0"/>
              <a:t>Presents a </a:t>
            </a:r>
            <a:r>
              <a:rPr lang="en-US" sz="2000" dirty="0"/>
              <a:t>matrix as output and describes the complete performance of the </a:t>
            </a:r>
            <a:r>
              <a:rPr lang="en-US" sz="2000" dirty="0" smtClean="0"/>
              <a:t>model.</a:t>
            </a:r>
          </a:p>
          <a:p>
            <a:r>
              <a:rPr lang="en-US" sz="2000" dirty="0" smtClean="0"/>
              <a:t>Example – Our ML model testing on 165 samples with Class YES and NO gives this result:</a:t>
            </a:r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3048000" y="31058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956" y="2358798"/>
            <a:ext cx="5282497" cy="30154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15" y="5322715"/>
            <a:ext cx="110576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True Positives</a:t>
            </a:r>
            <a:r>
              <a:rPr lang="en-US" sz="2000" dirty="0"/>
              <a:t> : The cases in which we predicted YES and the actual output was also YES.</a:t>
            </a:r>
          </a:p>
          <a:p>
            <a:r>
              <a:rPr lang="en-US" sz="2000" b="1" dirty="0"/>
              <a:t>True Negatives </a:t>
            </a:r>
            <a:r>
              <a:rPr lang="en-US" sz="2000" dirty="0"/>
              <a:t>: The cases in which we predicted NO and the actual output was NO.</a:t>
            </a:r>
          </a:p>
          <a:p>
            <a:r>
              <a:rPr lang="en-US" sz="2000" b="1" dirty="0"/>
              <a:t>False Positives </a:t>
            </a:r>
            <a:r>
              <a:rPr lang="en-US" sz="2000" dirty="0"/>
              <a:t>: The cases in which we predicted YES </a:t>
            </a:r>
            <a:r>
              <a:rPr lang="en-US" sz="2000" dirty="0" smtClean="0"/>
              <a:t>but </a:t>
            </a:r>
            <a:r>
              <a:rPr lang="en-US" sz="2000" dirty="0"/>
              <a:t>the actual output was NO.</a:t>
            </a:r>
          </a:p>
          <a:p>
            <a:r>
              <a:rPr lang="en-US" sz="2000" b="1" dirty="0"/>
              <a:t>False Negatives </a:t>
            </a:r>
            <a:r>
              <a:rPr lang="en-US" sz="2000" dirty="0"/>
              <a:t>: The cases in which we predicted NO </a:t>
            </a:r>
            <a:r>
              <a:rPr lang="en-US" sz="2000" dirty="0" smtClean="0"/>
              <a:t>but </a:t>
            </a:r>
            <a:r>
              <a:rPr lang="en-US" sz="2000" dirty="0"/>
              <a:t>the actual output was YES.</a:t>
            </a:r>
          </a:p>
        </p:txBody>
      </p:sp>
    </p:spTree>
    <p:extLst>
      <p:ext uri="{BB962C8B-B14F-4D97-AF65-F5344CB8AC3E}">
        <p14:creationId xmlns:p14="http://schemas.microsoft.com/office/powerpoint/2010/main" val="1929801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03164"/>
          </a:xfrm>
        </p:spPr>
        <p:txBody>
          <a:bodyPr/>
          <a:lstStyle/>
          <a:p>
            <a:r>
              <a:rPr lang="en-US" dirty="0"/>
              <a:t>Performance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Sample Confusion Matrix </a:t>
            </a:r>
            <a:r>
              <a:rPr lang="en-US" b="1" dirty="0" smtClean="0"/>
              <a:t>– </a:t>
            </a:r>
            <a:r>
              <a:rPr lang="en-US" dirty="0" smtClean="0"/>
              <a:t>Diabetes patient data - tests classification.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342" y="2711148"/>
            <a:ext cx="5057216" cy="129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9156" y="4563650"/>
            <a:ext cx="4154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TN=126; FN=32</a:t>
            </a:r>
          </a:p>
          <a:p>
            <a:r>
              <a:rPr lang="en-US" dirty="0" smtClean="0"/>
              <a:t>FP=29; TP=43</a:t>
            </a:r>
          </a:p>
        </p:txBody>
      </p:sp>
    </p:spTree>
    <p:extLst>
      <p:ext uri="{BB962C8B-B14F-4D97-AF65-F5344CB8AC3E}">
        <p14:creationId xmlns:p14="http://schemas.microsoft.com/office/powerpoint/2010/main" val="1458018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27749"/>
          </a:xfrm>
        </p:spPr>
        <p:txBody>
          <a:bodyPr/>
          <a:lstStyle/>
          <a:p>
            <a:r>
              <a:rPr lang="en-US" dirty="0" smtClean="0"/>
              <a:t>Performance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187778"/>
            <a:ext cx="9456404" cy="4351337"/>
          </a:xfrm>
        </p:spPr>
        <p:txBody>
          <a:bodyPr/>
          <a:lstStyle/>
          <a:p>
            <a:r>
              <a:rPr lang="en-US" b="1" dirty="0" smtClean="0"/>
              <a:t>Sample Confusion Matrix - </a:t>
            </a:r>
            <a:r>
              <a:rPr lang="en-US" dirty="0" smtClean="0"/>
              <a:t>Drone image classification for 5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0" y="31058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2050" name="Picture 2" descr="https://www.l3harrisgeospatial.com/docs/html/images/Classification/ConfusionMatrix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623" y="1607890"/>
            <a:ext cx="9557427" cy="439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33394" y="6136849"/>
            <a:ext cx="7199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Q. What is the classification accuracy?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656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classification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28800"/>
            <a:ext cx="9475258" cy="4298623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creation of a classification model involves the following stages:</a:t>
            </a:r>
          </a:p>
          <a:p>
            <a:pPr lvl="1"/>
            <a:r>
              <a:rPr lang="en-US" sz="2000" dirty="0" smtClean="0"/>
              <a:t>1. Data </a:t>
            </a:r>
            <a:r>
              <a:rPr lang="en-US" sz="2000" dirty="0"/>
              <a:t>preparation (importing, processing, exploration and statistical analysis) This stage divides the data into two or three parts:</a:t>
            </a:r>
          </a:p>
          <a:p>
            <a:pPr lvl="2"/>
            <a:r>
              <a:rPr lang="en-US" sz="1800" b="1" dirty="0"/>
              <a:t>training data </a:t>
            </a:r>
            <a:r>
              <a:rPr lang="en-US" sz="1800" dirty="0"/>
              <a:t>– will be used to build the model</a:t>
            </a:r>
          </a:p>
          <a:p>
            <a:pPr lvl="2"/>
            <a:r>
              <a:rPr lang="en-US" sz="1800" b="1" dirty="0"/>
              <a:t>validation data</a:t>
            </a:r>
            <a:r>
              <a:rPr lang="en-US" sz="1800" dirty="0"/>
              <a:t> (in more complex cases) – will be used for evaluation of model quality during its creation</a:t>
            </a:r>
          </a:p>
          <a:p>
            <a:pPr lvl="2"/>
            <a:r>
              <a:rPr lang="en-US" sz="1800" b="1" dirty="0"/>
              <a:t>testing data</a:t>
            </a:r>
            <a:r>
              <a:rPr lang="en-US" sz="1800" dirty="0"/>
              <a:t> – will be used to establish the final quality of the model</a:t>
            </a:r>
          </a:p>
          <a:p>
            <a:pPr lvl="1"/>
            <a:r>
              <a:rPr lang="en-US" sz="2000" dirty="0"/>
              <a:t>2. Model creation (using training and optionally validation)</a:t>
            </a:r>
          </a:p>
          <a:p>
            <a:pPr lvl="1"/>
            <a:r>
              <a:rPr lang="en-US" sz="2000" dirty="0"/>
              <a:t>3. Model quality assessment (testing the created model on testing data)</a:t>
            </a:r>
          </a:p>
          <a:p>
            <a:pPr lvl="1"/>
            <a:r>
              <a:rPr lang="en-US" sz="2000" dirty="0"/>
              <a:t>4. Model application and subsequent monitoring (periodical checks if the quality of predictions does not deteriorate over time, for instance due to demographic or market changes)</a:t>
            </a:r>
          </a:p>
          <a:p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509047" y="6400800"/>
            <a:ext cx="10445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Source: </a:t>
            </a:r>
            <a:r>
              <a:rPr lang="en-US" sz="1200" dirty="0" smtClean="0">
                <a:hlinkClick r:id="rId2"/>
              </a:rPr>
              <a:t>https</a:t>
            </a:r>
            <a:r>
              <a:rPr lang="en-US" sz="1200" dirty="0">
                <a:hlinkClick r:id="rId2"/>
              </a:rPr>
              <a:t>://algolytics.com/tutorial-how-to-determine-the-quality-and-correctness-of-classification-models-part-1-introduction</a:t>
            </a:r>
            <a:r>
              <a:rPr lang="en-US" sz="1200" dirty="0" smtClean="0">
                <a:hlinkClick r:id="rId2"/>
              </a:rPr>
              <a:t>/</a:t>
            </a:r>
            <a:r>
              <a:rPr lang="en-US" sz="1200" dirty="0" smtClean="0"/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5506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057687"/>
          </a:xfrm>
        </p:spPr>
        <p:txBody>
          <a:bodyPr/>
          <a:lstStyle/>
          <a:p>
            <a:r>
              <a:rPr lang="en-US" dirty="0"/>
              <a:t>Creating classification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527142"/>
            <a:ext cx="8595360" cy="4652995"/>
          </a:xfrm>
        </p:spPr>
        <p:txBody>
          <a:bodyPr>
            <a:normAutofit/>
          </a:bodyPr>
          <a:lstStyle/>
          <a:p>
            <a:r>
              <a:rPr lang="en-US" sz="2000" dirty="0" smtClean="0"/>
              <a:t>Data is split into three sets: Training, Validation and Testing sets.</a:t>
            </a:r>
          </a:p>
          <a:p>
            <a:r>
              <a:rPr lang="en-US" sz="2000" dirty="0" smtClean="0"/>
              <a:t>Model is based on Training and Validation datasets. Test set is used to assess the model quality or algorithm-model performance.</a:t>
            </a:r>
            <a:endParaRPr lang="en-US" sz="2000" dirty="0"/>
          </a:p>
        </p:txBody>
      </p:sp>
      <p:pic>
        <p:nvPicPr>
          <p:cNvPr id="4" name="Picture 2" descr="Tutorial: How to determine the quality and correctness of classification  models? Part 1 – Introdu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609" y="2657137"/>
            <a:ext cx="8079498" cy="420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8184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4360</TotalTime>
  <Words>1183</Words>
  <Application>Microsoft Office PowerPoint</Application>
  <PresentationFormat>Widescreen</PresentationFormat>
  <Paragraphs>233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Century Schoolbook</vt:lpstr>
      <vt:lpstr>Play</vt:lpstr>
      <vt:lpstr>Roboto</vt:lpstr>
      <vt:lpstr>Wingdings 2</vt:lpstr>
      <vt:lpstr>View</vt:lpstr>
      <vt:lpstr>SCS3212 Machine Learning Algorithms &amp; Programming</vt:lpstr>
      <vt:lpstr>Machine Learning: A paradigm shift</vt:lpstr>
      <vt:lpstr>Paradigm shift</vt:lpstr>
      <vt:lpstr>Paradigm shift</vt:lpstr>
      <vt:lpstr>Paradigm shift</vt:lpstr>
      <vt:lpstr>Types of Learning (Learning Paradigms)</vt:lpstr>
      <vt:lpstr>Types of Learning</vt:lpstr>
      <vt:lpstr>Classification and Regression</vt:lpstr>
      <vt:lpstr>Classification and Regression</vt:lpstr>
      <vt:lpstr>Classification</vt:lpstr>
      <vt:lpstr>What is a classification problem?</vt:lpstr>
      <vt:lpstr>PowerPoint Presentation</vt:lpstr>
      <vt:lpstr>PowerPoint Presentation</vt:lpstr>
      <vt:lpstr>PowerPoint Presentation</vt:lpstr>
      <vt:lpstr>Classification Model – Train and Test</vt:lpstr>
      <vt:lpstr>Performance measures</vt:lpstr>
      <vt:lpstr>Performance measures</vt:lpstr>
      <vt:lpstr>Performance Measures</vt:lpstr>
      <vt:lpstr>Performance Measures</vt:lpstr>
      <vt:lpstr>Performance Measures</vt:lpstr>
      <vt:lpstr>Creating classification models</vt:lpstr>
      <vt:lpstr>Creating classification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</dc:creator>
  <cp:lastModifiedBy>pwwagacha</cp:lastModifiedBy>
  <cp:revision>42</cp:revision>
  <dcterms:created xsi:type="dcterms:W3CDTF">2021-03-02T05:21:46Z</dcterms:created>
  <dcterms:modified xsi:type="dcterms:W3CDTF">2026-03-02T17:23:40Z</dcterms:modified>
</cp:coreProperties>
</file>
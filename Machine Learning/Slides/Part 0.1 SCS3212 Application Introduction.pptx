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4"/>
  </p:notesMasterIdLst>
  <p:sldIdLst>
    <p:sldId id="256" r:id="rId2"/>
    <p:sldId id="258" r:id="rId3"/>
    <p:sldId id="270" r:id="rId4"/>
    <p:sldId id="259" r:id="rId5"/>
    <p:sldId id="260" r:id="rId6"/>
    <p:sldId id="269" r:id="rId7"/>
    <p:sldId id="271" r:id="rId8"/>
    <p:sldId id="273" r:id="rId9"/>
    <p:sldId id="265" r:id="rId10"/>
    <p:sldId id="272" r:id="rId11"/>
    <p:sldId id="267" r:id="rId12"/>
    <p:sldId id="27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88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882130-DE8B-4963-B40F-D2451D0BEE8D}" type="datetimeFigureOut">
              <a:rPr lang="en-US" smtClean="0"/>
              <a:t>2/18/2026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83C16D-F548-4B39-BF95-302AA29C5A73}" type="slidenum">
              <a:rPr lang="en-US" smtClean="0"/>
              <a:t>‹#›</a:t>
            </a:fld>
            <a:endParaRPr lang="en-US"/>
          </a:p>
        </p:txBody>
      </p:sp>
    </p:spTree>
    <p:extLst>
      <p:ext uri="{BB962C8B-B14F-4D97-AF65-F5344CB8AC3E}">
        <p14:creationId xmlns:p14="http://schemas.microsoft.com/office/powerpoint/2010/main" val="2771495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883C16D-F548-4B39-BF95-302AA29C5A73}" type="slidenum">
              <a:rPr lang="en-US" smtClean="0"/>
              <a:t>7</a:t>
            </a:fld>
            <a:endParaRPr lang="en-US"/>
          </a:p>
        </p:txBody>
      </p:sp>
    </p:spTree>
    <p:extLst>
      <p:ext uri="{BB962C8B-B14F-4D97-AF65-F5344CB8AC3E}">
        <p14:creationId xmlns:p14="http://schemas.microsoft.com/office/powerpoint/2010/main" val="16147985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3915B37-B217-4410-A2B7-BA8A53D75FF7}"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5E87B3-7D23-4A9A-B57E-300E56CBDC05}" type="slidenum">
              <a:rPr lang="en-US" smtClean="0"/>
              <a:t>‹#›</a:t>
            </a:fld>
            <a:endParaRPr lang="en-US"/>
          </a:p>
        </p:txBody>
      </p:sp>
    </p:spTree>
    <p:extLst>
      <p:ext uri="{BB962C8B-B14F-4D97-AF65-F5344CB8AC3E}">
        <p14:creationId xmlns:p14="http://schemas.microsoft.com/office/powerpoint/2010/main" val="1412784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3915B37-B217-4410-A2B7-BA8A53D75FF7}"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5E87B3-7D23-4A9A-B57E-300E56CBDC05}" type="slidenum">
              <a:rPr lang="en-US" smtClean="0"/>
              <a:t>‹#›</a:t>
            </a:fld>
            <a:endParaRPr lang="en-US"/>
          </a:p>
        </p:txBody>
      </p:sp>
    </p:spTree>
    <p:extLst>
      <p:ext uri="{BB962C8B-B14F-4D97-AF65-F5344CB8AC3E}">
        <p14:creationId xmlns:p14="http://schemas.microsoft.com/office/powerpoint/2010/main" val="2735743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3915B37-B217-4410-A2B7-BA8A53D75FF7}"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5E87B3-7D23-4A9A-B57E-300E56CBDC05}" type="slidenum">
              <a:rPr lang="en-US" smtClean="0"/>
              <a:t>‹#›</a:t>
            </a:fld>
            <a:endParaRPr lang="en-US"/>
          </a:p>
        </p:txBody>
      </p:sp>
    </p:spTree>
    <p:extLst>
      <p:ext uri="{BB962C8B-B14F-4D97-AF65-F5344CB8AC3E}">
        <p14:creationId xmlns:p14="http://schemas.microsoft.com/office/powerpoint/2010/main" val="32431194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3915B37-B217-4410-A2B7-BA8A53D75FF7}" type="datetimeFigureOut">
              <a:rPr lang="en-US" smtClean="0"/>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5E87B3-7D23-4A9A-B57E-300E56CBDC05}" type="slidenum">
              <a:rPr lang="en-US" smtClean="0"/>
              <a:t>‹#›</a:t>
            </a:fld>
            <a:endParaRPr lang="en-US"/>
          </a:p>
        </p:txBody>
      </p:sp>
    </p:spTree>
    <p:extLst>
      <p:ext uri="{BB962C8B-B14F-4D97-AF65-F5344CB8AC3E}">
        <p14:creationId xmlns:p14="http://schemas.microsoft.com/office/powerpoint/2010/main" val="2734022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3915B37-B217-4410-A2B7-BA8A53D75FF7}" type="datetimeFigureOut">
              <a:rPr lang="en-US" smtClean="0"/>
              <a:t>2/18/2026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85E87B3-7D23-4A9A-B57E-300E56CBDC05}" type="slidenum">
              <a:rPr lang="en-US" smtClean="0"/>
              <a:t>‹#›</a:t>
            </a:fld>
            <a:endParaRPr lang="en-US"/>
          </a:p>
        </p:txBody>
      </p:sp>
    </p:spTree>
    <p:extLst>
      <p:ext uri="{BB962C8B-B14F-4D97-AF65-F5344CB8AC3E}">
        <p14:creationId xmlns:p14="http://schemas.microsoft.com/office/powerpoint/2010/main" val="19282138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3915B37-B217-4410-A2B7-BA8A53D75FF7}" type="datetimeFigureOut">
              <a:rPr lang="en-US" smtClean="0"/>
              <a:t>2/18/2026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85E87B3-7D23-4A9A-B57E-300E56CBDC05}" type="slidenum">
              <a:rPr lang="en-US" smtClean="0"/>
              <a:t>‹#›</a:t>
            </a:fld>
            <a:endParaRPr lang="en-US"/>
          </a:p>
        </p:txBody>
      </p:sp>
    </p:spTree>
    <p:extLst>
      <p:ext uri="{BB962C8B-B14F-4D97-AF65-F5344CB8AC3E}">
        <p14:creationId xmlns:p14="http://schemas.microsoft.com/office/powerpoint/2010/main" val="3741810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915B37-B217-4410-A2B7-BA8A53D75FF7}" type="datetimeFigureOut">
              <a:rPr lang="en-US" smtClean="0"/>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85E87B3-7D23-4A9A-B57E-300E56CBDC05}" type="slidenum">
              <a:rPr lang="en-US" smtClean="0"/>
              <a:t>‹#›</a:t>
            </a:fld>
            <a:endParaRPr lang="en-US"/>
          </a:p>
        </p:txBody>
      </p:sp>
    </p:spTree>
    <p:extLst>
      <p:ext uri="{BB962C8B-B14F-4D97-AF65-F5344CB8AC3E}">
        <p14:creationId xmlns:p14="http://schemas.microsoft.com/office/powerpoint/2010/main" val="21264616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3915B37-B217-4410-A2B7-BA8A53D75FF7}" type="datetimeFigureOut">
              <a:rPr lang="en-US" smtClean="0"/>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5E87B3-7D23-4A9A-B57E-300E56CBDC05}" type="slidenum">
              <a:rPr lang="en-US" smtClean="0"/>
              <a:t>‹#›</a:t>
            </a:fld>
            <a:endParaRPr lang="en-US"/>
          </a:p>
        </p:txBody>
      </p:sp>
    </p:spTree>
    <p:extLst>
      <p:ext uri="{BB962C8B-B14F-4D97-AF65-F5344CB8AC3E}">
        <p14:creationId xmlns:p14="http://schemas.microsoft.com/office/powerpoint/2010/main" val="2965712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3915B37-B217-4410-A2B7-BA8A53D75FF7}" type="datetimeFigureOut">
              <a:rPr lang="en-US" smtClean="0"/>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5E87B3-7D23-4A9A-B57E-300E56CBDC05}" type="slidenum">
              <a:rPr lang="en-US" smtClean="0"/>
              <a:t>‹#›</a:t>
            </a:fld>
            <a:endParaRPr lang="en-US"/>
          </a:p>
        </p:txBody>
      </p:sp>
    </p:spTree>
    <p:extLst>
      <p:ext uri="{BB962C8B-B14F-4D97-AF65-F5344CB8AC3E}">
        <p14:creationId xmlns:p14="http://schemas.microsoft.com/office/powerpoint/2010/main" val="2176377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3915B37-B217-4410-A2B7-BA8A53D75FF7}"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5E87B3-7D23-4A9A-B57E-300E56CBDC05}" type="slidenum">
              <a:rPr lang="en-US" smtClean="0"/>
              <a:t>‹#›</a:t>
            </a:fld>
            <a:endParaRPr lang="en-US"/>
          </a:p>
        </p:txBody>
      </p:sp>
    </p:spTree>
    <p:extLst>
      <p:ext uri="{BB962C8B-B14F-4D97-AF65-F5344CB8AC3E}">
        <p14:creationId xmlns:p14="http://schemas.microsoft.com/office/powerpoint/2010/main" val="2462919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3915B37-B217-4410-A2B7-BA8A53D75FF7}"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5E87B3-7D23-4A9A-B57E-300E56CBDC05}" type="slidenum">
              <a:rPr lang="en-US" smtClean="0"/>
              <a:t>‹#›</a:t>
            </a:fld>
            <a:endParaRPr lang="en-US"/>
          </a:p>
        </p:txBody>
      </p:sp>
    </p:spTree>
    <p:extLst>
      <p:ext uri="{BB962C8B-B14F-4D97-AF65-F5344CB8AC3E}">
        <p14:creationId xmlns:p14="http://schemas.microsoft.com/office/powerpoint/2010/main" val="3019815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915B37-B217-4410-A2B7-BA8A53D75FF7}" type="datetimeFigureOut">
              <a:rPr lang="en-US" smtClean="0"/>
              <a:t>2/18/2026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5E87B3-7D23-4A9A-B57E-300E56CBDC05}" type="slidenum">
              <a:rPr lang="en-US" smtClean="0"/>
              <a:t>‹#›</a:t>
            </a:fld>
            <a:endParaRPr lang="en-US"/>
          </a:p>
        </p:txBody>
      </p:sp>
    </p:spTree>
    <p:extLst>
      <p:ext uri="{BB962C8B-B14F-4D97-AF65-F5344CB8AC3E}">
        <p14:creationId xmlns:p14="http://schemas.microsoft.com/office/powerpoint/2010/main" val="404781153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learncomputerscienceonline.com/what-is-machine-learning/"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CSC229 Machine Learning Algorithms &amp; Programming</a:t>
            </a:r>
          </a:p>
        </p:txBody>
      </p:sp>
      <p:sp>
        <p:nvSpPr>
          <p:cNvPr id="3" name="Subtitle 2"/>
          <p:cNvSpPr>
            <a:spLocks noGrp="1"/>
          </p:cNvSpPr>
          <p:nvPr>
            <p:ph type="subTitle" idx="1"/>
          </p:nvPr>
        </p:nvSpPr>
        <p:spPr>
          <a:xfrm>
            <a:off x="1524000" y="4388847"/>
            <a:ext cx="9144000" cy="2033218"/>
          </a:xfrm>
        </p:spPr>
        <p:txBody>
          <a:bodyPr>
            <a:noAutofit/>
          </a:bodyPr>
          <a:lstStyle/>
          <a:p>
            <a:r>
              <a:rPr lang="en-US" sz="2800" dirty="0"/>
              <a:t>Part </a:t>
            </a:r>
            <a:r>
              <a:rPr lang="en-US" sz="2800" dirty="0" smtClean="0"/>
              <a:t>0.1 Introduction Applications</a:t>
            </a:r>
            <a:endParaRPr lang="en-US" sz="2800" dirty="0"/>
          </a:p>
          <a:p>
            <a:endParaRPr lang="en-US" sz="2800" dirty="0"/>
          </a:p>
          <a:p>
            <a:r>
              <a:rPr lang="en-US" dirty="0"/>
              <a:t>Peter </a:t>
            </a:r>
            <a:r>
              <a:rPr lang="en-US" dirty="0" err="1"/>
              <a:t>Waiganjo</a:t>
            </a:r>
            <a:r>
              <a:rPr lang="en-US" dirty="0"/>
              <a:t> </a:t>
            </a:r>
            <a:r>
              <a:rPr lang="en-US" dirty="0" err="1"/>
              <a:t>Wagacha</a:t>
            </a:r>
            <a:endParaRPr lang="en-US" dirty="0"/>
          </a:p>
          <a:p>
            <a:r>
              <a:rPr lang="en-US" dirty="0" smtClean="0"/>
              <a:t>2026</a:t>
            </a:r>
            <a:endParaRPr lang="en-US" dirty="0"/>
          </a:p>
          <a:p>
            <a:endParaRPr lang="en-US" sz="2800" dirty="0"/>
          </a:p>
        </p:txBody>
      </p:sp>
    </p:spTree>
    <p:extLst>
      <p:ext uri="{BB962C8B-B14F-4D97-AF65-F5344CB8AC3E}">
        <p14:creationId xmlns:p14="http://schemas.microsoft.com/office/powerpoint/2010/main" val="386550427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Branches of AI</a:t>
            </a: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dirty="0"/>
              <a:t>Machine Learning </a:t>
            </a:r>
          </a:p>
          <a:p>
            <a:pPr>
              <a:buFont typeface="Wingdings" panose="05000000000000000000" pitchFamily="2" charset="2"/>
              <a:buChar char="§"/>
            </a:pPr>
            <a:r>
              <a:rPr lang="en-US" dirty="0"/>
              <a:t>Machine vision</a:t>
            </a:r>
          </a:p>
          <a:p>
            <a:pPr>
              <a:buFont typeface="Wingdings" panose="05000000000000000000" pitchFamily="2" charset="2"/>
              <a:buChar char="§"/>
            </a:pPr>
            <a:r>
              <a:rPr lang="en-US" dirty="0"/>
              <a:t>Speech synthesis and recognition</a:t>
            </a:r>
          </a:p>
          <a:p>
            <a:pPr>
              <a:buFont typeface="Wingdings" panose="05000000000000000000" pitchFamily="2" charset="2"/>
              <a:buChar char="§"/>
            </a:pPr>
            <a:r>
              <a:rPr lang="en-US" dirty="0"/>
              <a:t>Robotics</a:t>
            </a:r>
          </a:p>
          <a:p>
            <a:pPr>
              <a:buFont typeface="Wingdings" panose="05000000000000000000" pitchFamily="2" charset="2"/>
              <a:buChar char="§"/>
            </a:pPr>
            <a:r>
              <a:rPr lang="en-US" dirty="0"/>
              <a:t>Natural Language and understanding</a:t>
            </a:r>
          </a:p>
          <a:p>
            <a:pPr>
              <a:buFont typeface="Wingdings" panose="05000000000000000000" pitchFamily="2" charset="2"/>
              <a:buChar char="§"/>
            </a:pPr>
            <a:r>
              <a:rPr lang="en-US" dirty="0"/>
              <a:t>Knowledge-based Systems</a:t>
            </a:r>
          </a:p>
          <a:p>
            <a:pPr>
              <a:buFont typeface="Wingdings" panose="05000000000000000000" pitchFamily="2" charset="2"/>
              <a:buChar char="§"/>
            </a:pPr>
            <a:r>
              <a:rPr lang="en-US" dirty="0"/>
              <a:t>Game playing</a:t>
            </a:r>
          </a:p>
          <a:p>
            <a:pPr>
              <a:buFont typeface="Wingdings" panose="05000000000000000000" pitchFamily="2" charset="2"/>
              <a:buChar char="§"/>
            </a:pPr>
            <a:r>
              <a:rPr lang="en-US" dirty="0"/>
              <a:t>..</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050" name="Picture 2" descr="May be an image of text that says &quot;Deep learning Text generation Unsupervised Question answering Supervised Machine learning Context extraction Classification Natural language processing Machine translation Expert Expertsystems systems Speech to text Text to speech Artificial Artificialintelligence intelligence Speech Image recognition Machine vision Vision Planning Robotics&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686" y="435935"/>
            <a:ext cx="10088514" cy="6156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22184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Applications, related areas</a:t>
            </a:r>
            <a:endParaRPr lang="en-US" dirty="0"/>
          </a:p>
        </p:txBody>
      </p:sp>
      <p:pic>
        <p:nvPicPr>
          <p:cNvPr id="4" name="Picture 2" descr="http://3.bp.blogspot.com/-Ltz_l0bwQiA/UbXp2XLsE2I/AAAAAAAAAtU/jzAIEU1cRdY/s1600/20130610+-+Machine_Learning.png"/>
          <p:cNvPicPr>
            <a:picLocks noChangeAspect="1" noChangeArrowheads="1"/>
          </p:cNvPicPr>
          <p:nvPr/>
        </p:nvPicPr>
        <p:blipFill>
          <a:blip r:embed="rId2" cstate="print"/>
          <a:srcRect/>
          <a:stretch>
            <a:fillRect/>
          </a:stretch>
        </p:blipFill>
        <p:spPr bwMode="auto">
          <a:xfrm>
            <a:off x="1676399" y="1600200"/>
            <a:ext cx="9581429" cy="4814668"/>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Areas</a:t>
            </a:r>
            <a:endParaRPr lang="en-US" dirty="0"/>
          </a:p>
        </p:txBody>
      </p:sp>
      <p:sp>
        <p:nvSpPr>
          <p:cNvPr id="3" name="Content Placeholder 2"/>
          <p:cNvSpPr>
            <a:spLocks noGrp="1"/>
          </p:cNvSpPr>
          <p:nvPr>
            <p:ph idx="1"/>
          </p:nvPr>
        </p:nvSpPr>
        <p:spPr>
          <a:xfrm>
            <a:off x="759655" y="1690688"/>
            <a:ext cx="11282289" cy="4997191"/>
          </a:xfrm>
        </p:spPr>
        <p:txBody>
          <a:bodyPr>
            <a:noAutofit/>
          </a:bodyPr>
          <a:lstStyle/>
          <a:p>
            <a:r>
              <a:rPr lang="it-IT" sz="2400" dirty="0">
                <a:solidFill>
                  <a:srgbClr val="C00000"/>
                </a:solidFill>
              </a:rPr>
              <a:t>Marketing:  </a:t>
            </a:r>
            <a:r>
              <a:rPr lang="it-IT" sz="2400" dirty="0"/>
              <a:t>customer segmentation, customer targeting, collaborative filtering, ...</a:t>
            </a:r>
            <a:endParaRPr lang="it-IT" sz="2400" dirty="0">
              <a:solidFill>
                <a:schemeClr val="tx2"/>
              </a:solidFill>
            </a:endParaRPr>
          </a:p>
          <a:p>
            <a:r>
              <a:rPr lang="it-IT" sz="2400" dirty="0">
                <a:solidFill>
                  <a:srgbClr val="C00000"/>
                </a:solidFill>
              </a:rPr>
              <a:t>Finance:  </a:t>
            </a:r>
            <a:r>
              <a:rPr lang="it-IT" sz="2400" dirty="0"/>
              <a:t>investment support, portfolio management</a:t>
            </a:r>
          </a:p>
          <a:p>
            <a:r>
              <a:rPr lang="it-IT" sz="2400" dirty="0">
                <a:solidFill>
                  <a:srgbClr val="C00000"/>
                </a:solidFill>
              </a:rPr>
              <a:t>Banking &amp; Insurance</a:t>
            </a:r>
            <a:r>
              <a:rPr lang="it-IT" sz="2400" dirty="0">
                <a:solidFill>
                  <a:schemeClr val="tx2"/>
                </a:solidFill>
              </a:rPr>
              <a:t>:  </a:t>
            </a:r>
            <a:r>
              <a:rPr lang="it-IT" sz="2400" dirty="0"/>
              <a:t>credit and policy approval</a:t>
            </a:r>
          </a:p>
          <a:p>
            <a:r>
              <a:rPr lang="it-IT" sz="2400" dirty="0">
                <a:solidFill>
                  <a:srgbClr val="C00000"/>
                </a:solidFill>
              </a:rPr>
              <a:t>Security: </a:t>
            </a:r>
            <a:r>
              <a:rPr lang="it-IT" sz="2400" dirty="0"/>
              <a:t>fraud detection, intrusion </a:t>
            </a:r>
            <a:r>
              <a:rPr lang="it-IT" sz="2400" dirty="0" smtClean="0"/>
              <a:t>detection, cybersecurity, spam detection </a:t>
            </a:r>
            <a:endParaRPr lang="it-IT" sz="2400" dirty="0"/>
          </a:p>
          <a:p>
            <a:r>
              <a:rPr lang="it-IT" sz="2400" dirty="0">
                <a:solidFill>
                  <a:srgbClr val="C00000"/>
                </a:solidFill>
              </a:rPr>
              <a:t>Science and medicine: </a:t>
            </a:r>
            <a:r>
              <a:rPr lang="it-IT" sz="2400" dirty="0"/>
              <a:t>hypothesis discovery, </a:t>
            </a:r>
            <a:r>
              <a:rPr lang="it-IT" sz="2400" dirty="0" smtClean="0"/>
              <a:t>prediction</a:t>
            </a:r>
            <a:r>
              <a:rPr lang="it-IT" sz="2400" dirty="0"/>
              <a:t>, classification, </a:t>
            </a:r>
            <a:r>
              <a:rPr lang="it-IT" sz="2400" dirty="0" smtClean="0"/>
              <a:t>diagnosis, summarization </a:t>
            </a:r>
            <a:endParaRPr lang="it-IT" sz="2400" dirty="0"/>
          </a:p>
          <a:p>
            <a:r>
              <a:rPr lang="it-IT" sz="2400" dirty="0">
                <a:solidFill>
                  <a:srgbClr val="C00000"/>
                </a:solidFill>
              </a:rPr>
              <a:t>Manufacturing:  </a:t>
            </a:r>
            <a:r>
              <a:rPr lang="it-IT" sz="2400" dirty="0"/>
              <a:t>process modeling, quality control</a:t>
            </a:r>
            <a:r>
              <a:rPr lang="it-IT" sz="2400" dirty="0" smtClean="0"/>
              <a:t>, resource </a:t>
            </a:r>
            <a:r>
              <a:rPr lang="it-IT" sz="2400" dirty="0"/>
              <a:t>allocation</a:t>
            </a:r>
          </a:p>
          <a:p>
            <a:r>
              <a:rPr lang="it-IT" sz="2400" dirty="0">
                <a:solidFill>
                  <a:srgbClr val="C00000"/>
                </a:solidFill>
              </a:rPr>
              <a:t>Engineering:  </a:t>
            </a:r>
            <a:r>
              <a:rPr lang="it-IT" sz="2400" dirty="0"/>
              <a:t>simulation and analysis, pattern </a:t>
            </a:r>
            <a:r>
              <a:rPr lang="it-IT" sz="2400" dirty="0" smtClean="0"/>
              <a:t>recognition</a:t>
            </a:r>
            <a:r>
              <a:rPr lang="it-IT" sz="2400" dirty="0"/>
              <a:t>, signal processing</a:t>
            </a:r>
          </a:p>
          <a:p>
            <a:r>
              <a:rPr lang="it-IT" sz="2400" dirty="0">
                <a:solidFill>
                  <a:srgbClr val="C00000"/>
                </a:solidFill>
              </a:rPr>
              <a:t>Internet:  </a:t>
            </a:r>
            <a:r>
              <a:rPr lang="it-IT" sz="2400" dirty="0"/>
              <a:t>smart search engines, web marketing, sentiment analysis/opinion </a:t>
            </a:r>
            <a:r>
              <a:rPr lang="it-IT" sz="2400" dirty="0" smtClean="0"/>
              <a:t>mining</a:t>
            </a:r>
          </a:p>
          <a:p>
            <a:r>
              <a:rPr lang="it-IT" sz="2400" dirty="0">
                <a:solidFill>
                  <a:srgbClr val="C00000"/>
                </a:solidFill>
              </a:rPr>
              <a:t>Autonomous vehicles: </a:t>
            </a:r>
            <a:r>
              <a:rPr lang="it-IT" sz="2400" dirty="0" smtClean="0"/>
              <a:t>driverless vehicles</a:t>
            </a:r>
          </a:p>
          <a:p>
            <a:r>
              <a:rPr lang="it-IT" sz="2400" dirty="0" smtClean="0">
                <a:solidFill>
                  <a:srgbClr val="C00000"/>
                </a:solidFill>
              </a:rPr>
              <a:t>Content creation: </a:t>
            </a:r>
            <a:r>
              <a:rPr lang="it-IT" sz="2400" dirty="0"/>
              <a:t>Generate images; </a:t>
            </a:r>
            <a:r>
              <a:rPr lang="it-IT" sz="2400" dirty="0" smtClean="0"/>
              <a:t>content; tutoring, personalized learning,..</a:t>
            </a:r>
            <a:endParaRPr lang="en-US" sz="2400" dirty="0"/>
          </a:p>
          <a:p>
            <a:endParaRPr lang="en-US" sz="20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9" y="430471"/>
            <a:ext cx="9720072" cy="1186886"/>
          </a:xfrm>
        </p:spPr>
        <p:txBody>
          <a:bodyPr>
            <a:normAutofit fontScale="90000"/>
          </a:bodyPr>
          <a:lstStyle/>
          <a:p>
            <a:r>
              <a:rPr lang="en-US" dirty="0" smtClean="0"/>
              <a:t>Real world Applications of Machine Learning</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472178" y="1420838"/>
            <a:ext cx="8736938" cy="5437162"/>
          </a:xfrm>
          <a:prstGeom prst="rect">
            <a:avLst/>
          </a:prstGeom>
        </p:spPr>
      </p:pic>
      <p:sp>
        <p:nvSpPr>
          <p:cNvPr id="5" name="TextBox 4"/>
          <p:cNvSpPr txBox="1"/>
          <p:nvPr/>
        </p:nvSpPr>
        <p:spPr>
          <a:xfrm>
            <a:off x="8032652" y="6024323"/>
            <a:ext cx="3837757" cy="738664"/>
          </a:xfrm>
          <a:prstGeom prst="rect">
            <a:avLst/>
          </a:prstGeom>
          <a:noFill/>
        </p:spPr>
        <p:txBody>
          <a:bodyPr wrap="square" rtlCol="0">
            <a:spAutoFit/>
          </a:bodyPr>
          <a:lstStyle/>
          <a:p>
            <a:r>
              <a:rPr lang="en-US" sz="1400" dirty="0" smtClean="0"/>
              <a:t>Source: </a:t>
            </a:r>
            <a:r>
              <a:rPr lang="en-US" sz="1400" dirty="0" smtClean="0">
                <a:hlinkClick r:id="rId3"/>
              </a:rPr>
              <a:t>https://www.learncomputerscienceonline.com/what-is-machine-learning/</a:t>
            </a:r>
            <a:r>
              <a:rPr lang="en-US" sz="1400" dirty="0" smtClean="0"/>
              <a:t> </a:t>
            </a:r>
            <a:endParaRPr lang="en-US" sz="1400" dirty="0"/>
          </a:p>
        </p:txBody>
      </p:sp>
    </p:spTree>
    <p:extLst>
      <p:ext uri="{BB962C8B-B14F-4D97-AF65-F5344CB8AC3E}">
        <p14:creationId xmlns:p14="http://schemas.microsoft.com/office/powerpoint/2010/main" val="29219776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dirty="0" smtClean="0">
                <a:sym typeface="Arial" panose="020B0604020202020204" pitchFamily="34" charset="0"/>
              </a:rPr>
              <a:t>Machine Learning </a:t>
            </a:r>
            <a:r>
              <a:rPr lang="en-US" altLang="en-US" dirty="0">
                <a:sym typeface="Arial" panose="020B0604020202020204" pitchFamily="34" charset="0"/>
              </a:rPr>
              <a:t>algorithms</a:t>
            </a:r>
            <a:endParaRPr lang="en-US" dirty="0"/>
          </a:p>
        </p:txBody>
      </p:sp>
      <p:sp>
        <p:nvSpPr>
          <p:cNvPr id="3" name="Content Placeholder 2"/>
          <p:cNvSpPr>
            <a:spLocks noGrp="1"/>
          </p:cNvSpPr>
          <p:nvPr>
            <p:ph idx="1"/>
          </p:nvPr>
        </p:nvSpPr>
        <p:spPr/>
        <p:txBody>
          <a:bodyPr>
            <a:normAutofit/>
          </a:bodyPr>
          <a:lstStyle/>
          <a:p>
            <a:pPr marL="342900" indent="-342900">
              <a:spcBef>
                <a:spcPts val="700"/>
              </a:spcBef>
              <a:buFontTx/>
              <a:buChar char="•"/>
            </a:pPr>
            <a:r>
              <a:rPr lang="en-US" altLang="en-US" sz="2800" dirty="0" smtClean="0">
                <a:sym typeface="Arial" panose="020B0604020202020204" pitchFamily="34" charset="0"/>
              </a:rPr>
              <a:t>Machine Learning </a:t>
            </a:r>
            <a:r>
              <a:rPr lang="en-US" altLang="en-US" sz="2800" b="1" dirty="0" smtClean="0">
                <a:sym typeface="Arial" panose="020B0604020202020204" pitchFamily="34" charset="0"/>
              </a:rPr>
              <a:t>Models</a:t>
            </a:r>
            <a:r>
              <a:rPr lang="en-US" altLang="en-US" sz="2800" dirty="0" smtClean="0">
                <a:sym typeface="Arial" panose="020B0604020202020204" pitchFamily="34" charset="0"/>
              </a:rPr>
              <a:t> built using algorithms</a:t>
            </a:r>
          </a:p>
          <a:p>
            <a:pPr marL="342900" indent="-342900">
              <a:spcBef>
                <a:spcPts val="700"/>
              </a:spcBef>
              <a:buFontTx/>
              <a:buChar char="•"/>
            </a:pPr>
            <a:r>
              <a:rPr lang="en-US" altLang="en-US" sz="2800" dirty="0" smtClean="0">
                <a:sym typeface="Arial" panose="020B0604020202020204" pitchFamily="34" charset="0"/>
              </a:rPr>
              <a:t>Tens of thousands of </a:t>
            </a:r>
            <a:r>
              <a:rPr lang="en-US" altLang="en-US" sz="2800" dirty="0">
                <a:sym typeface="Arial" panose="020B0604020202020204" pitchFamily="34" charset="0"/>
              </a:rPr>
              <a:t>machine learning </a:t>
            </a:r>
            <a:r>
              <a:rPr lang="en-US" altLang="en-US" sz="2800" dirty="0" smtClean="0">
                <a:sym typeface="Arial" panose="020B0604020202020204" pitchFamily="34" charset="0"/>
              </a:rPr>
              <a:t>algorithms and models</a:t>
            </a:r>
            <a:endParaRPr lang="en-US" altLang="en-US" sz="2800" dirty="0">
              <a:sym typeface="Arial" panose="020B0604020202020204" pitchFamily="34" charset="0"/>
            </a:endParaRPr>
          </a:p>
          <a:p>
            <a:pPr marL="342900" indent="-342900">
              <a:spcBef>
                <a:spcPts val="700"/>
              </a:spcBef>
              <a:buFontTx/>
              <a:buChar char="•"/>
            </a:pPr>
            <a:r>
              <a:rPr lang="en-US" altLang="en-US" sz="2800" dirty="0">
                <a:sym typeface="Arial" panose="020B0604020202020204" pitchFamily="34" charset="0"/>
              </a:rPr>
              <a:t>Hundreds new every year</a:t>
            </a:r>
          </a:p>
          <a:p>
            <a:pPr marL="342900" indent="-342900">
              <a:spcBef>
                <a:spcPts val="700"/>
              </a:spcBef>
              <a:buFontTx/>
              <a:buChar char="•"/>
            </a:pPr>
            <a:r>
              <a:rPr lang="en-US" altLang="en-US" sz="2800" dirty="0">
                <a:sym typeface="Arial" panose="020B0604020202020204" pitchFamily="34" charset="0"/>
              </a:rPr>
              <a:t>Every machine learning algorithm has three components:</a:t>
            </a:r>
          </a:p>
          <a:p>
            <a:pPr marL="742950" lvl="1" indent="-285750">
              <a:spcBef>
                <a:spcPts val="600"/>
              </a:spcBef>
              <a:buFontTx/>
              <a:buChar char="–"/>
            </a:pPr>
            <a:r>
              <a:rPr lang="en-US" altLang="en-US" sz="2800" dirty="0" smtClean="0">
                <a:sym typeface="Arial" panose="020B0604020202020204" pitchFamily="34" charset="0"/>
              </a:rPr>
              <a:t>Representation </a:t>
            </a:r>
            <a:r>
              <a:rPr lang="en-US" altLang="en-US" sz="2000" dirty="0" smtClean="0">
                <a:sym typeface="Arial" panose="020B0604020202020204" pitchFamily="34" charset="0"/>
              </a:rPr>
              <a:t>(the algorithm)</a:t>
            </a:r>
            <a:endParaRPr lang="en-US" altLang="en-US" sz="2000" dirty="0">
              <a:sym typeface="Arial" panose="020B0604020202020204" pitchFamily="34" charset="0"/>
            </a:endParaRPr>
          </a:p>
          <a:p>
            <a:pPr marL="742950" lvl="1" indent="-285750">
              <a:spcBef>
                <a:spcPts val="600"/>
              </a:spcBef>
              <a:buFontTx/>
              <a:buChar char="–"/>
            </a:pPr>
            <a:r>
              <a:rPr lang="en-US" altLang="en-US" sz="2800" dirty="0" smtClean="0">
                <a:sym typeface="Arial" panose="020B0604020202020204" pitchFamily="34" charset="0"/>
              </a:rPr>
              <a:t>Evaluation </a:t>
            </a:r>
            <a:r>
              <a:rPr lang="en-US" altLang="en-US" sz="2000" dirty="0" smtClean="0">
                <a:sym typeface="Arial" panose="020B0604020202020204" pitchFamily="34" charset="0"/>
              </a:rPr>
              <a:t>(assessing quality of the model) </a:t>
            </a:r>
            <a:endParaRPr lang="en-US" altLang="en-US" sz="2000" dirty="0">
              <a:sym typeface="Arial" panose="020B0604020202020204" pitchFamily="34" charset="0"/>
            </a:endParaRPr>
          </a:p>
          <a:p>
            <a:pPr marL="742950" lvl="1" indent="-285750">
              <a:spcBef>
                <a:spcPts val="600"/>
              </a:spcBef>
              <a:buFontTx/>
              <a:buChar char="–"/>
            </a:pPr>
            <a:r>
              <a:rPr lang="en-US" altLang="en-US" sz="2800" dirty="0" smtClean="0">
                <a:sym typeface="Arial" panose="020B0604020202020204" pitchFamily="34" charset="0"/>
              </a:rPr>
              <a:t>Optimization </a:t>
            </a:r>
            <a:r>
              <a:rPr lang="en-US" altLang="en-US" sz="2000" dirty="0" smtClean="0">
                <a:sym typeface="Arial" panose="020B0604020202020204" pitchFamily="34" charset="0"/>
              </a:rPr>
              <a:t>(finding the optimal/best fit for the representation)</a:t>
            </a:r>
            <a:endParaRPr lang="en-US" altLang="en-US" sz="2000" dirty="0"/>
          </a:p>
          <a:p>
            <a:endParaRPr lang="en-US" sz="2800" dirty="0"/>
          </a:p>
        </p:txBody>
      </p:sp>
      <p:sp>
        <p:nvSpPr>
          <p:cNvPr id="4" name="TextBox 3"/>
          <p:cNvSpPr txBox="1"/>
          <p:nvPr/>
        </p:nvSpPr>
        <p:spPr>
          <a:xfrm>
            <a:off x="7215963" y="6355293"/>
            <a:ext cx="4976037" cy="338554"/>
          </a:xfrm>
          <a:prstGeom prst="rect">
            <a:avLst/>
          </a:prstGeom>
          <a:noFill/>
        </p:spPr>
        <p:txBody>
          <a:bodyPr wrap="square" rtlCol="0">
            <a:spAutoFit/>
          </a:bodyPr>
          <a:lstStyle/>
          <a:p>
            <a:r>
              <a:rPr lang="en-US" sz="1600" i="1" dirty="0"/>
              <a:t>Source: Pedro </a:t>
            </a:r>
            <a:r>
              <a:rPr lang="en-US" sz="1600" i="1" dirty="0" err="1"/>
              <a:t>Domingos</a:t>
            </a:r>
            <a:r>
              <a:rPr lang="en-US" sz="1600" i="1" dirty="0"/>
              <a:t> Machine Learning </a:t>
            </a:r>
            <a:r>
              <a:rPr lang="en-US" sz="1600" i="1" dirty="0" smtClean="0"/>
              <a:t>slides</a:t>
            </a:r>
            <a:endParaRPr lang="en-US" sz="1600" i="1" dirty="0"/>
          </a:p>
        </p:txBody>
      </p:sp>
    </p:spTree>
    <p:extLst>
      <p:ext uri="{BB962C8B-B14F-4D97-AF65-F5344CB8AC3E}">
        <p14:creationId xmlns:p14="http://schemas.microsoft.com/office/powerpoint/2010/main" val="16302623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Applications</a:t>
            </a:r>
            <a:endParaRPr lang="en-US" dirty="0"/>
          </a:p>
        </p:txBody>
      </p:sp>
      <p:sp>
        <p:nvSpPr>
          <p:cNvPr id="3" name="Content Placeholder 2"/>
          <p:cNvSpPr>
            <a:spLocks noGrp="1"/>
          </p:cNvSpPr>
          <p:nvPr>
            <p:ph idx="1"/>
          </p:nvPr>
        </p:nvSpPr>
        <p:spPr/>
        <p:txBody>
          <a:bodyPr>
            <a:normAutofit/>
          </a:bodyPr>
          <a:lstStyle/>
          <a:p>
            <a:r>
              <a:rPr lang="en-US" dirty="0" smtClean="0"/>
              <a:t>Computer vision</a:t>
            </a:r>
          </a:p>
          <a:p>
            <a:r>
              <a:rPr lang="en-US" dirty="0" smtClean="0"/>
              <a:t>Signal processing</a:t>
            </a:r>
          </a:p>
          <a:p>
            <a:r>
              <a:rPr lang="en-US" dirty="0" smtClean="0"/>
              <a:t>Image Recognition</a:t>
            </a:r>
          </a:p>
          <a:p>
            <a:r>
              <a:rPr lang="en-US" dirty="0" smtClean="0"/>
              <a:t>Robotics</a:t>
            </a:r>
          </a:p>
          <a:p>
            <a:r>
              <a:rPr lang="en-US" dirty="0" smtClean="0"/>
              <a:t>Language tools</a:t>
            </a:r>
          </a:p>
          <a:p>
            <a:r>
              <a:rPr lang="en-US" dirty="0" smtClean="0"/>
              <a:t>Machine </a:t>
            </a:r>
            <a:r>
              <a:rPr lang="en-US" dirty="0" smtClean="0"/>
              <a:t>Translation</a:t>
            </a:r>
          </a:p>
          <a:p>
            <a:r>
              <a:rPr lang="en-US" dirty="0"/>
              <a:t>LLMs </a:t>
            </a:r>
            <a:r>
              <a:rPr lang="en-US" dirty="0" smtClean="0"/>
              <a:t>applications</a:t>
            </a:r>
            <a:endParaRPr lang="en-US" dirty="0" smtClean="0"/>
          </a:p>
          <a:p>
            <a:r>
              <a:rPr lang="en-US" dirty="0" smtClean="0"/>
              <a:t>…</a:t>
            </a:r>
            <a:endParaRPr lang="en-US" dirty="0"/>
          </a:p>
        </p:txBody>
      </p:sp>
    </p:spTree>
    <p:extLst>
      <p:ext uri="{BB962C8B-B14F-4D97-AF65-F5344CB8AC3E}">
        <p14:creationId xmlns:p14="http://schemas.microsoft.com/office/powerpoint/2010/main" val="2435236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024127" y="585216"/>
            <a:ext cx="10767379" cy="1152144"/>
          </a:xfrm>
        </p:spPr>
        <p:txBody>
          <a:bodyPr>
            <a:noAutofit/>
          </a:bodyPr>
          <a:lstStyle/>
          <a:p>
            <a:pPr eaLnBrk="1" hangingPunct="1"/>
            <a:r>
              <a:rPr lang="en-GB" dirty="0" smtClean="0"/>
              <a:t>e.g. Machine Translation (MT) Using Parallel Corpus</a:t>
            </a:r>
            <a:endParaRPr lang="en-US" dirty="0" smtClean="0"/>
          </a:p>
        </p:txBody>
      </p:sp>
      <p:sp>
        <p:nvSpPr>
          <p:cNvPr id="9219" name="Rectangle 3"/>
          <p:cNvSpPr>
            <a:spLocks noGrp="1" noChangeArrowheads="1"/>
          </p:cNvSpPr>
          <p:nvPr>
            <p:ph idx="1"/>
          </p:nvPr>
        </p:nvSpPr>
        <p:spPr>
          <a:xfrm>
            <a:off x="1024128" y="1737360"/>
            <a:ext cx="10044365" cy="4572000"/>
          </a:xfrm>
        </p:spPr>
        <p:txBody>
          <a:bodyPr/>
          <a:lstStyle/>
          <a:p>
            <a:pPr>
              <a:buFont typeface="Wingdings" panose="05000000000000000000" pitchFamily="2" charset="2"/>
              <a:buChar char="§"/>
            </a:pPr>
            <a:r>
              <a:rPr lang="en-GB" dirty="0" smtClean="0"/>
              <a:t>Translation memories</a:t>
            </a:r>
          </a:p>
          <a:p>
            <a:pPr>
              <a:buFont typeface="Wingdings" panose="05000000000000000000" pitchFamily="2" charset="2"/>
              <a:buChar char="§"/>
            </a:pPr>
            <a:r>
              <a:rPr lang="en-GB" dirty="0" smtClean="0"/>
              <a:t>Translation from one language to another using Machine Learning  </a:t>
            </a:r>
            <a:endParaRPr lang="en-US" dirty="0" smtClean="0"/>
          </a:p>
        </p:txBody>
      </p:sp>
      <p:pic>
        <p:nvPicPr>
          <p:cNvPr id="9220" name="Picture 5"/>
          <p:cNvPicPr>
            <a:picLocks noChangeAspect="1" noChangeArrowheads="1"/>
          </p:cNvPicPr>
          <p:nvPr/>
        </p:nvPicPr>
        <p:blipFill>
          <a:blip r:embed="rId2" cstate="print"/>
          <a:srcRect/>
          <a:stretch>
            <a:fillRect/>
          </a:stretch>
        </p:blipFill>
        <p:spPr bwMode="auto">
          <a:xfrm>
            <a:off x="1254639" y="3035341"/>
            <a:ext cx="9696896" cy="355807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Machine Learning in Practice</a:t>
            </a:r>
            <a:endParaRPr lang="en-US" dirty="0"/>
          </a:p>
        </p:txBody>
      </p:sp>
      <p:sp>
        <p:nvSpPr>
          <p:cNvPr id="3" name="Content Placeholder 2"/>
          <p:cNvSpPr>
            <a:spLocks noGrp="1"/>
          </p:cNvSpPr>
          <p:nvPr>
            <p:ph idx="1"/>
          </p:nvPr>
        </p:nvSpPr>
        <p:spPr/>
        <p:txBody>
          <a:bodyPr>
            <a:normAutofit/>
          </a:bodyPr>
          <a:lstStyle/>
          <a:p>
            <a:pPr marL="322263" indent="-322263" defTabSz="858838">
              <a:spcBef>
                <a:spcPts val="700"/>
              </a:spcBef>
              <a:buFontTx/>
              <a:buChar char="•"/>
            </a:pPr>
            <a:r>
              <a:rPr lang="en-US" altLang="en-US" b="1" dirty="0">
                <a:sym typeface="Arial" panose="020B0604020202020204" pitchFamily="34" charset="0"/>
              </a:rPr>
              <a:t>Understanding domain, prior knowledge, and goals</a:t>
            </a:r>
          </a:p>
          <a:p>
            <a:pPr marL="322263" indent="-322263" defTabSz="858838">
              <a:spcBef>
                <a:spcPts val="700"/>
              </a:spcBef>
              <a:buFontTx/>
              <a:buChar char="•"/>
            </a:pPr>
            <a:r>
              <a:rPr lang="en-US" altLang="en-US" b="1" dirty="0">
                <a:sym typeface="Arial" panose="020B0604020202020204" pitchFamily="34" charset="0"/>
              </a:rPr>
              <a:t>Data integration, selection, cleaning</a:t>
            </a:r>
            <a:r>
              <a:rPr lang="en-US" altLang="en-US" b="1" dirty="0" smtClean="0">
                <a:sym typeface="Arial" panose="020B0604020202020204" pitchFamily="34" charset="0"/>
              </a:rPr>
              <a:t>, pre-processing</a:t>
            </a:r>
            <a:r>
              <a:rPr lang="en-US" altLang="en-US" b="1" dirty="0">
                <a:sym typeface="Arial" panose="020B0604020202020204" pitchFamily="34" charset="0"/>
              </a:rPr>
              <a:t>, etc.</a:t>
            </a:r>
          </a:p>
          <a:p>
            <a:pPr marL="322263" indent="-322263" defTabSz="858838">
              <a:spcBef>
                <a:spcPts val="700"/>
              </a:spcBef>
              <a:buFontTx/>
              <a:buChar char="•"/>
            </a:pPr>
            <a:r>
              <a:rPr lang="en-US" altLang="en-US" b="1" dirty="0">
                <a:sym typeface="Arial" panose="020B0604020202020204" pitchFamily="34" charset="0"/>
              </a:rPr>
              <a:t>Learning models</a:t>
            </a:r>
          </a:p>
          <a:p>
            <a:pPr marL="322263" indent="-322263" defTabSz="858838">
              <a:spcBef>
                <a:spcPts val="700"/>
              </a:spcBef>
              <a:buFontTx/>
              <a:buChar char="•"/>
            </a:pPr>
            <a:r>
              <a:rPr lang="en-US" altLang="en-US" b="1" dirty="0">
                <a:sym typeface="Arial" panose="020B0604020202020204" pitchFamily="34" charset="0"/>
              </a:rPr>
              <a:t>Interpreting results</a:t>
            </a:r>
          </a:p>
          <a:p>
            <a:pPr marL="322263" indent="-322263" defTabSz="858838">
              <a:spcBef>
                <a:spcPts val="700"/>
              </a:spcBef>
              <a:buFontTx/>
              <a:buChar char="•"/>
            </a:pPr>
            <a:r>
              <a:rPr lang="en-US" altLang="en-US" b="1" dirty="0">
                <a:sym typeface="Arial" panose="020B0604020202020204" pitchFamily="34" charset="0"/>
              </a:rPr>
              <a:t>Consolidating and deploying discovered knowledge</a:t>
            </a:r>
          </a:p>
          <a:p>
            <a:pPr marL="322263" indent="-322263" defTabSz="858838">
              <a:spcBef>
                <a:spcPts val="700"/>
              </a:spcBef>
              <a:buFontTx/>
              <a:buChar char="•"/>
            </a:pPr>
            <a:r>
              <a:rPr lang="en-US" altLang="en-US" i="1" dirty="0">
                <a:sym typeface="Arial" panose="020B0604020202020204" pitchFamily="34" charset="0"/>
              </a:rPr>
              <a:t>Loop</a:t>
            </a:r>
            <a:r>
              <a:rPr lang="en-US" altLang="en-US" dirty="0">
                <a:sym typeface="Arial" panose="020B0604020202020204" pitchFamily="34" charset="0"/>
              </a:rPr>
              <a:t> </a:t>
            </a:r>
            <a:endParaRPr lang="en-US" altLang="en-US" dirty="0"/>
          </a:p>
          <a:p>
            <a:endParaRPr lang="en-US" sz="2400" dirty="0"/>
          </a:p>
        </p:txBody>
      </p:sp>
    </p:spTree>
    <p:extLst>
      <p:ext uri="{BB962C8B-B14F-4D97-AF65-F5344CB8AC3E}">
        <p14:creationId xmlns:p14="http://schemas.microsoft.com/office/powerpoint/2010/main" val="1879603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Some Results of ML</a:t>
            </a:r>
            <a:endParaRPr lang="en-US" dirty="0"/>
          </a:p>
        </p:txBody>
      </p:sp>
      <p:sp>
        <p:nvSpPr>
          <p:cNvPr id="3" name="Content Placeholder 2"/>
          <p:cNvSpPr>
            <a:spLocks noGrp="1"/>
          </p:cNvSpPr>
          <p:nvPr>
            <p:ph idx="1"/>
          </p:nvPr>
        </p:nvSpPr>
        <p:spPr>
          <a:xfrm>
            <a:off x="838199" y="1825625"/>
            <a:ext cx="10921409" cy="4628338"/>
          </a:xfrm>
        </p:spPr>
        <p:txBody>
          <a:bodyPr>
            <a:normAutofit/>
          </a:bodyPr>
          <a:lstStyle/>
          <a:p>
            <a:pPr>
              <a:buFont typeface="Wingdings" panose="05000000000000000000" pitchFamily="2" charset="2"/>
              <a:buChar char="§"/>
            </a:pPr>
            <a:r>
              <a:rPr lang="en-US" b="1" dirty="0"/>
              <a:t>Forecast</a:t>
            </a:r>
            <a:r>
              <a:rPr lang="en-US" dirty="0"/>
              <a:t> what may happen in the future</a:t>
            </a:r>
          </a:p>
          <a:p>
            <a:pPr>
              <a:buFont typeface="Wingdings" panose="05000000000000000000" pitchFamily="2" charset="2"/>
              <a:buChar char="§"/>
            </a:pPr>
            <a:r>
              <a:rPr lang="en-US" b="1" dirty="0"/>
              <a:t>Classify</a:t>
            </a:r>
            <a:r>
              <a:rPr lang="en-US" dirty="0"/>
              <a:t> people or things into groups by recognizing patterns</a:t>
            </a:r>
          </a:p>
          <a:p>
            <a:pPr>
              <a:buFont typeface="Wingdings" panose="05000000000000000000" pitchFamily="2" charset="2"/>
              <a:buChar char="§"/>
            </a:pPr>
            <a:r>
              <a:rPr lang="en-US" b="1" dirty="0"/>
              <a:t>Clustering</a:t>
            </a:r>
            <a:r>
              <a:rPr lang="en-US" dirty="0"/>
              <a:t> people or things into groups based on their attributes or features</a:t>
            </a:r>
          </a:p>
          <a:p>
            <a:pPr>
              <a:buFont typeface="Wingdings" panose="05000000000000000000" pitchFamily="2" charset="2"/>
              <a:buChar char="§"/>
            </a:pPr>
            <a:r>
              <a:rPr lang="en-US" b="1" dirty="0"/>
              <a:t>Associating</a:t>
            </a:r>
            <a:r>
              <a:rPr lang="en-US" dirty="0"/>
              <a:t> what events are likely to occur together</a:t>
            </a:r>
          </a:p>
          <a:p>
            <a:pPr>
              <a:buFont typeface="Wingdings" panose="05000000000000000000" pitchFamily="2" charset="2"/>
              <a:buChar char="§"/>
            </a:pPr>
            <a:r>
              <a:rPr lang="en-US" b="1" dirty="0"/>
              <a:t>Sequencing</a:t>
            </a:r>
            <a:r>
              <a:rPr lang="en-US" dirty="0"/>
              <a:t> what events are likely to lead to later </a:t>
            </a:r>
            <a:r>
              <a:rPr lang="en-US" dirty="0" smtClean="0"/>
              <a:t>events</a:t>
            </a:r>
          </a:p>
          <a:p>
            <a:pPr>
              <a:buFont typeface="Wingdings" panose="05000000000000000000" pitchFamily="2" charset="2"/>
              <a:buChar char="§"/>
            </a:pPr>
            <a:r>
              <a:rPr lang="en-US" b="1" dirty="0" smtClean="0"/>
              <a:t>Generating</a:t>
            </a:r>
            <a:r>
              <a:rPr lang="en-US" dirty="0" smtClean="0"/>
              <a:t> content using language models</a:t>
            </a:r>
            <a:endParaRPr lang="en-US" dirty="0"/>
          </a:p>
          <a:p>
            <a:pPr>
              <a:buFont typeface="Wingdings" panose="05000000000000000000" pitchFamily="2" charset="2"/>
              <a:buChar char="§"/>
            </a:pPr>
            <a:r>
              <a:rPr lang="en-US" b="1" dirty="0"/>
              <a:t>Understand</a:t>
            </a:r>
            <a:r>
              <a:rPr lang="en-US" dirty="0"/>
              <a:t> the public mood from social </a:t>
            </a:r>
            <a:r>
              <a:rPr lang="en-US" dirty="0" smtClean="0"/>
              <a:t>media </a:t>
            </a:r>
            <a:r>
              <a:rPr lang="en-US" dirty="0" smtClean="0"/>
              <a:t>posts</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Discussion: Simple examples </a:t>
            </a:r>
            <a:endParaRPr lang="en-US" dirty="0"/>
          </a:p>
        </p:txBody>
      </p:sp>
      <p:sp>
        <p:nvSpPr>
          <p:cNvPr id="3" name="Content Placeholder 2"/>
          <p:cNvSpPr>
            <a:spLocks noGrp="1"/>
          </p:cNvSpPr>
          <p:nvPr>
            <p:ph idx="1"/>
          </p:nvPr>
        </p:nvSpPr>
        <p:spPr/>
        <p:txBody>
          <a:bodyPr/>
          <a:lstStyle/>
          <a:p>
            <a:pPr marL="514350" indent="-514350">
              <a:buFont typeface="+mj-lt"/>
              <a:buAutoNum type="arabicPeriod"/>
            </a:pPr>
            <a:r>
              <a:rPr lang="en-US" dirty="0" smtClean="0"/>
              <a:t>Rent and House prices:</a:t>
            </a:r>
          </a:p>
          <a:p>
            <a:pPr lvl="1"/>
            <a:r>
              <a:rPr lang="en-US" dirty="0" smtClean="0">
                <a:solidFill>
                  <a:schemeClr val="accent5">
                    <a:lumMod val="75000"/>
                  </a:schemeClr>
                </a:solidFill>
              </a:rPr>
              <a:t>How can we predict rents and house prices in Nairobi and its metropolitan areas?</a:t>
            </a:r>
          </a:p>
          <a:p>
            <a:pPr marL="514350" indent="-514350">
              <a:buFont typeface="+mj-lt"/>
              <a:buAutoNum type="arabicPeriod"/>
            </a:pPr>
            <a:r>
              <a:rPr lang="en-US" dirty="0" smtClean="0"/>
              <a:t>Spam email:</a:t>
            </a:r>
          </a:p>
          <a:p>
            <a:pPr lvl="1"/>
            <a:r>
              <a:rPr lang="en-US" dirty="0" smtClean="0">
                <a:solidFill>
                  <a:schemeClr val="accent5">
                    <a:lumMod val="75000"/>
                  </a:schemeClr>
                </a:solidFill>
              </a:rPr>
              <a:t>How can we separate spam and non-spam emails?</a:t>
            </a:r>
          </a:p>
          <a:p>
            <a:pPr marL="514350" indent="-514350">
              <a:buFont typeface="+mj-lt"/>
              <a:buAutoNum type="arabicPeriod"/>
            </a:pPr>
            <a:r>
              <a:rPr lang="en-US" dirty="0" smtClean="0"/>
              <a:t>Want to watch a movie?: </a:t>
            </a:r>
          </a:p>
          <a:p>
            <a:pPr lvl="1"/>
            <a:r>
              <a:rPr lang="en-US" dirty="0" smtClean="0">
                <a:solidFill>
                  <a:schemeClr val="accent5">
                    <a:lumMod val="75000"/>
                  </a:schemeClr>
                </a:solidFill>
              </a:rPr>
              <a:t>How does the recommendation work?</a:t>
            </a:r>
          </a:p>
          <a:p>
            <a:endParaRPr lang="en-US" dirty="0"/>
          </a:p>
        </p:txBody>
      </p:sp>
    </p:spTree>
    <p:extLst>
      <p:ext uri="{BB962C8B-B14F-4D97-AF65-F5344CB8AC3E}">
        <p14:creationId xmlns:p14="http://schemas.microsoft.com/office/powerpoint/2010/main" val="9918609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2780</TotalTime>
  <Words>399</Words>
  <Application>Microsoft Office PowerPoint</Application>
  <PresentationFormat>Widescreen</PresentationFormat>
  <Paragraphs>72</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Wingdings</vt:lpstr>
      <vt:lpstr>Office Theme</vt:lpstr>
      <vt:lpstr>CSC229 Machine Learning Algorithms &amp; Programming</vt:lpstr>
      <vt:lpstr>Branches of AI</vt:lpstr>
      <vt:lpstr>PowerPoint Presentation</vt:lpstr>
      <vt:lpstr>Applications, related areas</vt:lpstr>
      <vt:lpstr>Application Areas</vt:lpstr>
      <vt:lpstr>Real world Applications of Machine Learning</vt:lpstr>
      <vt:lpstr>Machine Learning algorithms</vt:lpstr>
      <vt:lpstr>Other Applications</vt:lpstr>
      <vt:lpstr>e.g. Machine Translation (MT) Using Parallel Corpus</vt:lpstr>
      <vt:lpstr>Machine Learning in Practice</vt:lpstr>
      <vt:lpstr>Some Results of ML</vt:lpstr>
      <vt:lpstr>Discussion: Simple examples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CSC229 Machine Learning Algorithms &amp; Programming</dc:title>
  <dc:creator>pwwawacha</dc:creator>
  <cp:lastModifiedBy>pwwagacha</cp:lastModifiedBy>
  <cp:revision>21</cp:revision>
  <dcterms:created xsi:type="dcterms:W3CDTF">2021-02-04T08:09:31Z</dcterms:created>
  <dcterms:modified xsi:type="dcterms:W3CDTF">2026-02-18T05:58:30Z</dcterms:modified>
</cp:coreProperties>
</file>
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60" r:id="rId2"/>
    <p:sldId id="257" r:id="rId3"/>
    <p:sldId id="258" r:id="rId4"/>
    <p:sldId id="265" r:id="rId5"/>
    <p:sldId id="266" r:id="rId6"/>
    <p:sldId id="264" r:id="rId7"/>
    <p:sldId id="263" r:id="rId8"/>
    <p:sldId id="268" r:id="rId9"/>
    <p:sldId id="262" r:id="rId10"/>
    <p:sldId id="269" r:id="rId11"/>
    <p:sldId id="259"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4" d="100"/>
          <a:sy n="64" d="100"/>
        </p:scale>
        <p:origin x="74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E176ED2-E322-4291-AC5A-9DF0118561E2}"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1851871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176ED2-E322-4291-AC5A-9DF0118561E2}"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642487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E176ED2-E322-4291-AC5A-9DF0118561E2}"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3396398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E176ED2-E322-4291-AC5A-9DF0118561E2}"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268823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E176ED2-E322-4291-AC5A-9DF0118561E2}" type="datetimeFigureOut">
              <a:rPr lang="en-US" smtClean="0"/>
              <a:t>3/11/2026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3523059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E176ED2-E322-4291-AC5A-9DF0118561E2}" type="datetimeFigureOut">
              <a:rPr lang="en-US" smtClean="0"/>
              <a:t>3/11/2026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1512961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176ED2-E322-4291-AC5A-9DF0118561E2}" type="datetimeFigureOut">
              <a:rPr lang="en-US" smtClean="0"/>
              <a:t>3/11/2026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2954006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E176ED2-E322-4291-AC5A-9DF0118561E2}"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1122339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E176ED2-E322-4291-AC5A-9DF0118561E2}" type="datetimeFigureOut">
              <a:rPr lang="en-US" smtClean="0"/>
              <a:t>3/11/2026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398443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176ED2-E322-4291-AC5A-9DF0118561E2}"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32603113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E176ED2-E322-4291-AC5A-9DF0118561E2}" type="datetimeFigureOut">
              <a:rPr lang="en-US" smtClean="0"/>
              <a:t>3/11/2026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441855-9C08-45A6-B4A1-B3FCB1DF18F2}" type="slidenum">
              <a:rPr lang="en-US" smtClean="0"/>
              <a:t>‹#›</a:t>
            </a:fld>
            <a:endParaRPr lang="en-US"/>
          </a:p>
        </p:txBody>
      </p:sp>
    </p:spTree>
    <p:extLst>
      <p:ext uri="{BB962C8B-B14F-4D97-AF65-F5344CB8AC3E}">
        <p14:creationId xmlns:p14="http://schemas.microsoft.com/office/powerpoint/2010/main" val="1363976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76ED2-E322-4291-AC5A-9DF0118561E2}" type="datetimeFigureOut">
              <a:rPr lang="en-US" smtClean="0"/>
              <a:t>3/11/2026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441855-9C08-45A6-B4A1-B3FCB1DF18F2}" type="slidenum">
              <a:rPr lang="en-US" smtClean="0"/>
              <a:t>‹#›</a:t>
            </a:fld>
            <a:endParaRPr lang="en-US"/>
          </a:p>
        </p:txBody>
      </p:sp>
    </p:spTree>
    <p:extLst>
      <p:ext uri="{BB962C8B-B14F-4D97-AF65-F5344CB8AC3E}">
        <p14:creationId xmlns:p14="http://schemas.microsoft.com/office/powerpoint/2010/main" val="394333644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medkart.in/blog/fasting-blood-sugar-normal-range" TargetMode="External"/><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nursesclass.com/2020/05/how-bmi-is-calculated-bmi-formula-bmi-ranges.html" TargetMode="External"/><Relationship Id="rId2" Type="http://schemas.openxmlformats.org/officeDocument/2006/relationships/hyperlink" Target="https://www.includehelp.com/basics/data-discretization-in-data-mining.aspx" TargetMode="External"/><Relationship Id="rId1" Type="http://schemas.openxmlformats.org/officeDocument/2006/relationships/slideLayout" Target="../slideLayouts/slideLayout2.xml"/><Relationship Id="rId4" Type="http://schemas.openxmlformats.org/officeDocument/2006/relationships/hyperlink" Target="https://towardsdatascience.com/an-introduction-to-discretization-in-data-science-55ef8c9775a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Discretization</a:t>
            </a:r>
            <a:endParaRPr lang="en-US" dirty="0"/>
          </a:p>
        </p:txBody>
      </p:sp>
      <p:sp>
        <p:nvSpPr>
          <p:cNvPr id="4" name="Text Placeholder 3"/>
          <p:cNvSpPr>
            <a:spLocks noGrp="1"/>
          </p:cNvSpPr>
          <p:nvPr>
            <p:ph type="body" idx="1"/>
          </p:nvPr>
        </p:nvSpPr>
        <p:spPr>
          <a:xfrm>
            <a:off x="1154955" y="4777381"/>
            <a:ext cx="8825658" cy="1335184"/>
          </a:xfrm>
        </p:spPr>
        <p:txBody>
          <a:bodyPr>
            <a:normAutofit/>
          </a:bodyPr>
          <a:lstStyle/>
          <a:p>
            <a:r>
              <a:rPr lang="en-US" dirty="0" smtClean="0"/>
              <a:t>Machine Learning </a:t>
            </a:r>
            <a:r>
              <a:rPr lang="en-US" dirty="0" smtClean="0"/>
              <a:t>Algorithms &amp; Programming</a:t>
            </a:r>
            <a:endParaRPr lang="en-US" dirty="0" smtClean="0"/>
          </a:p>
          <a:p>
            <a:r>
              <a:rPr lang="en-US" dirty="0" smtClean="0"/>
              <a:t>2026</a:t>
            </a:r>
            <a:endParaRPr lang="en-US" dirty="0" smtClean="0"/>
          </a:p>
          <a:p>
            <a:r>
              <a:rPr lang="en-US" dirty="0" smtClean="0"/>
              <a:t>Peter </a:t>
            </a:r>
            <a:r>
              <a:rPr lang="en-US" dirty="0" err="1" smtClean="0"/>
              <a:t>Waiganjo</a:t>
            </a:r>
            <a:r>
              <a:rPr lang="en-US" dirty="0" smtClean="0"/>
              <a:t> </a:t>
            </a:r>
            <a:r>
              <a:rPr lang="en-US" dirty="0" err="1" smtClean="0"/>
              <a:t>Wagacha</a:t>
            </a:r>
            <a:endParaRPr lang="en-US" dirty="0"/>
          </a:p>
        </p:txBody>
      </p:sp>
    </p:spTree>
    <p:extLst>
      <p:ext uri="{BB962C8B-B14F-4D97-AF65-F5344CB8AC3E}">
        <p14:creationId xmlns:p14="http://schemas.microsoft.com/office/powerpoint/2010/main" val="15407997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discretization Example1 </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635022270"/>
              </p:ext>
            </p:extLst>
          </p:nvPr>
        </p:nvGraphicFramePr>
        <p:xfrm>
          <a:off x="838200" y="2884750"/>
          <a:ext cx="10688392" cy="617220"/>
        </p:xfrm>
        <a:graphic>
          <a:graphicData uri="http://schemas.openxmlformats.org/drawingml/2006/table">
            <a:tbl>
              <a:tblPr/>
              <a:tblGrid>
                <a:gridCol w="1673939">
                  <a:extLst>
                    <a:ext uri="{9D8B030D-6E8A-4147-A177-3AD203B41FA5}">
                      <a16:colId xmlns:a16="http://schemas.microsoft.com/office/drawing/2014/main" val="20000"/>
                    </a:ext>
                  </a:extLst>
                </a:gridCol>
                <a:gridCol w="9014453">
                  <a:extLst>
                    <a:ext uri="{9D8B030D-6E8A-4147-A177-3AD203B41FA5}">
                      <a16:colId xmlns:a16="http://schemas.microsoft.com/office/drawing/2014/main" val="20001"/>
                    </a:ext>
                  </a:extLst>
                </a:gridCol>
              </a:tblGrid>
              <a:tr h="0">
                <a:tc>
                  <a:txBody>
                    <a:bodyPr/>
                    <a:lstStyle/>
                    <a:p>
                      <a:pPr algn="l"/>
                      <a:r>
                        <a:rPr lang="en-US" sz="2800" b="0" dirty="0" smtClean="0">
                          <a:solidFill>
                            <a:srgbClr val="002060"/>
                          </a:solidFill>
                          <a:effectLst/>
                        </a:rPr>
                        <a:t>Age</a:t>
                      </a:r>
                      <a:endParaRPr lang="en-US" sz="2800" b="0" dirty="0">
                        <a:solidFill>
                          <a:srgbClr val="002060"/>
                        </a:solidFill>
                        <a:effectLst/>
                      </a:endParaRPr>
                    </a:p>
                  </a:txBody>
                  <a:tcPr marL="47625" marR="47625" marT="95250" marB="9525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a:r>
                        <a:rPr lang="en-US" sz="2800" b="0" dirty="0" smtClean="0">
                          <a:solidFill>
                            <a:srgbClr val="002060"/>
                          </a:solidFill>
                          <a:effectLst/>
                        </a:rPr>
                        <a:t>10,11,13,14,17,19,30,31,32,38,40,42,70,72,73,75</a:t>
                      </a:r>
                      <a:endParaRPr lang="en-US" sz="2800" b="0" dirty="0">
                        <a:solidFill>
                          <a:srgbClr val="002060"/>
                        </a:solidFill>
                        <a:effectLst/>
                      </a:endParaRPr>
                    </a:p>
                  </a:txBody>
                  <a:tcPr marL="47625" marR="47625" marT="95250" marB="95250" anchor="ctr">
                    <a:lnL w="9525" cap="flat" cmpd="sng" algn="ctr">
                      <a:solidFill>
                        <a:srgbClr val="D1D1D1"/>
                      </a:solidFill>
                      <a:prstDash val="solid"/>
                      <a:round/>
                      <a:headEnd type="none" w="med" len="med"/>
                      <a:tailEnd type="none" w="med" len="med"/>
                    </a:lnL>
                    <a:lnR w="9525" cap="flat" cmpd="sng" algn="ctr">
                      <a:solidFill>
                        <a:srgbClr val="D1D1D1"/>
                      </a:solidFill>
                      <a:prstDash val="solid"/>
                      <a:round/>
                      <a:headEnd type="none" w="med" len="med"/>
                      <a:tailEnd type="none" w="med" len="med"/>
                    </a:lnR>
                    <a:lnT w="9525" cap="flat" cmpd="sng" algn="ctr">
                      <a:solidFill>
                        <a:srgbClr val="D1D1D1"/>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
        <p:nvSpPr>
          <p:cNvPr id="5" name="TextBox 4"/>
          <p:cNvSpPr txBox="1"/>
          <p:nvPr/>
        </p:nvSpPr>
        <p:spPr>
          <a:xfrm>
            <a:off x="838200" y="1790163"/>
            <a:ext cx="7069428" cy="461665"/>
          </a:xfrm>
          <a:prstGeom prst="rect">
            <a:avLst/>
          </a:prstGeom>
          <a:noFill/>
        </p:spPr>
        <p:txBody>
          <a:bodyPr wrap="square" rtlCol="0">
            <a:spAutoFit/>
          </a:bodyPr>
          <a:lstStyle/>
          <a:p>
            <a:r>
              <a:rPr lang="en-US" sz="2400" b="1" dirty="0" smtClean="0"/>
              <a:t>Discretization the following Age data</a:t>
            </a:r>
            <a:endParaRPr lang="en-US" sz="2400" b="1" dirty="0"/>
          </a:p>
        </p:txBody>
      </p:sp>
      <p:sp>
        <p:nvSpPr>
          <p:cNvPr id="6" name="Rectangle 5"/>
          <p:cNvSpPr/>
          <p:nvPr/>
        </p:nvSpPr>
        <p:spPr>
          <a:xfrm>
            <a:off x="1003286" y="4134892"/>
            <a:ext cx="10523306" cy="1200329"/>
          </a:xfrm>
          <a:prstGeom prst="rect">
            <a:avLst/>
          </a:prstGeom>
        </p:spPr>
        <p:txBody>
          <a:bodyPr wrap="square">
            <a:spAutoFit/>
          </a:bodyPr>
          <a:lstStyle/>
          <a:p>
            <a:pPr marL="342900" indent="-342900">
              <a:buFont typeface="Arial" panose="020B0604020202020204" pitchFamily="34" charset="0"/>
              <a:buChar char="•"/>
            </a:pPr>
            <a:r>
              <a:rPr lang="en-US" sz="2400" dirty="0" smtClean="0"/>
              <a:t>What is the number of bins you propose?</a:t>
            </a:r>
          </a:p>
          <a:p>
            <a:pPr marL="342900" indent="-342900">
              <a:buFont typeface="Arial" panose="020B0604020202020204" pitchFamily="34" charset="0"/>
              <a:buChar char="•"/>
            </a:pPr>
            <a:r>
              <a:rPr lang="en-US" sz="2400" dirty="0" smtClean="0"/>
              <a:t>What are the bin intervals?</a:t>
            </a:r>
          </a:p>
          <a:p>
            <a:pPr marL="342900" indent="-342900">
              <a:buFont typeface="Arial" panose="020B0604020202020204" pitchFamily="34" charset="0"/>
              <a:buChar char="•"/>
            </a:pPr>
            <a:r>
              <a:rPr lang="en-US" sz="2400" dirty="0" smtClean="0"/>
              <a:t>What is the context/rationale behind the bins you have proposed?</a:t>
            </a:r>
            <a:endParaRPr lang="en-US" sz="2400" dirty="0"/>
          </a:p>
        </p:txBody>
      </p:sp>
    </p:spTree>
    <p:extLst>
      <p:ext uri="{BB962C8B-B14F-4D97-AF65-F5344CB8AC3E}">
        <p14:creationId xmlns:p14="http://schemas.microsoft.com/office/powerpoint/2010/main" val="229828568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fontAlgn="ctr"/>
            <a:r>
              <a:rPr lang="en-US" dirty="0"/>
              <a:t>Before Discretization Age: </a:t>
            </a:r>
            <a:endParaRPr lang="en-US" dirty="0" smtClean="0"/>
          </a:p>
          <a:p>
            <a:pPr marL="0" indent="0" fontAlgn="ctr">
              <a:buNone/>
            </a:pPr>
            <a:r>
              <a:rPr lang="en-US" dirty="0" smtClean="0"/>
              <a:t>10,11,13,14,17,19,30</a:t>
            </a:r>
            <a:r>
              <a:rPr lang="en-US" dirty="0"/>
              <a:t>, 31, 32, 38, 40, 42,70 , 72, 73, 75</a:t>
            </a:r>
          </a:p>
          <a:p>
            <a:pPr fontAlgn="ctr"/>
            <a:endParaRPr lang="en-US" dirty="0"/>
          </a:p>
          <a:p>
            <a:pPr fontAlgn="ctr"/>
            <a:r>
              <a:rPr lang="en-US" dirty="0" smtClean="0"/>
              <a:t>Based on a certain context, the possible 3 bins could be:</a:t>
            </a:r>
          </a:p>
          <a:p>
            <a:pPr lvl="1" fontAlgn="ctr"/>
            <a:r>
              <a:rPr lang="en-US" dirty="0" smtClean="0"/>
              <a:t>Young: </a:t>
            </a:r>
            <a:r>
              <a:rPr lang="en-US" b="0" dirty="0" smtClean="0">
                <a:effectLst/>
              </a:rPr>
              <a:t>10,11,13,14,17,19</a:t>
            </a:r>
          </a:p>
          <a:p>
            <a:pPr lvl="1" fontAlgn="ctr"/>
            <a:r>
              <a:rPr lang="en-US" dirty="0" smtClean="0"/>
              <a:t>Mature: </a:t>
            </a:r>
            <a:r>
              <a:rPr lang="en-US" dirty="0"/>
              <a:t>30, 31, 32, 38, 40, </a:t>
            </a:r>
            <a:r>
              <a:rPr lang="en-US" dirty="0" smtClean="0"/>
              <a:t>42</a:t>
            </a:r>
          </a:p>
          <a:p>
            <a:pPr lvl="1" fontAlgn="ctr"/>
            <a:r>
              <a:rPr lang="en-US" dirty="0" smtClean="0"/>
              <a:t>Old: </a:t>
            </a:r>
            <a:r>
              <a:rPr lang="en-US" dirty="0"/>
              <a:t>70 , 72, 73, 75</a:t>
            </a:r>
            <a:r>
              <a:rPr lang="en-US" dirty="0" smtClean="0"/>
              <a:t> </a:t>
            </a:r>
            <a:endParaRPr lang="en-US" dirty="0"/>
          </a:p>
          <a:p>
            <a:pPr fontAlgn="ctr"/>
            <a:endParaRPr lang="en-US" dirty="0" smtClean="0"/>
          </a:p>
          <a:p>
            <a:pPr fontAlgn="ctr"/>
            <a:r>
              <a:rPr lang="en-US" dirty="0" smtClean="0"/>
              <a:t>Q: What if our query data has an instance with age 60 or 25?</a:t>
            </a:r>
          </a:p>
          <a:p>
            <a:pPr fontAlgn="ctr"/>
            <a:endParaRPr lang="en-US" dirty="0"/>
          </a:p>
          <a:p>
            <a:pPr fontAlgn="ctr"/>
            <a:endParaRPr lang="en-US" dirty="0"/>
          </a:p>
          <a:p>
            <a:pPr marL="0" indent="0">
              <a:buNone/>
            </a:pPr>
            <a:endParaRPr lang="en-US" dirty="0"/>
          </a:p>
        </p:txBody>
      </p:sp>
    </p:spTree>
    <p:extLst>
      <p:ext uri="{BB962C8B-B14F-4D97-AF65-F5344CB8AC3E}">
        <p14:creationId xmlns:p14="http://schemas.microsoft.com/office/powerpoint/2010/main" val="345946776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a:t>Discretization</a:t>
            </a:r>
          </a:p>
        </p:txBody>
      </p:sp>
      <p:sp>
        <p:nvSpPr>
          <p:cNvPr id="3" name="Content Placeholder 2"/>
          <p:cNvSpPr>
            <a:spLocks noGrp="1"/>
          </p:cNvSpPr>
          <p:nvPr>
            <p:ph idx="1"/>
          </p:nvPr>
        </p:nvSpPr>
        <p:spPr>
          <a:xfrm>
            <a:off x="1103312" y="2052918"/>
            <a:ext cx="10124012" cy="4195481"/>
          </a:xfrm>
        </p:spPr>
        <p:txBody>
          <a:bodyPr/>
          <a:lstStyle/>
          <a:p>
            <a:r>
              <a:rPr lang="en-US" dirty="0"/>
              <a:t>Discretization is the process of putting values into buckets so that there are a limited number of possible states. The buckets themselves are treated as ordered and discrete values. </a:t>
            </a:r>
            <a:endParaRPr lang="en-US" dirty="0" smtClean="0"/>
          </a:p>
          <a:p>
            <a:pPr marL="0" indent="0">
              <a:buNone/>
            </a:pPr>
            <a:r>
              <a:rPr lang="en-US" dirty="0" smtClean="0"/>
              <a:t>OR</a:t>
            </a:r>
            <a:endParaRPr lang="en-US" dirty="0"/>
          </a:p>
          <a:p>
            <a:r>
              <a:rPr lang="en-US" dirty="0"/>
              <a:t>Data discretization is characterized as a method of translating attribute values of continuous data into a finite set of intervals with minimal information loss</a:t>
            </a:r>
            <a:r>
              <a:rPr lang="en-US" dirty="0" smtClean="0"/>
              <a:t>.</a:t>
            </a:r>
          </a:p>
          <a:p>
            <a:endParaRPr lang="en-US" dirty="0"/>
          </a:p>
          <a:p>
            <a:r>
              <a:rPr lang="en-US" dirty="0"/>
              <a:t>We can discretize both numeric and string </a:t>
            </a:r>
            <a:r>
              <a:rPr lang="en-US" dirty="0" smtClean="0"/>
              <a:t>attributes.</a:t>
            </a:r>
            <a:endParaRPr lang="en-US" dirty="0"/>
          </a:p>
          <a:p>
            <a:endParaRPr lang="en-US" dirty="0"/>
          </a:p>
        </p:txBody>
      </p:sp>
    </p:spTree>
    <p:extLst>
      <p:ext uri="{BB962C8B-B14F-4D97-AF65-F5344CB8AC3E}">
        <p14:creationId xmlns:p14="http://schemas.microsoft.com/office/powerpoint/2010/main" val="37752560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a:t>
            </a:r>
            <a:r>
              <a:rPr lang="en-US" dirty="0"/>
              <a:t>Discretization</a:t>
            </a:r>
          </a:p>
        </p:txBody>
      </p:sp>
      <p:sp>
        <p:nvSpPr>
          <p:cNvPr id="3" name="Content Placeholder 2"/>
          <p:cNvSpPr>
            <a:spLocks noGrp="1"/>
          </p:cNvSpPr>
          <p:nvPr>
            <p:ph idx="1"/>
          </p:nvPr>
        </p:nvSpPr>
        <p:spPr>
          <a:xfrm>
            <a:off x="1103312" y="2052918"/>
            <a:ext cx="10124012" cy="4195481"/>
          </a:xfrm>
        </p:spPr>
        <p:txBody>
          <a:bodyPr/>
          <a:lstStyle/>
          <a:p>
            <a:r>
              <a:rPr lang="en-US" b="1" dirty="0"/>
              <a:t>Discretization of the </a:t>
            </a:r>
            <a:r>
              <a:rPr lang="en-US" b="1" dirty="0" smtClean="0"/>
              <a:t>Top-down</a:t>
            </a:r>
          </a:p>
          <a:p>
            <a:pPr lvl="1"/>
            <a:r>
              <a:rPr lang="en-US" dirty="0" smtClean="0"/>
              <a:t>If </a:t>
            </a:r>
            <a:r>
              <a:rPr lang="en-US" dirty="0"/>
              <a:t>the procedure begins by first finding one or a few points to divide the whole set of attributes (called split points or cut points) and then performs this recursively at the resulting intervals, then it is called top-down discretization or slicing.</a:t>
            </a:r>
          </a:p>
          <a:p>
            <a:r>
              <a:rPr lang="en-US" b="1" dirty="0"/>
              <a:t>Discretization from the </a:t>
            </a:r>
            <a:r>
              <a:rPr lang="en-US" b="1" dirty="0" smtClean="0"/>
              <a:t>Bottom-up</a:t>
            </a:r>
          </a:p>
          <a:p>
            <a:pPr lvl="1"/>
            <a:r>
              <a:rPr lang="en-US" dirty="0" smtClean="0"/>
              <a:t>If </a:t>
            </a:r>
            <a:r>
              <a:rPr lang="en-US" dirty="0"/>
              <a:t>the procedure begins by considering all the continuous values as possible split-points, others are discarded by combining neighborhood values to form intervals, so it is called bottom-up discretization or merging.</a:t>
            </a:r>
          </a:p>
          <a:p>
            <a:endParaRPr lang="en-US" dirty="0"/>
          </a:p>
        </p:txBody>
      </p:sp>
    </p:spTree>
    <p:extLst>
      <p:ext uri="{BB962C8B-B14F-4D97-AF65-F5344CB8AC3E}">
        <p14:creationId xmlns:p14="http://schemas.microsoft.com/office/powerpoint/2010/main" val="250637657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Discretization is Important</a:t>
            </a:r>
            <a:r>
              <a:rPr lang="en-US" dirty="0" smtClean="0"/>
              <a:t>?</a:t>
            </a:r>
            <a:endParaRPr lang="en-US" dirty="0"/>
          </a:p>
        </p:txBody>
      </p:sp>
      <p:sp>
        <p:nvSpPr>
          <p:cNvPr id="3" name="Content Placeholder 2"/>
          <p:cNvSpPr>
            <a:spLocks noGrp="1"/>
          </p:cNvSpPr>
          <p:nvPr>
            <p:ph idx="1"/>
          </p:nvPr>
        </p:nvSpPr>
        <p:spPr>
          <a:xfrm>
            <a:off x="1103312" y="1508290"/>
            <a:ext cx="10623632" cy="4740110"/>
          </a:xfrm>
        </p:spPr>
        <p:txBody>
          <a:bodyPr>
            <a:normAutofit fontScale="92500"/>
          </a:bodyPr>
          <a:lstStyle/>
          <a:p>
            <a:r>
              <a:rPr lang="en-US" dirty="0" smtClean="0"/>
              <a:t>An </a:t>
            </a:r>
            <a:r>
              <a:rPr lang="en-US" dirty="0"/>
              <a:t>infinite number of degrees of freedom (</a:t>
            </a:r>
            <a:r>
              <a:rPr lang="en-US" dirty="0" err="1"/>
              <a:t>DoF</a:t>
            </a:r>
            <a:r>
              <a:rPr lang="en-US" dirty="0"/>
              <a:t>) have mathematical problems with continuous data. For a variety of purposes, data </a:t>
            </a:r>
            <a:r>
              <a:rPr lang="en-US" dirty="0" smtClean="0"/>
              <a:t>scientists/data miners </a:t>
            </a:r>
            <a:r>
              <a:rPr lang="en-US" dirty="0"/>
              <a:t>need the implementation of discretization.</a:t>
            </a:r>
          </a:p>
          <a:p>
            <a:r>
              <a:rPr lang="en-US" b="1" dirty="0"/>
              <a:t>Features </a:t>
            </a:r>
            <a:r>
              <a:rPr lang="en-US" b="1" dirty="0" smtClean="0"/>
              <a:t>Interpretation</a:t>
            </a:r>
          </a:p>
          <a:p>
            <a:pPr lvl="1"/>
            <a:r>
              <a:rPr lang="en-US" dirty="0" smtClean="0"/>
              <a:t>Due </a:t>
            </a:r>
            <a:r>
              <a:rPr lang="en-US" dirty="0"/>
              <a:t>to infinite degrees of freedom, continuous functions have a lower probability of correlating with the target variable and can have a complex non-linear interaction. Therefore, the understanding of such a function could be more complicated. Groups corresponding to the target may be viewed after discretizing a variable.</a:t>
            </a:r>
          </a:p>
          <a:p>
            <a:r>
              <a:rPr lang="en-US" b="1" dirty="0"/>
              <a:t>Ratio </a:t>
            </a:r>
            <a:r>
              <a:rPr lang="en-US" b="1" dirty="0" smtClean="0"/>
              <a:t>Signal-to-Noise</a:t>
            </a:r>
          </a:p>
          <a:p>
            <a:pPr lvl="1"/>
            <a:r>
              <a:rPr lang="en-US" dirty="0" smtClean="0"/>
              <a:t>As </a:t>
            </a:r>
            <a:r>
              <a:rPr lang="en-US" dirty="0"/>
              <a:t>we discretize a model, we fit it into bins and reduce the influence of minor data fluctuations. Sometimes, minor variations are known as noise. By discretization, we will reduce this noise. This is the "smoothing" method in which fluctuations are smoothed from each bin, thereby reducing noise in the results.</a:t>
            </a:r>
          </a:p>
          <a:p>
            <a:endParaRPr lang="en-US" dirty="0"/>
          </a:p>
        </p:txBody>
      </p:sp>
    </p:spTree>
    <p:extLst>
      <p:ext uri="{BB962C8B-B14F-4D97-AF65-F5344CB8AC3E}">
        <p14:creationId xmlns:p14="http://schemas.microsoft.com/office/powerpoint/2010/main" val="35368487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discretization </a:t>
            </a:r>
            <a:r>
              <a:rPr lang="en-US" dirty="0" smtClean="0"/>
              <a:t>Example 2</a:t>
            </a:r>
            <a:endParaRPr lang="en-US" dirty="0"/>
          </a:p>
        </p:txBody>
      </p:sp>
      <p:sp>
        <p:nvSpPr>
          <p:cNvPr id="3" name="Content Placeholder 2"/>
          <p:cNvSpPr>
            <a:spLocks noGrp="1"/>
          </p:cNvSpPr>
          <p:nvPr>
            <p:ph idx="1"/>
          </p:nvPr>
        </p:nvSpPr>
        <p:spPr>
          <a:xfrm>
            <a:off x="395926" y="1468490"/>
            <a:ext cx="5156462" cy="4779910"/>
          </a:xfrm>
        </p:spPr>
        <p:txBody>
          <a:bodyPr/>
          <a:lstStyle/>
          <a:p>
            <a:r>
              <a:rPr lang="en-US" dirty="0" smtClean="0"/>
              <a:t>Body </a:t>
            </a:r>
            <a:r>
              <a:rPr lang="en-US" dirty="0"/>
              <a:t>Mass </a:t>
            </a:r>
            <a:r>
              <a:rPr lang="en-US" dirty="0" smtClean="0"/>
              <a:t>Index (BMI) </a:t>
            </a:r>
            <a:r>
              <a:rPr lang="en-US" dirty="0"/>
              <a:t>is a standard use to figure out a healthy weight for your height. </a:t>
            </a:r>
            <a:endParaRPr lang="en-US" dirty="0" smtClean="0"/>
          </a:p>
          <a:p>
            <a:r>
              <a:rPr lang="en-US" dirty="0" smtClean="0"/>
              <a:t>Generally, </a:t>
            </a:r>
            <a:r>
              <a:rPr lang="en-US" dirty="0"/>
              <a:t>the higher the BMI, the more body fat a person has and vice versa. </a:t>
            </a:r>
            <a:endParaRPr lang="en-US" dirty="0" smtClean="0"/>
          </a:p>
          <a:p>
            <a:r>
              <a:rPr lang="en-US" dirty="0" smtClean="0"/>
              <a:t>BMI is </a:t>
            </a:r>
            <a:r>
              <a:rPr lang="en-US" dirty="0"/>
              <a:t>often used as a screening tool to decide if your weight might be putting you at risk for health problems such as heart disease, diabetes, and cancer.</a:t>
            </a:r>
          </a:p>
        </p:txBody>
      </p:sp>
      <p:pic>
        <p:nvPicPr>
          <p:cNvPr id="1026" name="Picture 2" descr="How BMI is Calculated, BMI Calculator, BMI ranges - Nurses Class - Nurses  Class - Nursing guides, Care Plan, Jobs, Question Paper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4363" y="1468489"/>
            <a:ext cx="6325386" cy="3619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291340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discretization </a:t>
            </a:r>
            <a:r>
              <a:rPr lang="en-US" dirty="0" smtClean="0"/>
              <a:t>Example 3 </a:t>
            </a:r>
            <a:endParaRPr lang="en-US" dirty="0"/>
          </a:p>
        </p:txBody>
      </p:sp>
      <p:sp>
        <p:nvSpPr>
          <p:cNvPr id="3" name="Content Placeholder 2"/>
          <p:cNvSpPr>
            <a:spLocks noGrp="1"/>
          </p:cNvSpPr>
          <p:nvPr>
            <p:ph idx="1"/>
          </p:nvPr>
        </p:nvSpPr>
        <p:spPr>
          <a:xfrm>
            <a:off x="407573" y="1786993"/>
            <a:ext cx="6728722" cy="4779389"/>
          </a:xfrm>
        </p:spPr>
        <p:txBody>
          <a:bodyPr>
            <a:normAutofit/>
          </a:bodyPr>
          <a:lstStyle/>
          <a:p>
            <a:r>
              <a:rPr lang="en-US" sz="2400" b="1" dirty="0" smtClean="0"/>
              <a:t>Blood Sugar/Glucose Testing for Diabetes</a:t>
            </a:r>
          </a:p>
          <a:p>
            <a:r>
              <a:rPr lang="en-US" sz="2400" b="1" dirty="0" smtClean="0"/>
              <a:t>Fasting </a:t>
            </a:r>
            <a:r>
              <a:rPr lang="en-US" sz="2400" b="1" dirty="0"/>
              <a:t>blood sugar test.</a:t>
            </a:r>
            <a:r>
              <a:rPr lang="en-US" sz="2400" dirty="0"/>
              <a:t> </a:t>
            </a:r>
            <a:endParaRPr lang="en-US" sz="2400" dirty="0" smtClean="0"/>
          </a:p>
          <a:p>
            <a:pPr lvl="1"/>
            <a:r>
              <a:rPr lang="en-US" sz="2000" dirty="0" smtClean="0"/>
              <a:t>A </a:t>
            </a:r>
            <a:r>
              <a:rPr lang="en-US" sz="2000" dirty="0"/>
              <a:t>blood sample will be taken after an overnight fast. </a:t>
            </a:r>
            <a:endParaRPr lang="en-US" sz="2000" dirty="0" smtClean="0"/>
          </a:p>
          <a:p>
            <a:pPr lvl="1"/>
            <a:r>
              <a:rPr lang="en-US" sz="2000" dirty="0" smtClean="0"/>
              <a:t>A </a:t>
            </a:r>
            <a:r>
              <a:rPr lang="en-US" sz="2000" dirty="0"/>
              <a:t>fasting blood sugar level less than 100 mg/</a:t>
            </a:r>
            <a:r>
              <a:rPr lang="en-US" sz="2000" dirty="0" err="1"/>
              <a:t>dL</a:t>
            </a:r>
            <a:r>
              <a:rPr lang="en-US" sz="2000" dirty="0"/>
              <a:t> (5.6 </a:t>
            </a:r>
            <a:r>
              <a:rPr lang="en-US" sz="2000" dirty="0" err="1"/>
              <a:t>mmol</a:t>
            </a:r>
            <a:r>
              <a:rPr lang="en-US" sz="2000" dirty="0"/>
              <a:t>/L) is normal. </a:t>
            </a:r>
            <a:endParaRPr lang="en-US" sz="2000" dirty="0" smtClean="0"/>
          </a:p>
          <a:p>
            <a:pPr lvl="1"/>
            <a:r>
              <a:rPr lang="en-US" sz="2000" dirty="0" smtClean="0"/>
              <a:t>A </a:t>
            </a:r>
            <a:r>
              <a:rPr lang="en-US" sz="2000" dirty="0"/>
              <a:t>fasting blood sugar level from 100 to 125 mg/</a:t>
            </a:r>
            <a:r>
              <a:rPr lang="en-US" sz="2000" dirty="0" err="1"/>
              <a:t>dL</a:t>
            </a:r>
            <a:r>
              <a:rPr lang="en-US" sz="2000" dirty="0"/>
              <a:t> (5.6 to 6.9 </a:t>
            </a:r>
            <a:r>
              <a:rPr lang="en-US" sz="2000" dirty="0" err="1"/>
              <a:t>mmol</a:t>
            </a:r>
            <a:r>
              <a:rPr lang="en-US" sz="2000" dirty="0"/>
              <a:t>/L) is considered prediabetes. </a:t>
            </a:r>
            <a:endParaRPr lang="en-US" sz="2000" dirty="0" smtClean="0"/>
          </a:p>
          <a:p>
            <a:pPr lvl="1"/>
            <a:r>
              <a:rPr lang="en-US" sz="2000" dirty="0" smtClean="0"/>
              <a:t>If it</a:t>
            </a:r>
            <a:r>
              <a:rPr lang="en-US" sz="2000" dirty="0"/>
              <a:t> </a:t>
            </a:r>
            <a:r>
              <a:rPr lang="en-US" sz="2000" dirty="0" smtClean="0"/>
              <a:t>is </a:t>
            </a:r>
            <a:r>
              <a:rPr lang="en-US" sz="2000" dirty="0"/>
              <a:t>126 mg/</a:t>
            </a:r>
            <a:r>
              <a:rPr lang="en-US" sz="2000" dirty="0" err="1"/>
              <a:t>dL</a:t>
            </a:r>
            <a:r>
              <a:rPr lang="en-US" sz="2000" dirty="0"/>
              <a:t> (7 </a:t>
            </a:r>
            <a:r>
              <a:rPr lang="en-US" sz="2000" dirty="0" err="1"/>
              <a:t>mmol</a:t>
            </a:r>
            <a:r>
              <a:rPr lang="en-US" sz="2000" dirty="0"/>
              <a:t>/L) or higher on two separate tests, you have diabetes.</a:t>
            </a:r>
          </a:p>
          <a:p>
            <a:endParaRPr lang="en-US" sz="2400" dirty="0"/>
          </a:p>
        </p:txBody>
      </p:sp>
      <p:pic>
        <p:nvPicPr>
          <p:cNvPr id="4" name="Picture 2" descr="Fasting Blood Sugar Normal Ran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07014" y="2003700"/>
            <a:ext cx="4197969" cy="21729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7971183" y="4432852"/>
            <a:ext cx="3637721" cy="461665"/>
          </a:xfrm>
          <a:prstGeom prst="rect">
            <a:avLst/>
          </a:prstGeom>
          <a:noFill/>
        </p:spPr>
        <p:txBody>
          <a:bodyPr wrap="square" rtlCol="0">
            <a:spAutoFit/>
          </a:bodyPr>
          <a:lstStyle/>
          <a:p>
            <a:r>
              <a:rPr lang="en-US" sz="1200" dirty="0"/>
              <a:t>Source: </a:t>
            </a:r>
            <a:r>
              <a:rPr lang="en-US" sz="1200" dirty="0">
                <a:hlinkClick r:id="rId3"/>
              </a:rPr>
              <a:t>https://</a:t>
            </a:r>
            <a:r>
              <a:rPr lang="en-US" sz="1200" dirty="0" smtClean="0">
                <a:hlinkClick r:id="rId3"/>
              </a:rPr>
              <a:t>www.medkart.in/blog/fasting-blood-sugar-normal-range</a:t>
            </a:r>
            <a:r>
              <a:rPr lang="en-US" sz="1200" dirty="0" smtClean="0"/>
              <a:t> </a:t>
            </a:r>
            <a:endParaRPr lang="en-US" sz="1200" dirty="0"/>
          </a:p>
        </p:txBody>
      </p:sp>
    </p:spTree>
    <p:extLst>
      <p:ext uri="{BB962C8B-B14F-4D97-AF65-F5344CB8AC3E}">
        <p14:creationId xmlns:p14="http://schemas.microsoft.com/office/powerpoint/2010/main" val="9178644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discretization </a:t>
            </a:r>
            <a:r>
              <a:rPr lang="en-US" dirty="0" smtClean="0"/>
              <a:t>Example 3 </a:t>
            </a:r>
            <a:endParaRPr lang="en-US" dirty="0"/>
          </a:p>
        </p:txBody>
      </p:sp>
      <p:sp>
        <p:nvSpPr>
          <p:cNvPr id="3" name="Content Placeholder 2"/>
          <p:cNvSpPr>
            <a:spLocks noGrp="1"/>
          </p:cNvSpPr>
          <p:nvPr>
            <p:ph idx="1"/>
          </p:nvPr>
        </p:nvSpPr>
        <p:spPr>
          <a:xfrm>
            <a:off x="1103312" y="1734532"/>
            <a:ext cx="8946541" cy="4911364"/>
          </a:xfrm>
        </p:spPr>
        <p:txBody>
          <a:bodyPr>
            <a:normAutofit/>
          </a:bodyPr>
          <a:lstStyle/>
          <a:p>
            <a:r>
              <a:rPr lang="en-US" sz="2400" b="1" dirty="0" smtClean="0"/>
              <a:t>Blood Sugar/Glucose Testing for Diabetes</a:t>
            </a:r>
          </a:p>
          <a:p>
            <a:r>
              <a:rPr lang="en-US" sz="2400" b="1" dirty="0" smtClean="0"/>
              <a:t>Oral </a:t>
            </a:r>
            <a:r>
              <a:rPr lang="en-US" sz="2400" b="1" dirty="0"/>
              <a:t>glucose tolerance test.</a:t>
            </a:r>
            <a:r>
              <a:rPr lang="en-US" sz="2400" dirty="0"/>
              <a:t> </a:t>
            </a:r>
            <a:endParaRPr lang="en-US" sz="2400" dirty="0" smtClean="0"/>
          </a:p>
          <a:p>
            <a:pPr lvl="1"/>
            <a:r>
              <a:rPr lang="en-US" sz="2000" dirty="0" smtClean="0"/>
              <a:t>For </a:t>
            </a:r>
            <a:r>
              <a:rPr lang="en-US" sz="2000" dirty="0"/>
              <a:t>this test, you fast overnight, and the fasting blood sugar level is measured. Then you drink a sugary liquid, and blood sugar levels are tested periodically for the next two hours.</a:t>
            </a:r>
          </a:p>
          <a:p>
            <a:pPr lvl="1"/>
            <a:r>
              <a:rPr lang="en-US" sz="2000" dirty="0"/>
              <a:t>A blood sugar level less than 140 mg/</a:t>
            </a:r>
            <a:r>
              <a:rPr lang="en-US" sz="2000" dirty="0" err="1"/>
              <a:t>dL</a:t>
            </a:r>
            <a:r>
              <a:rPr lang="en-US" sz="2000" dirty="0"/>
              <a:t> (7.8 </a:t>
            </a:r>
            <a:r>
              <a:rPr lang="en-US" sz="2000" dirty="0" err="1"/>
              <a:t>mmol</a:t>
            </a:r>
            <a:r>
              <a:rPr lang="en-US" sz="2000" dirty="0"/>
              <a:t>/L) is normal. </a:t>
            </a:r>
            <a:endParaRPr lang="en-US" sz="2000" dirty="0" smtClean="0"/>
          </a:p>
          <a:p>
            <a:pPr lvl="1"/>
            <a:r>
              <a:rPr lang="en-US" sz="2000" dirty="0" smtClean="0"/>
              <a:t>A </a:t>
            </a:r>
            <a:r>
              <a:rPr lang="en-US" sz="2000" dirty="0"/>
              <a:t>reading of more than 200 mg/</a:t>
            </a:r>
            <a:r>
              <a:rPr lang="en-US" sz="2000" dirty="0" err="1"/>
              <a:t>dL</a:t>
            </a:r>
            <a:r>
              <a:rPr lang="en-US" sz="2000" dirty="0"/>
              <a:t> (11.1 </a:t>
            </a:r>
            <a:r>
              <a:rPr lang="en-US" sz="2000" dirty="0" err="1"/>
              <a:t>mmol</a:t>
            </a:r>
            <a:r>
              <a:rPr lang="en-US" sz="2000" dirty="0"/>
              <a:t>/L) after two hours indicates diabetes. </a:t>
            </a:r>
            <a:endParaRPr lang="en-US" sz="2000" dirty="0" smtClean="0"/>
          </a:p>
          <a:p>
            <a:pPr lvl="1"/>
            <a:r>
              <a:rPr lang="en-US" sz="2000" dirty="0" smtClean="0"/>
              <a:t>A </a:t>
            </a:r>
            <a:r>
              <a:rPr lang="en-US" sz="2000" dirty="0"/>
              <a:t>reading between 140 and 199 mg/</a:t>
            </a:r>
            <a:r>
              <a:rPr lang="en-US" sz="2000" dirty="0" err="1"/>
              <a:t>dL</a:t>
            </a:r>
            <a:r>
              <a:rPr lang="en-US" sz="2000" dirty="0"/>
              <a:t> (7.8 </a:t>
            </a:r>
            <a:r>
              <a:rPr lang="en-US" sz="2000" dirty="0" err="1"/>
              <a:t>mmol</a:t>
            </a:r>
            <a:r>
              <a:rPr lang="en-US" sz="2000" dirty="0"/>
              <a:t>/L and 11.0 </a:t>
            </a:r>
            <a:r>
              <a:rPr lang="en-US" sz="2000" dirty="0" err="1"/>
              <a:t>mmol</a:t>
            </a:r>
            <a:r>
              <a:rPr lang="en-US" sz="2000" dirty="0"/>
              <a:t>/L) indicates prediabetes.</a:t>
            </a:r>
          </a:p>
          <a:p>
            <a:pPr lvl="1"/>
            <a:endParaRPr lang="en-US" sz="2000" dirty="0"/>
          </a:p>
        </p:txBody>
      </p:sp>
    </p:spTree>
    <p:extLst>
      <p:ext uri="{BB962C8B-B14F-4D97-AF65-F5344CB8AC3E}">
        <p14:creationId xmlns:p14="http://schemas.microsoft.com/office/powerpoint/2010/main" val="226555391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4490830" y="204973"/>
            <a:ext cx="7187096" cy="4903740"/>
          </a:xfrm>
          <a:prstGeom prst="rect">
            <a:avLst/>
          </a:prstGeom>
        </p:spPr>
      </p:pic>
      <p:pic>
        <p:nvPicPr>
          <p:cNvPr id="5" name="Picture 2" descr="How BMI is Calculated, BMI Calculator, BMI ranges - Nurses Class - Nurses  Class - Nursing guides, Care Plan, Jobs, Question Paper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693" y="1677211"/>
            <a:ext cx="4173071" cy="238789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Fasting Blood Sugar Normal Rang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83" y="4211201"/>
            <a:ext cx="4166681" cy="215679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a:xfrm>
            <a:off x="4999382" y="5506278"/>
            <a:ext cx="7007087" cy="707886"/>
          </a:xfrm>
          <a:prstGeom prst="rect">
            <a:avLst/>
          </a:prstGeom>
          <a:noFill/>
        </p:spPr>
        <p:txBody>
          <a:bodyPr wrap="square" rtlCol="0">
            <a:spAutoFit/>
          </a:bodyPr>
          <a:lstStyle/>
          <a:p>
            <a:r>
              <a:rPr lang="en-US" sz="2000" dirty="0" smtClean="0"/>
              <a:t>This sample diabetes clinic data can be processed using the categorization here, to bring in new meaning to the features. </a:t>
            </a:r>
            <a:endParaRPr lang="en-US" sz="2000" dirty="0"/>
          </a:p>
        </p:txBody>
      </p:sp>
    </p:spTree>
    <p:extLst>
      <p:ext uri="{BB962C8B-B14F-4D97-AF65-F5344CB8AC3E}">
        <p14:creationId xmlns:p14="http://schemas.microsoft.com/office/powerpoint/2010/main" val="20804545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Some </a:t>
            </a:r>
            <a:r>
              <a:rPr lang="en-US" smtClean="0"/>
              <a:t>Discretization methods</a:t>
            </a:r>
            <a:endParaRPr lang="en-US"/>
          </a:p>
        </p:txBody>
      </p:sp>
      <p:sp>
        <p:nvSpPr>
          <p:cNvPr id="3" name="Content Placeholder 2"/>
          <p:cNvSpPr>
            <a:spLocks noGrp="1"/>
          </p:cNvSpPr>
          <p:nvPr>
            <p:ph idx="1"/>
          </p:nvPr>
        </p:nvSpPr>
        <p:spPr/>
        <p:txBody>
          <a:bodyPr>
            <a:normAutofit/>
          </a:bodyPr>
          <a:lstStyle/>
          <a:p>
            <a:r>
              <a:rPr lang="en-US" sz="2400" dirty="0" smtClean="0"/>
              <a:t>Domain Expert e.g. a specialist clinician</a:t>
            </a:r>
          </a:p>
          <a:p>
            <a:r>
              <a:rPr lang="en-US" sz="2400" dirty="0" smtClean="0"/>
              <a:t>Histogram </a:t>
            </a:r>
            <a:r>
              <a:rPr lang="en-US" sz="2400" dirty="0"/>
              <a:t>analysis</a:t>
            </a:r>
          </a:p>
          <a:p>
            <a:r>
              <a:rPr lang="en-US" sz="2400" dirty="0"/>
              <a:t>Binning</a:t>
            </a:r>
          </a:p>
          <a:p>
            <a:r>
              <a:rPr lang="en-US" sz="2400" dirty="0"/>
              <a:t>Correlation analysis</a:t>
            </a:r>
          </a:p>
          <a:p>
            <a:r>
              <a:rPr lang="en-US" sz="2400" dirty="0"/>
              <a:t>Clustering analysis</a:t>
            </a:r>
          </a:p>
          <a:p>
            <a:r>
              <a:rPr lang="en-US" sz="2400" dirty="0"/>
              <a:t>Decision tree analysis</a:t>
            </a:r>
          </a:p>
          <a:p>
            <a:r>
              <a:rPr lang="en-US" sz="2400" dirty="0"/>
              <a:t>Equal width partitioning</a:t>
            </a:r>
          </a:p>
          <a:p>
            <a:r>
              <a:rPr lang="en-US" sz="2400" dirty="0"/>
              <a:t>Equal depth partitioning</a:t>
            </a:r>
          </a:p>
          <a:p>
            <a:endParaRPr lang="en-US" sz="2400" dirty="0"/>
          </a:p>
        </p:txBody>
      </p:sp>
    </p:spTree>
    <p:extLst>
      <p:ext uri="{BB962C8B-B14F-4D97-AF65-F5344CB8AC3E}">
        <p14:creationId xmlns:p14="http://schemas.microsoft.com/office/powerpoint/2010/main" val="22301668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a:bodyPr>
          <a:lstStyle/>
          <a:p>
            <a:pPr marL="0" indent="0">
              <a:buNone/>
            </a:pPr>
            <a:r>
              <a:rPr lang="en-US" sz="1800" dirty="0"/>
              <a:t>Sources</a:t>
            </a:r>
            <a:endParaRPr lang="en-US" sz="1800" dirty="0" smtClean="0">
              <a:hlinkClick r:id="rId2"/>
            </a:endParaRPr>
          </a:p>
          <a:p>
            <a:r>
              <a:rPr lang="en-US" sz="1800" dirty="0" smtClean="0">
                <a:hlinkClick r:id="rId2"/>
              </a:rPr>
              <a:t>https</a:t>
            </a:r>
            <a:r>
              <a:rPr lang="en-US" sz="1800" dirty="0">
                <a:hlinkClick r:id="rId2"/>
              </a:rPr>
              <a:t>://</a:t>
            </a:r>
            <a:r>
              <a:rPr lang="en-US" sz="1800" dirty="0" smtClean="0">
                <a:hlinkClick r:id="rId2"/>
              </a:rPr>
              <a:t>www.includehelp.com/basics/data-discretization-in-data-mining.aspx</a:t>
            </a:r>
            <a:endParaRPr lang="en-US" sz="1800" dirty="0" smtClean="0"/>
          </a:p>
          <a:p>
            <a:r>
              <a:rPr lang="en-US" sz="1800" dirty="0">
                <a:hlinkClick r:id="rId3"/>
              </a:rPr>
              <a:t>https://</a:t>
            </a:r>
            <a:r>
              <a:rPr lang="en-US" sz="1800" dirty="0" smtClean="0">
                <a:hlinkClick r:id="rId3"/>
              </a:rPr>
              <a:t>www.nursesclass.com/2020/05/how-bmi-is-calculated-bmi-formula-bmi-ranges.html</a:t>
            </a:r>
            <a:endParaRPr lang="en-US" sz="1800" dirty="0" smtClean="0"/>
          </a:p>
          <a:p>
            <a:r>
              <a:rPr lang="en-US" sz="1800" dirty="0">
                <a:hlinkClick r:id="rId4"/>
              </a:rPr>
              <a:t>https://</a:t>
            </a:r>
            <a:r>
              <a:rPr lang="en-US" sz="1800" dirty="0" smtClean="0">
                <a:hlinkClick r:id="rId4"/>
              </a:rPr>
              <a:t>towardsdatascience.com/an-introduction-to-discretization-in-data-science-55ef8c9775a2</a:t>
            </a:r>
            <a:endParaRPr lang="en-US" sz="1800" dirty="0" smtClean="0"/>
          </a:p>
          <a:p>
            <a:endParaRPr lang="en-US" sz="1800" dirty="0"/>
          </a:p>
        </p:txBody>
      </p:sp>
    </p:spTree>
    <p:extLst>
      <p:ext uri="{BB962C8B-B14F-4D97-AF65-F5344CB8AC3E}">
        <p14:creationId xmlns:p14="http://schemas.microsoft.com/office/powerpoint/2010/main" val="21873492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1080</TotalTime>
  <Words>755</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Data Discretization</vt:lpstr>
      <vt:lpstr>Data discretization Example1 </vt:lpstr>
      <vt:lpstr>PowerPoint Presentation</vt:lpstr>
      <vt:lpstr>Data Discretization</vt:lpstr>
      <vt:lpstr>Data Discretization</vt:lpstr>
      <vt:lpstr>Why Discretization is Important?</vt:lpstr>
      <vt:lpstr>Data discretization Example 2</vt:lpstr>
      <vt:lpstr>Data discretization Example 3 </vt:lpstr>
      <vt:lpstr>Data discretization Example 3 </vt:lpstr>
      <vt:lpstr>PowerPoint Presentation</vt:lpstr>
      <vt:lpstr>Some Discretization methods</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discretization Example</dc:title>
  <dc:creator>pwwagacha</dc:creator>
  <cp:lastModifiedBy>pwwagacha</cp:lastModifiedBy>
  <cp:revision>25</cp:revision>
  <dcterms:created xsi:type="dcterms:W3CDTF">2019-03-28T08:23:13Z</dcterms:created>
  <dcterms:modified xsi:type="dcterms:W3CDTF">2026-03-11T08:13:53Z</dcterms:modified>
</cp:coreProperties>
</file>
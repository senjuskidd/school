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63"/>
  </p:notesMasterIdLst>
  <p:handoutMasterIdLst>
    <p:handoutMasterId r:id="rId64"/>
  </p:handoutMasterIdLst>
  <p:sldIdLst>
    <p:sldId id="259" r:id="rId2"/>
    <p:sldId id="309" r:id="rId3"/>
    <p:sldId id="323" r:id="rId4"/>
    <p:sldId id="261" r:id="rId5"/>
    <p:sldId id="310" r:id="rId6"/>
    <p:sldId id="303" r:id="rId7"/>
    <p:sldId id="333" r:id="rId8"/>
    <p:sldId id="306" r:id="rId9"/>
    <p:sldId id="305" r:id="rId10"/>
    <p:sldId id="320" r:id="rId11"/>
    <p:sldId id="321" r:id="rId12"/>
    <p:sldId id="324" r:id="rId13"/>
    <p:sldId id="334" r:id="rId14"/>
    <p:sldId id="302" r:id="rId15"/>
    <p:sldId id="301" r:id="rId16"/>
    <p:sldId id="276" r:id="rId17"/>
    <p:sldId id="262" r:id="rId18"/>
    <p:sldId id="263" r:id="rId19"/>
    <p:sldId id="264" r:id="rId20"/>
    <p:sldId id="265" r:id="rId21"/>
    <p:sldId id="266" r:id="rId22"/>
    <p:sldId id="267" r:id="rId23"/>
    <p:sldId id="268" r:id="rId24"/>
    <p:sldId id="269" r:id="rId25"/>
    <p:sldId id="314" r:id="rId26"/>
    <p:sldId id="319" r:id="rId27"/>
    <p:sldId id="270" r:id="rId28"/>
    <p:sldId id="273" r:id="rId29"/>
    <p:sldId id="308" r:id="rId30"/>
    <p:sldId id="307" r:id="rId31"/>
    <p:sldId id="315" r:id="rId32"/>
    <p:sldId id="272" r:id="rId33"/>
    <p:sldId id="327" r:id="rId34"/>
    <p:sldId id="271" r:id="rId35"/>
    <p:sldId id="331" r:id="rId36"/>
    <p:sldId id="332" r:id="rId37"/>
    <p:sldId id="311" r:id="rId38"/>
    <p:sldId id="312" r:id="rId39"/>
    <p:sldId id="313" r:id="rId40"/>
    <p:sldId id="322" r:id="rId41"/>
    <p:sldId id="277" r:id="rId42"/>
    <p:sldId id="278" r:id="rId43"/>
    <p:sldId id="279" r:id="rId44"/>
    <p:sldId id="304" r:id="rId45"/>
    <p:sldId id="280" r:id="rId46"/>
    <p:sldId id="281" r:id="rId47"/>
    <p:sldId id="285" r:id="rId48"/>
    <p:sldId id="286" r:id="rId49"/>
    <p:sldId id="288" r:id="rId50"/>
    <p:sldId id="287" r:id="rId51"/>
    <p:sldId id="292" r:id="rId52"/>
    <p:sldId id="293" r:id="rId53"/>
    <p:sldId id="294" r:id="rId54"/>
    <p:sldId id="296" r:id="rId55"/>
    <p:sldId id="316" r:id="rId56"/>
    <p:sldId id="317" r:id="rId57"/>
    <p:sldId id="329" r:id="rId58"/>
    <p:sldId id="326" r:id="rId59"/>
    <p:sldId id="325" r:id="rId60"/>
    <p:sldId id="328" r:id="rId61"/>
    <p:sldId id="335" r:id="rId62"/>
  </p:sldIdLst>
  <p:sldSz cx="12192000" cy="6858000"/>
  <p:notesSz cx="6797675" cy="9926638"/>
  <p:defaultTextStyle>
    <a:defPPr>
      <a:defRPr lang="en-US"/>
    </a:defPPr>
    <a:lvl1pPr algn="l" rtl="0" fontAlgn="base">
      <a:spcBef>
        <a:spcPct val="0"/>
      </a:spcBef>
      <a:spcAft>
        <a:spcPct val="0"/>
      </a:spcAft>
      <a:defRPr sz="24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66FFFF"/>
    <a:srgbClr val="CCFFFF"/>
    <a:srgbClr val="99CCFF"/>
    <a:srgbClr val="FFFF66"/>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91049" autoAdjust="0"/>
  </p:normalViewPr>
  <p:slideViewPr>
    <p:cSldViewPr>
      <p:cViewPr>
        <p:scale>
          <a:sx n="58" d="100"/>
          <a:sy n="58" d="100"/>
        </p:scale>
        <p:origin x="1204" y="5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33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3068" tIns="46534" rIns="93068" bIns="46534" numCol="1" anchor="t" anchorCtr="0" compatLnSpc="1">
            <a:prstTxWarp prst="textNoShape">
              <a:avLst/>
            </a:prstTxWarp>
          </a:bodyPr>
          <a:lstStyle>
            <a:lvl1pPr defTabSz="930275">
              <a:defRPr sz="1200"/>
            </a:lvl1pPr>
          </a:lstStyle>
          <a:p>
            <a:pPr>
              <a:defRPr/>
            </a:pPr>
            <a:endParaRPr lang="en-US"/>
          </a:p>
        </p:txBody>
      </p:sp>
      <p:sp>
        <p:nvSpPr>
          <p:cNvPr id="40963" name="Rectangle 3"/>
          <p:cNvSpPr>
            <a:spLocks noGrp="1" noChangeArrowheads="1"/>
          </p:cNvSpPr>
          <p:nvPr>
            <p:ph type="dt" sz="quarter" idx="1"/>
          </p:nvPr>
        </p:nvSpPr>
        <p:spPr bwMode="auto">
          <a:xfrm>
            <a:off x="3851275" y="0"/>
            <a:ext cx="2946400" cy="496888"/>
          </a:xfrm>
          <a:prstGeom prst="rect">
            <a:avLst/>
          </a:prstGeom>
          <a:noFill/>
          <a:ln w="9525">
            <a:noFill/>
            <a:miter lim="800000"/>
            <a:headEnd/>
            <a:tailEnd/>
          </a:ln>
          <a:effectLst/>
        </p:spPr>
        <p:txBody>
          <a:bodyPr vert="horz" wrap="square" lIns="93068" tIns="46534" rIns="93068" bIns="46534" numCol="1" anchor="t" anchorCtr="0" compatLnSpc="1">
            <a:prstTxWarp prst="textNoShape">
              <a:avLst/>
            </a:prstTxWarp>
          </a:bodyPr>
          <a:lstStyle>
            <a:lvl1pPr algn="r" defTabSz="930275">
              <a:defRPr sz="1200"/>
            </a:lvl1pPr>
          </a:lstStyle>
          <a:p>
            <a:pPr>
              <a:defRPr/>
            </a:pPr>
            <a:endParaRPr lang="en-US"/>
          </a:p>
        </p:txBody>
      </p:sp>
      <p:sp>
        <p:nvSpPr>
          <p:cNvPr id="40964"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3068" tIns="46534" rIns="93068" bIns="46534" numCol="1" anchor="b" anchorCtr="0" compatLnSpc="1">
            <a:prstTxWarp prst="textNoShape">
              <a:avLst/>
            </a:prstTxWarp>
          </a:bodyPr>
          <a:lstStyle>
            <a:lvl1pPr defTabSz="930275">
              <a:defRPr sz="1200"/>
            </a:lvl1pPr>
          </a:lstStyle>
          <a:p>
            <a:pPr>
              <a:defRPr/>
            </a:pPr>
            <a:r>
              <a:rPr lang="en-US"/>
              <a:t>Part3. Decision Tree Learning</a:t>
            </a:r>
          </a:p>
        </p:txBody>
      </p:sp>
      <p:sp>
        <p:nvSpPr>
          <p:cNvPr id="40965" name="Rectangle 5"/>
          <p:cNvSpPr>
            <a:spLocks noGrp="1" noChangeArrowheads="1"/>
          </p:cNvSpPr>
          <p:nvPr>
            <p:ph type="sldNum" sz="quarter" idx="3"/>
          </p:nvPr>
        </p:nvSpPr>
        <p:spPr bwMode="auto">
          <a:xfrm>
            <a:off x="3851275" y="9429750"/>
            <a:ext cx="2946400" cy="496888"/>
          </a:xfrm>
          <a:prstGeom prst="rect">
            <a:avLst/>
          </a:prstGeom>
          <a:noFill/>
          <a:ln w="9525">
            <a:noFill/>
            <a:miter lim="800000"/>
            <a:headEnd/>
            <a:tailEnd/>
          </a:ln>
          <a:effectLst/>
        </p:spPr>
        <p:txBody>
          <a:bodyPr vert="horz" wrap="square" lIns="93068" tIns="46534" rIns="93068" bIns="46534" numCol="1" anchor="b" anchorCtr="0" compatLnSpc="1">
            <a:prstTxWarp prst="textNoShape">
              <a:avLst/>
            </a:prstTxWarp>
          </a:bodyPr>
          <a:lstStyle>
            <a:lvl1pPr algn="r" defTabSz="930275">
              <a:defRPr sz="1200"/>
            </a:lvl1pPr>
          </a:lstStyle>
          <a:p>
            <a:fld id="{A6FD1817-7F6B-4E12-9D89-0B7B8AD05AFC}"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60688" cy="463550"/>
          </a:xfrm>
          <a:prstGeom prst="rect">
            <a:avLst/>
          </a:prstGeom>
          <a:noFill/>
          <a:ln w="9525">
            <a:noFill/>
            <a:miter lim="800000"/>
            <a:headEnd/>
            <a:tailEnd/>
          </a:ln>
          <a:effectLst/>
        </p:spPr>
        <p:txBody>
          <a:bodyPr vert="horz" wrap="none" lIns="93068" tIns="46534" rIns="93068" bIns="46534" numCol="1" anchor="t" anchorCtr="0" compatLnSpc="1">
            <a:prstTxWarp prst="textNoShape">
              <a:avLst/>
            </a:prstTxWarp>
          </a:bodyPr>
          <a:lstStyle>
            <a:lvl1pPr defTabSz="930275">
              <a:defRPr sz="1200"/>
            </a:lvl1pPr>
          </a:lstStyle>
          <a:p>
            <a:pPr>
              <a:defRPr/>
            </a:pPr>
            <a:endParaRPr lang="en-US"/>
          </a:p>
        </p:txBody>
      </p:sp>
      <p:sp>
        <p:nvSpPr>
          <p:cNvPr id="70659" name="Rectangle 3"/>
          <p:cNvSpPr>
            <a:spLocks noGrp="1" noChangeArrowheads="1"/>
          </p:cNvSpPr>
          <p:nvPr>
            <p:ph type="dt" idx="1"/>
          </p:nvPr>
        </p:nvSpPr>
        <p:spPr bwMode="auto">
          <a:xfrm>
            <a:off x="3817938" y="0"/>
            <a:ext cx="2960687" cy="463550"/>
          </a:xfrm>
          <a:prstGeom prst="rect">
            <a:avLst/>
          </a:prstGeom>
          <a:noFill/>
          <a:ln w="9525">
            <a:noFill/>
            <a:miter lim="800000"/>
            <a:headEnd/>
            <a:tailEnd/>
          </a:ln>
          <a:effectLst/>
        </p:spPr>
        <p:txBody>
          <a:bodyPr vert="horz" wrap="none" lIns="93068" tIns="46534" rIns="93068" bIns="46534" numCol="1" anchor="t" anchorCtr="0" compatLnSpc="1">
            <a:prstTxWarp prst="textNoShape">
              <a:avLst/>
            </a:prstTxWarp>
          </a:bodyPr>
          <a:lstStyle>
            <a:lvl1pPr algn="r" defTabSz="930275">
              <a:defRPr sz="1200"/>
            </a:lvl1pPr>
          </a:lstStyle>
          <a:p>
            <a:pPr>
              <a:defRPr/>
            </a:pPr>
            <a:endParaRPr lang="en-US"/>
          </a:p>
        </p:txBody>
      </p:sp>
      <p:sp>
        <p:nvSpPr>
          <p:cNvPr id="46084" name="Rectangle 4"/>
          <p:cNvSpPr>
            <a:spLocks noGrp="1" noRot="1" noChangeAspect="1" noChangeArrowheads="1" noTextEdit="1"/>
          </p:cNvSpPr>
          <p:nvPr>
            <p:ph type="sldImg" idx="2"/>
          </p:nvPr>
        </p:nvSpPr>
        <p:spPr bwMode="auto">
          <a:xfrm>
            <a:off x="130175" y="773113"/>
            <a:ext cx="6596063" cy="3711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1" name="Rectangle 5"/>
          <p:cNvSpPr>
            <a:spLocks noGrp="1" noChangeArrowheads="1"/>
          </p:cNvSpPr>
          <p:nvPr>
            <p:ph type="body" sz="quarter" idx="3"/>
          </p:nvPr>
        </p:nvSpPr>
        <p:spPr bwMode="auto">
          <a:xfrm>
            <a:off x="935038" y="4716463"/>
            <a:ext cx="4986337" cy="4484687"/>
          </a:xfrm>
          <a:prstGeom prst="rect">
            <a:avLst/>
          </a:prstGeom>
          <a:noFill/>
          <a:ln w="9525">
            <a:noFill/>
            <a:miter lim="800000"/>
            <a:headEnd/>
            <a:tailEnd/>
          </a:ln>
          <a:effectLst/>
        </p:spPr>
        <p:txBody>
          <a:bodyPr vert="horz" wrap="none" lIns="93068" tIns="46534" rIns="93068" bIns="4653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0662" name="Rectangle 6"/>
          <p:cNvSpPr>
            <a:spLocks noGrp="1" noChangeArrowheads="1"/>
          </p:cNvSpPr>
          <p:nvPr>
            <p:ph type="ftr" sz="quarter" idx="4"/>
          </p:nvPr>
        </p:nvSpPr>
        <p:spPr bwMode="auto">
          <a:xfrm>
            <a:off x="0" y="9432925"/>
            <a:ext cx="2960688" cy="465138"/>
          </a:xfrm>
          <a:prstGeom prst="rect">
            <a:avLst/>
          </a:prstGeom>
          <a:noFill/>
          <a:ln w="9525">
            <a:noFill/>
            <a:miter lim="800000"/>
            <a:headEnd/>
            <a:tailEnd/>
          </a:ln>
          <a:effectLst/>
        </p:spPr>
        <p:txBody>
          <a:bodyPr vert="horz" wrap="none" lIns="93068" tIns="46534" rIns="93068" bIns="46534" numCol="1" anchor="b" anchorCtr="0" compatLnSpc="1">
            <a:prstTxWarp prst="textNoShape">
              <a:avLst/>
            </a:prstTxWarp>
          </a:bodyPr>
          <a:lstStyle>
            <a:lvl1pPr defTabSz="930275">
              <a:defRPr sz="1200"/>
            </a:lvl1pPr>
          </a:lstStyle>
          <a:p>
            <a:pPr>
              <a:defRPr/>
            </a:pPr>
            <a:r>
              <a:rPr lang="en-US"/>
              <a:t>Part3. Decision Tree Learning</a:t>
            </a:r>
          </a:p>
        </p:txBody>
      </p:sp>
      <p:sp>
        <p:nvSpPr>
          <p:cNvPr id="70663" name="Rectangle 7"/>
          <p:cNvSpPr>
            <a:spLocks noGrp="1" noChangeArrowheads="1"/>
          </p:cNvSpPr>
          <p:nvPr>
            <p:ph type="sldNum" sz="quarter" idx="5"/>
          </p:nvPr>
        </p:nvSpPr>
        <p:spPr bwMode="auto">
          <a:xfrm>
            <a:off x="3817938" y="9432925"/>
            <a:ext cx="2960687" cy="465138"/>
          </a:xfrm>
          <a:prstGeom prst="rect">
            <a:avLst/>
          </a:prstGeom>
          <a:noFill/>
          <a:ln w="9525">
            <a:noFill/>
            <a:miter lim="800000"/>
            <a:headEnd/>
            <a:tailEnd/>
          </a:ln>
          <a:effectLst/>
        </p:spPr>
        <p:txBody>
          <a:bodyPr vert="horz" wrap="none" lIns="93068" tIns="46534" rIns="93068" bIns="46534" numCol="1" anchor="b" anchorCtr="0" compatLnSpc="1">
            <a:prstTxWarp prst="textNoShape">
              <a:avLst/>
            </a:prstTxWarp>
          </a:bodyPr>
          <a:lstStyle>
            <a:lvl1pPr algn="r" defTabSz="930275">
              <a:defRPr sz="1200"/>
            </a:lvl1pPr>
          </a:lstStyle>
          <a:p>
            <a:fld id="{74775F37-9236-4E67-A413-D481650E6AC8}"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200" smtClean="0"/>
              <a:t>Part3. Decision Tree Learning</a:t>
            </a:r>
          </a:p>
        </p:txBody>
      </p:sp>
      <p:sp>
        <p:nvSpPr>
          <p:cNvPr id="471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D36E22F-B450-41BC-A1BC-BAFA892AC939}" type="slidenum">
              <a:rPr lang="en-US" altLang="en-US" sz="1200"/>
              <a:pPr eaLnBrk="1" hangingPunct="1"/>
              <a:t>1</a:t>
            </a:fld>
            <a:endParaRPr lang="en-US" altLang="en-US" sz="1200"/>
          </a:p>
        </p:txBody>
      </p:sp>
      <p:sp>
        <p:nvSpPr>
          <p:cNvPr id="47108" name="Rectangle 2"/>
          <p:cNvSpPr>
            <a:spLocks noGrp="1" noRot="1" noChangeAspect="1" noChangeArrowheads="1" noTextEdit="1"/>
          </p:cNvSpPr>
          <p:nvPr>
            <p:ph type="sldImg"/>
          </p:nvPr>
        </p:nvSpPr>
        <p:spPr>
          <a:xfrm>
            <a:off x="130175" y="773113"/>
            <a:ext cx="6596063" cy="371157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r>
              <a:rPr lang="en-US" smtClean="0"/>
              <a:t>Part3. Decision Tree Learning</a:t>
            </a:r>
            <a:endParaRPr lang="en-US"/>
          </a:p>
        </p:txBody>
      </p:sp>
      <p:sp>
        <p:nvSpPr>
          <p:cNvPr id="5" name="Slide Number Placeholder 4"/>
          <p:cNvSpPr>
            <a:spLocks noGrp="1"/>
          </p:cNvSpPr>
          <p:nvPr>
            <p:ph type="sldNum" sz="quarter" idx="11"/>
          </p:nvPr>
        </p:nvSpPr>
        <p:spPr/>
        <p:txBody>
          <a:bodyPr/>
          <a:lstStyle/>
          <a:p>
            <a:fld id="{74775F37-9236-4E67-A413-D481650E6AC8}" type="slidenum">
              <a:rPr lang="en-US" altLang="en-US" smtClean="0"/>
              <a:pPr/>
              <a:t>5</a:t>
            </a:fld>
            <a:endParaRPr lang="en-US" altLang="en-US"/>
          </a:p>
        </p:txBody>
      </p:sp>
    </p:spTree>
    <p:extLst>
      <p:ext uri="{BB962C8B-B14F-4D97-AF65-F5344CB8AC3E}">
        <p14:creationId xmlns:p14="http://schemas.microsoft.com/office/powerpoint/2010/main" val="594564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Would</a:t>
            </a:r>
            <a:r>
              <a:rPr lang="en-US" baseline="0" dirty="0" smtClean="0"/>
              <a:t> the following be liked?</a:t>
            </a:r>
          </a:p>
          <a:p>
            <a:r>
              <a:rPr lang="en-US" baseline="0" dirty="0" smtClean="0"/>
              <a:t>-Big green lollipop</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-Big red lollipop</a:t>
            </a:r>
            <a:endParaRPr lang="en-US" dirty="0"/>
          </a:p>
        </p:txBody>
      </p:sp>
      <p:sp>
        <p:nvSpPr>
          <p:cNvPr id="4" name="Footer Placeholder 3"/>
          <p:cNvSpPr>
            <a:spLocks noGrp="1"/>
          </p:cNvSpPr>
          <p:nvPr>
            <p:ph type="ftr" sz="quarter" idx="10"/>
          </p:nvPr>
        </p:nvSpPr>
        <p:spPr/>
        <p:txBody>
          <a:bodyPr/>
          <a:lstStyle/>
          <a:p>
            <a:pPr>
              <a:defRPr/>
            </a:pPr>
            <a:r>
              <a:rPr lang="en-US" smtClean="0"/>
              <a:t>Part3. Decision Tree Learning</a:t>
            </a:r>
            <a:endParaRPr lang="en-US"/>
          </a:p>
        </p:txBody>
      </p:sp>
      <p:sp>
        <p:nvSpPr>
          <p:cNvPr id="5" name="Slide Number Placeholder 4"/>
          <p:cNvSpPr>
            <a:spLocks noGrp="1"/>
          </p:cNvSpPr>
          <p:nvPr>
            <p:ph type="sldNum" sz="quarter" idx="11"/>
          </p:nvPr>
        </p:nvSpPr>
        <p:spPr/>
        <p:txBody>
          <a:bodyPr/>
          <a:lstStyle/>
          <a:p>
            <a:fld id="{74775F37-9236-4E67-A413-D481650E6AC8}" type="slidenum">
              <a:rPr lang="en-US" altLang="en-US" smtClean="0"/>
              <a:pPr/>
              <a:t>7</a:t>
            </a:fld>
            <a:endParaRPr lang="en-US" altLang="en-US"/>
          </a:p>
        </p:txBody>
      </p:sp>
    </p:spTree>
    <p:extLst>
      <p:ext uri="{BB962C8B-B14F-4D97-AF65-F5344CB8AC3E}">
        <p14:creationId xmlns:p14="http://schemas.microsoft.com/office/powerpoint/2010/main" val="2965110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0175" y="773113"/>
            <a:ext cx="6596063" cy="3711575"/>
          </a:xfrm>
        </p:spPr>
      </p:sp>
      <p:sp>
        <p:nvSpPr>
          <p:cNvPr id="3" name="Notes Placeholder 2"/>
          <p:cNvSpPr>
            <a:spLocks noGrp="1"/>
          </p:cNvSpPr>
          <p:nvPr>
            <p:ph type="body" idx="1"/>
          </p:nvPr>
        </p:nvSpPr>
        <p:spPr/>
        <p:txBody>
          <a:bodyPr/>
          <a:lstStyle/>
          <a:p>
            <a:r>
              <a:rPr lang="en-US" sz="1200" dirty="0" smtClean="0"/>
              <a:t>Shape Entropy(S)=</a:t>
            </a:r>
            <a:r>
              <a:rPr lang="en-US" sz="1200" b="1" dirty="0" smtClean="0"/>
              <a:t>1</a:t>
            </a:r>
          </a:p>
          <a:p>
            <a:r>
              <a:rPr lang="en-US" sz="1200" dirty="0" smtClean="0"/>
              <a:t>Shape Entropy(</a:t>
            </a:r>
            <a:r>
              <a:rPr lang="en-US" sz="1200" dirty="0" err="1" smtClean="0"/>
              <a:t>S,Shape_round</a:t>
            </a:r>
            <a:r>
              <a:rPr lang="en-US" sz="1200" dirty="0" smtClean="0"/>
              <a:t>)=0.92</a:t>
            </a:r>
          </a:p>
          <a:p>
            <a:r>
              <a:rPr lang="en-US" sz="1200" dirty="0" smtClean="0"/>
              <a:t>Shape Entropy(</a:t>
            </a:r>
            <a:r>
              <a:rPr lang="en-US" sz="1200" dirty="0" err="1" smtClean="0"/>
              <a:t>S,Shape_square</a:t>
            </a:r>
            <a:r>
              <a:rPr lang="en-US" sz="1200" dirty="0" smtClean="0"/>
              <a:t>)=0.92</a:t>
            </a:r>
          </a:p>
          <a:p>
            <a:r>
              <a:rPr lang="en-US" sz="1200" dirty="0" smtClean="0"/>
              <a:t>1 – (3/6(0.92)+3/6(0.92)) =1-0.92=</a:t>
            </a:r>
            <a:r>
              <a:rPr lang="en-US" sz="1200" b="1" dirty="0" smtClean="0"/>
              <a:t>0.08</a:t>
            </a:r>
          </a:p>
          <a:p>
            <a:endParaRPr lang="en-US" dirty="0" smtClean="0"/>
          </a:p>
          <a:p>
            <a:r>
              <a:rPr lang="en-US" sz="1200" dirty="0" smtClean="0"/>
              <a:t>Size Entropy(S)=</a:t>
            </a:r>
            <a:r>
              <a:rPr lang="en-US" sz="1200" b="1" dirty="0" smtClean="0"/>
              <a:t>1</a:t>
            </a:r>
          </a:p>
          <a:p>
            <a:r>
              <a:rPr lang="en-US" sz="1200" dirty="0" smtClean="0"/>
              <a:t>Size Entropy(</a:t>
            </a:r>
            <a:r>
              <a:rPr lang="en-US" sz="1200" dirty="0" err="1" smtClean="0"/>
              <a:t>S,size_big</a:t>
            </a:r>
            <a:r>
              <a:rPr lang="en-US" sz="1200" dirty="0" smtClean="0"/>
              <a:t>)=0.81</a:t>
            </a:r>
          </a:p>
          <a:p>
            <a:r>
              <a:rPr lang="en-US" sz="1200" dirty="0" smtClean="0"/>
              <a:t>Size Entropy(</a:t>
            </a:r>
            <a:r>
              <a:rPr lang="en-US" sz="1200" dirty="0" err="1" smtClean="0"/>
              <a:t>S,size_small</a:t>
            </a:r>
            <a:r>
              <a:rPr lang="en-US" sz="1200" dirty="0" smtClean="0"/>
              <a:t>)=0.</a:t>
            </a:r>
          </a:p>
          <a:p>
            <a:r>
              <a:rPr lang="en-US" sz="1200" dirty="0" smtClean="0"/>
              <a:t>1 – (4/6(0.81)+2/6(0)) =1-0.54=</a:t>
            </a:r>
            <a:r>
              <a:rPr lang="en-US" sz="1200" b="1" dirty="0" smtClean="0"/>
              <a:t>0.46</a:t>
            </a:r>
          </a:p>
          <a:p>
            <a:endParaRPr lang="en-US" dirty="0"/>
          </a:p>
        </p:txBody>
      </p:sp>
      <p:sp>
        <p:nvSpPr>
          <p:cNvPr id="4" name="Footer Placeholder 3"/>
          <p:cNvSpPr>
            <a:spLocks noGrp="1"/>
          </p:cNvSpPr>
          <p:nvPr>
            <p:ph type="ftr" sz="quarter" idx="10"/>
          </p:nvPr>
        </p:nvSpPr>
        <p:spPr/>
        <p:txBody>
          <a:bodyPr/>
          <a:lstStyle/>
          <a:p>
            <a:pPr>
              <a:defRPr/>
            </a:pPr>
            <a:r>
              <a:rPr lang="en-US" smtClean="0"/>
              <a:t>Part3. Decision Tree Learning</a:t>
            </a:r>
            <a:endParaRPr lang="en-US"/>
          </a:p>
        </p:txBody>
      </p:sp>
      <p:sp>
        <p:nvSpPr>
          <p:cNvPr id="5" name="Slide Number Placeholder 4"/>
          <p:cNvSpPr>
            <a:spLocks noGrp="1"/>
          </p:cNvSpPr>
          <p:nvPr>
            <p:ph type="sldNum" sz="quarter" idx="11"/>
          </p:nvPr>
        </p:nvSpPr>
        <p:spPr/>
        <p:txBody>
          <a:bodyPr/>
          <a:lstStyle/>
          <a:p>
            <a:fld id="{74775F37-9236-4E67-A413-D481650E6AC8}" type="slidenum">
              <a:rPr lang="en-US" altLang="en-US" smtClean="0"/>
              <a:pPr/>
              <a:t>34</a:t>
            </a:fld>
            <a:endParaRPr lang="en-US" altLang="en-US"/>
          </a:p>
        </p:txBody>
      </p:sp>
    </p:spTree>
    <p:extLst>
      <p:ext uri="{BB962C8B-B14F-4D97-AF65-F5344CB8AC3E}">
        <p14:creationId xmlns:p14="http://schemas.microsoft.com/office/powerpoint/2010/main" val="3438463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6" name="Slide Number Placeholder 5"/>
          <p:cNvSpPr>
            <a:spLocks noGrp="1"/>
          </p:cNvSpPr>
          <p:nvPr>
            <p:ph type="sldNum" sz="quarter" idx="12"/>
          </p:nvPr>
        </p:nvSpPr>
        <p:spPr/>
        <p:txBody>
          <a:bodyPr/>
          <a:lstStyle>
            <a:lvl1pPr>
              <a:defRPr/>
            </a:lvl1pPr>
          </a:lstStyle>
          <a:p>
            <a:fld id="{939F60F5-5725-40B0-8EE4-B0C877884AEC}" type="slidenum">
              <a:rPr lang="en-US" altLang="en-US"/>
              <a:pPr/>
              <a:t>‹#›</a:t>
            </a:fld>
            <a:endParaRPr lang="en-US" altLang="en-US"/>
          </a:p>
        </p:txBody>
      </p:sp>
    </p:spTree>
    <p:extLst>
      <p:ext uri="{BB962C8B-B14F-4D97-AF65-F5344CB8AC3E}">
        <p14:creationId xmlns:p14="http://schemas.microsoft.com/office/powerpoint/2010/main" val="168559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6" name="Slide Number Placeholder 5"/>
          <p:cNvSpPr>
            <a:spLocks noGrp="1"/>
          </p:cNvSpPr>
          <p:nvPr>
            <p:ph type="sldNum" sz="quarter" idx="12"/>
          </p:nvPr>
        </p:nvSpPr>
        <p:spPr/>
        <p:txBody>
          <a:bodyPr/>
          <a:lstStyle>
            <a:lvl1pPr>
              <a:defRPr/>
            </a:lvl1pPr>
          </a:lstStyle>
          <a:p>
            <a:fld id="{BF785D5A-39C6-4148-8E4A-9B7BFC3CD3F2}" type="slidenum">
              <a:rPr lang="en-US" altLang="en-US"/>
              <a:pPr/>
              <a:t>‹#›</a:t>
            </a:fld>
            <a:endParaRPr lang="en-US" altLang="en-US"/>
          </a:p>
        </p:txBody>
      </p:sp>
    </p:spTree>
    <p:extLst>
      <p:ext uri="{BB962C8B-B14F-4D97-AF65-F5344CB8AC3E}">
        <p14:creationId xmlns:p14="http://schemas.microsoft.com/office/powerpoint/2010/main" val="3971526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6" name="Slide Number Placeholder 5"/>
          <p:cNvSpPr>
            <a:spLocks noGrp="1"/>
          </p:cNvSpPr>
          <p:nvPr>
            <p:ph type="sldNum" sz="quarter" idx="12"/>
          </p:nvPr>
        </p:nvSpPr>
        <p:spPr/>
        <p:txBody>
          <a:bodyPr/>
          <a:lstStyle>
            <a:lvl1pPr>
              <a:defRPr/>
            </a:lvl1pPr>
          </a:lstStyle>
          <a:p>
            <a:fld id="{F2D70D96-C187-44BB-A5D1-5B3376FEB140}" type="slidenum">
              <a:rPr lang="en-US" altLang="en-US"/>
              <a:pPr/>
              <a:t>‹#›</a:t>
            </a:fld>
            <a:endParaRPr lang="en-US" altLang="en-US"/>
          </a:p>
        </p:txBody>
      </p:sp>
    </p:spTree>
    <p:extLst>
      <p:ext uri="{BB962C8B-B14F-4D97-AF65-F5344CB8AC3E}">
        <p14:creationId xmlns:p14="http://schemas.microsoft.com/office/powerpoint/2010/main" val="4230043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7" name="Slide Number Placeholder 5"/>
          <p:cNvSpPr>
            <a:spLocks noGrp="1"/>
          </p:cNvSpPr>
          <p:nvPr>
            <p:ph type="sldNum" sz="quarter" idx="12"/>
          </p:nvPr>
        </p:nvSpPr>
        <p:spPr/>
        <p:txBody>
          <a:bodyPr/>
          <a:lstStyle>
            <a:lvl1pPr>
              <a:defRPr/>
            </a:lvl1pPr>
          </a:lstStyle>
          <a:p>
            <a:fld id="{4CD9B43C-B197-476E-A33D-0184D41F5DED}" type="slidenum">
              <a:rPr lang="en-US" altLang="en-US"/>
              <a:pPr/>
              <a:t>‹#›</a:t>
            </a:fld>
            <a:endParaRPr lang="en-US" altLang="en-US"/>
          </a:p>
        </p:txBody>
      </p:sp>
    </p:spTree>
    <p:extLst>
      <p:ext uri="{BB962C8B-B14F-4D97-AF65-F5344CB8AC3E}">
        <p14:creationId xmlns:p14="http://schemas.microsoft.com/office/powerpoint/2010/main" val="3378006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9" name="Slide Number Placeholder 5"/>
          <p:cNvSpPr>
            <a:spLocks noGrp="1"/>
          </p:cNvSpPr>
          <p:nvPr>
            <p:ph type="sldNum" sz="quarter" idx="12"/>
          </p:nvPr>
        </p:nvSpPr>
        <p:spPr/>
        <p:txBody>
          <a:bodyPr/>
          <a:lstStyle>
            <a:lvl1pPr>
              <a:defRPr/>
            </a:lvl1pPr>
          </a:lstStyle>
          <a:p>
            <a:fld id="{8559184F-CE0C-48B3-9D50-DAFA64207197}" type="slidenum">
              <a:rPr lang="en-US" altLang="en-US"/>
              <a:pPr/>
              <a:t>‹#›</a:t>
            </a:fld>
            <a:endParaRPr lang="en-US" altLang="en-US"/>
          </a:p>
        </p:txBody>
      </p:sp>
    </p:spTree>
    <p:extLst>
      <p:ext uri="{BB962C8B-B14F-4D97-AF65-F5344CB8AC3E}">
        <p14:creationId xmlns:p14="http://schemas.microsoft.com/office/powerpoint/2010/main" val="1174625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5" name="Slide Number Placeholder 5"/>
          <p:cNvSpPr>
            <a:spLocks noGrp="1"/>
          </p:cNvSpPr>
          <p:nvPr>
            <p:ph type="sldNum" sz="quarter" idx="12"/>
          </p:nvPr>
        </p:nvSpPr>
        <p:spPr/>
        <p:txBody>
          <a:bodyPr/>
          <a:lstStyle>
            <a:lvl1pPr>
              <a:defRPr/>
            </a:lvl1pPr>
          </a:lstStyle>
          <a:p>
            <a:fld id="{D7964449-AEA1-4664-9DF1-F5FD612FF9D7}" type="slidenum">
              <a:rPr lang="en-US" altLang="en-US"/>
              <a:pPr/>
              <a:t>‹#›</a:t>
            </a:fld>
            <a:endParaRPr lang="en-US" altLang="en-US"/>
          </a:p>
        </p:txBody>
      </p:sp>
    </p:spTree>
    <p:extLst>
      <p:ext uri="{BB962C8B-B14F-4D97-AF65-F5344CB8AC3E}">
        <p14:creationId xmlns:p14="http://schemas.microsoft.com/office/powerpoint/2010/main" val="3248155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4" name="Slide Number Placeholder 5"/>
          <p:cNvSpPr>
            <a:spLocks noGrp="1"/>
          </p:cNvSpPr>
          <p:nvPr>
            <p:ph type="sldNum" sz="quarter" idx="12"/>
          </p:nvPr>
        </p:nvSpPr>
        <p:spPr/>
        <p:txBody>
          <a:bodyPr/>
          <a:lstStyle>
            <a:lvl1pPr>
              <a:defRPr/>
            </a:lvl1pPr>
          </a:lstStyle>
          <a:p>
            <a:fld id="{0CE39374-2EA0-405F-A001-DD10ECBB73FD}" type="slidenum">
              <a:rPr lang="en-US" altLang="en-US"/>
              <a:pPr/>
              <a:t>‹#›</a:t>
            </a:fld>
            <a:endParaRPr lang="en-US" altLang="en-US"/>
          </a:p>
        </p:txBody>
      </p:sp>
    </p:spTree>
    <p:extLst>
      <p:ext uri="{BB962C8B-B14F-4D97-AF65-F5344CB8AC3E}">
        <p14:creationId xmlns:p14="http://schemas.microsoft.com/office/powerpoint/2010/main" val="104791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7" name="Slide Number Placeholder 5"/>
          <p:cNvSpPr>
            <a:spLocks noGrp="1"/>
          </p:cNvSpPr>
          <p:nvPr>
            <p:ph type="sldNum" sz="quarter" idx="12"/>
          </p:nvPr>
        </p:nvSpPr>
        <p:spPr/>
        <p:txBody>
          <a:bodyPr/>
          <a:lstStyle>
            <a:lvl1pPr>
              <a:defRPr/>
            </a:lvl1pPr>
          </a:lstStyle>
          <a:p>
            <a:fld id="{25FCBC2E-2D6D-4989-8C95-B54B03E26F1B}" type="slidenum">
              <a:rPr lang="en-US" altLang="en-US"/>
              <a:pPr/>
              <a:t>‹#›</a:t>
            </a:fld>
            <a:endParaRPr lang="en-US" altLang="en-US"/>
          </a:p>
        </p:txBody>
      </p:sp>
    </p:spTree>
    <p:extLst>
      <p:ext uri="{BB962C8B-B14F-4D97-AF65-F5344CB8AC3E}">
        <p14:creationId xmlns:p14="http://schemas.microsoft.com/office/powerpoint/2010/main" val="2716947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7" name="Slide Number Placeholder 5"/>
          <p:cNvSpPr>
            <a:spLocks noGrp="1"/>
          </p:cNvSpPr>
          <p:nvPr>
            <p:ph type="sldNum" sz="quarter" idx="12"/>
          </p:nvPr>
        </p:nvSpPr>
        <p:spPr/>
        <p:txBody>
          <a:bodyPr/>
          <a:lstStyle>
            <a:lvl1pPr>
              <a:defRPr/>
            </a:lvl1pPr>
          </a:lstStyle>
          <a:p>
            <a:fld id="{54532303-AB48-4775-A7A6-866B19C47957}" type="slidenum">
              <a:rPr lang="en-US" altLang="en-US"/>
              <a:pPr/>
              <a:t>‹#›</a:t>
            </a:fld>
            <a:endParaRPr lang="en-US" altLang="en-US"/>
          </a:p>
        </p:txBody>
      </p:sp>
    </p:spTree>
    <p:extLst>
      <p:ext uri="{BB962C8B-B14F-4D97-AF65-F5344CB8AC3E}">
        <p14:creationId xmlns:p14="http://schemas.microsoft.com/office/powerpoint/2010/main" val="1650414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6" name="Slide Number Placeholder 5"/>
          <p:cNvSpPr>
            <a:spLocks noGrp="1"/>
          </p:cNvSpPr>
          <p:nvPr>
            <p:ph type="sldNum" sz="quarter" idx="12"/>
          </p:nvPr>
        </p:nvSpPr>
        <p:spPr/>
        <p:txBody>
          <a:bodyPr/>
          <a:lstStyle>
            <a:lvl1pPr>
              <a:defRPr/>
            </a:lvl1pPr>
          </a:lstStyle>
          <a:p>
            <a:fld id="{44B74E3B-DD5A-47C1-99ED-6942A918764D}" type="slidenum">
              <a:rPr lang="en-US" altLang="en-US"/>
              <a:pPr/>
              <a:t>‹#›</a:t>
            </a:fld>
            <a:endParaRPr lang="en-US" altLang="en-US"/>
          </a:p>
        </p:txBody>
      </p:sp>
    </p:spTree>
    <p:extLst>
      <p:ext uri="{BB962C8B-B14F-4D97-AF65-F5344CB8AC3E}">
        <p14:creationId xmlns:p14="http://schemas.microsoft.com/office/powerpoint/2010/main" val="2723142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Decision Tree Learning</a:t>
            </a:r>
          </a:p>
        </p:txBody>
      </p:sp>
      <p:sp>
        <p:nvSpPr>
          <p:cNvPr id="6" name="Slide Number Placeholder 5"/>
          <p:cNvSpPr>
            <a:spLocks noGrp="1"/>
          </p:cNvSpPr>
          <p:nvPr>
            <p:ph type="sldNum" sz="quarter" idx="12"/>
          </p:nvPr>
        </p:nvSpPr>
        <p:spPr/>
        <p:txBody>
          <a:bodyPr/>
          <a:lstStyle>
            <a:lvl1pPr>
              <a:defRPr/>
            </a:lvl1pPr>
          </a:lstStyle>
          <a:p>
            <a:fld id="{7592B55A-DB07-4F83-AD77-7AC6F9BF1D07}" type="slidenum">
              <a:rPr lang="en-US" altLang="en-US"/>
              <a:pPr/>
              <a:t>‹#›</a:t>
            </a:fld>
            <a:endParaRPr lang="en-US" altLang="en-US"/>
          </a:p>
        </p:txBody>
      </p:sp>
    </p:spTree>
    <p:extLst>
      <p:ext uri="{BB962C8B-B14F-4D97-AF65-F5344CB8AC3E}">
        <p14:creationId xmlns:p14="http://schemas.microsoft.com/office/powerpoint/2010/main" val="292343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Decision Tree Learning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04DDBB6-2E63-4AAD-AD34-9721F7022FD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www.analyticsvidhya.com/blog/2020/06/4-ways-split-decision-tree/" TargetMode="External"/><Relationship Id="rId3" Type="http://schemas.openxmlformats.org/officeDocument/2006/relationships/hyperlink" Target="http://www.cs.uregina.ca/~dbd/cs831/notes/ml/dtrees/4_dtrees1.html" TargetMode="External"/><Relationship Id="rId7" Type="http://schemas.openxmlformats.org/officeDocument/2006/relationships/hyperlink" Target="https://www.kdnuggets.com/2020/01/decision-tree-algorithm-explained.html" TargetMode="External"/><Relationship Id="rId2" Type="http://schemas.openxmlformats.org/officeDocument/2006/relationships/hyperlink" Target="http://dms.irb.hr/tutorial/tut_dtrees.php" TargetMode="External"/><Relationship Id="rId1" Type="http://schemas.openxmlformats.org/officeDocument/2006/relationships/slideLayout" Target="../slideLayouts/slideLayout2.xml"/><Relationship Id="rId6" Type="http://schemas.openxmlformats.org/officeDocument/2006/relationships/hyperlink" Target="http://en.wikipedia.org/wiki/Decision_tree_learning" TargetMode="External"/><Relationship Id="rId5" Type="http://schemas.openxmlformats.org/officeDocument/2006/relationships/hyperlink" Target="http://decisiontrees.net/" TargetMode="External"/><Relationship Id="rId4" Type="http://schemas.openxmlformats.org/officeDocument/2006/relationships/hyperlink" Target="http://www.onlamp.com/pub/a/python/2006/02/09/ai_decision_trees.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kaumadiechamalka100.medium.com/decision-tree-in-machine-learning-c610ef087260"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581400" y="3065586"/>
            <a:ext cx="8382000" cy="1714694"/>
          </a:xfrm>
        </p:spPr>
        <p:txBody>
          <a:bodyPr/>
          <a:lstStyle/>
          <a:p>
            <a:pPr eaLnBrk="1" hangingPunct="1"/>
            <a:r>
              <a:rPr lang="en-US" dirty="0" smtClean="0"/>
              <a:t>SCS3212 </a:t>
            </a:r>
            <a:r>
              <a:rPr lang="en-US" dirty="0"/>
              <a:t>Machine Learning Algorithms &amp; Programming</a:t>
            </a:r>
            <a:endParaRPr lang="en-US" altLang="en-US" dirty="0" smtClean="0"/>
          </a:p>
        </p:txBody>
      </p:sp>
      <p:sp>
        <p:nvSpPr>
          <p:cNvPr id="62467" name="Rectangle 3"/>
          <p:cNvSpPr>
            <a:spLocks noGrp="1" noChangeArrowheads="1"/>
          </p:cNvSpPr>
          <p:nvPr>
            <p:ph type="subTitle" idx="1"/>
          </p:nvPr>
        </p:nvSpPr>
        <p:spPr>
          <a:xfrm>
            <a:off x="6477000" y="5029199"/>
            <a:ext cx="4953000" cy="1657447"/>
          </a:xfrm>
        </p:spPr>
        <p:txBody>
          <a:bodyPr rtlCol="0">
            <a:normAutofit fontScale="92500" lnSpcReduction="20000"/>
          </a:bodyPr>
          <a:lstStyle/>
          <a:p>
            <a:pPr algn="l"/>
            <a:r>
              <a:rPr lang="en-US" sz="3300" dirty="0">
                <a:solidFill>
                  <a:srgbClr val="0070C0"/>
                </a:solidFill>
              </a:rPr>
              <a:t>Part 5. Decision </a:t>
            </a:r>
            <a:r>
              <a:rPr lang="en-US" dirty="0">
                <a:solidFill>
                  <a:srgbClr val="0070C0"/>
                </a:solidFill>
              </a:rPr>
              <a:t>Tree </a:t>
            </a:r>
            <a:r>
              <a:rPr lang="en-US" dirty="0" smtClean="0">
                <a:solidFill>
                  <a:srgbClr val="0070C0"/>
                </a:solidFill>
              </a:rPr>
              <a:t>Learning</a:t>
            </a:r>
            <a:endParaRPr lang="en-US" dirty="0">
              <a:solidFill>
                <a:srgbClr val="0070C0"/>
              </a:solidFill>
            </a:endParaRPr>
          </a:p>
          <a:p>
            <a:pPr algn="l"/>
            <a:endParaRPr lang="en-US" sz="2600" dirty="0" smtClean="0">
              <a:solidFill>
                <a:srgbClr val="0070C0"/>
              </a:solidFill>
            </a:endParaRPr>
          </a:p>
          <a:p>
            <a:pPr algn="l"/>
            <a:r>
              <a:rPr lang="en-US" sz="2600" dirty="0" smtClean="0">
                <a:solidFill>
                  <a:srgbClr val="0070C0"/>
                </a:solidFill>
              </a:rPr>
              <a:t>Peter </a:t>
            </a:r>
            <a:r>
              <a:rPr lang="en-US" sz="2600" dirty="0" err="1">
                <a:solidFill>
                  <a:srgbClr val="0070C0"/>
                </a:solidFill>
              </a:rPr>
              <a:t>Waiganjo</a:t>
            </a:r>
            <a:r>
              <a:rPr lang="en-US" sz="2600" dirty="0">
                <a:solidFill>
                  <a:srgbClr val="0070C0"/>
                </a:solidFill>
              </a:rPr>
              <a:t> </a:t>
            </a:r>
            <a:r>
              <a:rPr lang="en-US" sz="2600" dirty="0" err="1">
                <a:solidFill>
                  <a:srgbClr val="0070C0"/>
                </a:solidFill>
              </a:rPr>
              <a:t>Wagacha</a:t>
            </a:r>
            <a:endParaRPr lang="en-US" sz="2600" dirty="0">
              <a:solidFill>
                <a:srgbClr val="0070C0"/>
              </a:solidFill>
            </a:endParaRPr>
          </a:p>
          <a:p>
            <a:pPr algn="l"/>
            <a:r>
              <a:rPr lang="en-US" sz="2600" dirty="0" smtClean="0">
                <a:solidFill>
                  <a:srgbClr val="0070C0"/>
                </a:solidFill>
              </a:rPr>
              <a:t>2026</a:t>
            </a:r>
            <a:endParaRPr lang="en-US" sz="2600" dirty="0">
              <a:solidFill>
                <a:srgbClr val="0070C0"/>
              </a:solidFill>
            </a:endParaRPr>
          </a:p>
          <a:p>
            <a:pPr algn="l" eaLnBrk="1" fontAlgn="auto" hangingPunct="1">
              <a:spcAft>
                <a:spcPts val="0"/>
              </a:spcAft>
              <a:defRPr/>
            </a:pPr>
            <a:endParaRPr lang="en-US" dirty="0" smtClean="0">
              <a:solidFill>
                <a:srgbClr val="0070C0"/>
              </a:solidFill>
            </a:endParaRPr>
          </a:p>
        </p:txBody>
      </p:sp>
      <p:pic>
        <p:nvPicPr>
          <p:cNvPr id="2" name="Picture 1"/>
          <p:cNvPicPr>
            <a:picLocks noChangeAspect="1"/>
          </p:cNvPicPr>
          <p:nvPr/>
        </p:nvPicPr>
        <p:blipFill>
          <a:blip r:embed="rId3"/>
          <a:stretch>
            <a:fillRect/>
          </a:stretch>
        </p:blipFill>
        <p:spPr>
          <a:xfrm>
            <a:off x="351631" y="1676400"/>
            <a:ext cx="4073989" cy="5010247"/>
          </a:xfrm>
          <a:prstGeom prst="rect">
            <a:avLst/>
          </a:prstGeom>
          <a:ln>
            <a:solidFill>
              <a:srgbClr val="00B050"/>
            </a:solid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dirty="0" smtClean="0"/>
              <a:t>Overview</a:t>
            </a:r>
          </a:p>
        </p:txBody>
      </p:sp>
      <p:sp>
        <p:nvSpPr>
          <p:cNvPr id="4099" name="Content Placeholder 2"/>
          <p:cNvSpPr>
            <a:spLocks noGrp="1"/>
          </p:cNvSpPr>
          <p:nvPr>
            <p:ph idx="1"/>
          </p:nvPr>
        </p:nvSpPr>
        <p:spPr/>
        <p:txBody>
          <a:bodyPr/>
          <a:lstStyle/>
          <a:p>
            <a:pPr eaLnBrk="1" hangingPunct="1"/>
            <a:r>
              <a:rPr lang="en-US" altLang="en-US" dirty="0" smtClean="0"/>
              <a:t>Concept: Data to Rules</a:t>
            </a:r>
          </a:p>
          <a:p>
            <a:pPr eaLnBrk="1" hangingPunct="1"/>
            <a:r>
              <a:rPr lang="en-US" altLang="en-US" dirty="0" smtClean="0"/>
              <a:t>Decision tree representation</a:t>
            </a:r>
          </a:p>
          <a:p>
            <a:pPr eaLnBrk="1" hangingPunct="1"/>
            <a:r>
              <a:rPr lang="en-US" altLang="en-US" dirty="0" smtClean="0"/>
              <a:t>Entropy, information gain</a:t>
            </a:r>
          </a:p>
          <a:p>
            <a:pPr eaLnBrk="1" hangingPunct="1"/>
            <a:r>
              <a:rPr lang="en-US" altLang="en-US" dirty="0" smtClean="0"/>
              <a:t>ID3 learning algorithm</a:t>
            </a:r>
          </a:p>
          <a:p>
            <a:pPr eaLnBrk="1" hangingPunct="1"/>
            <a:r>
              <a:rPr lang="en-US" altLang="en-US" dirty="0" smtClean="0"/>
              <a:t>C4.5 algorithm</a:t>
            </a:r>
          </a:p>
          <a:p>
            <a:pPr eaLnBrk="1" hangingPunct="1"/>
            <a:r>
              <a:rPr lang="en-US" altLang="en-US" dirty="0" smtClean="0"/>
              <a:t>Overfitting</a:t>
            </a:r>
          </a:p>
          <a:p>
            <a:pPr eaLnBrk="1" hangingPunct="1"/>
            <a:endParaRPr lang="en-US" altLang="en-US" dirty="0" smtClean="0"/>
          </a:p>
        </p:txBody>
      </p:sp>
      <p:sp>
        <p:nvSpPr>
          <p:cNvPr id="4" name="Footer Placeholder 3"/>
          <p:cNvSpPr>
            <a:spLocks noGrp="1"/>
          </p:cNvSpPr>
          <p:nvPr>
            <p:ph type="ftr" sz="quarter" idx="11"/>
          </p:nvPr>
        </p:nvSpPr>
        <p:spPr/>
        <p:txBody>
          <a:bodyPr/>
          <a:lstStyle/>
          <a:p>
            <a:pPr>
              <a:defRPr/>
            </a:pPr>
            <a:r>
              <a:rPr lang="en-US"/>
              <a:t>Decision Tree Learning</a:t>
            </a:r>
            <a:endParaRPr lang="en-US" dirty="0"/>
          </a:p>
        </p:txBody>
      </p:sp>
      <p:sp>
        <p:nvSpPr>
          <p:cNvPr id="5"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DBC52C6-D8E7-4291-9B1E-280B5C584311}" type="slidenum">
              <a:rPr lang="en-US" altLang="en-US" sz="1200">
                <a:solidFill>
                  <a:srgbClr val="898989"/>
                </a:solidFill>
              </a:rPr>
              <a:pPr eaLnBrk="1" hangingPunct="1"/>
              <a:t>2</a:t>
            </a:fld>
            <a:endParaRPr lang="en-US" altLang="en-US" sz="1200">
              <a:solidFill>
                <a:srgbClr val="898989"/>
              </a:solidFill>
            </a:endParaRPr>
          </a:p>
        </p:txBody>
      </p:sp>
      <p:sp>
        <p:nvSpPr>
          <p:cNvPr id="2" name="TextBox 1"/>
          <p:cNvSpPr txBox="1"/>
          <p:nvPr/>
        </p:nvSpPr>
        <p:spPr>
          <a:xfrm>
            <a:off x="914400" y="6031468"/>
            <a:ext cx="10058400" cy="369332"/>
          </a:xfrm>
          <a:prstGeom prst="rect">
            <a:avLst/>
          </a:prstGeom>
          <a:noFill/>
        </p:spPr>
        <p:txBody>
          <a:bodyPr wrap="square" rtlCol="0">
            <a:spAutoFit/>
          </a:bodyPr>
          <a:lstStyle/>
          <a:p>
            <a:r>
              <a:rPr lang="en-US" sz="1800" dirty="0" smtClean="0"/>
              <a:t>Decision tree learning is also referred to as induction of decision trees</a:t>
            </a:r>
            <a:endParaRPr lang="en-US"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9600" y="1600201"/>
            <a:ext cx="10972800" cy="4756150"/>
          </a:xfrm>
        </p:spPr>
        <p:txBody>
          <a:bodyPr/>
          <a:lstStyle/>
          <a:p>
            <a:r>
              <a:rPr lang="en-US" sz="2800" dirty="0"/>
              <a:t>A decision tree is a hierarchical data structure implementing the divide-and-conquer strategy. It is an efficient nonparametric method, which can be used for both classification and regression. </a:t>
            </a:r>
            <a:endParaRPr lang="en-US" sz="2800" dirty="0" smtClean="0"/>
          </a:p>
          <a:p>
            <a:r>
              <a:rPr lang="en-US" sz="2800" dirty="0" smtClean="0"/>
              <a:t>We </a:t>
            </a:r>
            <a:r>
              <a:rPr lang="en-US" sz="2800" dirty="0" smtClean="0"/>
              <a:t>look at a learning algorithm </a:t>
            </a:r>
            <a:r>
              <a:rPr lang="en-US" sz="2800" dirty="0" smtClean="0"/>
              <a:t>that </a:t>
            </a:r>
            <a:r>
              <a:rPr lang="en-US" sz="2800" dirty="0" smtClean="0"/>
              <a:t>builds a </a:t>
            </a:r>
            <a:r>
              <a:rPr lang="en-US" sz="2800" dirty="0"/>
              <a:t>tree </a:t>
            </a:r>
            <a:r>
              <a:rPr lang="en-US" sz="2800" dirty="0" smtClean="0"/>
              <a:t>from a </a:t>
            </a:r>
            <a:r>
              <a:rPr lang="en-US" sz="2800" dirty="0"/>
              <a:t>given labeled training sample, as well as how the tree can be converted </a:t>
            </a:r>
            <a:r>
              <a:rPr lang="en-US" sz="2800" dirty="0" smtClean="0"/>
              <a:t>into </a:t>
            </a:r>
            <a:r>
              <a:rPr lang="en-US" sz="2800" dirty="0"/>
              <a:t>a set of </a:t>
            </a:r>
            <a:r>
              <a:rPr lang="en-US" sz="2800" dirty="0" smtClean="0"/>
              <a:t>simple rules </a:t>
            </a:r>
            <a:r>
              <a:rPr lang="en-US" sz="2800" dirty="0"/>
              <a:t>that are easy to understand</a:t>
            </a:r>
            <a:r>
              <a:rPr lang="en-US" sz="2800" dirty="0" smtClean="0"/>
              <a:t>.</a:t>
            </a:r>
          </a:p>
          <a:p>
            <a:r>
              <a:rPr lang="en-US" sz="2800" dirty="0"/>
              <a:t>A decision tree is a hierarchical model for supervised learning whereby the local region is identified in a sequence of recursive splits in a smaller number of steps. A decision tree is composed of internal decision nodes decision node and terminal </a:t>
            </a:r>
            <a:r>
              <a:rPr lang="en-US" sz="2800" dirty="0" smtClean="0"/>
              <a:t>leaves.</a:t>
            </a:r>
            <a:endParaRPr lang="en-US" sz="2800"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3</a:t>
            </a:fld>
            <a:endParaRPr lang="en-US" altLang="en-US"/>
          </a:p>
        </p:txBody>
      </p:sp>
      <p:sp>
        <p:nvSpPr>
          <p:cNvPr id="6" name="TextBox 5"/>
          <p:cNvSpPr txBox="1"/>
          <p:nvPr/>
        </p:nvSpPr>
        <p:spPr>
          <a:xfrm>
            <a:off x="5943600" y="6077248"/>
            <a:ext cx="6400800" cy="307777"/>
          </a:xfrm>
          <a:prstGeom prst="rect">
            <a:avLst/>
          </a:prstGeom>
          <a:noFill/>
        </p:spPr>
        <p:txBody>
          <a:bodyPr wrap="square" rtlCol="0">
            <a:spAutoFit/>
          </a:bodyPr>
          <a:lstStyle/>
          <a:p>
            <a:r>
              <a:rPr lang="en-US" sz="1400" dirty="0" smtClean="0"/>
              <a:t>Source</a:t>
            </a:r>
            <a:r>
              <a:rPr lang="en-US" sz="1400" dirty="0"/>
              <a:t>: </a:t>
            </a:r>
            <a:r>
              <a:rPr lang="en-US" sz="1400" dirty="0" err="1"/>
              <a:t>Alpaydin</a:t>
            </a:r>
            <a:r>
              <a:rPr lang="en-US" sz="1400" dirty="0"/>
              <a:t>, </a:t>
            </a:r>
            <a:r>
              <a:rPr lang="en-US" sz="1400" dirty="0" err="1"/>
              <a:t>Ethem</a:t>
            </a:r>
            <a:r>
              <a:rPr lang="en-US" sz="1400" dirty="0"/>
              <a:t>. Introduction to machine learning (2014)</a:t>
            </a:r>
          </a:p>
        </p:txBody>
      </p:sp>
    </p:spTree>
    <p:extLst>
      <p:ext uri="{BB962C8B-B14F-4D97-AF65-F5344CB8AC3E}">
        <p14:creationId xmlns:p14="http://schemas.microsoft.com/office/powerpoint/2010/main" val="17747851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sv-SE" altLang="en-US" dirty="0" smtClean="0"/>
              <a:t>Supplimentary material</a:t>
            </a:r>
            <a:endParaRPr lang="en-US" altLang="en-US" dirty="0" smtClean="0"/>
          </a:p>
        </p:txBody>
      </p:sp>
      <p:sp>
        <p:nvSpPr>
          <p:cNvPr id="5123" name="Rectangle 3"/>
          <p:cNvSpPr>
            <a:spLocks noGrp="1" noChangeArrowheads="1"/>
          </p:cNvSpPr>
          <p:nvPr>
            <p:ph idx="1"/>
          </p:nvPr>
        </p:nvSpPr>
        <p:spPr>
          <a:xfrm>
            <a:off x="838200" y="1600200"/>
            <a:ext cx="10744200" cy="4267200"/>
          </a:xfrm>
        </p:spPr>
        <p:txBody>
          <a:bodyPr/>
          <a:lstStyle/>
          <a:p>
            <a:pPr eaLnBrk="1" hangingPunct="1">
              <a:buFont typeface="Wingdings" panose="05000000000000000000" pitchFamily="2" charset="2"/>
              <a:buNone/>
            </a:pPr>
            <a:r>
              <a:rPr lang="en-US" altLang="en-US" dirty="0" smtClean="0"/>
              <a:t>Some online resources</a:t>
            </a:r>
            <a:endParaRPr lang="en-US" altLang="en-US" sz="2400" dirty="0" smtClean="0"/>
          </a:p>
          <a:p>
            <a:pPr eaLnBrk="1" hangingPunct="1">
              <a:lnSpc>
                <a:spcPct val="150000"/>
              </a:lnSpc>
            </a:pPr>
            <a:r>
              <a:rPr lang="en-US" altLang="en-US" sz="1800" dirty="0" smtClean="0">
                <a:hlinkClick r:id="rId2"/>
              </a:rPr>
              <a:t>http://dms.irb.hr/tutorial/tut_dtrees.php</a:t>
            </a:r>
            <a:r>
              <a:rPr lang="en-US" altLang="en-US" sz="1800" dirty="0" smtClean="0"/>
              <a:t> </a:t>
            </a:r>
          </a:p>
          <a:p>
            <a:pPr eaLnBrk="1" hangingPunct="1">
              <a:lnSpc>
                <a:spcPct val="150000"/>
              </a:lnSpc>
            </a:pPr>
            <a:r>
              <a:rPr lang="en-US" altLang="en-US" sz="1800" dirty="0" smtClean="0">
                <a:hlinkClick r:id="rId3"/>
              </a:rPr>
              <a:t>http</a:t>
            </a:r>
            <a:r>
              <a:rPr lang="en-US" altLang="en-US" sz="1800" dirty="0">
                <a:hlinkClick r:id="rId3"/>
              </a:rPr>
              <a:t>://www.cs.uregina.ca/~dbd/cs831/notes/ml/dtrees/4_dtrees1.html</a:t>
            </a:r>
            <a:endParaRPr lang="en-US" altLang="en-US" sz="1800" dirty="0"/>
          </a:p>
          <a:p>
            <a:pPr eaLnBrk="1" hangingPunct="1">
              <a:lnSpc>
                <a:spcPct val="150000"/>
              </a:lnSpc>
            </a:pPr>
            <a:r>
              <a:rPr lang="en-US" altLang="en-US" sz="1800" dirty="0">
                <a:hlinkClick r:id="rId4"/>
              </a:rPr>
              <a:t>http://www.onlamp.com/pub/a/python/2006/02/09/ai_decision_trees.html</a:t>
            </a:r>
            <a:endParaRPr lang="en-US" altLang="en-US" sz="1800" dirty="0"/>
          </a:p>
          <a:p>
            <a:pPr eaLnBrk="1" hangingPunct="1">
              <a:lnSpc>
                <a:spcPct val="150000"/>
              </a:lnSpc>
            </a:pPr>
            <a:r>
              <a:rPr lang="en-US" altLang="en-US" sz="1800" dirty="0">
                <a:hlinkClick r:id="rId5"/>
              </a:rPr>
              <a:t>http://decisiontrees.net/</a:t>
            </a:r>
            <a:endParaRPr lang="en-US" altLang="en-US" sz="1800" dirty="0"/>
          </a:p>
          <a:p>
            <a:pPr eaLnBrk="1" hangingPunct="1">
              <a:lnSpc>
                <a:spcPct val="150000"/>
              </a:lnSpc>
            </a:pPr>
            <a:r>
              <a:rPr lang="en-US" altLang="en-US" sz="1800" dirty="0">
                <a:hlinkClick r:id="rId6"/>
              </a:rPr>
              <a:t>http://en.wikipedia.org/wiki/Decision_tree_learning</a:t>
            </a:r>
            <a:r>
              <a:rPr lang="en-US" altLang="en-US" sz="1800" dirty="0"/>
              <a:t> </a:t>
            </a:r>
            <a:endParaRPr lang="en-US" altLang="en-US" sz="1800" dirty="0" smtClean="0"/>
          </a:p>
          <a:p>
            <a:pPr eaLnBrk="1" hangingPunct="1">
              <a:lnSpc>
                <a:spcPct val="150000"/>
              </a:lnSpc>
            </a:pPr>
            <a:r>
              <a:rPr lang="en-US" altLang="en-US" sz="1800" dirty="0">
                <a:hlinkClick r:id="rId7"/>
              </a:rPr>
              <a:t>https://</a:t>
            </a:r>
            <a:r>
              <a:rPr lang="en-US" altLang="en-US" sz="1800" dirty="0" smtClean="0">
                <a:hlinkClick r:id="rId7"/>
              </a:rPr>
              <a:t>www.kdnuggets.com/2020/01/decision-tree-algorithm-explained.html</a:t>
            </a:r>
            <a:endParaRPr lang="en-US" altLang="en-US" sz="1800" dirty="0" smtClean="0"/>
          </a:p>
          <a:p>
            <a:pPr eaLnBrk="1" hangingPunct="1">
              <a:lnSpc>
                <a:spcPct val="150000"/>
              </a:lnSpc>
            </a:pPr>
            <a:r>
              <a:rPr lang="en-US" altLang="en-US" sz="1800" dirty="0">
                <a:hlinkClick r:id="rId8"/>
              </a:rPr>
              <a:t>https://www.analyticsvidhya.com/blog/2020/06/4-ways-split-decision-tree</a:t>
            </a:r>
            <a:r>
              <a:rPr lang="en-US" altLang="en-US" sz="1800" dirty="0" smtClean="0">
                <a:hlinkClick r:id="rId8"/>
              </a:rPr>
              <a:t>/</a:t>
            </a:r>
            <a:endParaRPr lang="en-US" altLang="en-US" sz="1800" dirty="0" smtClean="0"/>
          </a:p>
          <a:p>
            <a:pPr marL="0" indent="0" eaLnBrk="1" hangingPunct="1">
              <a:buNone/>
            </a:pPr>
            <a:endParaRPr lang="en-US" altLang="en-US" sz="1800" dirty="0" smtClean="0"/>
          </a:p>
          <a:p>
            <a:pPr eaLnBrk="1" hangingPunct="1"/>
            <a:endParaRPr lang="en-US" altLang="en-US" sz="1800" dirty="0"/>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A354E1C-73C5-44EE-8582-CFD342EEEB0B}" type="slidenum">
              <a:rPr lang="en-US" altLang="en-US" sz="1200">
                <a:solidFill>
                  <a:srgbClr val="898989"/>
                </a:solidFill>
              </a:rPr>
              <a:pPr eaLnBrk="1" hangingPunct="1"/>
              <a:t>4</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mtClean="0"/>
              <a:t>Example: Data to Rules</a:t>
            </a:r>
          </a:p>
        </p:txBody>
      </p:sp>
      <p:sp>
        <p:nvSpPr>
          <p:cNvPr id="7171" name="Rectangle 3"/>
          <p:cNvSpPr>
            <a:spLocks noGrp="1" noChangeArrowheads="1"/>
          </p:cNvSpPr>
          <p:nvPr>
            <p:ph idx="1"/>
          </p:nvPr>
        </p:nvSpPr>
        <p:spPr>
          <a:xfrm>
            <a:off x="990600" y="1143000"/>
            <a:ext cx="10668000" cy="1066800"/>
          </a:xfrm>
        </p:spPr>
        <p:txBody>
          <a:bodyPr/>
          <a:lstStyle/>
          <a:p>
            <a:pPr marL="533400" indent="-533400" eaLnBrk="1" hangingPunct="1"/>
            <a:r>
              <a:rPr lang="en-US" altLang="en-US" sz="2400" dirty="0"/>
              <a:t>Below is a small dataset about Sweets, collected from children at a kindergarten in Nairobi. They indicated what they liked and did not like. </a:t>
            </a:r>
            <a:endParaRPr lang="en-US" altLang="en-US" sz="2400" b="1" dirty="0"/>
          </a:p>
        </p:txBody>
      </p:sp>
      <p:sp>
        <p:nvSpPr>
          <p:cNvPr id="8" name="Footer Placeholder 4"/>
          <p:cNvSpPr>
            <a:spLocks noGrp="1"/>
          </p:cNvSpPr>
          <p:nvPr>
            <p:ph type="ftr" sz="quarter" idx="11"/>
          </p:nvPr>
        </p:nvSpPr>
        <p:spPr/>
        <p:txBody>
          <a:bodyPr/>
          <a:lstStyle/>
          <a:p>
            <a:pPr>
              <a:defRPr/>
            </a:pPr>
            <a:r>
              <a:rPr lang="en-US"/>
              <a:t>Decision Tree Learning</a:t>
            </a:r>
          </a:p>
        </p:txBody>
      </p:sp>
      <p:sp>
        <p:nvSpPr>
          <p:cNvPr id="9"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BC9DB7A-C61A-4ECB-85B9-3A093938ECC7}" type="slidenum">
              <a:rPr lang="en-US" altLang="en-US" sz="1200">
                <a:solidFill>
                  <a:srgbClr val="898989"/>
                </a:solidFill>
              </a:rPr>
              <a:pPr eaLnBrk="1" hangingPunct="1"/>
              <a:t>5</a:t>
            </a:fld>
            <a:endParaRPr lang="en-US" altLang="en-US" sz="1200">
              <a:solidFill>
                <a:srgbClr val="898989"/>
              </a:solidFill>
            </a:endParaRPr>
          </a:p>
        </p:txBody>
      </p:sp>
      <p:pic>
        <p:nvPicPr>
          <p:cNvPr id="717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2414" y="2057401"/>
            <a:ext cx="5246786" cy="201612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dirty="0" smtClean="0"/>
              <a:t>Example: Data to Rules</a:t>
            </a:r>
          </a:p>
        </p:txBody>
      </p:sp>
      <p:sp>
        <p:nvSpPr>
          <p:cNvPr id="6147" name="Rectangle 3"/>
          <p:cNvSpPr>
            <a:spLocks noGrp="1" noChangeArrowheads="1"/>
          </p:cNvSpPr>
          <p:nvPr>
            <p:ph idx="1"/>
          </p:nvPr>
        </p:nvSpPr>
        <p:spPr>
          <a:xfrm>
            <a:off x="914400" y="1143000"/>
            <a:ext cx="10668000" cy="892177"/>
          </a:xfrm>
        </p:spPr>
        <p:txBody>
          <a:bodyPr/>
          <a:lstStyle/>
          <a:p>
            <a:pPr marL="533400" indent="-533400" eaLnBrk="1" hangingPunct="1"/>
            <a:r>
              <a:rPr lang="en-US" altLang="en-US" sz="2400" dirty="0"/>
              <a:t>Below is a small dataset about Sweets, collected from children at a kindergarten in Nairobi. They indicated what they liked and did not like. </a:t>
            </a:r>
            <a:endParaRPr lang="en-US" altLang="en-US" sz="2400" b="1" dirty="0"/>
          </a:p>
        </p:txBody>
      </p:sp>
      <p:sp>
        <p:nvSpPr>
          <p:cNvPr id="8" name="Footer Placeholder 4"/>
          <p:cNvSpPr>
            <a:spLocks noGrp="1"/>
          </p:cNvSpPr>
          <p:nvPr>
            <p:ph type="ftr" sz="quarter" idx="11"/>
          </p:nvPr>
        </p:nvSpPr>
        <p:spPr/>
        <p:txBody>
          <a:bodyPr/>
          <a:lstStyle/>
          <a:p>
            <a:pPr>
              <a:defRPr/>
            </a:pPr>
            <a:r>
              <a:rPr lang="en-US"/>
              <a:t>Decision Tree Learning</a:t>
            </a:r>
          </a:p>
        </p:txBody>
      </p:sp>
      <p:sp>
        <p:nvSpPr>
          <p:cNvPr id="9"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DBFFF32-BFF0-4C10-B05F-63D4BD8D83DB}" type="slidenum">
              <a:rPr lang="en-US" altLang="en-US" sz="1200">
                <a:solidFill>
                  <a:srgbClr val="898989"/>
                </a:solidFill>
              </a:rPr>
              <a:pPr eaLnBrk="1" hangingPunct="1"/>
              <a:t>6</a:t>
            </a:fld>
            <a:endParaRPr lang="en-US" altLang="en-US" sz="1200">
              <a:solidFill>
                <a:srgbClr val="898989"/>
              </a:solidFill>
            </a:endParaRPr>
          </a:p>
        </p:txBody>
      </p:sp>
      <p:pic>
        <p:nvPicPr>
          <p:cNvPr id="615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4112" y="1981201"/>
            <a:ext cx="5445088" cy="209232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615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852" y="4149726"/>
            <a:ext cx="5701948" cy="220662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296400" y="3624263"/>
            <a:ext cx="2667000" cy="1015663"/>
          </a:xfrm>
          <a:prstGeom prst="rect">
            <a:avLst/>
          </a:prstGeom>
          <a:noFill/>
        </p:spPr>
        <p:txBody>
          <a:bodyPr wrap="square" rtlCol="0">
            <a:spAutoFit/>
          </a:bodyPr>
          <a:lstStyle/>
          <a:p>
            <a:r>
              <a:rPr lang="en-US" sz="2000" dirty="0" smtClean="0">
                <a:solidFill>
                  <a:srgbClr val="0070C0"/>
                </a:solidFill>
              </a:rPr>
              <a:t>Where is each instance captured on the decision tree?</a:t>
            </a:r>
            <a:endParaRPr lang="en-US" sz="2000" dirty="0">
              <a:solidFill>
                <a:srgbClr val="0070C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dirty="0" smtClean="0"/>
              <a:t>Example: Data to Rules</a:t>
            </a:r>
          </a:p>
        </p:txBody>
      </p:sp>
      <p:sp>
        <p:nvSpPr>
          <p:cNvPr id="6147" name="Rectangle 3"/>
          <p:cNvSpPr>
            <a:spLocks noGrp="1" noChangeArrowheads="1"/>
          </p:cNvSpPr>
          <p:nvPr>
            <p:ph idx="1"/>
          </p:nvPr>
        </p:nvSpPr>
        <p:spPr>
          <a:xfrm>
            <a:off x="914400" y="1143000"/>
            <a:ext cx="10668000" cy="892177"/>
          </a:xfrm>
        </p:spPr>
        <p:txBody>
          <a:bodyPr/>
          <a:lstStyle/>
          <a:p>
            <a:pPr marL="533400" indent="-533400" eaLnBrk="1" hangingPunct="1"/>
            <a:r>
              <a:rPr lang="en-US" altLang="en-US" sz="2400" dirty="0"/>
              <a:t>Below is a small dataset about Sweets, collected from children at a kindergarten in Nairobi. They indicated what they liked and did not like. </a:t>
            </a:r>
            <a:endParaRPr lang="en-US" altLang="en-US" sz="2400" b="1" dirty="0"/>
          </a:p>
        </p:txBody>
      </p:sp>
      <p:sp>
        <p:nvSpPr>
          <p:cNvPr id="8" name="Footer Placeholder 4"/>
          <p:cNvSpPr>
            <a:spLocks noGrp="1"/>
          </p:cNvSpPr>
          <p:nvPr>
            <p:ph type="ftr" sz="quarter" idx="11"/>
          </p:nvPr>
        </p:nvSpPr>
        <p:spPr/>
        <p:txBody>
          <a:bodyPr/>
          <a:lstStyle/>
          <a:p>
            <a:pPr>
              <a:defRPr/>
            </a:pPr>
            <a:r>
              <a:rPr lang="en-US"/>
              <a:t>Decision Tree Learning</a:t>
            </a:r>
          </a:p>
        </p:txBody>
      </p:sp>
      <p:sp>
        <p:nvSpPr>
          <p:cNvPr id="9"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DBFFF32-BFF0-4C10-B05F-63D4BD8D83DB}" type="slidenum">
              <a:rPr lang="en-US" altLang="en-US" sz="1200">
                <a:solidFill>
                  <a:srgbClr val="898989"/>
                </a:solidFill>
              </a:rPr>
              <a:pPr eaLnBrk="1" hangingPunct="1"/>
              <a:t>7</a:t>
            </a:fld>
            <a:endParaRPr lang="en-US" altLang="en-US" sz="1200">
              <a:solidFill>
                <a:srgbClr val="898989"/>
              </a:solidFill>
            </a:endParaRPr>
          </a:p>
        </p:txBody>
      </p:sp>
      <p:pic>
        <p:nvPicPr>
          <p:cNvPr id="615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4112" y="1981201"/>
            <a:ext cx="5445088" cy="209232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
        <p:nvSpPr>
          <p:cNvPr id="6151" name="Text Box 9"/>
          <p:cNvSpPr txBox="1">
            <a:spLocks noChangeArrowheads="1"/>
          </p:cNvSpPr>
          <p:nvPr/>
        </p:nvSpPr>
        <p:spPr bwMode="auto">
          <a:xfrm>
            <a:off x="3517900" y="6169026"/>
            <a:ext cx="6172200" cy="650875"/>
          </a:xfrm>
          <a:prstGeom prst="rect">
            <a:avLst/>
          </a:prstGeom>
          <a:solidFill>
            <a:srgbClr val="CCCCFF"/>
          </a:solidFill>
          <a:ln w="9525">
            <a:solidFill>
              <a:schemeClr val="hlink"/>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GB" altLang="ja-JP" sz="1800"/>
              <a:t>Rule from data: Like Sweet</a:t>
            </a:r>
          </a:p>
          <a:p>
            <a:pPr eaLnBrk="1" hangingPunct="1"/>
            <a:r>
              <a:rPr lang="en-GB" altLang="ja-JP" sz="1800" b="1" u="sng">
                <a:latin typeface="Garamond" panose="02020404030301010803" pitchFamily="18" charset="0"/>
              </a:rPr>
              <a:t>IF</a:t>
            </a:r>
            <a:r>
              <a:rPr lang="en-GB" altLang="ja-JP" sz="1800" b="1">
                <a:latin typeface="Garamond" panose="02020404030301010803" pitchFamily="18" charset="0"/>
              </a:rPr>
              <a:t> Colour is Blue </a:t>
            </a:r>
            <a:r>
              <a:rPr lang="en-GB" altLang="ja-JP" sz="1800" b="1">
                <a:solidFill>
                  <a:srgbClr val="CC3300"/>
                </a:solidFill>
                <a:latin typeface="Garamond" panose="02020404030301010803" pitchFamily="18" charset="0"/>
              </a:rPr>
              <a:t>OR</a:t>
            </a:r>
            <a:r>
              <a:rPr lang="en-GB" altLang="ja-JP" sz="1800" b="1">
                <a:latin typeface="Garamond" panose="02020404030301010803" pitchFamily="18" charset="0"/>
              </a:rPr>
              <a:t> </a:t>
            </a:r>
            <a:r>
              <a:rPr lang="en-GB" altLang="ja-JP" sz="1800" b="1" u="sng">
                <a:latin typeface="Garamond" panose="02020404030301010803" pitchFamily="18" charset="0"/>
              </a:rPr>
              <a:t>IF</a:t>
            </a:r>
            <a:r>
              <a:rPr lang="en-GB" altLang="ja-JP" sz="1800" b="1">
                <a:latin typeface="Garamond" panose="02020404030301010803" pitchFamily="18" charset="0"/>
              </a:rPr>
              <a:t> Colour is Red </a:t>
            </a:r>
            <a:r>
              <a:rPr lang="en-GB" altLang="ja-JP" sz="1800" b="1">
                <a:solidFill>
                  <a:srgbClr val="CC3300"/>
                </a:solidFill>
                <a:latin typeface="Garamond" panose="02020404030301010803" pitchFamily="18" charset="0"/>
              </a:rPr>
              <a:t>AND</a:t>
            </a:r>
            <a:r>
              <a:rPr lang="en-GB" altLang="ja-JP" sz="1800" b="1">
                <a:latin typeface="Garamond" panose="02020404030301010803" pitchFamily="18" charset="0"/>
              </a:rPr>
              <a:t>  Size = Big</a:t>
            </a:r>
            <a:r>
              <a:rPr lang="en-US" altLang="ja-JP" sz="1800" b="1">
                <a:latin typeface="Garamond" panose="02020404030301010803" pitchFamily="18" charset="0"/>
              </a:rPr>
              <a:t> </a:t>
            </a:r>
            <a:endParaRPr lang="en-US" altLang="en-US" sz="1800" b="1">
              <a:latin typeface="Garamond" panose="02020404030301010803" pitchFamily="18" charset="0"/>
            </a:endParaRPr>
          </a:p>
        </p:txBody>
      </p:sp>
      <p:pic>
        <p:nvPicPr>
          <p:cNvPr id="6152"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149726"/>
            <a:ext cx="5029200" cy="194627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9883966" y="6059920"/>
            <a:ext cx="2286000" cy="400110"/>
          </a:xfrm>
          <a:prstGeom prst="rect">
            <a:avLst/>
          </a:prstGeom>
          <a:noFill/>
        </p:spPr>
        <p:txBody>
          <a:bodyPr wrap="square" rtlCol="0">
            <a:spAutoFit/>
          </a:bodyPr>
          <a:lstStyle/>
          <a:p>
            <a:r>
              <a:rPr lang="en-US" sz="2000" dirty="0" smtClean="0">
                <a:solidFill>
                  <a:srgbClr val="0070C0"/>
                </a:solidFill>
              </a:rPr>
              <a:t>The decision rule</a:t>
            </a:r>
            <a:endParaRPr lang="en-US" sz="2000" dirty="0">
              <a:solidFill>
                <a:srgbClr val="0070C0"/>
              </a:solidFill>
            </a:endParaRPr>
          </a:p>
        </p:txBody>
      </p:sp>
    </p:spTree>
    <p:extLst>
      <p:ext uri="{BB962C8B-B14F-4D97-AF65-F5344CB8AC3E}">
        <p14:creationId xmlns:p14="http://schemas.microsoft.com/office/powerpoint/2010/main" val="30780871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086600" y="274638"/>
            <a:ext cx="4495800" cy="1143000"/>
          </a:xfrm>
        </p:spPr>
        <p:txBody>
          <a:bodyPr/>
          <a:lstStyle/>
          <a:p>
            <a:pPr eaLnBrk="1" hangingPunct="1"/>
            <a:r>
              <a:rPr lang="en-US" altLang="en-US" dirty="0" smtClean="0"/>
              <a:t>Example1: Data</a:t>
            </a:r>
          </a:p>
        </p:txBody>
      </p:sp>
      <p:sp>
        <p:nvSpPr>
          <p:cNvPr id="8195" name="Rectangle 3"/>
          <p:cNvSpPr>
            <a:spLocks noGrp="1" noChangeArrowheads="1"/>
          </p:cNvSpPr>
          <p:nvPr>
            <p:ph idx="1"/>
          </p:nvPr>
        </p:nvSpPr>
        <p:spPr>
          <a:xfrm>
            <a:off x="6870700" y="1447800"/>
            <a:ext cx="4864100" cy="1371600"/>
          </a:xfrm>
        </p:spPr>
        <p:txBody>
          <a:bodyPr/>
          <a:lstStyle/>
          <a:p>
            <a:pPr marL="533400" indent="-533400" eaLnBrk="1" hangingPunct="1"/>
            <a:r>
              <a:rPr lang="en-US" altLang="en-US" sz="2400" dirty="0"/>
              <a:t>Manufacture does market survey of who bought </a:t>
            </a:r>
            <a:r>
              <a:rPr lang="en-US" altLang="en-US" sz="2400" dirty="0" smtClean="0"/>
              <a:t>an electronic product. : </a:t>
            </a:r>
            <a:r>
              <a:rPr lang="en-US" altLang="en-US" sz="2400" dirty="0" smtClean="0"/>
              <a:t>Data</a:t>
            </a:r>
            <a:endParaRPr lang="en-US" altLang="en-US" sz="2400" b="1" dirty="0"/>
          </a:p>
        </p:txBody>
      </p:sp>
      <p:sp>
        <p:nvSpPr>
          <p:cNvPr id="5" name="Footer Placeholder 4"/>
          <p:cNvSpPr>
            <a:spLocks noGrp="1"/>
          </p:cNvSpPr>
          <p:nvPr>
            <p:ph type="ftr" sz="quarter" idx="11"/>
          </p:nvPr>
        </p:nvSpPr>
        <p:spPr/>
        <p:txBody>
          <a:bodyPr/>
          <a:lstStyle/>
          <a:p>
            <a:pPr>
              <a:defRPr/>
            </a:pPr>
            <a:r>
              <a:rPr lang="en-US"/>
              <a:t>Decision Tree Learning</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D0D1FE8-5AA8-4190-8A9E-13E98B0DECF5}" type="slidenum">
              <a:rPr lang="en-US" altLang="en-US" sz="1200">
                <a:solidFill>
                  <a:srgbClr val="898989"/>
                </a:solidFill>
              </a:rPr>
              <a:pPr eaLnBrk="1" hangingPunct="1"/>
              <a:t>8</a:t>
            </a:fld>
            <a:endParaRPr lang="en-US" altLang="en-US" sz="1200">
              <a:solidFill>
                <a:srgbClr val="898989"/>
              </a:solidFill>
            </a:endParaRPr>
          </a:p>
        </p:txBody>
      </p:sp>
      <p:pic>
        <p:nvPicPr>
          <p:cNvPr id="819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5334000" cy="68580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9"/>
          <p:cNvSpPr>
            <a:spLocks noGrp="1" noChangeArrowheads="1"/>
          </p:cNvSpPr>
          <p:nvPr>
            <p:ph idx="1"/>
          </p:nvPr>
        </p:nvSpPr>
        <p:spPr>
          <a:xfrm>
            <a:off x="0" y="6096000"/>
            <a:ext cx="11963400" cy="457200"/>
          </a:xfrm>
        </p:spPr>
        <p:txBody>
          <a:bodyPr/>
          <a:lstStyle/>
          <a:p>
            <a:pPr marL="533400" indent="-533400" eaLnBrk="1" hangingPunct="1">
              <a:lnSpc>
                <a:spcPct val="80000"/>
              </a:lnSpc>
            </a:pPr>
            <a:r>
              <a:rPr lang="en-US" altLang="en-US" sz="2400" dirty="0"/>
              <a:t>Manufacture does market survey of who bought </a:t>
            </a:r>
            <a:r>
              <a:rPr lang="en-US" altLang="en-US" sz="2400" dirty="0" smtClean="0"/>
              <a:t>th</a:t>
            </a:r>
            <a:r>
              <a:rPr lang="en-US" altLang="en-US" sz="2400" dirty="0" smtClean="0"/>
              <a:t>e </a:t>
            </a:r>
            <a:r>
              <a:rPr lang="en-US" altLang="en-US" sz="2400" dirty="0" smtClean="0"/>
              <a:t>product  </a:t>
            </a:r>
            <a:r>
              <a:rPr lang="en-US" altLang="en-US" sz="2400" dirty="0"/>
              <a:t>: Induced Decision Tree</a:t>
            </a:r>
          </a:p>
        </p:txBody>
      </p:sp>
      <p:sp>
        <p:nvSpPr>
          <p:cNvPr id="5" name="Footer Placeholder 4"/>
          <p:cNvSpPr>
            <a:spLocks noGrp="1"/>
          </p:cNvSpPr>
          <p:nvPr>
            <p:ph type="ftr" sz="quarter" idx="11"/>
          </p:nvPr>
        </p:nvSpPr>
        <p:spPr/>
        <p:txBody>
          <a:bodyPr/>
          <a:lstStyle/>
          <a:p>
            <a:pPr>
              <a:defRPr/>
            </a:pPr>
            <a:r>
              <a:rPr lang="en-US"/>
              <a:t>Decision Tree Learning</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22A687D-B2A0-4019-B1AC-BA3B32F7863B}" type="slidenum">
              <a:rPr lang="en-US" altLang="en-US" sz="1200">
                <a:solidFill>
                  <a:srgbClr val="898989"/>
                </a:solidFill>
              </a:rPr>
              <a:pPr eaLnBrk="1" hangingPunct="1"/>
              <a:t>9</a:t>
            </a:fld>
            <a:endParaRPr lang="en-US" altLang="en-US" sz="1200">
              <a:solidFill>
                <a:srgbClr val="898989"/>
              </a:solidFill>
            </a:endParaRPr>
          </a:p>
        </p:txBody>
      </p:sp>
      <p:pic>
        <p:nvPicPr>
          <p:cNvPr id="922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152399"/>
            <a:ext cx="9143405" cy="5943601"/>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
        <p:nvSpPr>
          <p:cNvPr id="9218" name="Rectangle 2"/>
          <p:cNvSpPr>
            <a:spLocks noGrp="1" noChangeArrowheads="1"/>
          </p:cNvSpPr>
          <p:nvPr>
            <p:ph type="title"/>
          </p:nvPr>
        </p:nvSpPr>
        <p:spPr>
          <a:xfrm>
            <a:off x="8458200" y="274638"/>
            <a:ext cx="3657600" cy="1143000"/>
          </a:xfrm>
        </p:spPr>
        <p:txBody>
          <a:bodyPr/>
          <a:lstStyle/>
          <a:p>
            <a:pPr eaLnBrk="1" hangingPunct="1"/>
            <a:r>
              <a:rPr lang="en-US" altLang="en-US" dirty="0" smtClean="0"/>
              <a:t>Example 1: Data to Tree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10</a:t>
            </a:fld>
            <a:endParaRPr lang="en-US" altLang="en-US"/>
          </a:p>
        </p:txBody>
      </p:sp>
      <p:pic>
        <p:nvPicPr>
          <p:cNvPr id="1026" name="Picture 2" descr="http://mines.humanoriented.com/classes/2010/fall/csci568/portfolio_exports/lguo/image/decisionTree/decisionTre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199"/>
            <a:ext cx="9861644" cy="581977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67640" y="5943600"/>
            <a:ext cx="1164336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smtClean="0"/>
              <a:t>Illustrates an </a:t>
            </a:r>
            <a:r>
              <a:rPr lang="en-US" sz="2000" dirty="0"/>
              <a:t>example decision tree for </a:t>
            </a:r>
            <a:r>
              <a:rPr lang="en-US" sz="2000" dirty="0" smtClean="0"/>
              <a:t>predicting whether a person cheats on their </a:t>
            </a:r>
            <a:r>
              <a:rPr lang="en-US" sz="2000" dirty="0" smtClean="0"/>
              <a:t>taxes</a:t>
            </a:r>
            <a:endParaRPr lang="en-US" sz="2000" dirty="0"/>
          </a:p>
        </p:txBody>
      </p:sp>
      <p:sp>
        <p:nvSpPr>
          <p:cNvPr id="2" name="Title 1"/>
          <p:cNvSpPr>
            <a:spLocks noGrp="1"/>
          </p:cNvSpPr>
          <p:nvPr>
            <p:ph type="title"/>
          </p:nvPr>
        </p:nvSpPr>
        <p:spPr>
          <a:xfrm>
            <a:off x="4724400" y="38449"/>
            <a:ext cx="7162800" cy="723551"/>
          </a:xfrm>
        </p:spPr>
        <p:txBody>
          <a:bodyPr/>
          <a:lstStyle/>
          <a:p>
            <a:r>
              <a:rPr lang="en-US" dirty="0" smtClean="0"/>
              <a:t>Example </a:t>
            </a:r>
            <a:r>
              <a:rPr lang="en-US" dirty="0" smtClean="0"/>
              <a:t>2 – KRA Tax returns</a:t>
            </a:r>
            <a:endParaRPr lang="en-US" dirty="0"/>
          </a:p>
        </p:txBody>
      </p:sp>
    </p:spTree>
    <p:extLst>
      <p:ext uri="{BB962C8B-B14F-4D97-AF65-F5344CB8AC3E}">
        <p14:creationId xmlns:p14="http://schemas.microsoft.com/office/powerpoint/2010/main" val="40232910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11</a:t>
            </a:fld>
            <a:endParaRPr lang="en-US" altLang="en-US"/>
          </a:p>
        </p:txBody>
      </p:sp>
      <p:pic>
        <p:nvPicPr>
          <p:cNvPr id="1026" name="Picture 2" descr="http://mines.humanoriented.com/classes/2010/fall/csci568/portfolio_exports/lguo/image/decisionTree/decisionTre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9476037" cy="559221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28600" y="5695890"/>
            <a:ext cx="4724400" cy="461665"/>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rgbClr val="002060"/>
                </a:solidFill>
              </a:rPr>
              <a:t>Will this person cheat?</a:t>
            </a:r>
            <a:endParaRPr lang="en-US" dirty="0">
              <a:solidFill>
                <a:srgbClr val="002060"/>
              </a:solidFill>
            </a:endParaRPr>
          </a:p>
        </p:txBody>
      </p:sp>
      <p:sp>
        <p:nvSpPr>
          <p:cNvPr id="2" name="Title 1"/>
          <p:cNvSpPr>
            <a:spLocks noGrp="1"/>
          </p:cNvSpPr>
          <p:nvPr>
            <p:ph type="title"/>
          </p:nvPr>
        </p:nvSpPr>
        <p:spPr>
          <a:xfrm>
            <a:off x="4648200" y="0"/>
            <a:ext cx="6934200" cy="762000"/>
          </a:xfrm>
        </p:spPr>
        <p:txBody>
          <a:bodyPr/>
          <a:lstStyle/>
          <a:p>
            <a:r>
              <a:rPr lang="en-US" dirty="0" smtClean="0"/>
              <a:t>Example </a:t>
            </a:r>
            <a:r>
              <a:rPr lang="en-US" dirty="0"/>
              <a:t>2 – KRA Tax returns</a:t>
            </a:r>
            <a:endParaRPr lang="en-US" dirty="0"/>
          </a:p>
        </p:txBody>
      </p:sp>
      <p:pic>
        <p:nvPicPr>
          <p:cNvPr id="8" name="Picture 7"/>
          <p:cNvPicPr>
            <a:picLocks noChangeAspect="1"/>
          </p:cNvPicPr>
          <p:nvPr/>
        </p:nvPicPr>
        <p:blipFill>
          <a:blip r:embed="rId3"/>
          <a:stretch>
            <a:fillRect/>
          </a:stretch>
        </p:blipFill>
        <p:spPr>
          <a:xfrm>
            <a:off x="4165600" y="5695890"/>
            <a:ext cx="3586380" cy="1162110"/>
          </a:xfrm>
          <a:prstGeom prst="rect">
            <a:avLst/>
          </a:prstGeom>
        </p:spPr>
      </p:pic>
    </p:spTree>
    <p:extLst>
      <p:ext uri="{BB962C8B-B14F-4D97-AF65-F5344CB8AC3E}">
        <p14:creationId xmlns:p14="http://schemas.microsoft.com/office/powerpoint/2010/main" val="19056733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Example 3 – Buying a computer</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dirty="0" smtClean="0"/>
              <a:t>Decision Tree Learning</a:t>
            </a:r>
            <a:endParaRPr lang="en-US" dirty="0"/>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12</a:t>
            </a:fld>
            <a:endParaRPr lang="en-US" altLang="en-US" dirty="0"/>
          </a:p>
        </p:txBody>
      </p:sp>
      <p:graphicFrame>
        <p:nvGraphicFramePr>
          <p:cNvPr id="6" name="Object 1024"/>
          <p:cNvGraphicFramePr>
            <a:graphicFrameLocks/>
          </p:cNvGraphicFramePr>
          <p:nvPr>
            <p:extLst>
              <p:ext uri="{D42A27DB-BD31-4B8C-83A1-F6EECF244321}">
                <p14:modId xmlns:p14="http://schemas.microsoft.com/office/powerpoint/2010/main" val="4154128824"/>
              </p:ext>
            </p:extLst>
          </p:nvPr>
        </p:nvGraphicFramePr>
        <p:xfrm>
          <a:off x="275190" y="1690688"/>
          <a:ext cx="6624638" cy="4862512"/>
        </p:xfrm>
        <a:graphic>
          <a:graphicData uri="http://schemas.openxmlformats.org/presentationml/2006/ole">
            <mc:AlternateContent xmlns:mc="http://schemas.openxmlformats.org/markup-compatibility/2006">
              <mc:Choice xmlns:v="urn:schemas-microsoft-com:vml" Requires="v">
                <p:oleObj spid="_x0000_s1055" name="Worksheet" r:id="rId3" imgW="6038993" imgH="4305161" progId="Excel.Sheet.8">
                  <p:embed/>
                </p:oleObj>
              </mc:Choice>
              <mc:Fallback>
                <p:oleObj name="Worksheet" r:id="rId3" imgW="6038993" imgH="4305161" progId="Excel.Sheet.8">
                  <p:embed/>
                  <p:pic>
                    <p:nvPicPr>
                      <p:cNvPr id="4" name="Object 1024"/>
                      <p:cNvPicPr>
                        <a:picLocks noChangeArrowheads="1"/>
                      </p:cNvPicPr>
                      <p:nvPr/>
                    </p:nvPicPr>
                    <p:blipFill>
                      <a:blip r:embed="rId4"/>
                      <a:srcRect/>
                      <a:stretch>
                        <a:fillRect/>
                      </a:stretch>
                    </p:blipFill>
                    <p:spPr bwMode="auto">
                      <a:xfrm>
                        <a:off x="275190" y="1690688"/>
                        <a:ext cx="6624638" cy="4862512"/>
                      </a:xfrm>
                      <a:prstGeom prst="rect">
                        <a:avLst/>
                      </a:prstGeom>
                      <a:noFill/>
                      <a:ln>
                        <a:noFill/>
                      </a:ln>
                    </p:spPr>
                  </p:pic>
                </p:oleObj>
              </mc:Fallback>
            </mc:AlternateContent>
          </a:graphicData>
        </a:graphic>
      </p:graphicFrame>
      <p:grpSp>
        <p:nvGrpSpPr>
          <p:cNvPr id="7" name="Group 63"/>
          <p:cNvGrpSpPr>
            <a:grpSpLocks/>
          </p:cNvGrpSpPr>
          <p:nvPr/>
        </p:nvGrpSpPr>
        <p:grpSpPr bwMode="auto">
          <a:xfrm>
            <a:off x="7009946" y="2069306"/>
            <a:ext cx="5240119" cy="3201771"/>
            <a:chOff x="724" y="1152"/>
            <a:chExt cx="4061" cy="2469"/>
          </a:xfrm>
        </p:grpSpPr>
        <p:sp>
          <p:nvSpPr>
            <p:cNvPr id="8" name="Rectangle 3"/>
            <p:cNvSpPr>
              <a:spLocks noChangeArrowheads="1"/>
            </p:cNvSpPr>
            <p:nvPr/>
          </p:nvSpPr>
          <p:spPr bwMode="auto">
            <a:xfrm>
              <a:off x="2325" y="1152"/>
              <a:ext cx="598" cy="357"/>
            </a:xfrm>
            <a:prstGeom prst="rect">
              <a:avLst/>
            </a:prstGeom>
            <a:solidFill>
              <a:srgbClr val="00CCFF"/>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age?</a:t>
              </a:r>
            </a:p>
          </p:txBody>
        </p:sp>
        <p:sp>
          <p:nvSpPr>
            <p:cNvPr id="9" name="Rectangle 5"/>
            <p:cNvSpPr>
              <a:spLocks noChangeArrowheads="1"/>
            </p:cNvSpPr>
            <p:nvPr/>
          </p:nvSpPr>
          <p:spPr bwMode="auto">
            <a:xfrm>
              <a:off x="1112" y="2342"/>
              <a:ext cx="998" cy="357"/>
            </a:xfrm>
            <a:prstGeom prst="rect">
              <a:avLst/>
            </a:prstGeom>
            <a:solidFill>
              <a:srgbClr val="00FFCC"/>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dirty="0">
                  <a:latin typeface="+mn-lt"/>
                </a:rPr>
                <a:t>student?</a:t>
              </a:r>
            </a:p>
          </p:txBody>
        </p:sp>
        <p:sp>
          <p:nvSpPr>
            <p:cNvPr id="10" name="Rectangle 6"/>
            <p:cNvSpPr>
              <a:spLocks noChangeArrowheads="1"/>
            </p:cNvSpPr>
            <p:nvPr/>
          </p:nvSpPr>
          <p:spPr bwMode="auto">
            <a:xfrm>
              <a:off x="3287" y="2342"/>
              <a:ext cx="1430" cy="357"/>
            </a:xfrm>
            <a:prstGeom prst="rect">
              <a:avLst/>
            </a:prstGeom>
            <a:solidFill>
              <a:srgbClr val="99CCFF"/>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credit rating?</a:t>
              </a:r>
            </a:p>
          </p:txBody>
        </p:sp>
        <p:sp>
          <p:nvSpPr>
            <p:cNvPr id="11"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12"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13"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14" name="Rectangle 14"/>
            <p:cNvSpPr>
              <a:spLocks noChangeArrowheads="1"/>
            </p:cNvSpPr>
            <p:nvPr/>
          </p:nvSpPr>
          <p:spPr bwMode="auto">
            <a:xfrm>
              <a:off x="1468" y="1730"/>
              <a:ext cx="624" cy="357"/>
            </a:xfrm>
            <a:prstGeom prst="rect">
              <a:avLst/>
            </a:prstGeom>
            <a:solidFill>
              <a:srgbClr val="FFFF00"/>
            </a:solidFill>
            <a:ln w="12700">
              <a:solidFill>
                <a:schemeClr val="bg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dirty="0">
                  <a:latin typeface="+mn-lt"/>
                </a:rPr>
                <a:t>&lt;=30</a:t>
              </a:r>
              <a:endParaRPr lang="en-US" altLang="en-US" sz="2400" dirty="0">
                <a:latin typeface="+mn-lt"/>
              </a:endParaRPr>
            </a:p>
          </p:txBody>
        </p:sp>
        <p:sp>
          <p:nvSpPr>
            <p:cNvPr id="15" name="Rectangle 15"/>
            <p:cNvSpPr>
              <a:spLocks noChangeArrowheads="1"/>
            </p:cNvSpPr>
            <p:nvPr/>
          </p:nvSpPr>
          <p:spPr bwMode="auto">
            <a:xfrm>
              <a:off x="3320" y="1804"/>
              <a:ext cx="504" cy="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dirty="0">
                  <a:latin typeface="+mn-lt"/>
                </a:rPr>
                <a:t>&gt;40</a:t>
              </a:r>
              <a:endParaRPr lang="en-US" altLang="en-US" sz="2400" dirty="0">
                <a:latin typeface="+mn-lt"/>
              </a:endParaRPr>
            </a:p>
          </p:txBody>
        </p:sp>
        <p:sp>
          <p:nvSpPr>
            <p:cNvPr id="16"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17"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18"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19"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20"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mn-lt"/>
              </a:endParaRPr>
            </a:p>
          </p:txBody>
        </p:sp>
        <p:sp>
          <p:nvSpPr>
            <p:cNvPr id="21" name="Rectangle 25"/>
            <p:cNvSpPr>
              <a:spLocks noChangeArrowheads="1"/>
            </p:cNvSpPr>
            <p:nvPr/>
          </p:nvSpPr>
          <p:spPr bwMode="auto">
            <a:xfrm>
              <a:off x="724" y="3264"/>
              <a:ext cx="395" cy="357"/>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dirty="0">
                  <a:latin typeface="+mn-lt"/>
                </a:rPr>
                <a:t>no</a:t>
              </a:r>
            </a:p>
          </p:txBody>
        </p:sp>
        <p:sp>
          <p:nvSpPr>
            <p:cNvPr id="22" name="Rectangle 27"/>
            <p:cNvSpPr>
              <a:spLocks noChangeArrowheads="1"/>
            </p:cNvSpPr>
            <p:nvPr/>
          </p:nvSpPr>
          <p:spPr bwMode="auto">
            <a:xfrm>
              <a:off x="1983" y="3264"/>
              <a:ext cx="462" cy="35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yes</a:t>
              </a:r>
            </a:p>
          </p:txBody>
        </p:sp>
        <p:sp>
          <p:nvSpPr>
            <p:cNvPr id="23" name="Rectangle 28"/>
            <p:cNvSpPr>
              <a:spLocks noChangeArrowheads="1"/>
            </p:cNvSpPr>
            <p:nvPr/>
          </p:nvSpPr>
          <p:spPr bwMode="auto">
            <a:xfrm>
              <a:off x="4323" y="3216"/>
              <a:ext cx="462" cy="35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yes</a:t>
              </a:r>
            </a:p>
          </p:txBody>
        </p:sp>
        <p:sp>
          <p:nvSpPr>
            <p:cNvPr id="24" name="Rectangle 29"/>
            <p:cNvSpPr>
              <a:spLocks noChangeArrowheads="1"/>
            </p:cNvSpPr>
            <p:nvPr/>
          </p:nvSpPr>
          <p:spPr bwMode="auto">
            <a:xfrm>
              <a:off x="2392" y="2344"/>
              <a:ext cx="462" cy="35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yes</a:t>
              </a:r>
            </a:p>
          </p:txBody>
        </p:sp>
        <p:sp>
          <p:nvSpPr>
            <p:cNvPr id="25" name="Rectangle 30"/>
            <p:cNvSpPr>
              <a:spLocks noChangeArrowheads="1"/>
            </p:cNvSpPr>
            <p:nvPr/>
          </p:nvSpPr>
          <p:spPr bwMode="auto">
            <a:xfrm>
              <a:off x="2208" y="1717"/>
              <a:ext cx="771" cy="39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dirty="0">
                  <a:latin typeface="+mn-lt"/>
                </a:rPr>
                <a:t>31..40</a:t>
              </a:r>
              <a:endParaRPr lang="en-US" altLang="en-US" sz="2000" dirty="0">
                <a:latin typeface="+mn-lt"/>
              </a:endParaRPr>
            </a:p>
          </p:txBody>
        </p:sp>
        <p:sp>
          <p:nvSpPr>
            <p:cNvPr id="26" name="Rectangle 62"/>
            <p:cNvSpPr>
              <a:spLocks noChangeArrowheads="1"/>
            </p:cNvSpPr>
            <p:nvPr/>
          </p:nvSpPr>
          <p:spPr bwMode="auto">
            <a:xfrm rot="21456844">
              <a:off x="3124" y="3182"/>
              <a:ext cx="395" cy="357"/>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no</a:t>
              </a:r>
            </a:p>
          </p:txBody>
        </p:sp>
        <p:sp>
          <p:nvSpPr>
            <p:cNvPr id="27" name="Rectangle 9"/>
            <p:cNvSpPr>
              <a:spLocks noChangeArrowheads="1"/>
            </p:cNvSpPr>
            <p:nvPr/>
          </p:nvSpPr>
          <p:spPr bwMode="auto">
            <a:xfrm>
              <a:off x="4135" y="2784"/>
              <a:ext cx="465" cy="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dirty="0">
                  <a:latin typeface="+mn-lt"/>
                </a:rPr>
                <a:t>fair</a:t>
              </a:r>
            </a:p>
          </p:txBody>
        </p:sp>
        <p:sp>
          <p:nvSpPr>
            <p:cNvPr id="28" name="Rectangle 10"/>
            <p:cNvSpPr>
              <a:spLocks noChangeArrowheads="1"/>
            </p:cNvSpPr>
            <p:nvPr/>
          </p:nvSpPr>
          <p:spPr bwMode="auto">
            <a:xfrm>
              <a:off x="2971" y="2784"/>
              <a:ext cx="1009" cy="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dirty="0">
                  <a:latin typeface="+mn-lt"/>
                </a:rPr>
                <a:t>excellent</a:t>
              </a:r>
            </a:p>
          </p:txBody>
        </p:sp>
        <p:sp>
          <p:nvSpPr>
            <p:cNvPr id="29" name="Rectangle 8"/>
            <p:cNvSpPr>
              <a:spLocks noChangeArrowheads="1"/>
            </p:cNvSpPr>
            <p:nvPr/>
          </p:nvSpPr>
          <p:spPr bwMode="auto">
            <a:xfrm>
              <a:off x="1827" y="2832"/>
              <a:ext cx="462" cy="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yes</a:t>
              </a:r>
            </a:p>
          </p:txBody>
        </p:sp>
        <p:sp>
          <p:nvSpPr>
            <p:cNvPr id="30" name="Rectangle 7"/>
            <p:cNvSpPr>
              <a:spLocks noChangeArrowheads="1"/>
            </p:cNvSpPr>
            <p:nvPr/>
          </p:nvSpPr>
          <p:spPr bwMode="auto">
            <a:xfrm>
              <a:off x="960" y="2832"/>
              <a:ext cx="432" cy="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a:latin typeface="+mn-lt"/>
                </a:rPr>
                <a:t>no</a:t>
              </a:r>
            </a:p>
          </p:txBody>
        </p:sp>
      </p:grpSp>
    </p:spTree>
    <p:extLst>
      <p:ext uri="{BB962C8B-B14F-4D97-AF65-F5344CB8AC3E}">
        <p14:creationId xmlns:p14="http://schemas.microsoft.com/office/powerpoint/2010/main" val="38311248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1353800" cy="1143000"/>
          </a:xfrm>
        </p:spPr>
        <p:txBody>
          <a:bodyPr/>
          <a:lstStyle/>
          <a:p>
            <a:r>
              <a:rPr lang="en-US" sz="4000" dirty="0" smtClean="0"/>
              <a:t>Example 4: Plotted </a:t>
            </a:r>
            <a:r>
              <a:rPr lang="en-US" sz="4000" dirty="0"/>
              <a:t>data partitioned by a decision </a:t>
            </a:r>
            <a:r>
              <a:rPr lang="en-US" sz="4000" dirty="0" smtClean="0"/>
              <a:t>tree</a:t>
            </a:r>
            <a:endParaRPr lang="en-US" sz="4000"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13</a:t>
            </a:fld>
            <a:endParaRPr lang="en-US" altLang="en-US"/>
          </a:p>
        </p:txBody>
      </p:sp>
      <p:pic>
        <p:nvPicPr>
          <p:cNvPr id="2050" name="Picture 2" descr="An example for plotted data partitioned by a 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8197" y="1484834"/>
            <a:ext cx="8082566" cy="42195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143000" y="5864554"/>
            <a:ext cx="10591800" cy="523220"/>
          </a:xfrm>
          <a:prstGeom prst="rect">
            <a:avLst/>
          </a:prstGeom>
          <a:noFill/>
        </p:spPr>
        <p:txBody>
          <a:bodyPr wrap="square" rtlCol="0">
            <a:spAutoFit/>
          </a:bodyPr>
          <a:lstStyle/>
          <a:p>
            <a:r>
              <a:rPr lang="en-US" sz="1400" dirty="0" smtClean="0"/>
              <a:t>Source: Dora </a:t>
            </a:r>
            <a:r>
              <a:rPr lang="en-US" sz="1400" dirty="0" err="1"/>
              <a:t>Szücs</a:t>
            </a:r>
            <a:r>
              <a:rPr lang="en-US" sz="1400" dirty="0"/>
              <a:t>, Florian Schmidt, Decision Tree Visualization for High-dimensional Numerical Data October 2018 (</a:t>
            </a:r>
            <a:r>
              <a:rPr lang="en-US" sz="1400" dirty="0" err="1"/>
              <a:t>Technische</a:t>
            </a:r>
            <a:r>
              <a:rPr lang="en-US" sz="1400" dirty="0"/>
              <a:t> </a:t>
            </a:r>
            <a:r>
              <a:rPr lang="en-US" sz="1400" dirty="0" err="1"/>
              <a:t>Universität</a:t>
            </a:r>
            <a:r>
              <a:rPr lang="en-US" sz="1400" dirty="0"/>
              <a:t> Berlin</a:t>
            </a:r>
            <a:r>
              <a:rPr lang="en-US" sz="1400" dirty="0" smtClean="0"/>
              <a:t>)</a:t>
            </a:r>
            <a:endParaRPr lang="en-US" sz="1400" dirty="0"/>
          </a:p>
        </p:txBody>
      </p:sp>
    </p:spTree>
    <p:extLst>
      <p:ext uri="{BB962C8B-B14F-4D97-AF65-F5344CB8AC3E}">
        <p14:creationId xmlns:p14="http://schemas.microsoft.com/office/powerpoint/2010/main" val="20830498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dirty="0" smtClean="0"/>
              <a:t>Decision Trees</a:t>
            </a:r>
          </a:p>
        </p:txBody>
      </p:sp>
      <p:sp>
        <p:nvSpPr>
          <p:cNvPr id="128003" name="Rectangle 3"/>
          <p:cNvSpPr>
            <a:spLocks noGrp="1" noChangeArrowheads="1"/>
          </p:cNvSpPr>
          <p:nvPr>
            <p:ph idx="1"/>
          </p:nvPr>
        </p:nvSpPr>
        <p:spPr>
          <a:xfrm>
            <a:off x="822960" y="1524001"/>
            <a:ext cx="11216640" cy="762000"/>
          </a:xfrm>
        </p:spPr>
        <p:txBody>
          <a:bodyPr rtlCol="0">
            <a:normAutofit/>
          </a:bodyPr>
          <a:lstStyle/>
          <a:p>
            <a:pPr marL="533400" indent="-533400" eaLnBrk="1" fontAlgn="auto" hangingPunct="1">
              <a:spcAft>
                <a:spcPts val="0"/>
              </a:spcAft>
              <a:defRPr/>
            </a:pPr>
            <a:r>
              <a:rPr lang="en-US" sz="2800" dirty="0" smtClean="0"/>
              <a:t>A decision tree is constructed by looking for regularities in data </a:t>
            </a:r>
          </a:p>
        </p:txBody>
      </p:sp>
      <p:sp>
        <p:nvSpPr>
          <p:cNvPr id="5" name="Footer Placeholder 4"/>
          <p:cNvSpPr>
            <a:spLocks noGrp="1"/>
          </p:cNvSpPr>
          <p:nvPr>
            <p:ph type="ftr" sz="quarter" idx="11"/>
          </p:nvPr>
        </p:nvSpPr>
        <p:spPr/>
        <p:txBody>
          <a:bodyPr/>
          <a:lstStyle/>
          <a:p>
            <a:pPr>
              <a:defRPr/>
            </a:pPr>
            <a:r>
              <a:rPr lang="en-US"/>
              <a:t>Decision Tree Learning</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8DB8D13-DB66-40B7-AF8D-7003963D9EE2}" type="slidenum">
              <a:rPr lang="en-US" altLang="en-US" sz="1200">
                <a:solidFill>
                  <a:srgbClr val="898989"/>
                </a:solidFill>
              </a:rPr>
              <a:pPr eaLnBrk="1" hangingPunct="1"/>
              <a:t>14</a:t>
            </a:fld>
            <a:endParaRPr lang="en-US" altLang="en-US" sz="1200">
              <a:solidFill>
                <a:srgbClr val="898989"/>
              </a:solidFill>
            </a:endParaRPr>
          </a:p>
        </p:txBody>
      </p:sp>
      <p:pic>
        <p:nvPicPr>
          <p:cNvPr id="1024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86" y="2590800"/>
            <a:ext cx="10893414" cy="2744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mtClean="0"/>
              <a:t>Example: Sweets Data</a:t>
            </a:r>
          </a:p>
        </p:txBody>
      </p:sp>
      <p:sp>
        <p:nvSpPr>
          <p:cNvPr id="11267" name="Rectangle 3"/>
          <p:cNvSpPr>
            <a:spLocks noGrp="1" noChangeArrowheads="1"/>
          </p:cNvSpPr>
          <p:nvPr>
            <p:ph idx="1"/>
          </p:nvPr>
        </p:nvSpPr>
        <p:spPr>
          <a:xfrm>
            <a:off x="2286000" y="3733800"/>
            <a:ext cx="7772400" cy="2438400"/>
          </a:xfrm>
        </p:spPr>
        <p:txBody>
          <a:bodyPr/>
          <a:lstStyle/>
          <a:p>
            <a:pPr marL="533400" indent="-533400" eaLnBrk="1" hangingPunct="1"/>
            <a:r>
              <a:rPr lang="en-US" altLang="en-US" sz="2800" dirty="0"/>
              <a:t>Assume:</a:t>
            </a:r>
          </a:p>
          <a:p>
            <a:pPr marL="990600" lvl="1" indent="-533400" eaLnBrk="1" hangingPunct="1"/>
            <a:r>
              <a:rPr lang="en-US" altLang="en-US" sz="2400" dirty="0"/>
              <a:t>Positive (+</a:t>
            </a:r>
            <a:r>
              <a:rPr lang="en-US" altLang="en-US" sz="2400" dirty="0" err="1"/>
              <a:t>ve</a:t>
            </a:r>
            <a:r>
              <a:rPr lang="en-US" altLang="en-US" sz="2400" dirty="0"/>
              <a:t>) class is </a:t>
            </a:r>
            <a:r>
              <a:rPr lang="en-US" altLang="en-US" sz="2400" b="1" dirty="0"/>
              <a:t>Like</a:t>
            </a:r>
          </a:p>
          <a:p>
            <a:pPr marL="990600" lvl="1" indent="-533400" eaLnBrk="1" hangingPunct="1"/>
            <a:r>
              <a:rPr lang="en-US" altLang="en-US" sz="2400" dirty="0"/>
              <a:t>Negative (-</a:t>
            </a:r>
            <a:r>
              <a:rPr lang="en-US" altLang="en-US" sz="2400" dirty="0" err="1"/>
              <a:t>ve</a:t>
            </a:r>
            <a:r>
              <a:rPr lang="en-US" altLang="en-US" sz="2400" dirty="0"/>
              <a:t>) class is </a:t>
            </a:r>
            <a:r>
              <a:rPr lang="en-US" altLang="en-US" sz="2400" b="1" dirty="0"/>
              <a:t>Dislike</a:t>
            </a:r>
          </a:p>
          <a:p>
            <a:pPr marL="533400" indent="-533400" eaLnBrk="1" hangingPunct="1"/>
            <a:r>
              <a:rPr lang="en-US" altLang="en-US" sz="2800" dirty="0"/>
              <a:t>Counting +</a:t>
            </a:r>
            <a:r>
              <a:rPr lang="en-US" altLang="en-US" sz="2800" dirty="0" err="1"/>
              <a:t>ve</a:t>
            </a:r>
            <a:r>
              <a:rPr lang="en-US" altLang="en-US" sz="2800" dirty="0"/>
              <a:t> and –</a:t>
            </a:r>
            <a:r>
              <a:rPr lang="en-US" altLang="en-US" sz="2800" dirty="0" err="1"/>
              <a:t>ve</a:t>
            </a:r>
            <a:r>
              <a:rPr lang="en-US" altLang="en-US" sz="2800" dirty="0"/>
              <a:t> instances</a:t>
            </a:r>
          </a:p>
          <a:p>
            <a:pPr marL="990600" lvl="1" indent="-533400" eaLnBrk="1" hangingPunct="1"/>
            <a:r>
              <a:rPr lang="en-US" altLang="en-US" sz="2400" dirty="0"/>
              <a:t>+</a:t>
            </a:r>
            <a:r>
              <a:rPr lang="en-US" altLang="en-US" sz="2400" dirty="0" err="1"/>
              <a:t>ve</a:t>
            </a:r>
            <a:r>
              <a:rPr lang="en-US" altLang="en-US" sz="2400" dirty="0"/>
              <a:t> examples are 3 hence represent as 3+</a:t>
            </a:r>
          </a:p>
          <a:p>
            <a:pPr marL="990600" lvl="1" indent="-533400" eaLnBrk="1" hangingPunct="1"/>
            <a:r>
              <a:rPr lang="en-US" altLang="en-US" sz="2400" dirty="0"/>
              <a:t>-</a:t>
            </a:r>
            <a:r>
              <a:rPr lang="en-US" altLang="en-US" sz="2400" dirty="0" err="1"/>
              <a:t>ve</a:t>
            </a:r>
            <a:r>
              <a:rPr lang="en-US" altLang="en-US" sz="2400" dirty="0"/>
              <a:t> examples are 3 hence represent as 3-</a:t>
            </a:r>
          </a:p>
        </p:txBody>
      </p:sp>
      <p:sp>
        <p:nvSpPr>
          <p:cNvPr id="5" name="Footer Placeholder 4"/>
          <p:cNvSpPr>
            <a:spLocks noGrp="1"/>
          </p:cNvSpPr>
          <p:nvPr>
            <p:ph type="ftr" sz="quarter" idx="11"/>
          </p:nvPr>
        </p:nvSpPr>
        <p:spPr/>
        <p:txBody>
          <a:bodyPr/>
          <a:lstStyle/>
          <a:p>
            <a:pPr>
              <a:defRPr/>
            </a:pPr>
            <a:r>
              <a:rPr lang="en-US"/>
              <a:t>Decision Tree Learning</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65ABDB9-C77D-4664-AC7F-AB5D9E0DC49D}" type="slidenum">
              <a:rPr lang="en-US" altLang="en-US" sz="1200">
                <a:solidFill>
                  <a:srgbClr val="898989"/>
                </a:solidFill>
              </a:rPr>
              <a:pPr eaLnBrk="1" hangingPunct="1"/>
              <a:t>15</a:t>
            </a:fld>
            <a:endParaRPr lang="en-US" altLang="en-US" sz="1200">
              <a:solidFill>
                <a:srgbClr val="898989"/>
              </a:solidFill>
            </a:endParaRPr>
          </a:p>
        </p:txBody>
      </p:sp>
      <p:pic>
        <p:nvPicPr>
          <p:cNvPr id="112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295400"/>
            <a:ext cx="6105128" cy="2346324"/>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sv-SE" altLang="en-US" smtClean="0"/>
              <a:t>PlayTennis Training Examples</a:t>
            </a:r>
            <a:endParaRPr lang="en-US" altLang="en-US" smtClean="0"/>
          </a:p>
        </p:txBody>
      </p:sp>
      <p:sp>
        <p:nvSpPr>
          <p:cNvPr id="117" name="Footer Placeholder 3"/>
          <p:cNvSpPr>
            <a:spLocks noGrp="1"/>
          </p:cNvSpPr>
          <p:nvPr>
            <p:ph type="ftr" sz="quarter" idx="11"/>
          </p:nvPr>
        </p:nvSpPr>
        <p:spPr/>
        <p:txBody>
          <a:bodyPr/>
          <a:lstStyle/>
          <a:p>
            <a:pPr>
              <a:defRPr/>
            </a:pPr>
            <a:r>
              <a:rPr lang="en-US"/>
              <a:t>Decision Tree Learning</a:t>
            </a:r>
          </a:p>
        </p:txBody>
      </p:sp>
      <p:sp>
        <p:nvSpPr>
          <p:cNvPr id="118"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9283A3A-240C-46AE-B710-2D8CD285292D}" type="slidenum">
              <a:rPr lang="en-US" altLang="en-US" sz="1200">
                <a:solidFill>
                  <a:srgbClr val="898989"/>
                </a:solidFill>
              </a:rPr>
              <a:pPr eaLnBrk="1" hangingPunct="1"/>
              <a:t>16</a:t>
            </a:fld>
            <a:endParaRPr lang="en-US" altLang="en-US" sz="1200">
              <a:solidFill>
                <a:srgbClr val="898989"/>
              </a:solidFill>
            </a:endParaRPr>
          </a:p>
        </p:txBody>
      </p:sp>
      <p:grpSp>
        <p:nvGrpSpPr>
          <p:cNvPr id="31749" name="Group 3"/>
          <p:cNvGrpSpPr>
            <a:grpSpLocks/>
          </p:cNvGrpSpPr>
          <p:nvPr/>
        </p:nvGrpSpPr>
        <p:grpSpPr bwMode="auto">
          <a:xfrm>
            <a:off x="2209800" y="1584326"/>
            <a:ext cx="8305800" cy="5045075"/>
            <a:chOff x="432" y="960"/>
            <a:chExt cx="5232" cy="3178"/>
          </a:xfrm>
        </p:grpSpPr>
        <p:sp>
          <p:nvSpPr>
            <p:cNvPr id="31750" name="Rectangle 4"/>
            <p:cNvSpPr>
              <a:spLocks noChangeArrowheads="1"/>
            </p:cNvSpPr>
            <p:nvPr/>
          </p:nvSpPr>
          <p:spPr bwMode="auto">
            <a:xfrm>
              <a:off x="4560" y="3927"/>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751" name="Rectangle 5"/>
            <p:cNvSpPr>
              <a:spLocks noChangeArrowheads="1"/>
            </p:cNvSpPr>
            <p:nvPr/>
          </p:nvSpPr>
          <p:spPr bwMode="auto">
            <a:xfrm>
              <a:off x="3840" y="3927"/>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52" name="Rectangle 6"/>
            <p:cNvSpPr>
              <a:spLocks noChangeArrowheads="1"/>
            </p:cNvSpPr>
            <p:nvPr/>
          </p:nvSpPr>
          <p:spPr bwMode="auto">
            <a:xfrm>
              <a:off x="3072" y="3927"/>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753" name="Rectangle 7"/>
            <p:cNvSpPr>
              <a:spLocks noChangeArrowheads="1"/>
            </p:cNvSpPr>
            <p:nvPr/>
          </p:nvSpPr>
          <p:spPr bwMode="auto">
            <a:xfrm>
              <a:off x="2336" y="3927"/>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54" name="Rectangle 8"/>
            <p:cNvSpPr>
              <a:spLocks noChangeArrowheads="1"/>
            </p:cNvSpPr>
            <p:nvPr/>
          </p:nvSpPr>
          <p:spPr bwMode="auto">
            <a:xfrm>
              <a:off x="912" y="3927"/>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755" name="Rectangle 9"/>
            <p:cNvSpPr>
              <a:spLocks noChangeArrowheads="1"/>
            </p:cNvSpPr>
            <p:nvPr/>
          </p:nvSpPr>
          <p:spPr bwMode="auto">
            <a:xfrm>
              <a:off x="432" y="3927"/>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D14</a:t>
              </a:r>
              <a:endParaRPr lang="en-US" altLang="en-US" sz="1800"/>
            </a:p>
          </p:txBody>
        </p:sp>
        <p:sp>
          <p:nvSpPr>
            <p:cNvPr id="31756" name="Rectangle 10"/>
            <p:cNvSpPr>
              <a:spLocks noChangeArrowheads="1"/>
            </p:cNvSpPr>
            <p:nvPr/>
          </p:nvSpPr>
          <p:spPr bwMode="auto">
            <a:xfrm>
              <a:off x="4560" y="3716"/>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57" name="Rectangle 11"/>
            <p:cNvSpPr>
              <a:spLocks noChangeArrowheads="1"/>
            </p:cNvSpPr>
            <p:nvPr/>
          </p:nvSpPr>
          <p:spPr bwMode="auto">
            <a:xfrm>
              <a:off x="3840" y="3716"/>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58" name="Rectangle 12"/>
            <p:cNvSpPr>
              <a:spLocks noChangeArrowheads="1"/>
            </p:cNvSpPr>
            <p:nvPr/>
          </p:nvSpPr>
          <p:spPr bwMode="auto">
            <a:xfrm>
              <a:off x="3072" y="3716"/>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59" name="Rectangle 13"/>
            <p:cNvSpPr>
              <a:spLocks noChangeArrowheads="1"/>
            </p:cNvSpPr>
            <p:nvPr/>
          </p:nvSpPr>
          <p:spPr bwMode="auto">
            <a:xfrm>
              <a:off x="2336" y="3716"/>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760" name="Rectangle 14"/>
            <p:cNvSpPr>
              <a:spLocks noChangeArrowheads="1"/>
            </p:cNvSpPr>
            <p:nvPr/>
          </p:nvSpPr>
          <p:spPr bwMode="auto">
            <a:xfrm>
              <a:off x="912" y="3716"/>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761" name="Rectangle 15"/>
            <p:cNvSpPr>
              <a:spLocks noChangeArrowheads="1"/>
            </p:cNvSpPr>
            <p:nvPr/>
          </p:nvSpPr>
          <p:spPr bwMode="auto">
            <a:xfrm>
              <a:off x="432" y="3716"/>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D13</a:t>
              </a:r>
              <a:endParaRPr lang="en-US" altLang="en-US" sz="1800"/>
            </a:p>
          </p:txBody>
        </p:sp>
        <p:sp>
          <p:nvSpPr>
            <p:cNvPr id="31762" name="Rectangle 16"/>
            <p:cNvSpPr>
              <a:spLocks noChangeArrowheads="1"/>
            </p:cNvSpPr>
            <p:nvPr/>
          </p:nvSpPr>
          <p:spPr bwMode="auto">
            <a:xfrm>
              <a:off x="4560" y="3505"/>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63" name="Rectangle 17"/>
            <p:cNvSpPr>
              <a:spLocks noChangeArrowheads="1"/>
            </p:cNvSpPr>
            <p:nvPr/>
          </p:nvSpPr>
          <p:spPr bwMode="auto">
            <a:xfrm>
              <a:off x="3840" y="3505"/>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64" name="Rectangle 18"/>
            <p:cNvSpPr>
              <a:spLocks noChangeArrowheads="1"/>
            </p:cNvSpPr>
            <p:nvPr/>
          </p:nvSpPr>
          <p:spPr bwMode="auto">
            <a:xfrm>
              <a:off x="3072" y="3505"/>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765" name="Rectangle 19"/>
            <p:cNvSpPr>
              <a:spLocks noChangeArrowheads="1"/>
            </p:cNvSpPr>
            <p:nvPr/>
          </p:nvSpPr>
          <p:spPr bwMode="auto">
            <a:xfrm>
              <a:off x="2336" y="3505"/>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66" name="Rectangle 20"/>
            <p:cNvSpPr>
              <a:spLocks noChangeArrowheads="1"/>
            </p:cNvSpPr>
            <p:nvPr/>
          </p:nvSpPr>
          <p:spPr bwMode="auto">
            <a:xfrm>
              <a:off x="912" y="3505"/>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767" name="Rectangle 21"/>
            <p:cNvSpPr>
              <a:spLocks noChangeArrowheads="1"/>
            </p:cNvSpPr>
            <p:nvPr/>
          </p:nvSpPr>
          <p:spPr bwMode="auto">
            <a:xfrm>
              <a:off x="432" y="3505"/>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D12</a:t>
              </a:r>
              <a:endParaRPr lang="en-US" altLang="en-US" sz="1800"/>
            </a:p>
          </p:txBody>
        </p:sp>
        <p:sp>
          <p:nvSpPr>
            <p:cNvPr id="31768" name="Rectangle 22"/>
            <p:cNvSpPr>
              <a:spLocks noChangeArrowheads="1"/>
            </p:cNvSpPr>
            <p:nvPr/>
          </p:nvSpPr>
          <p:spPr bwMode="auto">
            <a:xfrm>
              <a:off x="4560" y="3294"/>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69" name="Rectangle 23"/>
            <p:cNvSpPr>
              <a:spLocks noChangeArrowheads="1"/>
            </p:cNvSpPr>
            <p:nvPr/>
          </p:nvSpPr>
          <p:spPr bwMode="auto">
            <a:xfrm>
              <a:off x="3840" y="3294"/>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70" name="Rectangle 24"/>
            <p:cNvSpPr>
              <a:spLocks noChangeArrowheads="1"/>
            </p:cNvSpPr>
            <p:nvPr/>
          </p:nvSpPr>
          <p:spPr bwMode="auto">
            <a:xfrm>
              <a:off x="3072" y="3294"/>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71" name="Rectangle 25"/>
            <p:cNvSpPr>
              <a:spLocks noChangeArrowheads="1"/>
            </p:cNvSpPr>
            <p:nvPr/>
          </p:nvSpPr>
          <p:spPr bwMode="auto">
            <a:xfrm>
              <a:off x="2336" y="3294"/>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72" name="Rectangle 26"/>
            <p:cNvSpPr>
              <a:spLocks noChangeArrowheads="1"/>
            </p:cNvSpPr>
            <p:nvPr/>
          </p:nvSpPr>
          <p:spPr bwMode="auto">
            <a:xfrm>
              <a:off x="912" y="3294"/>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773" name="Rectangle 27"/>
            <p:cNvSpPr>
              <a:spLocks noChangeArrowheads="1"/>
            </p:cNvSpPr>
            <p:nvPr/>
          </p:nvSpPr>
          <p:spPr bwMode="auto">
            <a:xfrm>
              <a:off x="432" y="3294"/>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D11</a:t>
              </a:r>
              <a:endParaRPr lang="en-US" altLang="en-US" sz="1800"/>
            </a:p>
          </p:txBody>
        </p:sp>
        <p:sp>
          <p:nvSpPr>
            <p:cNvPr id="31774" name="Rectangle 28"/>
            <p:cNvSpPr>
              <a:spLocks noChangeArrowheads="1"/>
            </p:cNvSpPr>
            <p:nvPr/>
          </p:nvSpPr>
          <p:spPr bwMode="auto">
            <a:xfrm>
              <a:off x="4560" y="3083"/>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75" name="Rectangle 29"/>
            <p:cNvSpPr>
              <a:spLocks noChangeArrowheads="1"/>
            </p:cNvSpPr>
            <p:nvPr/>
          </p:nvSpPr>
          <p:spPr bwMode="auto">
            <a:xfrm>
              <a:off x="3840" y="3083"/>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76" name="Rectangle 30"/>
            <p:cNvSpPr>
              <a:spLocks noChangeArrowheads="1"/>
            </p:cNvSpPr>
            <p:nvPr/>
          </p:nvSpPr>
          <p:spPr bwMode="auto">
            <a:xfrm>
              <a:off x="3072" y="3083"/>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77" name="Rectangle 31"/>
            <p:cNvSpPr>
              <a:spLocks noChangeArrowheads="1"/>
            </p:cNvSpPr>
            <p:nvPr/>
          </p:nvSpPr>
          <p:spPr bwMode="auto">
            <a:xfrm>
              <a:off x="2336" y="3083"/>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78" name="Rectangle 32"/>
            <p:cNvSpPr>
              <a:spLocks noChangeArrowheads="1"/>
            </p:cNvSpPr>
            <p:nvPr/>
          </p:nvSpPr>
          <p:spPr bwMode="auto">
            <a:xfrm>
              <a:off x="912" y="3083"/>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779" name="Rectangle 33"/>
            <p:cNvSpPr>
              <a:spLocks noChangeArrowheads="1"/>
            </p:cNvSpPr>
            <p:nvPr/>
          </p:nvSpPr>
          <p:spPr bwMode="auto">
            <a:xfrm>
              <a:off x="432" y="3083"/>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D10</a:t>
              </a:r>
              <a:endParaRPr lang="en-US" altLang="en-US" sz="1800"/>
            </a:p>
          </p:txBody>
        </p:sp>
        <p:sp>
          <p:nvSpPr>
            <p:cNvPr id="31780" name="Rectangle 34"/>
            <p:cNvSpPr>
              <a:spLocks noChangeArrowheads="1"/>
            </p:cNvSpPr>
            <p:nvPr/>
          </p:nvSpPr>
          <p:spPr bwMode="auto">
            <a:xfrm>
              <a:off x="4560" y="2872"/>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81" name="Rectangle 35"/>
            <p:cNvSpPr>
              <a:spLocks noChangeArrowheads="1"/>
            </p:cNvSpPr>
            <p:nvPr/>
          </p:nvSpPr>
          <p:spPr bwMode="auto">
            <a:xfrm>
              <a:off x="3840" y="2872"/>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82" name="Rectangle 36"/>
            <p:cNvSpPr>
              <a:spLocks noChangeArrowheads="1"/>
            </p:cNvSpPr>
            <p:nvPr/>
          </p:nvSpPr>
          <p:spPr bwMode="auto">
            <a:xfrm>
              <a:off x="3072" y="2872"/>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83" name="Rectangle 37"/>
            <p:cNvSpPr>
              <a:spLocks noChangeArrowheads="1"/>
            </p:cNvSpPr>
            <p:nvPr/>
          </p:nvSpPr>
          <p:spPr bwMode="auto">
            <a:xfrm>
              <a:off x="2336" y="2872"/>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Cold</a:t>
              </a:r>
              <a:endParaRPr lang="en-US" altLang="en-US" sz="1800"/>
            </a:p>
          </p:txBody>
        </p:sp>
        <p:sp>
          <p:nvSpPr>
            <p:cNvPr id="31784" name="Rectangle 38"/>
            <p:cNvSpPr>
              <a:spLocks noChangeArrowheads="1"/>
            </p:cNvSpPr>
            <p:nvPr/>
          </p:nvSpPr>
          <p:spPr bwMode="auto">
            <a:xfrm>
              <a:off x="912" y="2872"/>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785" name="Rectangle 39"/>
            <p:cNvSpPr>
              <a:spLocks noChangeArrowheads="1"/>
            </p:cNvSpPr>
            <p:nvPr/>
          </p:nvSpPr>
          <p:spPr bwMode="auto">
            <a:xfrm>
              <a:off x="432" y="2872"/>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D9</a:t>
              </a:r>
              <a:endParaRPr lang="en-US" altLang="en-US" sz="1800"/>
            </a:p>
          </p:txBody>
        </p:sp>
        <p:sp>
          <p:nvSpPr>
            <p:cNvPr id="31786" name="Rectangle 40"/>
            <p:cNvSpPr>
              <a:spLocks noChangeArrowheads="1"/>
            </p:cNvSpPr>
            <p:nvPr/>
          </p:nvSpPr>
          <p:spPr bwMode="auto">
            <a:xfrm>
              <a:off x="4560" y="2661"/>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787" name="Rectangle 41"/>
            <p:cNvSpPr>
              <a:spLocks noChangeArrowheads="1"/>
            </p:cNvSpPr>
            <p:nvPr/>
          </p:nvSpPr>
          <p:spPr bwMode="auto">
            <a:xfrm>
              <a:off x="3840" y="2661"/>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88" name="Rectangle 42"/>
            <p:cNvSpPr>
              <a:spLocks noChangeArrowheads="1"/>
            </p:cNvSpPr>
            <p:nvPr/>
          </p:nvSpPr>
          <p:spPr bwMode="auto">
            <a:xfrm>
              <a:off x="3072" y="2661"/>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789" name="Rectangle 43"/>
            <p:cNvSpPr>
              <a:spLocks noChangeArrowheads="1"/>
            </p:cNvSpPr>
            <p:nvPr/>
          </p:nvSpPr>
          <p:spPr bwMode="auto">
            <a:xfrm>
              <a:off x="2336" y="2661"/>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90" name="Rectangle 44"/>
            <p:cNvSpPr>
              <a:spLocks noChangeArrowheads="1"/>
            </p:cNvSpPr>
            <p:nvPr/>
          </p:nvSpPr>
          <p:spPr bwMode="auto">
            <a:xfrm>
              <a:off x="912" y="2661"/>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791" name="Rectangle 45"/>
            <p:cNvSpPr>
              <a:spLocks noChangeArrowheads="1"/>
            </p:cNvSpPr>
            <p:nvPr/>
          </p:nvSpPr>
          <p:spPr bwMode="auto">
            <a:xfrm>
              <a:off x="432" y="2661"/>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D8</a:t>
              </a:r>
              <a:endParaRPr lang="en-US" altLang="en-US" sz="1800"/>
            </a:p>
          </p:txBody>
        </p:sp>
        <p:sp>
          <p:nvSpPr>
            <p:cNvPr id="31792" name="Rectangle 46"/>
            <p:cNvSpPr>
              <a:spLocks noChangeArrowheads="1"/>
            </p:cNvSpPr>
            <p:nvPr/>
          </p:nvSpPr>
          <p:spPr bwMode="auto">
            <a:xfrm>
              <a:off x="4560" y="2450"/>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93" name="Rectangle 47"/>
            <p:cNvSpPr>
              <a:spLocks noChangeArrowheads="1"/>
            </p:cNvSpPr>
            <p:nvPr/>
          </p:nvSpPr>
          <p:spPr bwMode="auto">
            <a:xfrm>
              <a:off x="3840" y="2450"/>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94" name="Rectangle 48"/>
            <p:cNvSpPr>
              <a:spLocks noChangeArrowheads="1"/>
            </p:cNvSpPr>
            <p:nvPr/>
          </p:nvSpPr>
          <p:spPr bwMode="auto">
            <a:xfrm>
              <a:off x="3072" y="2450"/>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95" name="Rectangle 49"/>
            <p:cNvSpPr>
              <a:spLocks noChangeArrowheads="1"/>
            </p:cNvSpPr>
            <p:nvPr/>
          </p:nvSpPr>
          <p:spPr bwMode="auto">
            <a:xfrm>
              <a:off x="2336" y="2450"/>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1796" name="Rectangle 50"/>
            <p:cNvSpPr>
              <a:spLocks noChangeArrowheads="1"/>
            </p:cNvSpPr>
            <p:nvPr/>
          </p:nvSpPr>
          <p:spPr bwMode="auto">
            <a:xfrm>
              <a:off x="912" y="2450"/>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797" name="Rectangle 51"/>
            <p:cNvSpPr>
              <a:spLocks noChangeArrowheads="1"/>
            </p:cNvSpPr>
            <p:nvPr/>
          </p:nvSpPr>
          <p:spPr bwMode="auto">
            <a:xfrm>
              <a:off x="432" y="2450"/>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D7</a:t>
              </a:r>
              <a:endParaRPr lang="en-US" altLang="en-US" sz="1800"/>
            </a:p>
          </p:txBody>
        </p:sp>
        <p:sp>
          <p:nvSpPr>
            <p:cNvPr id="31798" name="Rectangle 52"/>
            <p:cNvSpPr>
              <a:spLocks noChangeArrowheads="1"/>
            </p:cNvSpPr>
            <p:nvPr/>
          </p:nvSpPr>
          <p:spPr bwMode="auto">
            <a:xfrm>
              <a:off x="4560" y="2239"/>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799" name="Rectangle 53"/>
            <p:cNvSpPr>
              <a:spLocks noChangeArrowheads="1"/>
            </p:cNvSpPr>
            <p:nvPr/>
          </p:nvSpPr>
          <p:spPr bwMode="auto">
            <a:xfrm>
              <a:off x="3840" y="2239"/>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800" name="Rectangle 54"/>
            <p:cNvSpPr>
              <a:spLocks noChangeArrowheads="1"/>
            </p:cNvSpPr>
            <p:nvPr/>
          </p:nvSpPr>
          <p:spPr bwMode="auto">
            <a:xfrm>
              <a:off x="3072" y="2239"/>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801" name="Rectangle 55"/>
            <p:cNvSpPr>
              <a:spLocks noChangeArrowheads="1"/>
            </p:cNvSpPr>
            <p:nvPr/>
          </p:nvSpPr>
          <p:spPr bwMode="auto">
            <a:xfrm>
              <a:off x="2336" y="2239"/>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1802" name="Rectangle 56"/>
            <p:cNvSpPr>
              <a:spLocks noChangeArrowheads="1"/>
            </p:cNvSpPr>
            <p:nvPr/>
          </p:nvSpPr>
          <p:spPr bwMode="auto">
            <a:xfrm>
              <a:off x="912" y="2239"/>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803" name="Rectangle 57"/>
            <p:cNvSpPr>
              <a:spLocks noChangeArrowheads="1"/>
            </p:cNvSpPr>
            <p:nvPr/>
          </p:nvSpPr>
          <p:spPr bwMode="auto">
            <a:xfrm>
              <a:off x="432" y="2239"/>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D6</a:t>
              </a:r>
              <a:endParaRPr lang="en-US" altLang="en-US" sz="1800"/>
            </a:p>
          </p:txBody>
        </p:sp>
        <p:sp>
          <p:nvSpPr>
            <p:cNvPr id="31804" name="Rectangle 58"/>
            <p:cNvSpPr>
              <a:spLocks noChangeArrowheads="1"/>
            </p:cNvSpPr>
            <p:nvPr/>
          </p:nvSpPr>
          <p:spPr bwMode="auto">
            <a:xfrm>
              <a:off x="4560" y="2028"/>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805" name="Rectangle 59"/>
            <p:cNvSpPr>
              <a:spLocks noChangeArrowheads="1"/>
            </p:cNvSpPr>
            <p:nvPr/>
          </p:nvSpPr>
          <p:spPr bwMode="auto">
            <a:xfrm>
              <a:off x="3840" y="2028"/>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06" name="Rectangle 60"/>
            <p:cNvSpPr>
              <a:spLocks noChangeArrowheads="1"/>
            </p:cNvSpPr>
            <p:nvPr/>
          </p:nvSpPr>
          <p:spPr bwMode="auto">
            <a:xfrm>
              <a:off x="3072" y="2028"/>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807" name="Rectangle 61"/>
            <p:cNvSpPr>
              <a:spLocks noChangeArrowheads="1"/>
            </p:cNvSpPr>
            <p:nvPr/>
          </p:nvSpPr>
          <p:spPr bwMode="auto">
            <a:xfrm>
              <a:off x="2336" y="2028"/>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1808" name="Rectangle 62"/>
            <p:cNvSpPr>
              <a:spLocks noChangeArrowheads="1"/>
            </p:cNvSpPr>
            <p:nvPr/>
          </p:nvSpPr>
          <p:spPr bwMode="auto">
            <a:xfrm>
              <a:off x="912" y="2028"/>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809" name="Rectangle 63"/>
            <p:cNvSpPr>
              <a:spLocks noChangeArrowheads="1"/>
            </p:cNvSpPr>
            <p:nvPr/>
          </p:nvSpPr>
          <p:spPr bwMode="auto">
            <a:xfrm>
              <a:off x="432" y="2028"/>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D5</a:t>
              </a:r>
              <a:endParaRPr lang="en-US" altLang="en-US" sz="1800"/>
            </a:p>
          </p:txBody>
        </p:sp>
        <p:sp>
          <p:nvSpPr>
            <p:cNvPr id="31810" name="Rectangle 64"/>
            <p:cNvSpPr>
              <a:spLocks noChangeArrowheads="1"/>
            </p:cNvSpPr>
            <p:nvPr/>
          </p:nvSpPr>
          <p:spPr bwMode="auto">
            <a:xfrm>
              <a:off x="4560" y="1817"/>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811" name="Rectangle 65"/>
            <p:cNvSpPr>
              <a:spLocks noChangeArrowheads="1"/>
            </p:cNvSpPr>
            <p:nvPr/>
          </p:nvSpPr>
          <p:spPr bwMode="auto">
            <a:xfrm>
              <a:off x="3840" y="1817"/>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12" name="Rectangle 66"/>
            <p:cNvSpPr>
              <a:spLocks noChangeArrowheads="1"/>
            </p:cNvSpPr>
            <p:nvPr/>
          </p:nvSpPr>
          <p:spPr bwMode="auto">
            <a:xfrm>
              <a:off x="3072" y="1817"/>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13" name="Rectangle 67"/>
            <p:cNvSpPr>
              <a:spLocks noChangeArrowheads="1"/>
            </p:cNvSpPr>
            <p:nvPr/>
          </p:nvSpPr>
          <p:spPr bwMode="auto">
            <a:xfrm>
              <a:off x="2336" y="1817"/>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814" name="Rectangle 68"/>
            <p:cNvSpPr>
              <a:spLocks noChangeArrowheads="1"/>
            </p:cNvSpPr>
            <p:nvPr/>
          </p:nvSpPr>
          <p:spPr bwMode="auto">
            <a:xfrm>
              <a:off x="912" y="1817"/>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 </a:t>
              </a:r>
              <a:endParaRPr lang="en-US" altLang="en-US" sz="1800"/>
            </a:p>
          </p:txBody>
        </p:sp>
        <p:sp>
          <p:nvSpPr>
            <p:cNvPr id="31815" name="Rectangle 69"/>
            <p:cNvSpPr>
              <a:spLocks noChangeArrowheads="1"/>
            </p:cNvSpPr>
            <p:nvPr/>
          </p:nvSpPr>
          <p:spPr bwMode="auto">
            <a:xfrm>
              <a:off x="432" y="1817"/>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D4 </a:t>
              </a:r>
              <a:endParaRPr lang="en-US" altLang="en-US" sz="1800"/>
            </a:p>
          </p:txBody>
        </p:sp>
        <p:sp>
          <p:nvSpPr>
            <p:cNvPr id="31816" name="Rectangle 70"/>
            <p:cNvSpPr>
              <a:spLocks noChangeArrowheads="1"/>
            </p:cNvSpPr>
            <p:nvPr/>
          </p:nvSpPr>
          <p:spPr bwMode="auto">
            <a:xfrm>
              <a:off x="4560" y="1606"/>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817" name="Rectangle 71"/>
            <p:cNvSpPr>
              <a:spLocks noChangeArrowheads="1"/>
            </p:cNvSpPr>
            <p:nvPr/>
          </p:nvSpPr>
          <p:spPr bwMode="auto">
            <a:xfrm>
              <a:off x="3840" y="1606"/>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18" name="Rectangle 72"/>
            <p:cNvSpPr>
              <a:spLocks noChangeArrowheads="1"/>
            </p:cNvSpPr>
            <p:nvPr/>
          </p:nvSpPr>
          <p:spPr bwMode="auto">
            <a:xfrm>
              <a:off x="3072" y="1606"/>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19" name="Rectangle 73"/>
            <p:cNvSpPr>
              <a:spLocks noChangeArrowheads="1"/>
            </p:cNvSpPr>
            <p:nvPr/>
          </p:nvSpPr>
          <p:spPr bwMode="auto">
            <a:xfrm>
              <a:off x="2336" y="1606"/>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820" name="Rectangle 74"/>
            <p:cNvSpPr>
              <a:spLocks noChangeArrowheads="1"/>
            </p:cNvSpPr>
            <p:nvPr/>
          </p:nvSpPr>
          <p:spPr bwMode="auto">
            <a:xfrm>
              <a:off x="912" y="1606"/>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821" name="Rectangle 75"/>
            <p:cNvSpPr>
              <a:spLocks noChangeArrowheads="1"/>
            </p:cNvSpPr>
            <p:nvPr/>
          </p:nvSpPr>
          <p:spPr bwMode="auto">
            <a:xfrm>
              <a:off x="432" y="1606"/>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D3</a:t>
              </a:r>
              <a:endParaRPr lang="en-US" altLang="en-US" sz="1800"/>
            </a:p>
          </p:txBody>
        </p:sp>
        <p:sp>
          <p:nvSpPr>
            <p:cNvPr id="31822" name="Rectangle 76"/>
            <p:cNvSpPr>
              <a:spLocks noChangeArrowheads="1"/>
            </p:cNvSpPr>
            <p:nvPr/>
          </p:nvSpPr>
          <p:spPr bwMode="auto">
            <a:xfrm>
              <a:off x="4560" y="1395"/>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823" name="Rectangle 77"/>
            <p:cNvSpPr>
              <a:spLocks noChangeArrowheads="1"/>
            </p:cNvSpPr>
            <p:nvPr/>
          </p:nvSpPr>
          <p:spPr bwMode="auto">
            <a:xfrm>
              <a:off x="3840" y="1395"/>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824" name="Rectangle 78"/>
            <p:cNvSpPr>
              <a:spLocks noChangeArrowheads="1"/>
            </p:cNvSpPr>
            <p:nvPr/>
          </p:nvSpPr>
          <p:spPr bwMode="auto">
            <a:xfrm>
              <a:off x="3072" y="1395"/>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25" name="Rectangle 79"/>
            <p:cNvSpPr>
              <a:spLocks noChangeArrowheads="1"/>
            </p:cNvSpPr>
            <p:nvPr/>
          </p:nvSpPr>
          <p:spPr bwMode="auto">
            <a:xfrm>
              <a:off x="2336" y="1395"/>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826" name="Rectangle 80"/>
            <p:cNvSpPr>
              <a:spLocks noChangeArrowheads="1"/>
            </p:cNvSpPr>
            <p:nvPr/>
          </p:nvSpPr>
          <p:spPr bwMode="auto">
            <a:xfrm>
              <a:off x="912" y="1395"/>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827" name="Rectangle 81"/>
            <p:cNvSpPr>
              <a:spLocks noChangeArrowheads="1"/>
            </p:cNvSpPr>
            <p:nvPr/>
          </p:nvSpPr>
          <p:spPr bwMode="auto">
            <a:xfrm>
              <a:off x="432" y="1395"/>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D2</a:t>
              </a:r>
              <a:endParaRPr lang="en-US" altLang="en-US" sz="1800"/>
            </a:p>
          </p:txBody>
        </p:sp>
        <p:sp>
          <p:nvSpPr>
            <p:cNvPr id="31828" name="Rectangle 82"/>
            <p:cNvSpPr>
              <a:spLocks noChangeArrowheads="1"/>
            </p:cNvSpPr>
            <p:nvPr/>
          </p:nvSpPr>
          <p:spPr bwMode="auto">
            <a:xfrm>
              <a:off x="4560" y="1184"/>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829" name="Rectangle 83"/>
            <p:cNvSpPr>
              <a:spLocks noChangeArrowheads="1"/>
            </p:cNvSpPr>
            <p:nvPr/>
          </p:nvSpPr>
          <p:spPr bwMode="auto">
            <a:xfrm>
              <a:off x="3840" y="1184"/>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30" name="Rectangle 84"/>
            <p:cNvSpPr>
              <a:spLocks noChangeArrowheads="1"/>
            </p:cNvSpPr>
            <p:nvPr/>
          </p:nvSpPr>
          <p:spPr bwMode="auto">
            <a:xfrm>
              <a:off x="3072" y="1184"/>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31" name="Rectangle 85"/>
            <p:cNvSpPr>
              <a:spLocks noChangeArrowheads="1"/>
            </p:cNvSpPr>
            <p:nvPr/>
          </p:nvSpPr>
          <p:spPr bwMode="auto">
            <a:xfrm>
              <a:off x="2336" y="1184"/>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832" name="Rectangle 86"/>
            <p:cNvSpPr>
              <a:spLocks noChangeArrowheads="1"/>
            </p:cNvSpPr>
            <p:nvPr/>
          </p:nvSpPr>
          <p:spPr bwMode="auto">
            <a:xfrm>
              <a:off x="912" y="1184"/>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833" name="Rectangle 87"/>
            <p:cNvSpPr>
              <a:spLocks noChangeArrowheads="1"/>
            </p:cNvSpPr>
            <p:nvPr/>
          </p:nvSpPr>
          <p:spPr bwMode="auto">
            <a:xfrm>
              <a:off x="432" y="1184"/>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a:t>
              </a:r>
              <a:endParaRPr lang="en-US" altLang="en-US" sz="1800"/>
            </a:p>
          </p:txBody>
        </p:sp>
        <p:sp>
          <p:nvSpPr>
            <p:cNvPr id="31834" name="Rectangle 88"/>
            <p:cNvSpPr>
              <a:spLocks noChangeArrowheads="1"/>
            </p:cNvSpPr>
            <p:nvPr/>
          </p:nvSpPr>
          <p:spPr bwMode="auto">
            <a:xfrm>
              <a:off x="4560" y="960"/>
              <a:ext cx="110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b="1">
                  <a:solidFill>
                    <a:schemeClr val="hlink"/>
                  </a:solidFill>
                </a:rPr>
                <a:t>Play Tennis</a:t>
              </a:r>
              <a:endParaRPr lang="en-US" altLang="en-US" sz="1800" b="1">
                <a:solidFill>
                  <a:schemeClr val="hlink"/>
                </a:solidFill>
              </a:endParaRPr>
            </a:p>
          </p:txBody>
        </p:sp>
        <p:sp>
          <p:nvSpPr>
            <p:cNvPr id="31835" name="Rectangle 89"/>
            <p:cNvSpPr>
              <a:spLocks noChangeArrowheads="1"/>
            </p:cNvSpPr>
            <p:nvPr/>
          </p:nvSpPr>
          <p:spPr bwMode="auto">
            <a:xfrm>
              <a:off x="3840" y="960"/>
              <a:ext cx="72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Wind</a:t>
              </a:r>
              <a:endParaRPr lang="en-US" altLang="en-US" sz="1800"/>
            </a:p>
          </p:txBody>
        </p:sp>
        <p:sp>
          <p:nvSpPr>
            <p:cNvPr id="31836" name="Rectangle 90"/>
            <p:cNvSpPr>
              <a:spLocks noChangeArrowheads="1"/>
            </p:cNvSpPr>
            <p:nvPr/>
          </p:nvSpPr>
          <p:spPr bwMode="auto">
            <a:xfrm>
              <a:off x="3072" y="960"/>
              <a:ext cx="7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Humidity</a:t>
              </a:r>
              <a:endParaRPr lang="en-US" altLang="en-US" sz="1800"/>
            </a:p>
          </p:txBody>
        </p:sp>
        <p:sp>
          <p:nvSpPr>
            <p:cNvPr id="31837" name="Rectangle 91"/>
            <p:cNvSpPr>
              <a:spLocks noChangeArrowheads="1"/>
            </p:cNvSpPr>
            <p:nvPr/>
          </p:nvSpPr>
          <p:spPr bwMode="auto">
            <a:xfrm>
              <a:off x="2336" y="960"/>
              <a:ext cx="73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Temp.</a:t>
              </a:r>
              <a:endParaRPr lang="en-US" altLang="en-US" sz="1800"/>
            </a:p>
          </p:txBody>
        </p:sp>
        <p:sp>
          <p:nvSpPr>
            <p:cNvPr id="31838" name="Rectangle 92"/>
            <p:cNvSpPr>
              <a:spLocks noChangeArrowheads="1"/>
            </p:cNvSpPr>
            <p:nvPr/>
          </p:nvSpPr>
          <p:spPr bwMode="auto">
            <a:xfrm>
              <a:off x="912" y="960"/>
              <a:ext cx="142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Outlook</a:t>
              </a:r>
              <a:endParaRPr lang="en-US" altLang="en-US" sz="1800"/>
            </a:p>
          </p:txBody>
        </p:sp>
        <p:sp>
          <p:nvSpPr>
            <p:cNvPr id="31839" name="Rectangle 93"/>
            <p:cNvSpPr>
              <a:spLocks noChangeArrowheads="1"/>
            </p:cNvSpPr>
            <p:nvPr/>
          </p:nvSpPr>
          <p:spPr bwMode="auto">
            <a:xfrm>
              <a:off x="432" y="960"/>
              <a:ext cx="48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Day</a:t>
              </a:r>
              <a:endParaRPr lang="en-US" altLang="en-US" sz="1800"/>
            </a:p>
          </p:txBody>
        </p:sp>
        <p:sp>
          <p:nvSpPr>
            <p:cNvPr id="31840" name="Line 94"/>
            <p:cNvSpPr>
              <a:spLocks noChangeShapeType="1"/>
            </p:cNvSpPr>
            <p:nvPr/>
          </p:nvSpPr>
          <p:spPr bwMode="auto">
            <a:xfrm>
              <a:off x="432" y="960"/>
              <a:ext cx="523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1" name="Line 95"/>
            <p:cNvSpPr>
              <a:spLocks noChangeShapeType="1"/>
            </p:cNvSpPr>
            <p:nvPr/>
          </p:nvSpPr>
          <p:spPr bwMode="auto">
            <a:xfrm>
              <a:off x="432" y="1184"/>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2" name="Line 96"/>
            <p:cNvSpPr>
              <a:spLocks noChangeShapeType="1"/>
            </p:cNvSpPr>
            <p:nvPr/>
          </p:nvSpPr>
          <p:spPr bwMode="auto">
            <a:xfrm>
              <a:off x="432" y="1395"/>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3" name="Line 97"/>
            <p:cNvSpPr>
              <a:spLocks noChangeShapeType="1"/>
            </p:cNvSpPr>
            <p:nvPr/>
          </p:nvSpPr>
          <p:spPr bwMode="auto">
            <a:xfrm>
              <a:off x="432" y="1606"/>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4" name="Line 98"/>
            <p:cNvSpPr>
              <a:spLocks noChangeShapeType="1"/>
            </p:cNvSpPr>
            <p:nvPr/>
          </p:nvSpPr>
          <p:spPr bwMode="auto">
            <a:xfrm>
              <a:off x="432" y="1817"/>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5" name="Line 99"/>
            <p:cNvSpPr>
              <a:spLocks noChangeShapeType="1"/>
            </p:cNvSpPr>
            <p:nvPr/>
          </p:nvSpPr>
          <p:spPr bwMode="auto">
            <a:xfrm>
              <a:off x="432" y="2028"/>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6" name="Line 100"/>
            <p:cNvSpPr>
              <a:spLocks noChangeShapeType="1"/>
            </p:cNvSpPr>
            <p:nvPr/>
          </p:nvSpPr>
          <p:spPr bwMode="auto">
            <a:xfrm>
              <a:off x="432" y="2239"/>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7" name="Line 101"/>
            <p:cNvSpPr>
              <a:spLocks noChangeShapeType="1"/>
            </p:cNvSpPr>
            <p:nvPr/>
          </p:nvSpPr>
          <p:spPr bwMode="auto">
            <a:xfrm>
              <a:off x="432" y="2450"/>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8" name="Line 102"/>
            <p:cNvSpPr>
              <a:spLocks noChangeShapeType="1"/>
            </p:cNvSpPr>
            <p:nvPr/>
          </p:nvSpPr>
          <p:spPr bwMode="auto">
            <a:xfrm>
              <a:off x="432" y="2661"/>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9" name="Line 103"/>
            <p:cNvSpPr>
              <a:spLocks noChangeShapeType="1"/>
            </p:cNvSpPr>
            <p:nvPr/>
          </p:nvSpPr>
          <p:spPr bwMode="auto">
            <a:xfrm>
              <a:off x="432" y="2872"/>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0" name="Line 104"/>
            <p:cNvSpPr>
              <a:spLocks noChangeShapeType="1"/>
            </p:cNvSpPr>
            <p:nvPr/>
          </p:nvSpPr>
          <p:spPr bwMode="auto">
            <a:xfrm>
              <a:off x="432" y="3083"/>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1" name="Line 105"/>
            <p:cNvSpPr>
              <a:spLocks noChangeShapeType="1"/>
            </p:cNvSpPr>
            <p:nvPr/>
          </p:nvSpPr>
          <p:spPr bwMode="auto">
            <a:xfrm>
              <a:off x="432" y="3294"/>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2" name="Line 106"/>
            <p:cNvSpPr>
              <a:spLocks noChangeShapeType="1"/>
            </p:cNvSpPr>
            <p:nvPr/>
          </p:nvSpPr>
          <p:spPr bwMode="auto">
            <a:xfrm>
              <a:off x="432" y="3505"/>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3" name="Line 107"/>
            <p:cNvSpPr>
              <a:spLocks noChangeShapeType="1"/>
            </p:cNvSpPr>
            <p:nvPr/>
          </p:nvSpPr>
          <p:spPr bwMode="auto">
            <a:xfrm>
              <a:off x="432" y="3716"/>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4" name="Line 108"/>
            <p:cNvSpPr>
              <a:spLocks noChangeShapeType="1"/>
            </p:cNvSpPr>
            <p:nvPr/>
          </p:nvSpPr>
          <p:spPr bwMode="auto">
            <a:xfrm>
              <a:off x="432" y="3927"/>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5" name="Line 109"/>
            <p:cNvSpPr>
              <a:spLocks noChangeShapeType="1"/>
            </p:cNvSpPr>
            <p:nvPr/>
          </p:nvSpPr>
          <p:spPr bwMode="auto">
            <a:xfrm>
              <a:off x="432" y="4138"/>
              <a:ext cx="523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6" name="Line 110"/>
            <p:cNvSpPr>
              <a:spLocks noChangeShapeType="1"/>
            </p:cNvSpPr>
            <p:nvPr/>
          </p:nvSpPr>
          <p:spPr bwMode="auto">
            <a:xfrm>
              <a:off x="432" y="960"/>
              <a:ext cx="0" cy="317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7" name="Line 111"/>
            <p:cNvSpPr>
              <a:spLocks noChangeShapeType="1"/>
            </p:cNvSpPr>
            <p:nvPr/>
          </p:nvSpPr>
          <p:spPr bwMode="auto">
            <a:xfrm>
              <a:off x="912"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8" name="Line 112"/>
            <p:cNvSpPr>
              <a:spLocks noChangeShapeType="1"/>
            </p:cNvSpPr>
            <p:nvPr/>
          </p:nvSpPr>
          <p:spPr bwMode="auto">
            <a:xfrm>
              <a:off x="2336"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9" name="Line 113"/>
            <p:cNvSpPr>
              <a:spLocks noChangeShapeType="1"/>
            </p:cNvSpPr>
            <p:nvPr/>
          </p:nvSpPr>
          <p:spPr bwMode="auto">
            <a:xfrm>
              <a:off x="3072"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60" name="Line 114"/>
            <p:cNvSpPr>
              <a:spLocks noChangeShapeType="1"/>
            </p:cNvSpPr>
            <p:nvPr/>
          </p:nvSpPr>
          <p:spPr bwMode="auto">
            <a:xfrm>
              <a:off x="3840"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61" name="Line 115"/>
            <p:cNvSpPr>
              <a:spLocks noChangeShapeType="1"/>
            </p:cNvSpPr>
            <p:nvPr/>
          </p:nvSpPr>
          <p:spPr bwMode="auto">
            <a:xfrm>
              <a:off x="4560"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62" name="Line 116"/>
            <p:cNvSpPr>
              <a:spLocks noChangeShapeType="1"/>
            </p:cNvSpPr>
            <p:nvPr/>
          </p:nvSpPr>
          <p:spPr bwMode="auto">
            <a:xfrm>
              <a:off x="5664" y="960"/>
              <a:ext cx="0" cy="317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title"/>
          </p:nvPr>
        </p:nvSpPr>
        <p:spPr/>
        <p:txBody>
          <a:bodyPr/>
          <a:lstStyle/>
          <a:p>
            <a:pPr eaLnBrk="1" hangingPunct="1"/>
            <a:r>
              <a:rPr lang="en-US" altLang="en-US" dirty="0" smtClean="0">
                <a:latin typeface="+mn-lt"/>
              </a:rPr>
              <a:t>Decision Tree for </a:t>
            </a:r>
            <a:r>
              <a:rPr lang="en-US" altLang="en-US" dirty="0" err="1" smtClean="0">
                <a:latin typeface="+mn-lt"/>
              </a:rPr>
              <a:t>PlayTennis</a:t>
            </a:r>
            <a:endParaRPr lang="en-US" altLang="en-US" dirty="0" smtClean="0">
              <a:latin typeface="+mn-lt"/>
            </a:endParaRPr>
          </a:p>
        </p:txBody>
      </p:sp>
      <p:sp>
        <p:nvSpPr>
          <p:cNvPr id="25" name="Footer Placeholder 3"/>
          <p:cNvSpPr>
            <a:spLocks noGrp="1"/>
          </p:cNvSpPr>
          <p:nvPr>
            <p:ph type="ftr" sz="quarter" idx="11"/>
          </p:nvPr>
        </p:nvSpPr>
        <p:spPr/>
        <p:txBody>
          <a:bodyPr/>
          <a:lstStyle/>
          <a:p>
            <a:pPr>
              <a:defRPr/>
            </a:pPr>
            <a:r>
              <a:rPr lang="en-US">
                <a:latin typeface="+mn-lt"/>
              </a:rPr>
              <a:t>Decision Tree Learning</a:t>
            </a:r>
          </a:p>
        </p:txBody>
      </p:sp>
      <p:sp>
        <p:nvSpPr>
          <p:cNvPr id="26"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27900DC-943F-4BCE-AE9C-853DB47DC57D}" type="slidenum">
              <a:rPr lang="en-US" altLang="en-US" sz="1200">
                <a:solidFill>
                  <a:srgbClr val="898989"/>
                </a:solidFill>
                <a:latin typeface="+mn-lt"/>
              </a:rPr>
              <a:pPr eaLnBrk="1" hangingPunct="1"/>
              <a:t>17</a:t>
            </a:fld>
            <a:endParaRPr lang="en-US" altLang="en-US" sz="1200">
              <a:solidFill>
                <a:srgbClr val="898989"/>
              </a:solidFill>
              <a:latin typeface="+mn-lt"/>
            </a:endParaRPr>
          </a:p>
        </p:txBody>
      </p:sp>
      <p:sp>
        <p:nvSpPr>
          <p:cNvPr id="12293" name="Line 2"/>
          <p:cNvSpPr>
            <a:spLocks noChangeShapeType="1"/>
          </p:cNvSpPr>
          <p:nvPr/>
        </p:nvSpPr>
        <p:spPr bwMode="auto">
          <a:xfrm flipH="1">
            <a:off x="3124200" y="2209800"/>
            <a:ext cx="25908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294" name="Line 3"/>
          <p:cNvSpPr>
            <a:spLocks noChangeShapeType="1"/>
          </p:cNvSpPr>
          <p:nvPr/>
        </p:nvSpPr>
        <p:spPr bwMode="auto">
          <a:xfrm>
            <a:off x="6400800" y="2209800"/>
            <a:ext cx="19050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295" name="Line 4"/>
          <p:cNvSpPr>
            <a:spLocks noChangeShapeType="1"/>
          </p:cNvSpPr>
          <p:nvPr/>
        </p:nvSpPr>
        <p:spPr bwMode="auto">
          <a:xfrm flipH="1">
            <a:off x="1981200" y="43434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296" name="Line 5"/>
          <p:cNvSpPr>
            <a:spLocks noChangeShapeType="1"/>
          </p:cNvSpPr>
          <p:nvPr/>
        </p:nvSpPr>
        <p:spPr bwMode="auto">
          <a:xfrm>
            <a:off x="3200400" y="4343400"/>
            <a:ext cx="10668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297" name="Line 6"/>
          <p:cNvSpPr>
            <a:spLocks noChangeShapeType="1"/>
          </p:cNvSpPr>
          <p:nvPr/>
        </p:nvSpPr>
        <p:spPr bwMode="auto">
          <a:xfrm>
            <a:off x="8458200" y="4343400"/>
            <a:ext cx="9906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298" name="Line 7"/>
          <p:cNvSpPr>
            <a:spLocks noChangeShapeType="1"/>
          </p:cNvSpPr>
          <p:nvPr/>
        </p:nvSpPr>
        <p:spPr bwMode="auto">
          <a:xfrm flipH="1">
            <a:off x="7391400" y="43434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299" name="Line 8"/>
          <p:cNvSpPr>
            <a:spLocks noChangeShapeType="1"/>
          </p:cNvSpPr>
          <p:nvPr/>
        </p:nvSpPr>
        <p:spPr bwMode="auto">
          <a:xfrm>
            <a:off x="5943600" y="2286000"/>
            <a:ext cx="0" cy="16002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2300" name="Text Box 10"/>
          <p:cNvSpPr txBox="1">
            <a:spLocks noChangeArrowheads="1"/>
          </p:cNvSpPr>
          <p:nvPr/>
        </p:nvSpPr>
        <p:spPr bwMode="auto">
          <a:xfrm>
            <a:off x="5334000" y="1752601"/>
            <a:ext cx="121860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2301" name="Text Box 11"/>
          <p:cNvSpPr txBox="1">
            <a:spLocks noChangeArrowheads="1"/>
          </p:cNvSpPr>
          <p:nvPr/>
        </p:nvSpPr>
        <p:spPr bwMode="auto">
          <a:xfrm>
            <a:off x="3886200" y="2743201"/>
            <a:ext cx="945195" cy="461665"/>
          </a:xfrm>
          <a:prstGeom prst="rect">
            <a:avLst/>
          </a:prstGeom>
          <a:solidFill>
            <a:srgbClr val="99CC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Sunny</a:t>
            </a:r>
          </a:p>
        </p:txBody>
      </p:sp>
      <p:sp>
        <p:nvSpPr>
          <p:cNvPr id="12302" name="Text Box 12"/>
          <p:cNvSpPr txBox="1">
            <a:spLocks noChangeArrowheads="1"/>
          </p:cNvSpPr>
          <p:nvPr/>
        </p:nvSpPr>
        <p:spPr bwMode="auto">
          <a:xfrm>
            <a:off x="5257801" y="2743201"/>
            <a:ext cx="1275606" cy="461665"/>
          </a:xfrm>
          <a:prstGeom prst="rect">
            <a:avLst/>
          </a:prstGeom>
          <a:solidFill>
            <a:srgbClr val="99CC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2303" name="Text Box 13"/>
          <p:cNvSpPr txBox="1">
            <a:spLocks noChangeArrowheads="1"/>
          </p:cNvSpPr>
          <p:nvPr/>
        </p:nvSpPr>
        <p:spPr bwMode="auto">
          <a:xfrm>
            <a:off x="7010401" y="2743201"/>
            <a:ext cx="731290" cy="461665"/>
          </a:xfrm>
          <a:prstGeom prst="rect">
            <a:avLst/>
          </a:prstGeom>
          <a:solidFill>
            <a:srgbClr val="99CC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12304" name="Text Box 14"/>
          <p:cNvSpPr txBox="1">
            <a:spLocks noChangeArrowheads="1"/>
          </p:cNvSpPr>
          <p:nvPr/>
        </p:nvSpPr>
        <p:spPr bwMode="auto">
          <a:xfrm>
            <a:off x="2362200" y="3886201"/>
            <a:ext cx="1362874"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Humidity</a:t>
            </a:r>
          </a:p>
        </p:txBody>
      </p:sp>
      <p:sp>
        <p:nvSpPr>
          <p:cNvPr id="12305" name="Text Box 15"/>
          <p:cNvSpPr txBox="1">
            <a:spLocks noChangeArrowheads="1"/>
          </p:cNvSpPr>
          <p:nvPr/>
        </p:nvSpPr>
        <p:spPr bwMode="auto">
          <a:xfrm>
            <a:off x="1828801" y="4953001"/>
            <a:ext cx="753732" cy="461665"/>
          </a:xfrm>
          <a:prstGeom prst="rect">
            <a:avLst/>
          </a:prstGeom>
          <a:solidFill>
            <a:srgbClr val="CCFF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High</a:t>
            </a:r>
          </a:p>
        </p:txBody>
      </p:sp>
      <p:sp>
        <p:nvSpPr>
          <p:cNvPr id="12306" name="Text Box 16"/>
          <p:cNvSpPr txBox="1">
            <a:spLocks noChangeArrowheads="1"/>
          </p:cNvSpPr>
          <p:nvPr/>
        </p:nvSpPr>
        <p:spPr bwMode="auto">
          <a:xfrm>
            <a:off x="3352801" y="4953001"/>
            <a:ext cx="1157689" cy="461665"/>
          </a:xfrm>
          <a:prstGeom prst="rect">
            <a:avLst/>
          </a:prstGeom>
          <a:solidFill>
            <a:srgbClr val="CCFF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Normal</a:t>
            </a:r>
          </a:p>
        </p:txBody>
      </p:sp>
      <p:sp>
        <p:nvSpPr>
          <p:cNvPr id="12307" name="Text Box 17"/>
          <p:cNvSpPr txBox="1">
            <a:spLocks noChangeArrowheads="1"/>
          </p:cNvSpPr>
          <p:nvPr/>
        </p:nvSpPr>
        <p:spPr bwMode="auto">
          <a:xfrm>
            <a:off x="7848601" y="38862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2308" name="Text Box 18"/>
          <p:cNvSpPr txBox="1">
            <a:spLocks noChangeArrowheads="1"/>
          </p:cNvSpPr>
          <p:nvPr/>
        </p:nvSpPr>
        <p:spPr bwMode="auto">
          <a:xfrm>
            <a:off x="7162800" y="4953001"/>
            <a:ext cx="998863" cy="461665"/>
          </a:xfrm>
          <a:prstGeom prst="rect">
            <a:avLst/>
          </a:prstGeom>
          <a:solidFill>
            <a:srgbClr val="CCCC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2309" name="Text Box 19"/>
          <p:cNvSpPr txBox="1">
            <a:spLocks noChangeArrowheads="1"/>
          </p:cNvSpPr>
          <p:nvPr/>
        </p:nvSpPr>
        <p:spPr bwMode="auto">
          <a:xfrm>
            <a:off x="8686801" y="4953001"/>
            <a:ext cx="888320" cy="461665"/>
          </a:xfrm>
          <a:prstGeom prst="rect">
            <a:avLst/>
          </a:prstGeom>
          <a:solidFill>
            <a:srgbClr val="CCCC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2310" name="Text Box 20"/>
          <p:cNvSpPr txBox="1">
            <a:spLocks noChangeArrowheads="1"/>
          </p:cNvSpPr>
          <p:nvPr/>
        </p:nvSpPr>
        <p:spPr bwMode="auto">
          <a:xfrm>
            <a:off x="1676401" y="57912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2311" name="Text Box 21"/>
          <p:cNvSpPr txBox="1">
            <a:spLocks noChangeArrowheads="1"/>
          </p:cNvSpPr>
          <p:nvPr/>
        </p:nvSpPr>
        <p:spPr bwMode="auto">
          <a:xfrm>
            <a:off x="3962400" y="57912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2312" name="Text Box 22"/>
          <p:cNvSpPr txBox="1">
            <a:spLocks noChangeArrowheads="1"/>
          </p:cNvSpPr>
          <p:nvPr/>
        </p:nvSpPr>
        <p:spPr bwMode="auto">
          <a:xfrm>
            <a:off x="5638800" y="38862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2313" name="Text Box 23"/>
          <p:cNvSpPr txBox="1">
            <a:spLocks noChangeArrowheads="1"/>
          </p:cNvSpPr>
          <p:nvPr/>
        </p:nvSpPr>
        <p:spPr bwMode="auto">
          <a:xfrm>
            <a:off x="9220200" y="57912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2314" name="Text Box 24"/>
          <p:cNvSpPr txBox="1">
            <a:spLocks noChangeArrowheads="1"/>
          </p:cNvSpPr>
          <p:nvPr/>
        </p:nvSpPr>
        <p:spPr bwMode="auto">
          <a:xfrm>
            <a:off x="7086601" y="57912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title"/>
          </p:nvPr>
        </p:nvSpPr>
        <p:spPr/>
        <p:txBody>
          <a:bodyPr/>
          <a:lstStyle/>
          <a:p>
            <a:pPr eaLnBrk="1" hangingPunct="1"/>
            <a:r>
              <a:rPr lang="en-US" altLang="en-US" dirty="0" smtClean="0"/>
              <a:t>Decision Tree for </a:t>
            </a:r>
            <a:r>
              <a:rPr lang="en-US" altLang="en-US" dirty="0" err="1" smtClean="0"/>
              <a:t>PlayTennis</a:t>
            </a:r>
            <a:endParaRPr lang="en-US" altLang="en-US" dirty="0" smtClean="0"/>
          </a:p>
        </p:txBody>
      </p:sp>
      <p:sp>
        <p:nvSpPr>
          <p:cNvPr id="26" name="Footer Placeholder 3"/>
          <p:cNvSpPr>
            <a:spLocks noGrp="1"/>
          </p:cNvSpPr>
          <p:nvPr>
            <p:ph type="ftr" sz="quarter" idx="11"/>
          </p:nvPr>
        </p:nvSpPr>
        <p:spPr/>
        <p:txBody>
          <a:bodyPr/>
          <a:lstStyle/>
          <a:p>
            <a:pPr>
              <a:defRPr/>
            </a:pPr>
            <a:r>
              <a:rPr lang="en-US">
                <a:latin typeface="+mn-lt"/>
              </a:rPr>
              <a:t>Decision Tree Learning</a:t>
            </a:r>
          </a:p>
        </p:txBody>
      </p:sp>
      <p:sp>
        <p:nvSpPr>
          <p:cNvPr id="27"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F6ADBBD-46A4-47B2-8EB0-4A3A08AEB430}" type="slidenum">
              <a:rPr lang="en-US" altLang="en-US" sz="1200">
                <a:solidFill>
                  <a:srgbClr val="898989"/>
                </a:solidFill>
                <a:latin typeface="+mn-lt"/>
              </a:rPr>
              <a:pPr eaLnBrk="1" hangingPunct="1"/>
              <a:t>18</a:t>
            </a:fld>
            <a:endParaRPr lang="en-US" altLang="en-US" sz="1200">
              <a:solidFill>
                <a:srgbClr val="898989"/>
              </a:solidFill>
              <a:latin typeface="+mn-lt"/>
            </a:endParaRPr>
          </a:p>
        </p:txBody>
      </p:sp>
      <p:sp>
        <p:nvSpPr>
          <p:cNvPr id="13317" name="Line 2"/>
          <p:cNvSpPr>
            <a:spLocks noChangeShapeType="1"/>
          </p:cNvSpPr>
          <p:nvPr/>
        </p:nvSpPr>
        <p:spPr bwMode="auto">
          <a:xfrm flipH="1">
            <a:off x="3124200" y="2209800"/>
            <a:ext cx="25908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3318" name="Line 3"/>
          <p:cNvSpPr>
            <a:spLocks noChangeShapeType="1"/>
          </p:cNvSpPr>
          <p:nvPr/>
        </p:nvSpPr>
        <p:spPr bwMode="auto">
          <a:xfrm>
            <a:off x="6400800" y="2209800"/>
            <a:ext cx="1905000" cy="1676400"/>
          </a:xfrm>
          <a:prstGeom prst="line">
            <a:avLst/>
          </a:prstGeom>
          <a:noFill/>
          <a:ln w="3810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3319" name="Line 4"/>
          <p:cNvSpPr>
            <a:spLocks noChangeShapeType="1"/>
          </p:cNvSpPr>
          <p:nvPr/>
        </p:nvSpPr>
        <p:spPr bwMode="auto">
          <a:xfrm flipH="1">
            <a:off x="1981200" y="43434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3320" name="Line 5"/>
          <p:cNvSpPr>
            <a:spLocks noChangeShapeType="1"/>
          </p:cNvSpPr>
          <p:nvPr/>
        </p:nvSpPr>
        <p:spPr bwMode="auto">
          <a:xfrm>
            <a:off x="3200400" y="4343400"/>
            <a:ext cx="10668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3321" name="Line 6"/>
          <p:cNvSpPr>
            <a:spLocks noChangeShapeType="1"/>
          </p:cNvSpPr>
          <p:nvPr/>
        </p:nvSpPr>
        <p:spPr bwMode="auto">
          <a:xfrm>
            <a:off x="5943600" y="2286000"/>
            <a:ext cx="0" cy="1600200"/>
          </a:xfrm>
          <a:prstGeom prst="line">
            <a:avLst/>
          </a:prstGeom>
          <a:noFill/>
          <a:ln w="3810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3322" name="Text Box 8"/>
          <p:cNvSpPr txBox="1">
            <a:spLocks noChangeArrowheads="1"/>
          </p:cNvSpPr>
          <p:nvPr/>
        </p:nvSpPr>
        <p:spPr bwMode="auto">
          <a:xfrm>
            <a:off x="5334000" y="1752601"/>
            <a:ext cx="121860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3323" name="Text Box 9"/>
          <p:cNvSpPr txBox="1">
            <a:spLocks noChangeArrowheads="1"/>
          </p:cNvSpPr>
          <p:nvPr/>
        </p:nvSpPr>
        <p:spPr bwMode="auto">
          <a:xfrm>
            <a:off x="3886200" y="2743201"/>
            <a:ext cx="945195" cy="461665"/>
          </a:xfrm>
          <a:prstGeom prst="rect">
            <a:avLst/>
          </a:prstGeom>
          <a:solidFill>
            <a:srgbClr val="99CC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13324" name="Text Box 10"/>
          <p:cNvSpPr txBox="1">
            <a:spLocks noChangeArrowheads="1"/>
          </p:cNvSpPr>
          <p:nvPr/>
        </p:nvSpPr>
        <p:spPr bwMode="auto">
          <a:xfrm>
            <a:off x="5257801" y="2743201"/>
            <a:ext cx="1275606" cy="461665"/>
          </a:xfrm>
          <a:prstGeom prst="rect">
            <a:avLst/>
          </a:prstGeom>
          <a:solidFill>
            <a:srgbClr val="99CCFF"/>
          </a:solidFill>
          <a:ln w="38100">
            <a:solidFill>
              <a:schemeClr val="tx2"/>
            </a:solidFill>
            <a:prstDash val="dash"/>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3325" name="Text Box 11"/>
          <p:cNvSpPr txBox="1">
            <a:spLocks noChangeArrowheads="1"/>
          </p:cNvSpPr>
          <p:nvPr/>
        </p:nvSpPr>
        <p:spPr bwMode="auto">
          <a:xfrm>
            <a:off x="7010401" y="2743201"/>
            <a:ext cx="731290" cy="461665"/>
          </a:xfrm>
          <a:prstGeom prst="rect">
            <a:avLst/>
          </a:prstGeom>
          <a:solidFill>
            <a:srgbClr val="99CCFF"/>
          </a:solidFill>
          <a:ln w="38100">
            <a:solidFill>
              <a:schemeClr val="tx2"/>
            </a:solidFill>
            <a:prstDash val="dash"/>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13326" name="Text Box 12"/>
          <p:cNvSpPr txBox="1">
            <a:spLocks noChangeArrowheads="1"/>
          </p:cNvSpPr>
          <p:nvPr/>
        </p:nvSpPr>
        <p:spPr bwMode="auto">
          <a:xfrm>
            <a:off x="2362200" y="3886201"/>
            <a:ext cx="1362874"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Humidity</a:t>
            </a:r>
          </a:p>
        </p:txBody>
      </p:sp>
      <p:sp>
        <p:nvSpPr>
          <p:cNvPr id="13327" name="Text Box 13"/>
          <p:cNvSpPr txBox="1">
            <a:spLocks noChangeArrowheads="1"/>
          </p:cNvSpPr>
          <p:nvPr/>
        </p:nvSpPr>
        <p:spPr bwMode="auto">
          <a:xfrm>
            <a:off x="1828801" y="4953001"/>
            <a:ext cx="753732" cy="461665"/>
          </a:xfrm>
          <a:prstGeom prst="rect">
            <a:avLst/>
          </a:prstGeom>
          <a:solidFill>
            <a:srgbClr val="CCFF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High</a:t>
            </a:r>
          </a:p>
        </p:txBody>
      </p:sp>
      <p:sp>
        <p:nvSpPr>
          <p:cNvPr id="13328" name="Text Box 14"/>
          <p:cNvSpPr txBox="1">
            <a:spLocks noChangeArrowheads="1"/>
          </p:cNvSpPr>
          <p:nvPr/>
        </p:nvSpPr>
        <p:spPr bwMode="auto">
          <a:xfrm>
            <a:off x="3352801" y="4953001"/>
            <a:ext cx="1157689" cy="461665"/>
          </a:xfrm>
          <a:prstGeom prst="rect">
            <a:avLst/>
          </a:prstGeom>
          <a:solidFill>
            <a:srgbClr val="CCFFFF"/>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Normal</a:t>
            </a:r>
          </a:p>
        </p:txBody>
      </p:sp>
      <p:sp>
        <p:nvSpPr>
          <p:cNvPr id="13329" name="Text Box 15"/>
          <p:cNvSpPr txBox="1">
            <a:spLocks noChangeArrowheads="1"/>
          </p:cNvSpPr>
          <p:nvPr/>
        </p:nvSpPr>
        <p:spPr bwMode="auto">
          <a:xfrm>
            <a:off x="1676401" y="57912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3330" name="Text Box 16"/>
          <p:cNvSpPr txBox="1">
            <a:spLocks noChangeArrowheads="1"/>
          </p:cNvSpPr>
          <p:nvPr/>
        </p:nvSpPr>
        <p:spPr bwMode="auto">
          <a:xfrm>
            <a:off x="3962400" y="57912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grpSp>
        <p:nvGrpSpPr>
          <p:cNvPr id="2" name="Group 17"/>
          <p:cNvGrpSpPr>
            <a:grpSpLocks/>
          </p:cNvGrpSpPr>
          <p:nvPr/>
        </p:nvGrpSpPr>
        <p:grpSpPr bwMode="auto">
          <a:xfrm>
            <a:off x="3810000" y="3886204"/>
            <a:ext cx="5716588" cy="461963"/>
            <a:chOff x="1440" y="2448"/>
            <a:chExt cx="3601" cy="291"/>
          </a:xfrm>
        </p:grpSpPr>
        <p:sp>
          <p:nvSpPr>
            <p:cNvPr id="13338" name="Text Box 18"/>
            <p:cNvSpPr txBox="1">
              <a:spLocks noChangeArrowheads="1"/>
            </p:cNvSpPr>
            <p:nvPr/>
          </p:nvSpPr>
          <p:spPr bwMode="auto">
            <a:xfrm>
              <a:off x="2064" y="2448"/>
              <a:ext cx="29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Each internal node tests an attribute</a:t>
              </a:r>
            </a:p>
          </p:txBody>
        </p:sp>
        <p:sp>
          <p:nvSpPr>
            <p:cNvPr id="13339" name="Line 19"/>
            <p:cNvSpPr>
              <a:spLocks noChangeShapeType="1"/>
            </p:cNvSpPr>
            <p:nvPr/>
          </p:nvSpPr>
          <p:spPr bwMode="auto">
            <a:xfrm flipH="1" flipV="1">
              <a:off x="1440" y="2592"/>
              <a:ext cx="624" cy="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latin typeface="+mn-lt"/>
              </a:endParaRPr>
            </a:p>
          </p:txBody>
        </p:sp>
      </p:grpSp>
      <p:grpSp>
        <p:nvGrpSpPr>
          <p:cNvPr id="3" name="Group 20"/>
          <p:cNvGrpSpPr>
            <a:grpSpLocks/>
          </p:cNvGrpSpPr>
          <p:nvPr/>
        </p:nvGrpSpPr>
        <p:grpSpPr bwMode="auto">
          <a:xfrm>
            <a:off x="4589464" y="4953004"/>
            <a:ext cx="5013325" cy="830263"/>
            <a:chOff x="1931" y="3120"/>
            <a:chExt cx="3158" cy="523"/>
          </a:xfrm>
        </p:grpSpPr>
        <p:sp>
          <p:nvSpPr>
            <p:cNvPr id="13336" name="Text Box 21"/>
            <p:cNvSpPr txBox="1">
              <a:spLocks noChangeArrowheads="1"/>
            </p:cNvSpPr>
            <p:nvPr/>
          </p:nvSpPr>
          <p:spPr bwMode="auto">
            <a:xfrm>
              <a:off x="2555" y="3120"/>
              <a:ext cx="253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Each branch corresponds to an</a:t>
              </a:r>
            </a:p>
            <a:p>
              <a:pPr eaLnBrk="1" hangingPunct="1"/>
              <a:r>
                <a:rPr lang="en-US" altLang="en-US">
                  <a:latin typeface="+mn-lt"/>
                </a:rPr>
                <a:t>attribute value node</a:t>
              </a:r>
            </a:p>
          </p:txBody>
        </p:sp>
        <p:sp>
          <p:nvSpPr>
            <p:cNvPr id="13337" name="Line 22"/>
            <p:cNvSpPr>
              <a:spLocks noChangeShapeType="1"/>
            </p:cNvSpPr>
            <p:nvPr/>
          </p:nvSpPr>
          <p:spPr bwMode="auto">
            <a:xfrm flipH="1" flipV="1">
              <a:off x="1931" y="3264"/>
              <a:ext cx="624" cy="0"/>
            </a:xfrm>
            <a:prstGeom prst="line">
              <a:avLst/>
            </a:prstGeom>
            <a:noFill/>
            <a:ln w="3810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latin typeface="+mn-lt"/>
              </a:endParaRPr>
            </a:p>
          </p:txBody>
        </p:sp>
      </p:grpSp>
      <p:grpSp>
        <p:nvGrpSpPr>
          <p:cNvPr id="4" name="Group 23"/>
          <p:cNvGrpSpPr>
            <a:grpSpLocks/>
          </p:cNvGrpSpPr>
          <p:nvPr/>
        </p:nvGrpSpPr>
        <p:grpSpPr bwMode="auto">
          <a:xfrm>
            <a:off x="4724400" y="5791206"/>
            <a:ext cx="5505450" cy="461963"/>
            <a:chOff x="2016" y="3648"/>
            <a:chExt cx="3468" cy="291"/>
          </a:xfrm>
        </p:grpSpPr>
        <p:sp>
          <p:nvSpPr>
            <p:cNvPr id="13334" name="Text Box 24"/>
            <p:cNvSpPr txBox="1">
              <a:spLocks noChangeArrowheads="1"/>
            </p:cNvSpPr>
            <p:nvPr/>
          </p:nvSpPr>
          <p:spPr bwMode="auto">
            <a:xfrm>
              <a:off x="2433" y="3648"/>
              <a:ext cx="30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Each leaf node assigns a classification</a:t>
              </a:r>
            </a:p>
          </p:txBody>
        </p:sp>
        <p:sp>
          <p:nvSpPr>
            <p:cNvPr id="13335" name="Line 25"/>
            <p:cNvSpPr>
              <a:spLocks noChangeShapeType="1"/>
            </p:cNvSpPr>
            <p:nvPr/>
          </p:nvSpPr>
          <p:spPr bwMode="auto">
            <a:xfrm flipH="1" flipV="1">
              <a:off x="2016" y="3792"/>
              <a:ext cx="384" cy="0"/>
            </a:xfrm>
            <a:prstGeom prst="line">
              <a:avLst/>
            </a:prstGeom>
            <a:noFill/>
            <a:ln w="38100">
              <a:solidFill>
                <a:schemeClr val="accent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latin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7"/>
          <p:cNvSpPr>
            <a:spLocks noGrp="1" noChangeArrowheads="1"/>
          </p:cNvSpPr>
          <p:nvPr>
            <p:ph type="title"/>
          </p:nvPr>
        </p:nvSpPr>
        <p:spPr/>
        <p:txBody>
          <a:bodyPr/>
          <a:lstStyle/>
          <a:p>
            <a:pPr eaLnBrk="1" hangingPunct="1"/>
            <a:r>
              <a:rPr lang="en-US" altLang="en-US" smtClean="0"/>
              <a:t>Decision Tree for PlayTennis</a:t>
            </a:r>
          </a:p>
        </p:txBody>
      </p:sp>
      <p:sp>
        <p:nvSpPr>
          <p:cNvPr id="42" name="Footer Placeholder 3"/>
          <p:cNvSpPr>
            <a:spLocks noGrp="1"/>
          </p:cNvSpPr>
          <p:nvPr>
            <p:ph type="ftr" sz="quarter" idx="11"/>
          </p:nvPr>
        </p:nvSpPr>
        <p:spPr/>
        <p:txBody>
          <a:bodyPr/>
          <a:lstStyle/>
          <a:p>
            <a:pPr>
              <a:defRPr/>
            </a:pPr>
            <a:r>
              <a:rPr lang="en-US">
                <a:latin typeface="+mn-lt"/>
              </a:rPr>
              <a:t>Decision Tree Learning</a:t>
            </a:r>
          </a:p>
        </p:txBody>
      </p:sp>
      <p:sp>
        <p:nvSpPr>
          <p:cNvPr id="43"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354B67B-6691-4910-8B75-07734D399EF5}" type="slidenum">
              <a:rPr lang="en-US" altLang="en-US" sz="1200">
                <a:solidFill>
                  <a:srgbClr val="898989"/>
                </a:solidFill>
                <a:latin typeface="+mn-lt"/>
              </a:rPr>
              <a:pPr eaLnBrk="1" hangingPunct="1"/>
              <a:t>19</a:t>
            </a:fld>
            <a:endParaRPr lang="en-US" altLang="en-US" sz="1200">
              <a:solidFill>
                <a:srgbClr val="898989"/>
              </a:solidFill>
              <a:latin typeface="+mn-lt"/>
            </a:endParaRPr>
          </a:p>
        </p:txBody>
      </p:sp>
      <p:grpSp>
        <p:nvGrpSpPr>
          <p:cNvPr id="2" name="Group 2"/>
          <p:cNvGrpSpPr>
            <a:grpSpLocks/>
          </p:cNvGrpSpPr>
          <p:nvPr/>
        </p:nvGrpSpPr>
        <p:grpSpPr bwMode="auto">
          <a:xfrm>
            <a:off x="1752600" y="1905000"/>
            <a:ext cx="7772400" cy="4953000"/>
            <a:chOff x="144" y="1200"/>
            <a:chExt cx="4896" cy="3120"/>
          </a:xfrm>
        </p:grpSpPr>
        <p:sp>
          <p:nvSpPr>
            <p:cNvPr id="14378" name="Rectangle 3"/>
            <p:cNvSpPr>
              <a:spLocks noChangeArrowheads="1"/>
            </p:cNvSpPr>
            <p:nvPr/>
          </p:nvSpPr>
          <p:spPr bwMode="auto">
            <a:xfrm>
              <a:off x="144" y="3888"/>
              <a:ext cx="576" cy="432"/>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sp>
          <p:nvSpPr>
            <p:cNvPr id="14379" name="Rectangle 4"/>
            <p:cNvSpPr>
              <a:spLocks noChangeArrowheads="1"/>
            </p:cNvSpPr>
            <p:nvPr/>
          </p:nvSpPr>
          <p:spPr bwMode="auto">
            <a:xfrm>
              <a:off x="4272" y="1200"/>
              <a:ext cx="768" cy="288"/>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mn-lt"/>
                </a:rPr>
                <a:t>No</a:t>
              </a:r>
            </a:p>
          </p:txBody>
        </p:sp>
      </p:grpSp>
      <p:grpSp>
        <p:nvGrpSpPr>
          <p:cNvPr id="3" name="Group 5"/>
          <p:cNvGrpSpPr>
            <a:grpSpLocks/>
          </p:cNvGrpSpPr>
          <p:nvPr/>
        </p:nvGrpSpPr>
        <p:grpSpPr bwMode="auto">
          <a:xfrm>
            <a:off x="2895600" y="1905000"/>
            <a:ext cx="2362200" cy="1981200"/>
            <a:chOff x="864" y="1200"/>
            <a:chExt cx="1488" cy="1248"/>
          </a:xfrm>
        </p:grpSpPr>
        <p:sp>
          <p:nvSpPr>
            <p:cNvPr id="14376" name="Rectangle 6"/>
            <p:cNvSpPr>
              <a:spLocks noChangeArrowheads="1"/>
            </p:cNvSpPr>
            <p:nvPr/>
          </p:nvSpPr>
          <p:spPr bwMode="auto">
            <a:xfrm>
              <a:off x="1488" y="2016"/>
              <a:ext cx="864" cy="432"/>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sp>
          <p:nvSpPr>
            <p:cNvPr id="14377" name="Rectangle 7"/>
            <p:cNvSpPr>
              <a:spLocks noChangeArrowheads="1"/>
            </p:cNvSpPr>
            <p:nvPr/>
          </p:nvSpPr>
          <p:spPr bwMode="auto">
            <a:xfrm>
              <a:off x="864" y="1200"/>
              <a:ext cx="768" cy="288"/>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grpSp>
      <p:grpSp>
        <p:nvGrpSpPr>
          <p:cNvPr id="4" name="Group 8"/>
          <p:cNvGrpSpPr>
            <a:grpSpLocks/>
          </p:cNvGrpSpPr>
          <p:nvPr/>
        </p:nvGrpSpPr>
        <p:grpSpPr bwMode="auto">
          <a:xfrm>
            <a:off x="2895600" y="1447800"/>
            <a:ext cx="3962400" cy="1524000"/>
            <a:chOff x="864" y="912"/>
            <a:chExt cx="2496" cy="960"/>
          </a:xfrm>
        </p:grpSpPr>
        <p:sp>
          <p:nvSpPr>
            <p:cNvPr id="14374" name="Rectangle 9"/>
            <p:cNvSpPr>
              <a:spLocks noChangeArrowheads="1"/>
            </p:cNvSpPr>
            <p:nvPr/>
          </p:nvSpPr>
          <p:spPr bwMode="auto">
            <a:xfrm>
              <a:off x="2352" y="1440"/>
              <a:ext cx="1008" cy="432"/>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sp>
          <p:nvSpPr>
            <p:cNvPr id="14375" name="Rectangle 10"/>
            <p:cNvSpPr>
              <a:spLocks noChangeArrowheads="1"/>
            </p:cNvSpPr>
            <p:nvPr/>
          </p:nvSpPr>
          <p:spPr bwMode="auto">
            <a:xfrm>
              <a:off x="864" y="912"/>
              <a:ext cx="768" cy="288"/>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grpSp>
      <p:grpSp>
        <p:nvGrpSpPr>
          <p:cNvPr id="5" name="Group 11"/>
          <p:cNvGrpSpPr>
            <a:grpSpLocks/>
          </p:cNvGrpSpPr>
          <p:nvPr/>
        </p:nvGrpSpPr>
        <p:grpSpPr bwMode="auto">
          <a:xfrm>
            <a:off x="1905000" y="1905000"/>
            <a:ext cx="4943799" cy="4114800"/>
            <a:chOff x="240" y="1200"/>
            <a:chExt cx="3312" cy="2592"/>
          </a:xfrm>
        </p:grpSpPr>
        <p:sp>
          <p:nvSpPr>
            <p:cNvPr id="14372" name="Rectangle 12"/>
            <p:cNvSpPr>
              <a:spLocks noChangeArrowheads="1"/>
            </p:cNvSpPr>
            <p:nvPr/>
          </p:nvSpPr>
          <p:spPr bwMode="auto">
            <a:xfrm>
              <a:off x="240" y="3360"/>
              <a:ext cx="720" cy="432"/>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sp>
          <p:nvSpPr>
            <p:cNvPr id="14373" name="Rectangle 13"/>
            <p:cNvSpPr>
              <a:spLocks noChangeArrowheads="1"/>
            </p:cNvSpPr>
            <p:nvPr/>
          </p:nvSpPr>
          <p:spPr bwMode="auto">
            <a:xfrm>
              <a:off x="2784" y="1200"/>
              <a:ext cx="768" cy="288"/>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grpSp>
      <p:grpSp>
        <p:nvGrpSpPr>
          <p:cNvPr id="6" name="Group 14"/>
          <p:cNvGrpSpPr>
            <a:grpSpLocks/>
          </p:cNvGrpSpPr>
          <p:nvPr/>
        </p:nvGrpSpPr>
        <p:grpSpPr bwMode="auto">
          <a:xfrm>
            <a:off x="2438400" y="1447800"/>
            <a:ext cx="4410399" cy="3505200"/>
            <a:chOff x="576" y="912"/>
            <a:chExt cx="2976" cy="2208"/>
          </a:xfrm>
        </p:grpSpPr>
        <p:sp>
          <p:nvSpPr>
            <p:cNvPr id="14370" name="Rectangle 15"/>
            <p:cNvSpPr>
              <a:spLocks noChangeArrowheads="1"/>
            </p:cNvSpPr>
            <p:nvPr/>
          </p:nvSpPr>
          <p:spPr bwMode="auto">
            <a:xfrm>
              <a:off x="576" y="2688"/>
              <a:ext cx="1056" cy="432"/>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sp>
          <p:nvSpPr>
            <p:cNvPr id="14371" name="Rectangle 16"/>
            <p:cNvSpPr>
              <a:spLocks noChangeArrowheads="1"/>
            </p:cNvSpPr>
            <p:nvPr/>
          </p:nvSpPr>
          <p:spPr bwMode="auto">
            <a:xfrm>
              <a:off x="2784" y="912"/>
              <a:ext cx="768" cy="288"/>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mn-lt"/>
              </a:endParaRPr>
            </a:p>
          </p:txBody>
        </p:sp>
      </p:grpSp>
      <p:grpSp>
        <p:nvGrpSpPr>
          <p:cNvPr id="14346" name="Group 18"/>
          <p:cNvGrpSpPr>
            <a:grpSpLocks/>
          </p:cNvGrpSpPr>
          <p:nvPr/>
        </p:nvGrpSpPr>
        <p:grpSpPr bwMode="auto">
          <a:xfrm>
            <a:off x="1866901" y="2362201"/>
            <a:ext cx="7851191" cy="4330585"/>
            <a:chOff x="96" y="1344"/>
            <a:chExt cx="5136" cy="2848"/>
          </a:xfrm>
        </p:grpSpPr>
        <p:sp>
          <p:nvSpPr>
            <p:cNvPr id="14348" name="Line 19"/>
            <p:cNvSpPr>
              <a:spLocks noChangeShapeType="1"/>
            </p:cNvSpPr>
            <p:nvPr/>
          </p:nvSpPr>
          <p:spPr bwMode="auto">
            <a:xfrm flipH="1">
              <a:off x="1008" y="1632"/>
              <a:ext cx="1632" cy="10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49" name="Line 20"/>
            <p:cNvSpPr>
              <a:spLocks noChangeShapeType="1"/>
            </p:cNvSpPr>
            <p:nvPr/>
          </p:nvSpPr>
          <p:spPr bwMode="auto">
            <a:xfrm>
              <a:off x="3072" y="1632"/>
              <a:ext cx="1200" cy="10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50" name="Line 21"/>
            <p:cNvSpPr>
              <a:spLocks noChangeShapeType="1"/>
            </p:cNvSpPr>
            <p:nvPr/>
          </p:nvSpPr>
          <p:spPr bwMode="auto">
            <a:xfrm flipH="1">
              <a:off x="288" y="2976"/>
              <a:ext cx="576"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51" name="Line 22"/>
            <p:cNvSpPr>
              <a:spLocks noChangeShapeType="1"/>
            </p:cNvSpPr>
            <p:nvPr/>
          </p:nvSpPr>
          <p:spPr bwMode="auto">
            <a:xfrm>
              <a:off x="1056" y="2976"/>
              <a:ext cx="672"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52" name="Line 23"/>
            <p:cNvSpPr>
              <a:spLocks noChangeShapeType="1"/>
            </p:cNvSpPr>
            <p:nvPr/>
          </p:nvSpPr>
          <p:spPr bwMode="auto">
            <a:xfrm>
              <a:off x="4368" y="2976"/>
              <a:ext cx="624"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53" name="Line 24"/>
            <p:cNvSpPr>
              <a:spLocks noChangeShapeType="1"/>
            </p:cNvSpPr>
            <p:nvPr/>
          </p:nvSpPr>
          <p:spPr bwMode="auto">
            <a:xfrm flipH="1">
              <a:off x="3696" y="2976"/>
              <a:ext cx="576"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54" name="Line 25"/>
            <p:cNvSpPr>
              <a:spLocks noChangeShapeType="1"/>
            </p:cNvSpPr>
            <p:nvPr/>
          </p:nvSpPr>
          <p:spPr bwMode="auto">
            <a:xfrm>
              <a:off x="2784" y="1680"/>
              <a:ext cx="0" cy="100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4355" name="Text Box 26"/>
            <p:cNvSpPr txBox="1">
              <a:spLocks noChangeArrowheads="1"/>
            </p:cNvSpPr>
            <p:nvPr/>
          </p:nvSpPr>
          <p:spPr bwMode="auto">
            <a:xfrm>
              <a:off x="2400" y="1344"/>
              <a:ext cx="797" cy="304"/>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4356" name="Text Box 27"/>
            <p:cNvSpPr txBox="1">
              <a:spLocks noChangeArrowheads="1"/>
            </p:cNvSpPr>
            <p:nvPr/>
          </p:nvSpPr>
          <p:spPr bwMode="auto">
            <a:xfrm>
              <a:off x="1488" y="1968"/>
              <a:ext cx="618"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14357" name="Text Box 28"/>
            <p:cNvSpPr txBox="1">
              <a:spLocks noChangeArrowheads="1"/>
            </p:cNvSpPr>
            <p:nvPr/>
          </p:nvSpPr>
          <p:spPr bwMode="auto">
            <a:xfrm>
              <a:off x="2352" y="1968"/>
              <a:ext cx="834"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4358" name="Text Box 29"/>
            <p:cNvSpPr txBox="1">
              <a:spLocks noChangeArrowheads="1"/>
            </p:cNvSpPr>
            <p:nvPr/>
          </p:nvSpPr>
          <p:spPr bwMode="auto">
            <a:xfrm>
              <a:off x="3456" y="1968"/>
              <a:ext cx="478"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14359" name="Text Box 30"/>
            <p:cNvSpPr txBox="1">
              <a:spLocks noChangeArrowheads="1"/>
            </p:cNvSpPr>
            <p:nvPr/>
          </p:nvSpPr>
          <p:spPr bwMode="auto">
            <a:xfrm>
              <a:off x="528" y="2688"/>
              <a:ext cx="892" cy="304"/>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Humidity</a:t>
              </a:r>
            </a:p>
          </p:txBody>
        </p:sp>
        <p:sp>
          <p:nvSpPr>
            <p:cNvPr id="14360" name="Text Box 31"/>
            <p:cNvSpPr txBox="1">
              <a:spLocks noChangeArrowheads="1"/>
            </p:cNvSpPr>
            <p:nvPr/>
          </p:nvSpPr>
          <p:spPr bwMode="auto">
            <a:xfrm>
              <a:off x="192" y="3360"/>
              <a:ext cx="493"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High</a:t>
              </a:r>
            </a:p>
          </p:txBody>
        </p:sp>
        <p:sp>
          <p:nvSpPr>
            <p:cNvPr id="14361" name="Text Box 32"/>
            <p:cNvSpPr txBox="1">
              <a:spLocks noChangeArrowheads="1"/>
            </p:cNvSpPr>
            <p:nvPr/>
          </p:nvSpPr>
          <p:spPr bwMode="auto">
            <a:xfrm>
              <a:off x="1152" y="3360"/>
              <a:ext cx="757"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Normal</a:t>
              </a:r>
            </a:p>
          </p:txBody>
        </p:sp>
        <p:sp>
          <p:nvSpPr>
            <p:cNvPr id="14362" name="Text Box 33"/>
            <p:cNvSpPr txBox="1">
              <a:spLocks noChangeArrowheads="1"/>
            </p:cNvSpPr>
            <p:nvPr/>
          </p:nvSpPr>
          <p:spPr bwMode="auto">
            <a:xfrm>
              <a:off x="3984" y="2688"/>
              <a:ext cx="569" cy="304"/>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4363" name="Text Box 34"/>
            <p:cNvSpPr txBox="1">
              <a:spLocks noChangeArrowheads="1"/>
            </p:cNvSpPr>
            <p:nvPr/>
          </p:nvSpPr>
          <p:spPr bwMode="auto">
            <a:xfrm>
              <a:off x="3552" y="3360"/>
              <a:ext cx="653"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4364" name="Text Box 35"/>
            <p:cNvSpPr txBox="1">
              <a:spLocks noChangeArrowheads="1"/>
            </p:cNvSpPr>
            <p:nvPr/>
          </p:nvSpPr>
          <p:spPr bwMode="auto">
            <a:xfrm>
              <a:off x="4512" y="3360"/>
              <a:ext cx="581" cy="30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4365" name="Text Box 36"/>
            <p:cNvSpPr txBox="1">
              <a:spLocks noChangeArrowheads="1"/>
            </p:cNvSpPr>
            <p:nvPr/>
          </p:nvSpPr>
          <p:spPr bwMode="auto">
            <a:xfrm>
              <a:off x="96" y="3888"/>
              <a:ext cx="364" cy="304"/>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4366" name="Text Box 37"/>
            <p:cNvSpPr txBox="1">
              <a:spLocks noChangeArrowheads="1"/>
            </p:cNvSpPr>
            <p:nvPr/>
          </p:nvSpPr>
          <p:spPr bwMode="auto">
            <a:xfrm>
              <a:off x="1536" y="3888"/>
              <a:ext cx="384" cy="304"/>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4367" name="Text Box 38"/>
            <p:cNvSpPr txBox="1">
              <a:spLocks noChangeArrowheads="1"/>
            </p:cNvSpPr>
            <p:nvPr/>
          </p:nvSpPr>
          <p:spPr bwMode="auto">
            <a:xfrm>
              <a:off x="2591" y="2688"/>
              <a:ext cx="384" cy="304"/>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4368" name="Text Box 39"/>
            <p:cNvSpPr txBox="1">
              <a:spLocks noChangeArrowheads="1"/>
            </p:cNvSpPr>
            <p:nvPr/>
          </p:nvSpPr>
          <p:spPr bwMode="auto">
            <a:xfrm>
              <a:off x="4848" y="3888"/>
              <a:ext cx="384" cy="304"/>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4369" name="Text Box 40"/>
            <p:cNvSpPr txBox="1">
              <a:spLocks noChangeArrowheads="1"/>
            </p:cNvSpPr>
            <p:nvPr/>
          </p:nvSpPr>
          <p:spPr bwMode="auto">
            <a:xfrm>
              <a:off x="3504" y="3888"/>
              <a:ext cx="364" cy="304"/>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grpSp>
      <p:sp>
        <p:nvSpPr>
          <p:cNvPr id="14347" name="Text Box 41"/>
          <p:cNvSpPr txBox="1">
            <a:spLocks noChangeArrowheads="1"/>
          </p:cNvSpPr>
          <p:nvPr/>
        </p:nvSpPr>
        <p:spPr bwMode="auto">
          <a:xfrm>
            <a:off x="2879726" y="1481139"/>
            <a:ext cx="7559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Outlook </a:t>
            </a:r>
            <a:r>
              <a:rPr lang="en-US" altLang="en-US" dirty="0" smtClean="0">
                <a:latin typeface="+mn-lt"/>
              </a:rPr>
              <a:t> Temperature </a:t>
            </a:r>
            <a:r>
              <a:rPr lang="en-US" altLang="en-US" dirty="0">
                <a:latin typeface="+mn-lt"/>
              </a:rPr>
              <a:t>Humidity Wind    </a:t>
            </a:r>
            <a:r>
              <a:rPr lang="en-US" altLang="en-US" dirty="0" err="1">
                <a:latin typeface="+mn-lt"/>
              </a:rPr>
              <a:t>PlayTennis</a:t>
            </a:r>
            <a:endParaRPr lang="en-US" altLang="en-US" dirty="0">
              <a:latin typeface="+mn-lt"/>
            </a:endParaRPr>
          </a:p>
          <a:p>
            <a:pPr eaLnBrk="1" hangingPunct="1"/>
            <a:r>
              <a:rPr lang="en-US" altLang="en-US" dirty="0">
                <a:latin typeface="+mn-lt"/>
              </a:rPr>
              <a:t> Sunny        Hot            </a:t>
            </a:r>
            <a:r>
              <a:rPr lang="en-US" altLang="en-US" dirty="0" smtClean="0">
                <a:latin typeface="+mn-lt"/>
              </a:rPr>
              <a:t>       High    </a:t>
            </a:r>
            <a:r>
              <a:rPr lang="en-US" altLang="en-US" dirty="0">
                <a:latin typeface="+mn-lt"/>
              </a:rPr>
              <a:t>Weak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title"/>
          </p:nvPr>
        </p:nvSpPr>
        <p:spPr/>
        <p:txBody>
          <a:bodyPr/>
          <a:lstStyle/>
          <a:p>
            <a:pPr eaLnBrk="1" hangingPunct="1"/>
            <a:r>
              <a:rPr lang="en-US" altLang="en-US" dirty="0" smtClean="0"/>
              <a:t>Decision Tree for Conjunction</a:t>
            </a:r>
          </a:p>
        </p:txBody>
      </p:sp>
      <p:sp>
        <p:nvSpPr>
          <p:cNvPr id="20" name="Footer Placeholder 3"/>
          <p:cNvSpPr>
            <a:spLocks noGrp="1"/>
          </p:cNvSpPr>
          <p:nvPr>
            <p:ph type="ftr" sz="quarter" idx="11"/>
          </p:nvPr>
        </p:nvSpPr>
        <p:spPr/>
        <p:txBody>
          <a:bodyPr/>
          <a:lstStyle/>
          <a:p>
            <a:pPr>
              <a:defRPr/>
            </a:pPr>
            <a:r>
              <a:rPr lang="en-US">
                <a:latin typeface="+mn-lt"/>
              </a:rPr>
              <a:t>Decision Tree Learning</a:t>
            </a:r>
          </a:p>
        </p:txBody>
      </p:sp>
      <p:sp>
        <p:nvSpPr>
          <p:cNvPr id="21"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64C22C3-8E01-4CBE-94B9-E4383A7081F0}" type="slidenum">
              <a:rPr lang="en-US" altLang="en-US" sz="1200">
                <a:solidFill>
                  <a:srgbClr val="898989"/>
                </a:solidFill>
                <a:latin typeface="+mn-lt"/>
              </a:rPr>
              <a:pPr eaLnBrk="1" hangingPunct="1"/>
              <a:t>20</a:t>
            </a:fld>
            <a:endParaRPr lang="en-US" altLang="en-US" sz="1200">
              <a:solidFill>
                <a:srgbClr val="898989"/>
              </a:solidFill>
              <a:latin typeface="+mn-lt"/>
            </a:endParaRPr>
          </a:p>
        </p:txBody>
      </p:sp>
      <p:sp>
        <p:nvSpPr>
          <p:cNvPr id="15365" name="Line 2"/>
          <p:cNvSpPr>
            <a:spLocks noChangeShapeType="1"/>
          </p:cNvSpPr>
          <p:nvPr/>
        </p:nvSpPr>
        <p:spPr bwMode="auto">
          <a:xfrm flipH="1">
            <a:off x="3657600" y="2514600"/>
            <a:ext cx="25908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5366" name="Line 3"/>
          <p:cNvSpPr>
            <a:spLocks noChangeShapeType="1"/>
          </p:cNvSpPr>
          <p:nvPr/>
        </p:nvSpPr>
        <p:spPr bwMode="auto">
          <a:xfrm>
            <a:off x="6934200" y="2514600"/>
            <a:ext cx="19050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5367" name="Line 4"/>
          <p:cNvSpPr>
            <a:spLocks noChangeShapeType="1"/>
          </p:cNvSpPr>
          <p:nvPr/>
        </p:nvSpPr>
        <p:spPr bwMode="auto">
          <a:xfrm flipH="1">
            <a:off x="2514600" y="46482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5368" name="Line 5"/>
          <p:cNvSpPr>
            <a:spLocks noChangeShapeType="1"/>
          </p:cNvSpPr>
          <p:nvPr/>
        </p:nvSpPr>
        <p:spPr bwMode="auto">
          <a:xfrm>
            <a:off x="3733800" y="4648200"/>
            <a:ext cx="10668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5369" name="Line 6"/>
          <p:cNvSpPr>
            <a:spLocks noChangeShapeType="1"/>
          </p:cNvSpPr>
          <p:nvPr/>
        </p:nvSpPr>
        <p:spPr bwMode="auto">
          <a:xfrm>
            <a:off x="6477000" y="2590800"/>
            <a:ext cx="0" cy="16002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5370" name="Text Box 8"/>
          <p:cNvSpPr txBox="1">
            <a:spLocks noChangeArrowheads="1"/>
          </p:cNvSpPr>
          <p:nvPr/>
        </p:nvSpPr>
        <p:spPr bwMode="auto">
          <a:xfrm>
            <a:off x="5867400" y="2057401"/>
            <a:ext cx="121860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5371" name="Text Box 9"/>
          <p:cNvSpPr txBox="1">
            <a:spLocks noChangeArrowheads="1"/>
          </p:cNvSpPr>
          <p:nvPr/>
        </p:nvSpPr>
        <p:spPr bwMode="auto">
          <a:xfrm>
            <a:off x="4419600" y="3048001"/>
            <a:ext cx="945195"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15372" name="Text Box 10"/>
          <p:cNvSpPr txBox="1">
            <a:spLocks noChangeArrowheads="1"/>
          </p:cNvSpPr>
          <p:nvPr/>
        </p:nvSpPr>
        <p:spPr bwMode="auto">
          <a:xfrm>
            <a:off x="5791201" y="3048001"/>
            <a:ext cx="1275606"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5373" name="Text Box 11"/>
          <p:cNvSpPr txBox="1">
            <a:spLocks noChangeArrowheads="1"/>
          </p:cNvSpPr>
          <p:nvPr/>
        </p:nvSpPr>
        <p:spPr bwMode="auto">
          <a:xfrm>
            <a:off x="7543801" y="3048001"/>
            <a:ext cx="73129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15374" name="Text Box 12"/>
          <p:cNvSpPr txBox="1">
            <a:spLocks noChangeArrowheads="1"/>
          </p:cNvSpPr>
          <p:nvPr/>
        </p:nvSpPr>
        <p:spPr bwMode="auto">
          <a:xfrm>
            <a:off x="2895601" y="4191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5375" name="Text Box 13"/>
          <p:cNvSpPr txBox="1">
            <a:spLocks noChangeArrowheads="1"/>
          </p:cNvSpPr>
          <p:nvPr/>
        </p:nvSpPr>
        <p:spPr bwMode="auto">
          <a:xfrm>
            <a:off x="2362200" y="52578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5376" name="Text Box 14"/>
          <p:cNvSpPr txBox="1">
            <a:spLocks noChangeArrowheads="1"/>
          </p:cNvSpPr>
          <p:nvPr/>
        </p:nvSpPr>
        <p:spPr bwMode="auto">
          <a:xfrm>
            <a:off x="3886201" y="52578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5377" name="Text Box 15"/>
          <p:cNvSpPr txBox="1">
            <a:spLocks noChangeArrowheads="1"/>
          </p:cNvSpPr>
          <p:nvPr/>
        </p:nvSpPr>
        <p:spPr bwMode="auto">
          <a:xfrm>
            <a:off x="2209801" y="6096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5378" name="Text Box 16"/>
          <p:cNvSpPr txBox="1">
            <a:spLocks noChangeArrowheads="1"/>
          </p:cNvSpPr>
          <p:nvPr/>
        </p:nvSpPr>
        <p:spPr bwMode="auto">
          <a:xfrm>
            <a:off x="4495800" y="60960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5379" name="Text Box 17"/>
          <p:cNvSpPr txBox="1">
            <a:spLocks noChangeArrowheads="1"/>
          </p:cNvSpPr>
          <p:nvPr/>
        </p:nvSpPr>
        <p:spPr bwMode="auto">
          <a:xfrm>
            <a:off x="6172201" y="4191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5380" name="Text Box 18"/>
          <p:cNvSpPr txBox="1">
            <a:spLocks noChangeArrowheads="1"/>
          </p:cNvSpPr>
          <p:nvPr/>
        </p:nvSpPr>
        <p:spPr bwMode="auto">
          <a:xfrm>
            <a:off x="3489325" y="1406525"/>
            <a:ext cx="395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Outlook=Sunny </a:t>
            </a:r>
            <a:r>
              <a:rPr lang="en-US" altLang="en-US">
                <a:latin typeface="+mn-lt"/>
                <a:sym typeface="Symbol" panose="05050102010706020507" pitchFamily="18" charset="2"/>
              </a:rPr>
              <a:t> Wind=Weak</a:t>
            </a:r>
            <a:endParaRPr lang="en-US" altLang="en-US">
              <a:latin typeface="+mn-lt"/>
            </a:endParaRPr>
          </a:p>
        </p:txBody>
      </p:sp>
      <p:sp>
        <p:nvSpPr>
          <p:cNvPr id="15381" name="Text Box 19"/>
          <p:cNvSpPr txBox="1">
            <a:spLocks noChangeArrowheads="1"/>
          </p:cNvSpPr>
          <p:nvPr/>
        </p:nvSpPr>
        <p:spPr bwMode="auto">
          <a:xfrm>
            <a:off x="8534401" y="4191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lstStyle/>
          <a:p>
            <a:pPr eaLnBrk="1" hangingPunct="1"/>
            <a:r>
              <a:rPr lang="en-US" altLang="en-US" smtClean="0"/>
              <a:t>Decision Tree for Disjunction</a:t>
            </a:r>
          </a:p>
        </p:txBody>
      </p:sp>
      <p:sp>
        <p:nvSpPr>
          <p:cNvPr id="26" name="Footer Placeholder 3"/>
          <p:cNvSpPr>
            <a:spLocks noGrp="1"/>
          </p:cNvSpPr>
          <p:nvPr>
            <p:ph type="ftr" sz="quarter" idx="11"/>
          </p:nvPr>
        </p:nvSpPr>
        <p:spPr/>
        <p:txBody>
          <a:bodyPr/>
          <a:lstStyle/>
          <a:p>
            <a:pPr>
              <a:defRPr/>
            </a:pPr>
            <a:r>
              <a:rPr lang="en-US">
                <a:latin typeface="+mn-lt"/>
              </a:rPr>
              <a:t>Decision Tree Learning</a:t>
            </a:r>
          </a:p>
        </p:txBody>
      </p:sp>
      <p:sp>
        <p:nvSpPr>
          <p:cNvPr id="27"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0B75ED6-E808-4BDB-B1F4-B166ECC4E6FD}" type="slidenum">
              <a:rPr lang="en-US" altLang="en-US" sz="1200">
                <a:solidFill>
                  <a:srgbClr val="898989"/>
                </a:solidFill>
                <a:latin typeface="+mn-lt"/>
              </a:rPr>
              <a:pPr eaLnBrk="1" hangingPunct="1"/>
              <a:t>21</a:t>
            </a:fld>
            <a:endParaRPr lang="en-US" altLang="en-US" sz="1200">
              <a:solidFill>
                <a:srgbClr val="898989"/>
              </a:solidFill>
              <a:latin typeface="+mn-lt"/>
            </a:endParaRPr>
          </a:p>
        </p:txBody>
      </p:sp>
      <p:sp>
        <p:nvSpPr>
          <p:cNvPr id="16389" name="Line 2"/>
          <p:cNvSpPr>
            <a:spLocks noChangeShapeType="1"/>
          </p:cNvSpPr>
          <p:nvPr/>
        </p:nvSpPr>
        <p:spPr bwMode="auto">
          <a:xfrm flipH="1">
            <a:off x="3657600" y="2514600"/>
            <a:ext cx="25908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390" name="Line 3"/>
          <p:cNvSpPr>
            <a:spLocks noChangeShapeType="1"/>
          </p:cNvSpPr>
          <p:nvPr/>
        </p:nvSpPr>
        <p:spPr bwMode="auto">
          <a:xfrm>
            <a:off x="6934200" y="2514600"/>
            <a:ext cx="19050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391" name="Line 4"/>
          <p:cNvSpPr>
            <a:spLocks noChangeShapeType="1"/>
          </p:cNvSpPr>
          <p:nvPr/>
        </p:nvSpPr>
        <p:spPr bwMode="auto">
          <a:xfrm>
            <a:off x="6477000" y="2590800"/>
            <a:ext cx="0" cy="16002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392" name="Text Box 6"/>
          <p:cNvSpPr txBox="1">
            <a:spLocks noChangeArrowheads="1"/>
          </p:cNvSpPr>
          <p:nvPr/>
        </p:nvSpPr>
        <p:spPr bwMode="auto">
          <a:xfrm>
            <a:off x="5867400" y="2057401"/>
            <a:ext cx="121860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6393" name="Text Box 7"/>
          <p:cNvSpPr txBox="1">
            <a:spLocks noChangeArrowheads="1"/>
          </p:cNvSpPr>
          <p:nvPr/>
        </p:nvSpPr>
        <p:spPr bwMode="auto">
          <a:xfrm>
            <a:off x="4419600" y="3048001"/>
            <a:ext cx="945195"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16394" name="Text Box 8"/>
          <p:cNvSpPr txBox="1">
            <a:spLocks noChangeArrowheads="1"/>
          </p:cNvSpPr>
          <p:nvPr/>
        </p:nvSpPr>
        <p:spPr bwMode="auto">
          <a:xfrm>
            <a:off x="5791201" y="3048001"/>
            <a:ext cx="1275606"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6395" name="Text Box 9"/>
          <p:cNvSpPr txBox="1">
            <a:spLocks noChangeArrowheads="1"/>
          </p:cNvSpPr>
          <p:nvPr/>
        </p:nvSpPr>
        <p:spPr bwMode="auto">
          <a:xfrm>
            <a:off x="7543801" y="3048001"/>
            <a:ext cx="73129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16396" name="Text Box 10"/>
          <p:cNvSpPr txBox="1">
            <a:spLocks noChangeArrowheads="1"/>
          </p:cNvSpPr>
          <p:nvPr/>
        </p:nvSpPr>
        <p:spPr bwMode="auto">
          <a:xfrm>
            <a:off x="3352800" y="41148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6397" name="Text Box 11"/>
          <p:cNvSpPr txBox="1">
            <a:spLocks noChangeArrowheads="1"/>
          </p:cNvSpPr>
          <p:nvPr/>
        </p:nvSpPr>
        <p:spPr bwMode="auto">
          <a:xfrm>
            <a:off x="4114800" y="1447800"/>
            <a:ext cx="395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Outlook=Sunny </a:t>
            </a:r>
            <a:r>
              <a:rPr lang="en-US" altLang="en-US">
                <a:latin typeface="+mn-lt"/>
                <a:sym typeface="Symbol" panose="05050102010706020507" pitchFamily="18" charset="2"/>
              </a:rPr>
              <a:t> Wind=Weak</a:t>
            </a:r>
            <a:endParaRPr lang="en-US" altLang="en-US">
              <a:latin typeface="+mn-lt"/>
            </a:endParaRPr>
          </a:p>
        </p:txBody>
      </p:sp>
      <p:sp>
        <p:nvSpPr>
          <p:cNvPr id="16398" name="Line 12"/>
          <p:cNvSpPr>
            <a:spLocks noChangeShapeType="1"/>
          </p:cNvSpPr>
          <p:nvPr/>
        </p:nvSpPr>
        <p:spPr bwMode="auto">
          <a:xfrm flipH="1">
            <a:off x="5267325" y="46482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399" name="Line 13"/>
          <p:cNvSpPr>
            <a:spLocks noChangeShapeType="1"/>
          </p:cNvSpPr>
          <p:nvPr/>
        </p:nvSpPr>
        <p:spPr bwMode="auto">
          <a:xfrm>
            <a:off x="6486525" y="4648200"/>
            <a:ext cx="10668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400" name="Text Box 14"/>
          <p:cNvSpPr txBox="1">
            <a:spLocks noChangeArrowheads="1"/>
          </p:cNvSpPr>
          <p:nvPr/>
        </p:nvSpPr>
        <p:spPr bwMode="auto">
          <a:xfrm>
            <a:off x="5876926" y="4191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6401" name="Text Box 15"/>
          <p:cNvSpPr txBox="1">
            <a:spLocks noChangeArrowheads="1"/>
          </p:cNvSpPr>
          <p:nvPr/>
        </p:nvSpPr>
        <p:spPr bwMode="auto">
          <a:xfrm>
            <a:off x="5114925" y="52578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6402" name="Text Box 16"/>
          <p:cNvSpPr txBox="1">
            <a:spLocks noChangeArrowheads="1"/>
          </p:cNvSpPr>
          <p:nvPr/>
        </p:nvSpPr>
        <p:spPr bwMode="auto">
          <a:xfrm>
            <a:off x="6638926" y="52578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6403" name="Text Box 17"/>
          <p:cNvSpPr txBox="1">
            <a:spLocks noChangeArrowheads="1"/>
          </p:cNvSpPr>
          <p:nvPr/>
        </p:nvSpPr>
        <p:spPr bwMode="auto">
          <a:xfrm>
            <a:off x="4962526" y="6096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6404" name="Text Box 18"/>
          <p:cNvSpPr txBox="1">
            <a:spLocks noChangeArrowheads="1"/>
          </p:cNvSpPr>
          <p:nvPr/>
        </p:nvSpPr>
        <p:spPr bwMode="auto">
          <a:xfrm>
            <a:off x="7248525" y="60960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6405" name="Line 19"/>
          <p:cNvSpPr>
            <a:spLocks noChangeShapeType="1"/>
          </p:cNvSpPr>
          <p:nvPr/>
        </p:nvSpPr>
        <p:spPr bwMode="auto">
          <a:xfrm flipH="1">
            <a:off x="8305801" y="4648200"/>
            <a:ext cx="600075"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406" name="Line 20"/>
          <p:cNvSpPr>
            <a:spLocks noChangeShapeType="1"/>
          </p:cNvSpPr>
          <p:nvPr/>
        </p:nvSpPr>
        <p:spPr bwMode="auto">
          <a:xfrm>
            <a:off x="9210676" y="4648200"/>
            <a:ext cx="923925"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6407" name="Text Box 21"/>
          <p:cNvSpPr txBox="1">
            <a:spLocks noChangeArrowheads="1"/>
          </p:cNvSpPr>
          <p:nvPr/>
        </p:nvSpPr>
        <p:spPr bwMode="auto">
          <a:xfrm>
            <a:off x="8601076" y="4191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6408" name="Text Box 22"/>
          <p:cNvSpPr txBox="1">
            <a:spLocks noChangeArrowheads="1"/>
          </p:cNvSpPr>
          <p:nvPr/>
        </p:nvSpPr>
        <p:spPr bwMode="auto">
          <a:xfrm>
            <a:off x="7839075" y="52578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6409" name="Text Box 23"/>
          <p:cNvSpPr txBox="1">
            <a:spLocks noChangeArrowheads="1"/>
          </p:cNvSpPr>
          <p:nvPr/>
        </p:nvSpPr>
        <p:spPr bwMode="auto">
          <a:xfrm>
            <a:off x="9363076" y="52578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6410" name="Text Box 24"/>
          <p:cNvSpPr txBox="1">
            <a:spLocks noChangeArrowheads="1"/>
          </p:cNvSpPr>
          <p:nvPr/>
        </p:nvSpPr>
        <p:spPr bwMode="auto">
          <a:xfrm>
            <a:off x="8077201" y="6096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6411" name="Text Box 25"/>
          <p:cNvSpPr txBox="1">
            <a:spLocks noChangeArrowheads="1"/>
          </p:cNvSpPr>
          <p:nvPr/>
        </p:nvSpPr>
        <p:spPr bwMode="auto">
          <a:xfrm>
            <a:off x="9753600" y="60960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title"/>
          </p:nvPr>
        </p:nvSpPr>
        <p:spPr/>
        <p:txBody>
          <a:bodyPr/>
          <a:lstStyle/>
          <a:p>
            <a:pPr eaLnBrk="1" hangingPunct="1"/>
            <a:r>
              <a:rPr lang="en-US" altLang="en-US" smtClean="0"/>
              <a:t>Decision Tree for XOR</a:t>
            </a:r>
          </a:p>
        </p:txBody>
      </p:sp>
      <p:sp>
        <p:nvSpPr>
          <p:cNvPr id="32" name="Footer Placeholder 3"/>
          <p:cNvSpPr>
            <a:spLocks noGrp="1"/>
          </p:cNvSpPr>
          <p:nvPr>
            <p:ph type="ftr" sz="quarter" idx="11"/>
          </p:nvPr>
        </p:nvSpPr>
        <p:spPr/>
        <p:txBody>
          <a:bodyPr/>
          <a:lstStyle/>
          <a:p>
            <a:pPr>
              <a:defRPr/>
            </a:pPr>
            <a:r>
              <a:rPr lang="en-US">
                <a:latin typeface="+mn-lt"/>
              </a:rPr>
              <a:t>Decision Tree Learning</a:t>
            </a:r>
          </a:p>
        </p:txBody>
      </p:sp>
      <p:sp>
        <p:nvSpPr>
          <p:cNvPr id="33"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0C0B1D8-13D0-49C7-B1AB-210EDA982B5A}" type="slidenum">
              <a:rPr lang="en-US" altLang="en-US" sz="1200">
                <a:solidFill>
                  <a:srgbClr val="898989"/>
                </a:solidFill>
                <a:latin typeface="+mn-lt"/>
              </a:rPr>
              <a:pPr eaLnBrk="1" hangingPunct="1"/>
              <a:t>22</a:t>
            </a:fld>
            <a:endParaRPr lang="en-US" altLang="en-US" sz="1200">
              <a:solidFill>
                <a:srgbClr val="898989"/>
              </a:solidFill>
              <a:latin typeface="+mn-lt"/>
            </a:endParaRPr>
          </a:p>
        </p:txBody>
      </p:sp>
      <p:sp>
        <p:nvSpPr>
          <p:cNvPr id="17413" name="Line 2"/>
          <p:cNvSpPr>
            <a:spLocks noChangeShapeType="1"/>
          </p:cNvSpPr>
          <p:nvPr/>
        </p:nvSpPr>
        <p:spPr bwMode="auto">
          <a:xfrm flipH="1">
            <a:off x="3657600" y="2514600"/>
            <a:ext cx="25908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14" name="Line 3"/>
          <p:cNvSpPr>
            <a:spLocks noChangeShapeType="1"/>
          </p:cNvSpPr>
          <p:nvPr/>
        </p:nvSpPr>
        <p:spPr bwMode="auto">
          <a:xfrm>
            <a:off x="6934200" y="2514600"/>
            <a:ext cx="19050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15" name="Line 4"/>
          <p:cNvSpPr>
            <a:spLocks noChangeShapeType="1"/>
          </p:cNvSpPr>
          <p:nvPr/>
        </p:nvSpPr>
        <p:spPr bwMode="auto">
          <a:xfrm flipH="1">
            <a:off x="2362200" y="46482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16" name="Line 5"/>
          <p:cNvSpPr>
            <a:spLocks noChangeShapeType="1"/>
          </p:cNvSpPr>
          <p:nvPr/>
        </p:nvSpPr>
        <p:spPr bwMode="auto">
          <a:xfrm>
            <a:off x="3581400" y="4648200"/>
            <a:ext cx="8382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17" name="Line 6"/>
          <p:cNvSpPr>
            <a:spLocks noChangeShapeType="1"/>
          </p:cNvSpPr>
          <p:nvPr/>
        </p:nvSpPr>
        <p:spPr bwMode="auto">
          <a:xfrm>
            <a:off x="6477000" y="2590800"/>
            <a:ext cx="0" cy="16002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18" name="Text Box 8"/>
          <p:cNvSpPr txBox="1">
            <a:spLocks noChangeArrowheads="1"/>
          </p:cNvSpPr>
          <p:nvPr/>
        </p:nvSpPr>
        <p:spPr bwMode="auto">
          <a:xfrm>
            <a:off x="5867400" y="2057401"/>
            <a:ext cx="121860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7419" name="Text Box 9"/>
          <p:cNvSpPr txBox="1">
            <a:spLocks noChangeArrowheads="1"/>
          </p:cNvSpPr>
          <p:nvPr/>
        </p:nvSpPr>
        <p:spPr bwMode="auto">
          <a:xfrm>
            <a:off x="4419600" y="3048001"/>
            <a:ext cx="945195"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17420" name="Text Box 10"/>
          <p:cNvSpPr txBox="1">
            <a:spLocks noChangeArrowheads="1"/>
          </p:cNvSpPr>
          <p:nvPr/>
        </p:nvSpPr>
        <p:spPr bwMode="auto">
          <a:xfrm>
            <a:off x="5791201" y="3048001"/>
            <a:ext cx="1275606"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7421" name="Text Box 11"/>
          <p:cNvSpPr txBox="1">
            <a:spLocks noChangeArrowheads="1"/>
          </p:cNvSpPr>
          <p:nvPr/>
        </p:nvSpPr>
        <p:spPr bwMode="auto">
          <a:xfrm>
            <a:off x="7543801" y="3048001"/>
            <a:ext cx="73129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17422" name="Text Box 12"/>
          <p:cNvSpPr txBox="1">
            <a:spLocks noChangeArrowheads="1"/>
          </p:cNvSpPr>
          <p:nvPr/>
        </p:nvSpPr>
        <p:spPr bwMode="auto">
          <a:xfrm>
            <a:off x="2971801" y="4191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7423" name="Text Box 13"/>
          <p:cNvSpPr txBox="1">
            <a:spLocks noChangeArrowheads="1"/>
          </p:cNvSpPr>
          <p:nvPr/>
        </p:nvSpPr>
        <p:spPr bwMode="auto">
          <a:xfrm>
            <a:off x="2209800" y="52578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7424" name="Text Box 14"/>
          <p:cNvSpPr txBox="1">
            <a:spLocks noChangeArrowheads="1"/>
          </p:cNvSpPr>
          <p:nvPr/>
        </p:nvSpPr>
        <p:spPr bwMode="auto">
          <a:xfrm>
            <a:off x="3733801" y="52578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7425" name="Text Box 15"/>
          <p:cNvSpPr txBox="1">
            <a:spLocks noChangeArrowheads="1"/>
          </p:cNvSpPr>
          <p:nvPr/>
        </p:nvSpPr>
        <p:spPr bwMode="auto">
          <a:xfrm>
            <a:off x="2057400" y="60960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7426" name="Text Box 16"/>
          <p:cNvSpPr txBox="1">
            <a:spLocks noChangeArrowheads="1"/>
          </p:cNvSpPr>
          <p:nvPr/>
        </p:nvSpPr>
        <p:spPr bwMode="auto">
          <a:xfrm>
            <a:off x="4114801" y="6096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7427" name="Text Box 17"/>
          <p:cNvSpPr txBox="1">
            <a:spLocks noChangeArrowheads="1"/>
          </p:cNvSpPr>
          <p:nvPr/>
        </p:nvSpPr>
        <p:spPr bwMode="auto">
          <a:xfrm>
            <a:off x="4114801" y="1446213"/>
            <a:ext cx="43557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Outlook=Sunny </a:t>
            </a:r>
            <a:r>
              <a:rPr lang="en-US" altLang="en-US" dirty="0">
                <a:latin typeface="+mn-lt"/>
                <a:sym typeface="Symbol" panose="05050102010706020507" pitchFamily="18" charset="2"/>
              </a:rPr>
              <a:t> XOR Wind=Weak</a:t>
            </a:r>
            <a:endParaRPr lang="en-US" altLang="en-US" dirty="0">
              <a:latin typeface="+mn-lt"/>
            </a:endParaRPr>
          </a:p>
        </p:txBody>
      </p:sp>
      <p:sp>
        <p:nvSpPr>
          <p:cNvPr id="17428" name="Line 18"/>
          <p:cNvSpPr>
            <a:spLocks noChangeShapeType="1"/>
          </p:cNvSpPr>
          <p:nvPr/>
        </p:nvSpPr>
        <p:spPr bwMode="auto">
          <a:xfrm flipH="1">
            <a:off x="5267325" y="4648200"/>
            <a:ext cx="9144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29" name="Line 19"/>
          <p:cNvSpPr>
            <a:spLocks noChangeShapeType="1"/>
          </p:cNvSpPr>
          <p:nvPr/>
        </p:nvSpPr>
        <p:spPr bwMode="auto">
          <a:xfrm>
            <a:off x="6486525" y="4648200"/>
            <a:ext cx="1066800"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30" name="Text Box 20"/>
          <p:cNvSpPr txBox="1">
            <a:spLocks noChangeArrowheads="1"/>
          </p:cNvSpPr>
          <p:nvPr/>
        </p:nvSpPr>
        <p:spPr bwMode="auto">
          <a:xfrm>
            <a:off x="5876926" y="4191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7431" name="Text Box 21"/>
          <p:cNvSpPr txBox="1">
            <a:spLocks noChangeArrowheads="1"/>
          </p:cNvSpPr>
          <p:nvPr/>
        </p:nvSpPr>
        <p:spPr bwMode="auto">
          <a:xfrm>
            <a:off x="5114925" y="52578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7432" name="Text Box 22"/>
          <p:cNvSpPr txBox="1">
            <a:spLocks noChangeArrowheads="1"/>
          </p:cNvSpPr>
          <p:nvPr/>
        </p:nvSpPr>
        <p:spPr bwMode="auto">
          <a:xfrm>
            <a:off x="6638926" y="52578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7433" name="Text Box 23"/>
          <p:cNvSpPr txBox="1">
            <a:spLocks noChangeArrowheads="1"/>
          </p:cNvSpPr>
          <p:nvPr/>
        </p:nvSpPr>
        <p:spPr bwMode="auto">
          <a:xfrm>
            <a:off x="4962526" y="6096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7434" name="Text Box 24"/>
          <p:cNvSpPr txBox="1">
            <a:spLocks noChangeArrowheads="1"/>
          </p:cNvSpPr>
          <p:nvPr/>
        </p:nvSpPr>
        <p:spPr bwMode="auto">
          <a:xfrm>
            <a:off x="7248525" y="60960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7435" name="Line 25"/>
          <p:cNvSpPr>
            <a:spLocks noChangeShapeType="1"/>
          </p:cNvSpPr>
          <p:nvPr/>
        </p:nvSpPr>
        <p:spPr bwMode="auto">
          <a:xfrm flipH="1">
            <a:off x="8305801" y="4648200"/>
            <a:ext cx="600075"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36" name="Line 26"/>
          <p:cNvSpPr>
            <a:spLocks noChangeShapeType="1"/>
          </p:cNvSpPr>
          <p:nvPr/>
        </p:nvSpPr>
        <p:spPr bwMode="auto">
          <a:xfrm>
            <a:off x="9210676" y="4648200"/>
            <a:ext cx="923925" cy="1447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7437" name="Text Box 27"/>
          <p:cNvSpPr txBox="1">
            <a:spLocks noChangeArrowheads="1"/>
          </p:cNvSpPr>
          <p:nvPr/>
        </p:nvSpPr>
        <p:spPr bwMode="auto">
          <a:xfrm>
            <a:off x="8601076" y="4191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7438" name="Text Box 28"/>
          <p:cNvSpPr txBox="1">
            <a:spLocks noChangeArrowheads="1"/>
          </p:cNvSpPr>
          <p:nvPr/>
        </p:nvSpPr>
        <p:spPr bwMode="auto">
          <a:xfrm>
            <a:off x="7839075" y="52578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7439" name="Text Box 29"/>
          <p:cNvSpPr txBox="1">
            <a:spLocks noChangeArrowheads="1"/>
          </p:cNvSpPr>
          <p:nvPr/>
        </p:nvSpPr>
        <p:spPr bwMode="auto">
          <a:xfrm>
            <a:off x="9363076" y="52578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7440" name="Text Box 30"/>
          <p:cNvSpPr txBox="1">
            <a:spLocks noChangeArrowheads="1"/>
          </p:cNvSpPr>
          <p:nvPr/>
        </p:nvSpPr>
        <p:spPr bwMode="auto">
          <a:xfrm>
            <a:off x="8077201" y="6096001"/>
            <a:ext cx="556563"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7441" name="Text Box 31"/>
          <p:cNvSpPr txBox="1">
            <a:spLocks noChangeArrowheads="1"/>
          </p:cNvSpPr>
          <p:nvPr/>
        </p:nvSpPr>
        <p:spPr bwMode="auto">
          <a:xfrm>
            <a:off x="9753600" y="60960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198438"/>
            <a:ext cx="10972800" cy="1143000"/>
          </a:xfrm>
        </p:spPr>
        <p:txBody>
          <a:bodyPr/>
          <a:lstStyle/>
          <a:p>
            <a:pPr eaLnBrk="1" hangingPunct="1"/>
            <a:r>
              <a:rPr lang="en-US" altLang="en-US" smtClean="0"/>
              <a:t>Decision Tree </a:t>
            </a:r>
          </a:p>
        </p:txBody>
      </p:sp>
      <p:sp>
        <p:nvSpPr>
          <p:cNvPr id="28" name="Footer Placeholder 3"/>
          <p:cNvSpPr>
            <a:spLocks noGrp="1"/>
          </p:cNvSpPr>
          <p:nvPr>
            <p:ph type="ftr" sz="quarter" idx="11"/>
          </p:nvPr>
        </p:nvSpPr>
        <p:spPr>
          <a:xfrm>
            <a:off x="4165600" y="6280151"/>
            <a:ext cx="3860800" cy="365125"/>
          </a:xfrm>
        </p:spPr>
        <p:txBody>
          <a:bodyPr/>
          <a:lstStyle/>
          <a:p>
            <a:pPr>
              <a:defRPr/>
            </a:pPr>
            <a:r>
              <a:rPr lang="en-US">
                <a:latin typeface="+mn-lt"/>
              </a:rPr>
              <a:t>Decision Tree Learning</a:t>
            </a:r>
          </a:p>
        </p:txBody>
      </p:sp>
      <p:sp>
        <p:nvSpPr>
          <p:cNvPr id="29" name="Slide Number Placeholder 4"/>
          <p:cNvSpPr>
            <a:spLocks noGrp="1"/>
          </p:cNvSpPr>
          <p:nvPr>
            <p:ph type="sldNum" sz="quarter" idx="12"/>
          </p:nvPr>
        </p:nvSpPr>
        <p:spPr>
          <a:xfrm>
            <a:off x="8737600" y="6280151"/>
            <a:ext cx="2844800" cy="365125"/>
          </a:xfrm>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7EAE002-DD78-444E-8BED-8ADFD3AF8C91}" type="slidenum">
              <a:rPr lang="en-US" altLang="en-US" sz="1200">
                <a:solidFill>
                  <a:srgbClr val="898989"/>
                </a:solidFill>
                <a:latin typeface="+mn-lt"/>
              </a:rPr>
              <a:pPr eaLnBrk="1" hangingPunct="1"/>
              <a:t>23</a:t>
            </a:fld>
            <a:endParaRPr lang="en-US" altLang="en-US" sz="1200">
              <a:solidFill>
                <a:srgbClr val="898989"/>
              </a:solidFill>
              <a:latin typeface="+mn-lt"/>
            </a:endParaRPr>
          </a:p>
        </p:txBody>
      </p:sp>
      <p:grpSp>
        <p:nvGrpSpPr>
          <p:cNvPr id="18437" name="Group 3"/>
          <p:cNvGrpSpPr>
            <a:grpSpLocks/>
          </p:cNvGrpSpPr>
          <p:nvPr/>
        </p:nvGrpSpPr>
        <p:grpSpPr bwMode="auto">
          <a:xfrm>
            <a:off x="1828801" y="1828800"/>
            <a:ext cx="8009121" cy="3190962"/>
            <a:chOff x="96" y="1104"/>
            <a:chExt cx="5128" cy="2975"/>
          </a:xfrm>
        </p:grpSpPr>
        <p:sp>
          <p:nvSpPr>
            <p:cNvPr id="18440" name="Line 4"/>
            <p:cNvSpPr>
              <a:spLocks noChangeShapeType="1"/>
            </p:cNvSpPr>
            <p:nvPr/>
          </p:nvSpPr>
          <p:spPr bwMode="auto">
            <a:xfrm flipH="1">
              <a:off x="1008" y="1392"/>
              <a:ext cx="1632" cy="10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1" name="Line 5"/>
            <p:cNvSpPr>
              <a:spLocks noChangeShapeType="1"/>
            </p:cNvSpPr>
            <p:nvPr/>
          </p:nvSpPr>
          <p:spPr bwMode="auto">
            <a:xfrm>
              <a:off x="3072" y="1392"/>
              <a:ext cx="1200" cy="10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2" name="Line 6"/>
            <p:cNvSpPr>
              <a:spLocks noChangeShapeType="1"/>
            </p:cNvSpPr>
            <p:nvPr/>
          </p:nvSpPr>
          <p:spPr bwMode="auto">
            <a:xfrm flipH="1">
              <a:off x="288" y="2736"/>
              <a:ext cx="576"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3" name="Line 7"/>
            <p:cNvSpPr>
              <a:spLocks noChangeShapeType="1"/>
            </p:cNvSpPr>
            <p:nvPr/>
          </p:nvSpPr>
          <p:spPr bwMode="auto">
            <a:xfrm>
              <a:off x="1056" y="2736"/>
              <a:ext cx="672"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4" name="Line 8"/>
            <p:cNvSpPr>
              <a:spLocks noChangeShapeType="1"/>
            </p:cNvSpPr>
            <p:nvPr/>
          </p:nvSpPr>
          <p:spPr bwMode="auto">
            <a:xfrm>
              <a:off x="4368" y="2736"/>
              <a:ext cx="624"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5" name="Line 9"/>
            <p:cNvSpPr>
              <a:spLocks noChangeShapeType="1"/>
            </p:cNvSpPr>
            <p:nvPr/>
          </p:nvSpPr>
          <p:spPr bwMode="auto">
            <a:xfrm flipH="1">
              <a:off x="3696" y="2736"/>
              <a:ext cx="576"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6" name="Line 10"/>
            <p:cNvSpPr>
              <a:spLocks noChangeShapeType="1"/>
            </p:cNvSpPr>
            <p:nvPr/>
          </p:nvSpPr>
          <p:spPr bwMode="auto">
            <a:xfrm>
              <a:off x="2784" y="1440"/>
              <a:ext cx="0" cy="100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18447" name="Text Box 11"/>
            <p:cNvSpPr txBox="1">
              <a:spLocks noChangeArrowheads="1"/>
            </p:cNvSpPr>
            <p:nvPr/>
          </p:nvSpPr>
          <p:spPr bwMode="auto">
            <a:xfrm>
              <a:off x="2400" y="1104"/>
              <a:ext cx="780" cy="430"/>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Outlook</a:t>
              </a:r>
            </a:p>
          </p:txBody>
        </p:sp>
        <p:sp>
          <p:nvSpPr>
            <p:cNvPr id="18448" name="Text Box 12"/>
            <p:cNvSpPr txBox="1">
              <a:spLocks noChangeArrowheads="1"/>
            </p:cNvSpPr>
            <p:nvPr/>
          </p:nvSpPr>
          <p:spPr bwMode="auto">
            <a:xfrm>
              <a:off x="1489" y="1729"/>
              <a:ext cx="605"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Sunny</a:t>
              </a:r>
            </a:p>
          </p:txBody>
        </p:sp>
        <p:sp>
          <p:nvSpPr>
            <p:cNvPr id="18449" name="Text Box 13"/>
            <p:cNvSpPr txBox="1">
              <a:spLocks noChangeArrowheads="1"/>
            </p:cNvSpPr>
            <p:nvPr/>
          </p:nvSpPr>
          <p:spPr bwMode="auto">
            <a:xfrm>
              <a:off x="2352" y="1729"/>
              <a:ext cx="817"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18450" name="Text Box 14"/>
            <p:cNvSpPr txBox="1">
              <a:spLocks noChangeArrowheads="1"/>
            </p:cNvSpPr>
            <p:nvPr/>
          </p:nvSpPr>
          <p:spPr bwMode="auto">
            <a:xfrm>
              <a:off x="3456" y="1729"/>
              <a:ext cx="468"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Rain</a:t>
              </a:r>
            </a:p>
          </p:txBody>
        </p:sp>
        <p:sp>
          <p:nvSpPr>
            <p:cNvPr id="18451" name="Text Box 15"/>
            <p:cNvSpPr txBox="1">
              <a:spLocks noChangeArrowheads="1"/>
            </p:cNvSpPr>
            <p:nvPr/>
          </p:nvSpPr>
          <p:spPr bwMode="auto">
            <a:xfrm>
              <a:off x="529" y="2448"/>
              <a:ext cx="873" cy="430"/>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Humidity</a:t>
              </a:r>
            </a:p>
          </p:txBody>
        </p:sp>
        <p:sp>
          <p:nvSpPr>
            <p:cNvPr id="18452" name="Text Box 16"/>
            <p:cNvSpPr txBox="1">
              <a:spLocks noChangeArrowheads="1"/>
            </p:cNvSpPr>
            <p:nvPr/>
          </p:nvSpPr>
          <p:spPr bwMode="auto">
            <a:xfrm>
              <a:off x="192" y="3121"/>
              <a:ext cx="483"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High</a:t>
              </a:r>
            </a:p>
          </p:txBody>
        </p:sp>
        <p:sp>
          <p:nvSpPr>
            <p:cNvPr id="18453" name="Text Box 17"/>
            <p:cNvSpPr txBox="1">
              <a:spLocks noChangeArrowheads="1"/>
            </p:cNvSpPr>
            <p:nvPr/>
          </p:nvSpPr>
          <p:spPr bwMode="auto">
            <a:xfrm>
              <a:off x="1151" y="3121"/>
              <a:ext cx="741"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Normal</a:t>
              </a:r>
            </a:p>
          </p:txBody>
        </p:sp>
        <p:sp>
          <p:nvSpPr>
            <p:cNvPr id="18454" name="Text Box 18"/>
            <p:cNvSpPr txBox="1">
              <a:spLocks noChangeArrowheads="1"/>
            </p:cNvSpPr>
            <p:nvPr/>
          </p:nvSpPr>
          <p:spPr bwMode="auto">
            <a:xfrm>
              <a:off x="3985" y="2448"/>
              <a:ext cx="556" cy="430"/>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mn-lt"/>
                </a:rPr>
                <a:t>Wind</a:t>
              </a:r>
            </a:p>
          </p:txBody>
        </p:sp>
        <p:sp>
          <p:nvSpPr>
            <p:cNvPr id="18455" name="Text Box 19"/>
            <p:cNvSpPr txBox="1">
              <a:spLocks noChangeArrowheads="1"/>
            </p:cNvSpPr>
            <p:nvPr/>
          </p:nvSpPr>
          <p:spPr bwMode="auto">
            <a:xfrm>
              <a:off x="3552" y="3121"/>
              <a:ext cx="640"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18456" name="Text Box 20"/>
            <p:cNvSpPr txBox="1">
              <a:spLocks noChangeArrowheads="1"/>
            </p:cNvSpPr>
            <p:nvPr/>
          </p:nvSpPr>
          <p:spPr bwMode="auto">
            <a:xfrm>
              <a:off x="4512" y="3121"/>
              <a:ext cx="569" cy="43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18457" name="Text Box 21"/>
            <p:cNvSpPr txBox="1">
              <a:spLocks noChangeArrowheads="1"/>
            </p:cNvSpPr>
            <p:nvPr/>
          </p:nvSpPr>
          <p:spPr bwMode="auto">
            <a:xfrm>
              <a:off x="96" y="3648"/>
              <a:ext cx="356" cy="430"/>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18458" name="Text Box 22"/>
            <p:cNvSpPr txBox="1">
              <a:spLocks noChangeArrowheads="1"/>
            </p:cNvSpPr>
            <p:nvPr/>
          </p:nvSpPr>
          <p:spPr bwMode="auto">
            <a:xfrm>
              <a:off x="1536" y="3648"/>
              <a:ext cx="376" cy="430"/>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8459" name="Text Box 23"/>
            <p:cNvSpPr txBox="1">
              <a:spLocks noChangeArrowheads="1"/>
            </p:cNvSpPr>
            <p:nvPr/>
          </p:nvSpPr>
          <p:spPr bwMode="auto">
            <a:xfrm>
              <a:off x="2593" y="2448"/>
              <a:ext cx="376" cy="430"/>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8460" name="Text Box 24"/>
            <p:cNvSpPr txBox="1">
              <a:spLocks noChangeArrowheads="1"/>
            </p:cNvSpPr>
            <p:nvPr/>
          </p:nvSpPr>
          <p:spPr bwMode="auto">
            <a:xfrm>
              <a:off x="4848" y="3649"/>
              <a:ext cx="376" cy="430"/>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18461" name="Text Box 25"/>
            <p:cNvSpPr txBox="1">
              <a:spLocks noChangeArrowheads="1"/>
            </p:cNvSpPr>
            <p:nvPr/>
          </p:nvSpPr>
          <p:spPr bwMode="auto">
            <a:xfrm>
              <a:off x="3504" y="3648"/>
              <a:ext cx="356" cy="430"/>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grpSp>
      <p:sp>
        <p:nvSpPr>
          <p:cNvPr id="18438" name="Text Box 26"/>
          <p:cNvSpPr txBox="1">
            <a:spLocks noChangeArrowheads="1"/>
          </p:cNvSpPr>
          <p:nvPr/>
        </p:nvSpPr>
        <p:spPr bwMode="auto">
          <a:xfrm>
            <a:off x="2590801" y="1143000"/>
            <a:ext cx="70055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buFontTx/>
              <a:buChar char="•"/>
            </a:pPr>
            <a:r>
              <a:rPr lang="en-US" altLang="en-US" dirty="0">
                <a:latin typeface="+mn-lt"/>
              </a:rPr>
              <a:t> </a:t>
            </a:r>
            <a:r>
              <a:rPr lang="en-US" altLang="en-US" dirty="0" smtClean="0">
                <a:latin typeface="+mn-lt"/>
              </a:rPr>
              <a:t>Decision </a:t>
            </a:r>
            <a:r>
              <a:rPr lang="en-US" altLang="en-US" dirty="0">
                <a:latin typeface="+mn-lt"/>
              </a:rPr>
              <a:t>trees represent disjunctions of conjunctions</a:t>
            </a:r>
          </a:p>
        </p:txBody>
      </p:sp>
      <p:sp>
        <p:nvSpPr>
          <p:cNvPr id="18439" name="Text Box 27"/>
          <p:cNvSpPr txBox="1">
            <a:spLocks noChangeArrowheads="1"/>
          </p:cNvSpPr>
          <p:nvPr/>
        </p:nvSpPr>
        <p:spPr bwMode="auto">
          <a:xfrm>
            <a:off x="3200400" y="5257801"/>
            <a:ext cx="490942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(Outlook=Sunny </a:t>
            </a:r>
            <a:r>
              <a:rPr lang="en-US" altLang="en-US">
                <a:latin typeface="+mn-lt"/>
                <a:sym typeface="Symbol" panose="05050102010706020507" pitchFamily="18" charset="2"/>
              </a:rPr>
              <a:t> Humidity=Normal) </a:t>
            </a:r>
          </a:p>
          <a:p>
            <a:pPr eaLnBrk="1" hangingPunct="1"/>
            <a:r>
              <a:rPr lang="en-US" altLang="en-US">
                <a:latin typeface="+mn-lt"/>
                <a:sym typeface="Symbol" panose="05050102010706020507" pitchFamily="18" charset="2"/>
              </a:rPr>
              <a:t>           (Outlook=Overcast)</a:t>
            </a:r>
          </a:p>
          <a:p>
            <a:pPr eaLnBrk="1" hangingPunct="1"/>
            <a:r>
              <a:rPr lang="en-US" altLang="en-US">
                <a:latin typeface="+mn-lt"/>
                <a:sym typeface="Symbol" panose="05050102010706020507" pitchFamily="18" charset="2"/>
              </a:rPr>
              <a:t>     (Outlook=Rain  Wind=Weak)</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mtClean="0"/>
              <a:t>When to consider Decision Trees</a:t>
            </a:r>
          </a:p>
        </p:txBody>
      </p:sp>
      <p:sp>
        <p:nvSpPr>
          <p:cNvPr id="19459" name="Rectangle 3"/>
          <p:cNvSpPr>
            <a:spLocks noGrp="1" noChangeArrowheads="1"/>
          </p:cNvSpPr>
          <p:nvPr>
            <p:ph idx="1"/>
          </p:nvPr>
        </p:nvSpPr>
        <p:spPr>
          <a:xfrm>
            <a:off x="1143000" y="1524000"/>
            <a:ext cx="10287000" cy="4608513"/>
          </a:xfrm>
        </p:spPr>
        <p:txBody>
          <a:bodyPr/>
          <a:lstStyle/>
          <a:p>
            <a:pPr eaLnBrk="1" hangingPunct="1">
              <a:lnSpc>
                <a:spcPct val="90000"/>
              </a:lnSpc>
            </a:pPr>
            <a:r>
              <a:rPr lang="en-US" altLang="en-US" sz="2800" dirty="0"/>
              <a:t>Instances describable by attribute-value pairs</a:t>
            </a:r>
          </a:p>
          <a:p>
            <a:pPr eaLnBrk="1" hangingPunct="1">
              <a:lnSpc>
                <a:spcPct val="90000"/>
              </a:lnSpc>
            </a:pPr>
            <a:r>
              <a:rPr lang="en-US" altLang="en-US" sz="2800" dirty="0"/>
              <a:t>Target function is discrete valued</a:t>
            </a:r>
          </a:p>
          <a:p>
            <a:pPr eaLnBrk="1" hangingPunct="1">
              <a:lnSpc>
                <a:spcPct val="90000"/>
              </a:lnSpc>
            </a:pPr>
            <a:r>
              <a:rPr lang="en-US" altLang="en-US" sz="2800" dirty="0"/>
              <a:t>Disjunctive hypothesis may be required</a:t>
            </a:r>
          </a:p>
          <a:p>
            <a:pPr eaLnBrk="1" hangingPunct="1">
              <a:lnSpc>
                <a:spcPct val="90000"/>
              </a:lnSpc>
            </a:pPr>
            <a:r>
              <a:rPr lang="en-US" altLang="en-US" sz="2800" dirty="0"/>
              <a:t>Possibly noisy training data</a:t>
            </a:r>
          </a:p>
          <a:p>
            <a:pPr eaLnBrk="1" hangingPunct="1">
              <a:lnSpc>
                <a:spcPct val="90000"/>
              </a:lnSpc>
            </a:pPr>
            <a:r>
              <a:rPr lang="en-US" altLang="en-US" sz="2800" dirty="0"/>
              <a:t>Missing attribute values</a:t>
            </a:r>
          </a:p>
          <a:p>
            <a:pPr eaLnBrk="1" hangingPunct="1">
              <a:lnSpc>
                <a:spcPct val="90000"/>
              </a:lnSpc>
            </a:pPr>
            <a:r>
              <a:rPr lang="en-US" altLang="en-US" sz="2800" dirty="0"/>
              <a:t>Examples:</a:t>
            </a:r>
          </a:p>
          <a:p>
            <a:pPr lvl="1" eaLnBrk="1" hangingPunct="1">
              <a:lnSpc>
                <a:spcPct val="90000"/>
              </a:lnSpc>
            </a:pPr>
            <a:r>
              <a:rPr lang="en-US" altLang="en-US" dirty="0"/>
              <a:t>Medical diagnosis</a:t>
            </a:r>
          </a:p>
          <a:p>
            <a:pPr lvl="1" eaLnBrk="1" hangingPunct="1">
              <a:lnSpc>
                <a:spcPct val="90000"/>
              </a:lnSpc>
            </a:pPr>
            <a:r>
              <a:rPr lang="en-US" altLang="en-US" dirty="0"/>
              <a:t>Credit risk analysis</a:t>
            </a:r>
          </a:p>
          <a:p>
            <a:pPr lvl="1" eaLnBrk="1" hangingPunct="1">
              <a:lnSpc>
                <a:spcPct val="90000"/>
              </a:lnSpc>
            </a:pPr>
            <a:r>
              <a:rPr lang="en-US" altLang="en-US" dirty="0"/>
              <a:t>Object classification for robot manipulator (Tan 1993)</a:t>
            </a:r>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2E509A6-5C8F-467B-9F68-5F57F0F7CE06}" type="slidenum">
              <a:rPr lang="en-US" altLang="en-US" sz="1200">
                <a:solidFill>
                  <a:srgbClr val="898989"/>
                </a:solidFill>
              </a:rPr>
              <a:pPr eaLnBrk="1" hangingPunct="1"/>
              <a:t>24</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534400" cy="1143000"/>
          </a:xfrm>
        </p:spPr>
        <p:txBody>
          <a:bodyPr/>
          <a:lstStyle/>
          <a:p>
            <a:r>
              <a:rPr lang="en-US" altLang="zh-HK" sz="4000" dirty="0">
                <a:ea typeface="新細明體" panose="02020500000000000000" pitchFamily="18" charset="-120"/>
              </a:rPr>
              <a:t>Algorithm for Induction of Decision Tree</a:t>
            </a:r>
            <a:endParaRPr lang="en-US" sz="4000" dirty="0"/>
          </a:p>
        </p:txBody>
      </p:sp>
      <p:sp>
        <p:nvSpPr>
          <p:cNvPr id="3" name="Content Placeholder 2"/>
          <p:cNvSpPr>
            <a:spLocks noGrp="1"/>
          </p:cNvSpPr>
          <p:nvPr>
            <p:ph idx="1"/>
          </p:nvPr>
        </p:nvSpPr>
        <p:spPr>
          <a:xfrm>
            <a:off x="1219200" y="1508124"/>
            <a:ext cx="10744200" cy="4848227"/>
          </a:xfrm>
        </p:spPr>
        <p:txBody>
          <a:bodyPr/>
          <a:lstStyle/>
          <a:p>
            <a:pPr eaLnBrk="1" hangingPunct="1">
              <a:spcBef>
                <a:spcPct val="0"/>
              </a:spcBef>
            </a:pPr>
            <a:r>
              <a:rPr lang="en-US" altLang="zh-HK" sz="2800" dirty="0">
                <a:ea typeface="新細明體" panose="02020500000000000000" pitchFamily="18" charset="-120"/>
              </a:rPr>
              <a:t>Basic algorithm (a greedy algorithm)</a:t>
            </a:r>
          </a:p>
          <a:p>
            <a:pPr lvl="1" eaLnBrk="1" hangingPunct="1">
              <a:spcBef>
                <a:spcPct val="0"/>
              </a:spcBef>
            </a:pPr>
            <a:r>
              <a:rPr lang="en-US" altLang="zh-HK" sz="2400" dirty="0">
                <a:ea typeface="新細明體" panose="02020500000000000000" pitchFamily="18" charset="-120"/>
              </a:rPr>
              <a:t>Tree is constructed in a </a:t>
            </a:r>
            <a:r>
              <a:rPr lang="en-US" altLang="zh-HK" sz="2400" dirty="0">
                <a:solidFill>
                  <a:schemeClr val="hlink"/>
                </a:solidFill>
                <a:ea typeface="新細明體" panose="02020500000000000000" pitchFamily="18" charset="-120"/>
              </a:rPr>
              <a:t>top-down recursive divide-and-conquer manner</a:t>
            </a:r>
          </a:p>
          <a:p>
            <a:pPr lvl="1" eaLnBrk="1" hangingPunct="1">
              <a:spcBef>
                <a:spcPct val="0"/>
              </a:spcBef>
            </a:pPr>
            <a:r>
              <a:rPr lang="en-US" altLang="zh-HK" sz="2400" dirty="0">
                <a:ea typeface="新細明體" panose="02020500000000000000" pitchFamily="18" charset="-120"/>
              </a:rPr>
              <a:t>At start, all the training examples are at the root</a:t>
            </a:r>
          </a:p>
          <a:p>
            <a:pPr lvl="1" eaLnBrk="1" hangingPunct="1">
              <a:spcBef>
                <a:spcPct val="0"/>
              </a:spcBef>
            </a:pPr>
            <a:r>
              <a:rPr lang="en-US" altLang="zh-HK" sz="2400" dirty="0">
                <a:ea typeface="新細明體" panose="02020500000000000000" pitchFamily="18" charset="-120"/>
              </a:rPr>
              <a:t>Attributes are categorical (if continuous-valued, they are discretized in advance)</a:t>
            </a:r>
          </a:p>
          <a:p>
            <a:pPr lvl="1" eaLnBrk="1" hangingPunct="1">
              <a:spcBef>
                <a:spcPct val="0"/>
              </a:spcBef>
            </a:pPr>
            <a:r>
              <a:rPr lang="en-US" altLang="zh-HK" sz="2400" dirty="0">
                <a:ea typeface="新細明體" panose="02020500000000000000" pitchFamily="18" charset="-120"/>
              </a:rPr>
              <a:t>Examples are partitioned recursively based on selected attributes</a:t>
            </a:r>
          </a:p>
          <a:p>
            <a:pPr lvl="1" eaLnBrk="1" hangingPunct="1">
              <a:spcBef>
                <a:spcPct val="0"/>
              </a:spcBef>
            </a:pPr>
            <a:r>
              <a:rPr lang="en-US" altLang="zh-HK" sz="2400" dirty="0">
                <a:ea typeface="新細明體" panose="02020500000000000000" pitchFamily="18" charset="-120"/>
              </a:rPr>
              <a:t>Test attributes are selected on the basis of a heuristic or statistical measure (e.g., </a:t>
            </a:r>
            <a:r>
              <a:rPr lang="en-US" altLang="zh-HK" sz="2400" dirty="0">
                <a:solidFill>
                  <a:schemeClr val="hlink"/>
                </a:solidFill>
                <a:ea typeface="新細明體" panose="02020500000000000000" pitchFamily="18" charset="-120"/>
              </a:rPr>
              <a:t>information gain</a:t>
            </a:r>
            <a:r>
              <a:rPr lang="en-US" altLang="zh-HK" sz="2400" dirty="0">
                <a:ea typeface="新細明體" panose="02020500000000000000" pitchFamily="18" charset="-120"/>
              </a:rPr>
              <a:t>)</a:t>
            </a:r>
          </a:p>
          <a:p>
            <a:pPr eaLnBrk="1" hangingPunct="1">
              <a:spcBef>
                <a:spcPct val="0"/>
              </a:spcBef>
            </a:pPr>
            <a:r>
              <a:rPr lang="en-US" altLang="zh-HK" sz="2800" dirty="0">
                <a:ea typeface="新細明體" panose="02020500000000000000" pitchFamily="18" charset="-120"/>
              </a:rPr>
              <a:t>Conditions for stopping partitioning</a:t>
            </a:r>
          </a:p>
          <a:p>
            <a:pPr lvl="1" eaLnBrk="1" hangingPunct="1">
              <a:spcBef>
                <a:spcPct val="0"/>
              </a:spcBef>
            </a:pPr>
            <a:r>
              <a:rPr lang="en-US" altLang="zh-HK" sz="2400" dirty="0">
                <a:ea typeface="新細明體" panose="02020500000000000000" pitchFamily="18" charset="-120"/>
              </a:rPr>
              <a:t>All samples for a given node belong to the same class</a:t>
            </a:r>
          </a:p>
          <a:p>
            <a:pPr lvl="1" eaLnBrk="1" hangingPunct="1">
              <a:spcBef>
                <a:spcPct val="0"/>
              </a:spcBef>
            </a:pPr>
            <a:r>
              <a:rPr lang="en-US" altLang="zh-HK" sz="2400" dirty="0">
                <a:ea typeface="新細明體" panose="02020500000000000000" pitchFamily="18" charset="-120"/>
              </a:rPr>
              <a:t>There are no remaining attributes for further partitioning – </a:t>
            </a:r>
            <a:r>
              <a:rPr lang="en-US" altLang="zh-HK" sz="2400" dirty="0">
                <a:solidFill>
                  <a:schemeClr val="hlink"/>
                </a:solidFill>
                <a:ea typeface="新細明體" panose="02020500000000000000" pitchFamily="18" charset="-120"/>
              </a:rPr>
              <a:t>majority voting</a:t>
            </a:r>
            <a:r>
              <a:rPr lang="en-US" altLang="zh-HK" sz="2400" dirty="0">
                <a:ea typeface="新細明體" panose="02020500000000000000" pitchFamily="18" charset="-120"/>
              </a:rPr>
              <a:t> is employed for classifying the leaf</a:t>
            </a:r>
          </a:p>
          <a:p>
            <a:pPr lvl="1" eaLnBrk="1" hangingPunct="1">
              <a:spcBef>
                <a:spcPct val="0"/>
              </a:spcBef>
            </a:pPr>
            <a:r>
              <a:rPr lang="en-US" altLang="zh-HK" sz="2400" dirty="0">
                <a:ea typeface="新細明體" panose="02020500000000000000" pitchFamily="18" charset="-120"/>
              </a:rPr>
              <a:t>There are no samples left</a:t>
            </a:r>
          </a:p>
          <a:p>
            <a:endParaRPr lang="en-US" sz="2400"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25</a:t>
            </a:fld>
            <a:endParaRPr lang="en-US" altLang="en-US"/>
          </a:p>
        </p:txBody>
      </p:sp>
    </p:spTree>
    <p:extLst>
      <p:ext uri="{BB962C8B-B14F-4D97-AF65-F5344CB8AC3E}">
        <p14:creationId xmlns:p14="http://schemas.microsoft.com/office/powerpoint/2010/main" val="41510255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tree</a:t>
            </a:r>
            <a:endParaRPr lang="en-US" dirty="0"/>
          </a:p>
        </p:txBody>
      </p:sp>
      <p:sp>
        <p:nvSpPr>
          <p:cNvPr id="3" name="Footer Placeholder 2"/>
          <p:cNvSpPr>
            <a:spLocks noGrp="1"/>
          </p:cNvSpPr>
          <p:nvPr>
            <p:ph type="ftr" sz="quarter" idx="11"/>
          </p:nvPr>
        </p:nvSpPr>
        <p:spPr/>
        <p:txBody>
          <a:bodyPr/>
          <a:lstStyle/>
          <a:p>
            <a:pPr>
              <a:defRPr/>
            </a:pPr>
            <a:r>
              <a:rPr lang="en-US" smtClean="0"/>
              <a:t>Decision Tree Learning</a:t>
            </a:r>
            <a:endParaRPr lang="en-US"/>
          </a:p>
        </p:txBody>
      </p:sp>
      <p:sp>
        <p:nvSpPr>
          <p:cNvPr id="4" name="Slide Number Placeholder 3"/>
          <p:cNvSpPr>
            <a:spLocks noGrp="1"/>
          </p:cNvSpPr>
          <p:nvPr>
            <p:ph type="sldNum" sz="quarter" idx="12"/>
          </p:nvPr>
        </p:nvSpPr>
        <p:spPr/>
        <p:txBody>
          <a:bodyPr/>
          <a:lstStyle/>
          <a:p>
            <a:fld id="{D7964449-AEA1-4664-9DF1-F5FD612FF9D7}" type="slidenum">
              <a:rPr lang="en-US" altLang="en-US" smtClean="0"/>
              <a:pPr/>
              <a:t>26</a:t>
            </a:fld>
            <a:endParaRPr lang="en-US" altLang="en-US"/>
          </a:p>
        </p:txBody>
      </p:sp>
      <p:pic>
        <p:nvPicPr>
          <p:cNvPr id="1026" name="Picture 2" descr="Python Decision Tree Classificatio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295400"/>
            <a:ext cx="8354406" cy="464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14400" y="6096000"/>
            <a:ext cx="6858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smtClean="0"/>
              <a:t>A recursive </a:t>
            </a:r>
            <a:r>
              <a:rPr lang="en-US" sz="2000" dirty="0"/>
              <a:t>tree, until all </a:t>
            </a:r>
            <a:r>
              <a:rPr lang="en-US" sz="2000" dirty="0" smtClean="0"/>
              <a:t>instances are </a:t>
            </a:r>
            <a:r>
              <a:rPr lang="en-US" sz="2000" dirty="0"/>
              <a:t>placed</a:t>
            </a:r>
          </a:p>
        </p:txBody>
      </p:sp>
    </p:spTree>
    <p:extLst>
      <p:ext uri="{BB962C8B-B14F-4D97-AF65-F5344CB8AC3E}">
        <p14:creationId xmlns:p14="http://schemas.microsoft.com/office/powerpoint/2010/main" val="19190203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dirty="0" smtClean="0"/>
              <a:t>Top-Down Induction of Decision Trees </a:t>
            </a:r>
            <a:br>
              <a:rPr lang="en-US" altLang="en-US" dirty="0" smtClean="0"/>
            </a:br>
            <a:r>
              <a:rPr lang="en-US" altLang="en-US" dirty="0" smtClean="0"/>
              <a:t>-ID3 Algorithm </a:t>
            </a:r>
            <a:r>
              <a:rPr lang="en-US" altLang="en-US" sz="3200" dirty="0" smtClean="0"/>
              <a:t>(By </a:t>
            </a:r>
            <a:r>
              <a:rPr lang="en-US" sz="3200" dirty="0" smtClean="0"/>
              <a:t>J</a:t>
            </a:r>
            <a:r>
              <a:rPr lang="en-US" sz="3200" dirty="0"/>
              <a:t>. Ross </a:t>
            </a:r>
            <a:r>
              <a:rPr lang="en-US" sz="3200" dirty="0" smtClean="0"/>
              <a:t>Quinlan)</a:t>
            </a:r>
            <a:endParaRPr lang="en-US" altLang="en-US" sz="3200" dirty="0" smtClean="0"/>
          </a:p>
        </p:txBody>
      </p:sp>
      <p:sp>
        <p:nvSpPr>
          <p:cNvPr id="4" name="Footer Placeholder 3"/>
          <p:cNvSpPr>
            <a:spLocks noGrp="1"/>
          </p:cNvSpPr>
          <p:nvPr>
            <p:ph type="ftr" sz="quarter" idx="11"/>
          </p:nvPr>
        </p:nvSpPr>
        <p:spPr/>
        <p:txBody>
          <a:bodyPr/>
          <a:lstStyle/>
          <a:p>
            <a:pPr>
              <a:defRPr/>
            </a:pPr>
            <a:r>
              <a:rPr lang="en-US"/>
              <a:t>Decision Tree Learning</a:t>
            </a:r>
          </a:p>
        </p:txBody>
      </p:sp>
      <p:sp>
        <p:nvSpPr>
          <p:cNvPr id="5"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AEFE30E-B9E0-4BAD-A1F0-8FD00776FEBB}" type="slidenum">
              <a:rPr lang="en-US" altLang="en-US" sz="1200">
                <a:solidFill>
                  <a:srgbClr val="898989"/>
                </a:solidFill>
              </a:rPr>
              <a:pPr eaLnBrk="1" hangingPunct="1"/>
              <a:t>27</a:t>
            </a:fld>
            <a:endParaRPr lang="en-US" altLang="en-US" sz="1200">
              <a:solidFill>
                <a:srgbClr val="898989"/>
              </a:solidFill>
            </a:endParaRPr>
          </a:p>
        </p:txBody>
      </p:sp>
      <p:sp>
        <p:nvSpPr>
          <p:cNvPr id="20485" name="Text Box 3"/>
          <p:cNvSpPr txBox="1">
            <a:spLocks noChangeArrowheads="1"/>
          </p:cNvSpPr>
          <p:nvPr/>
        </p:nvSpPr>
        <p:spPr bwMode="auto">
          <a:xfrm>
            <a:off x="1219200" y="1692057"/>
            <a:ext cx="10515599"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buFontTx/>
              <a:buAutoNum type="arabicPeriod"/>
            </a:pPr>
            <a:r>
              <a:rPr lang="en-US" altLang="en-US" sz="2800" dirty="0">
                <a:latin typeface="+mn-lt"/>
              </a:rPr>
              <a:t>A </a:t>
            </a:r>
            <a:r>
              <a:rPr lang="en-US" altLang="en-US" sz="2800" dirty="0">
                <a:latin typeface="+mn-lt"/>
                <a:sym typeface="Symbol" panose="05050102010706020507" pitchFamily="18" charset="2"/>
              </a:rPr>
              <a:t> the “best” decision attribute for next </a:t>
            </a:r>
            <a:r>
              <a:rPr lang="en-US" altLang="en-US" sz="2800" i="1" dirty="0">
                <a:latin typeface="+mn-lt"/>
                <a:sym typeface="Symbol" panose="05050102010706020507" pitchFamily="18" charset="2"/>
              </a:rPr>
              <a:t>node</a:t>
            </a:r>
          </a:p>
          <a:p>
            <a:pPr eaLnBrk="1" hangingPunct="1">
              <a:buFontTx/>
              <a:buAutoNum type="arabicPeriod"/>
            </a:pPr>
            <a:r>
              <a:rPr lang="en-US" altLang="en-US" sz="2800" dirty="0">
                <a:latin typeface="+mn-lt"/>
              </a:rPr>
              <a:t>Assign A as decision attribute for </a:t>
            </a:r>
            <a:r>
              <a:rPr lang="en-US" altLang="en-US" sz="2800" i="1" dirty="0">
                <a:latin typeface="+mn-lt"/>
              </a:rPr>
              <a:t>node</a:t>
            </a:r>
          </a:p>
          <a:p>
            <a:pPr eaLnBrk="1" hangingPunct="1">
              <a:buFontTx/>
              <a:buAutoNum type="arabicPeriod"/>
            </a:pPr>
            <a:r>
              <a:rPr lang="en-US" altLang="en-US" sz="2800" dirty="0">
                <a:latin typeface="+mn-lt"/>
              </a:rPr>
              <a:t>For each value of A create new descendant </a:t>
            </a:r>
            <a:endParaRPr lang="en-US" altLang="en-US" sz="2800" i="1" dirty="0">
              <a:latin typeface="+mn-lt"/>
            </a:endParaRPr>
          </a:p>
          <a:p>
            <a:pPr eaLnBrk="1" hangingPunct="1">
              <a:buFontTx/>
              <a:buAutoNum type="arabicPeriod" startAt="4"/>
            </a:pPr>
            <a:r>
              <a:rPr lang="en-US" altLang="en-US" sz="2800" dirty="0">
                <a:latin typeface="+mn-lt"/>
              </a:rPr>
              <a:t>Sort training examples to leaf node according </a:t>
            </a:r>
            <a:r>
              <a:rPr lang="en-US" altLang="en-US" sz="2800" dirty="0" smtClean="0">
                <a:latin typeface="+mn-lt"/>
              </a:rPr>
              <a:t>to the </a:t>
            </a:r>
            <a:r>
              <a:rPr lang="en-US" altLang="en-US" sz="2800" dirty="0">
                <a:latin typeface="+mn-lt"/>
              </a:rPr>
              <a:t>attribute value of the branch</a:t>
            </a:r>
          </a:p>
          <a:p>
            <a:pPr eaLnBrk="1" hangingPunct="1">
              <a:buFontTx/>
              <a:buAutoNum type="arabicPeriod" startAt="5"/>
            </a:pPr>
            <a:r>
              <a:rPr lang="en-US" altLang="en-US" sz="2800" dirty="0">
                <a:latin typeface="+mn-lt"/>
              </a:rPr>
              <a:t>If all training examples are perfectly classified (same value of target attribute) stop, else iterate over new</a:t>
            </a:r>
            <a:r>
              <a:rPr lang="sv-SE" altLang="en-US" sz="2800" dirty="0">
                <a:latin typeface="+mn-lt"/>
              </a:rPr>
              <a:t> </a:t>
            </a:r>
            <a:r>
              <a:rPr lang="en-US" altLang="en-US" sz="2800" dirty="0">
                <a:latin typeface="+mn-lt"/>
              </a:rPr>
              <a:t>leaf nodes.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Entropy</a:t>
            </a:r>
            <a:endParaRPr lang="sv-SE" altLang="en-US" smtClean="0"/>
          </a:p>
        </p:txBody>
      </p:sp>
      <p:sp>
        <p:nvSpPr>
          <p:cNvPr id="21507" name="Rectangle 3"/>
          <p:cNvSpPr>
            <a:spLocks noGrp="1" noChangeArrowheads="1"/>
          </p:cNvSpPr>
          <p:nvPr>
            <p:ph idx="1"/>
          </p:nvPr>
        </p:nvSpPr>
        <p:spPr>
          <a:xfrm>
            <a:off x="1016000" y="1295400"/>
            <a:ext cx="10617200" cy="5257800"/>
          </a:xfrm>
        </p:spPr>
        <p:txBody>
          <a:bodyPr/>
          <a:lstStyle/>
          <a:p>
            <a:pPr eaLnBrk="1" hangingPunct="1"/>
            <a:r>
              <a:rPr lang="en-US" altLang="en-US" sz="2800" b="1" dirty="0"/>
              <a:t>Entropy</a:t>
            </a:r>
            <a:r>
              <a:rPr lang="en-US" altLang="en-US" sz="2800" dirty="0"/>
              <a:t>: A measure used from Information Theory in the ID3 algorithm and many others used in decision tree construction.</a:t>
            </a:r>
          </a:p>
          <a:p>
            <a:pPr eaLnBrk="1" hangingPunct="1"/>
            <a:r>
              <a:rPr lang="en-US" altLang="en-US" sz="2800" dirty="0"/>
              <a:t>Informally, the entropy of a dataset can be considered to be how disordered it is. It has been shown that entropy is related to information, in the sense that the higher the entropy, or uncertainty, of some data, then the more information is required in order to completely describe that data. </a:t>
            </a:r>
          </a:p>
          <a:p>
            <a:pPr eaLnBrk="1" hangingPunct="1"/>
            <a:r>
              <a:rPr lang="en-US" altLang="en-US" sz="2800" dirty="0"/>
              <a:t>In building a decision tree, we aim to decrease the entropy of the dataset until we reach leaf nodes at which point the subset that we are left with is pure, or has zero entropy and represents instances all of one class (all instances have the same value for the target attribute). </a:t>
            </a:r>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A3EE1AD-95E2-490C-B9FF-442056FAEBCB}" type="slidenum">
              <a:rPr lang="en-US" altLang="en-US" sz="1200">
                <a:solidFill>
                  <a:srgbClr val="898989"/>
                </a:solidFill>
              </a:rPr>
              <a:pPr eaLnBrk="1" hangingPunct="1"/>
              <a:t>28</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Entropy</a:t>
            </a:r>
            <a:endParaRPr lang="sv-SE" altLang="en-US" smtClean="0"/>
          </a:p>
        </p:txBody>
      </p:sp>
      <p:sp>
        <p:nvSpPr>
          <p:cNvPr id="22531" name="Rectangle 3"/>
          <p:cNvSpPr>
            <a:spLocks noGrp="1" noChangeArrowheads="1"/>
          </p:cNvSpPr>
          <p:nvPr>
            <p:ph idx="1"/>
          </p:nvPr>
        </p:nvSpPr>
        <p:spPr>
          <a:xfrm>
            <a:off x="1219200" y="1371601"/>
            <a:ext cx="10363200" cy="4456113"/>
          </a:xfrm>
        </p:spPr>
        <p:txBody>
          <a:bodyPr/>
          <a:lstStyle/>
          <a:p>
            <a:pPr eaLnBrk="1" hangingPunct="1"/>
            <a:r>
              <a:rPr lang="en-US" altLang="en-US" sz="2800" dirty="0"/>
              <a:t>We measure the entropy of a dataset, S, with respect to one attribute, in this case the target attribute, with the following calculation:</a:t>
            </a:r>
          </a:p>
          <a:p>
            <a:pPr eaLnBrk="1" hangingPunct="1"/>
            <a:endParaRPr lang="en-US" altLang="en-US" sz="2800" dirty="0"/>
          </a:p>
          <a:p>
            <a:pPr eaLnBrk="1" hangingPunct="1"/>
            <a:r>
              <a:rPr lang="en-US" altLang="en-US" sz="2800" dirty="0" smtClean="0"/>
              <a:t>Where </a:t>
            </a:r>
            <a:r>
              <a:rPr lang="en-US" altLang="en-US" sz="2800" dirty="0"/>
              <a:t>P</a:t>
            </a:r>
            <a:r>
              <a:rPr lang="en-US" altLang="en-US" sz="2800" baseline="-25000" dirty="0"/>
              <a:t>i</a:t>
            </a:r>
            <a:r>
              <a:rPr lang="en-US" altLang="en-US" sz="2800" dirty="0"/>
              <a:t> is the proportion of instances in the dataset that take the </a:t>
            </a:r>
            <a:r>
              <a:rPr lang="en-US" altLang="en-US" sz="2800" dirty="0" err="1"/>
              <a:t>i</a:t>
            </a:r>
            <a:r>
              <a:rPr lang="en-US" altLang="en-US" sz="2800" baseline="30000" dirty="0" err="1"/>
              <a:t>th</a:t>
            </a:r>
            <a:r>
              <a:rPr lang="en-US" altLang="en-US" sz="2800" dirty="0"/>
              <a:t> value of the target attribute </a:t>
            </a:r>
          </a:p>
          <a:p>
            <a:pPr eaLnBrk="1" hangingPunct="1"/>
            <a:r>
              <a:rPr lang="en-US" altLang="en-US" sz="2800" dirty="0"/>
              <a:t>This probability measures give us an indication of how uncertain we are about the data. And we use a log</a:t>
            </a:r>
            <a:r>
              <a:rPr lang="en-US" altLang="en-US" sz="2800" baseline="-25000" dirty="0"/>
              <a:t>2</a:t>
            </a:r>
            <a:r>
              <a:rPr lang="en-US" altLang="en-US" sz="2800" dirty="0"/>
              <a:t> measure as this represents how many bits we would need to use in order to specify what the class (value of the target attribute) is of a random instance. </a:t>
            </a:r>
            <a:endParaRPr lang="sv-SE" altLang="en-US" sz="2800" dirty="0"/>
          </a:p>
        </p:txBody>
      </p:sp>
      <p:sp>
        <p:nvSpPr>
          <p:cNvPr id="5" name="Footer Placeholder 4"/>
          <p:cNvSpPr>
            <a:spLocks noGrp="1"/>
          </p:cNvSpPr>
          <p:nvPr>
            <p:ph type="ftr" sz="quarter" idx="11"/>
          </p:nvPr>
        </p:nvSpPr>
        <p:spPr/>
        <p:txBody>
          <a:bodyPr/>
          <a:lstStyle/>
          <a:p>
            <a:pPr>
              <a:defRPr/>
            </a:pPr>
            <a:r>
              <a:rPr lang="en-US"/>
              <a:t>Decision Tree Learning</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7FB3EB1-5D1A-4C96-909E-2D366183ECE0}" type="slidenum">
              <a:rPr lang="en-US" altLang="en-US" sz="1200">
                <a:solidFill>
                  <a:srgbClr val="898989"/>
                </a:solidFill>
              </a:rPr>
              <a:pPr eaLnBrk="1" hangingPunct="1"/>
              <a:t>29</a:t>
            </a:fld>
            <a:endParaRPr lang="en-US" altLang="en-US" sz="1200">
              <a:solidFill>
                <a:srgbClr val="898989"/>
              </a:solidFill>
            </a:endParaRPr>
          </a:p>
        </p:txBody>
      </p:sp>
      <p:pic>
        <p:nvPicPr>
          <p:cNvPr id="2253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2286000"/>
            <a:ext cx="4267200" cy="96202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mtClean="0"/>
              <a:t>Entropy </a:t>
            </a:r>
            <a:r>
              <a:rPr lang="en-US" altLang="en-US" sz="2800"/>
              <a:t>(put another way)</a:t>
            </a:r>
            <a:endParaRPr lang="sv-SE" altLang="en-US" sz="2800"/>
          </a:p>
        </p:txBody>
      </p:sp>
      <p:sp>
        <p:nvSpPr>
          <p:cNvPr id="23555" name="Rectangle 3"/>
          <p:cNvSpPr>
            <a:spLocks noGrp="1" noChangeArrowheads="1"/>
          </p:cNvSpPr>
          <p:nvPr>
            <p:ph idx="1"/>
          </p:nvPr>
        </p:nvSpPr>
        <p:spPr>
          <a:xfrm>
            <a:off x="990600" y="1676401"/>
            <a:ext cx="10668000" cy="4456113"/>
          </a:xfrm>
        </p:spPr>
        <p:txBody>
          <a:bodyPr/>
          <a:lstStyle/>
          <a:p>
            <a:pPr eaLnBrk="1" hangingPunct="1">
              <a:lnSpc>
                <a:spcPct val="90000"/>
              </a:lnSpc>
            </a:pPr>
            <a:r>
              <a:rPr lang="sv-SE" altLang="en-US" sz="2800" dirty="0"/>
              <a:t>Entropy(S)= expected number of bits needed to encode class (+ or -) of randomly drawn members of S (under the optimal, shortest length-code)</a:t>
            </a:r>
          </a:p>
          <a:p>
            <a:pPr eaLnBrk="1" hangingPunct="1">
              <a:lnSpc>
                <a:spcPct val="90000"/>
              </a:lnSpc>
              <a:buFont typeface="Wingdings" panose="05000000000000000000" pitchFamily="2" charset="2"/>
              <a:buNone/>
            </a:pPr>
            <a:r>
              <a:rPr lang="sv-SE" altLang="en-US" sz="2800" dirty="0"/>
              <a:t>Why?</a:t>
            </a:r>
          </a:p>
          <a:p>
            <a:pPr eaLnBrk="1" hangingPunct="1">
              <a:lnSpc>
                <a:spcPct val="90000"/>
              </a:lnSpc>
            </a:pPr>
            <a:r>
              <a:rPr lang="sv-SE" altLang="en-US" sz="2800" dirty="0"/>
              <a:t>Information theory optimal length code assign </a:t>
            </a:r>
          </a:p>
          <a:p>
            <a:pPr eaLnBrk="1" hangingPunct="1">
              <a:lnSpc>
                <a:spcPct val="90000"/>
              </a:lnSpc>
              <a:buFont typeface="Wingdings" panose="05000000000000000000" pitchFamily="2" charset="2"/>
              <a:buNone/>
            </a:pPr>
            <a:r>
              <a:rPr lang="sv-SE" altLang="en-US" sz="2800" dirty="0"/>
              <a:t>     –log</a:t>
            </a:r>
            <a:r>
              <a:rPr lang="sv-SE" altLang="en-US" sz="2800" baseline="-25000" dirty="0"/>
              <a:t>2</a:t>
            </a:r>
            <a:r>
              <a:rPr lang="sv-SE" altLang="en-US" sz="2800" dirty="0"/>
              <a:t> p bits to messages having probability p.</a:t>
            </a:r>
          </a:p>
          <a:p>
            <a:pPr eaLnBrk="1" hangingPunct="1">
              <a:lnSpc>
                <a:spcPct val="90000"/>
              </a:lnSpc>
            </a:pPr>
            <a:r>
              <a:rPr lang="sv-SE" altLang="en-US" sz="2800" dirty="0"/>
              <a:t> So the expected number of bits to encode </a:t>
            </a:r>
          </a:p>
          <a:p>
            <a:pPr eaLnBrk="1" hangingPunct="1">
              <a:lnSpc>
                <a:spcPct val="90000"/>
              </a:lnSpc>
              <a:buFont typeface="Wingdings" panose="05000000000000000000" pitchFamily="2" charset="2"/>
              <a:buNone/>
            </a:pPr>
            <a:r>
              <a:rPr lang="sv-SE" altLang="en-US" sz="2800" dirty="0"/>
              <a:t>    (+ or -) of random member of S:</a:t>
            </a:r>
          </a:p>
          <a:p>
            <a:pPr lvl="1" eaLnBrk="1" hangingPunct="1">
              <a:lnSpc>
                <a:spcPct val="90000"/>
              </a:lnSpc>
              <a:buFont typeface="Wingdings" panose="05000000000000000000" pitchFamily="2" charset="2"/>
              <a:buNone/>
            </a:pPr>
            <a:r>
              <a:rPr lang="sv-SE" altLang="en-US" sz="3200" dirty="0" smtClean="0"/>
              <a:t> Entropy(S) = -p</a:t>
            </a:r>
            <a:r>
              <a:rPr lang="sv-SE" altLang="en-US" sz="3200" baseline="-25000" dirty="0" smtClean="0"/>
              <a:t>+</a:t>
            </a:r>
            <a:r>
              <a:rPr lang="sv-SE" altLang="en-US" sz="3200" dirty="0" smtClean="0"/>
              <a:t> log</a:t>
            </a:r>
            <a:r>
              <a:rPr lang="sv-SE" altLang="en-US" sz="3200" baseline="-25000" dirty="0" smtClean="0"/>
              <a:t>2</a:t>
            </a:r>
            <a:r>
              <a:rPr lang="sv-SE" altLang="en-US" sz="3200" dirty="0" smtClean="0"/>
              <a:t> p</a:t>
            </a:r>
            <a:r>
              <a:rPr lang="sv-SE" altLang="en-US" sz="3200" baseline="-25000" dirty="0" smtClean="0"/>
              <a:t>+</a:t>
            </a:r>
            <a:r>
              <a:rPr lang="sv-SE" altLang="en-US" sz="3200" dirty="0" smtClean="0"/>
              <a:t> - p</a:t>
            </a:r>
            <a:r>
              <a:rPr lang="sv-SE" altLang="en-US" sz="3200" baseline="-25000" dirty="0" smtClean="0"/>
              <a:t>-</a:t>
            </a:r>
            <a:r>
              <a:rPr lang="sv-SE" altLang="en-US" sz="3200" dirty="0" smtClean="0"/>
              <a:t> log</a:t>
            </a:r>
            <a:r>
              <a:rPr lang="sv-SE" altLang="en-US" sz="3200" baseline="-25000" dirty="0" smtClean="0"/>
              <a:t>2</a:t>
            </a:r>
            <a:r>
              <a:rPr lang="sv-SE" altLang="en-US" sz="3200" dirty="0" smtClean="0"/>
              <a:t> p</a:t>
            </a:r>
            <a:r>
              <a:rPr lang="sv-SE" altLang="en-US" sz="3200" baseline="-25000" dirty="0" smtClean="0"/>
              <a:t>-</a:t>
            </a:r>
          </a:p>
          <a:p>
            <a:pPr eaLnBrk="1" hangingPunct="1">
              <a:lnSpc>
                <a:spcPct val="90000"/>
              </a:lnSpc>
            </a:pPr>
            <a:endParaRPr lang="sv-SE" altLang="en-US" sz="2800" dirty="0"/>
          </a:p>
          <a:p>
            <a:pPr eaLnBrk="1" hangingPunct="1">
              <a:lnSpc>
                <a:spcPct val="90000"/>
              </a:lnSpc>
            </a:pPr>
            <a:endParaRPr lang="sv-SE" altLang="en-US" sz="2800" dirty="0"/>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35C7C45-B230-439D-A343-79D0FD1E8B01}" type="slidenum">
              <a:rPr lang="en-US" altLang="en-US" sz="1200">
                <a:solidFill>
                  <a:srgbClr val="898989"/>
                </a:solidFill>
              </a:rPr>
              <a:pPr eaLnBrk="1" hangingPunct="1"/>
              <a:t>30</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09600" y="1447800"/>
            <a:ext cx="10972800" cy="4525963"/>
          </a:xfrm>
        </p:spPr>
        <p:txBody>
          <a:bodyPr/>
          <a:lstStyle/>
          <a:p>
            <a:pPr eaLnBrk="1" hangingPunct="1">
              <a:lnSpc>
                <a:spcPct val="90000"/>
              </a:lnSpc>
            </a:pPr>
            <a:r>
              <a:rPr lang="en-US" altLang="en-US" dirty="0" smtClean="0"/>
              <a:t>For </a:t>
            </a:r>
            <a:r>
              <a:rPr lang="en-US" altLang="en-US" dirty="0"/>
              <a:t>example,</a:t>
            </a:r>
          </a:p>
          <a:p>
            <a:pPr lvl="1" eaLnBrk="1" hangingPunct="1">
              <a:lnSpc>
                <a:spcPct val="90000"/>
              </a:lnSpc>
            </a:pPr>
            <a:r>
              <a:rPr lang="en-US" altLang="en-US" dirty="0"/>
              <a:t>If P is </a:t>
            </a:r>
            <a:r>
              <a:rPr lang="en-US" altLang="en-US" dirty="0" smtClean="0"/>
              <a:t>(1/2, 1/2), </a:t>
            </a:r>
            <a:r>
              <a:rPr lang="en-US" altLang="en-US" dirty="0"/>
              <a:t>then I(P) is 1.</a:t>
            </a:r>
          </a:p>
          <a:p>
            <a:pPr lvl="1" eaLnBrk="1" hangingPunct="1">
              <a:lnSpc>
                <a:spcPct val="90000"/>
              </a:lnSpc>
            </a:pPr>
            <a:r>
              <a:rPr lang="en-US" altLang="en-US" dirty="0"/>
              <a:t>If P is </a:t>
            </a:r>
            <a:r>
              <a:rPr lang="en-US" altLang="en-US" dirty="0" smtClean="0"/>
              <a:t>(2/3, 1/3), </a:t>
            </a:r>
            <a:r>
              <a:rPr lang="en-US" altLang="en-US" dirty="0"/>
              <a:t>then I(P) is 0.92,</a:t>
            </a:r>
          </a:p>
          <a:p>
            <a:pPr lvl="1" eaLnBrk="1" hangingPunct="1">
              <a:lnSpc>
                <a:spcPct val="90000"/>
              </a:lnSpc>
            </a:pPr>
            <a:r>
              <a:rPr lang="en-US" altLang="en-US" dirty="0">
                <a:solidFill>
                  <a:srgbClr val="FF0000"/>
                </a:solidFill>
              </a:rPr>
              <a:t>If P is (1, 0), then I(P) is 0.</a:t>
            </a:r>
          </a:p>
          <a:p>
            <a:pPr eaLnBrk="1" hangingPunct="1">
              <a:lnSpc>
                <a:spcPct val="90000"/>
              </a:lnSpc>
            </a:pPr>
            <a:r>
              <a:rPr lang="en-US" altLang="en-US" dirty="0"/>
              <a:t>The </a:t>
            </a:r>
            <a:r>
              <a:rPr lang="en-US" altLang="en-US" b="1" dirty="0">
                <a:solidFill>
                  <a:schemeClr val="folHlink"/>
                </a:solidFill>
              </a:rPr>
              <a:t>entropy</a:t>
            </a:r>
            <a:r>
              <a:rPr lang="en-US" altLang="en-US" dirty="0"/>
              <a:t> is a way to measure the amount of information.</a:t>
            </a:r>
          </a:p>
          <a:p>
            <a:endParaRPr lang="en-US"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31</a:t>
            </a:fld>
            <a:endParaRPr lang="en-US" altLang="en-US"/>
          </a:p>
        </p:txBody>
      </p:sp>
      <p:pic>
        <p:nvPicPr>
          <p:cNvPr id="6" name="Picture 5"/>
          <p:cNvPicPr>
            <a:picLocks noChangeAspect="1"/>
          </p:cNvPicPr>
          <p:nvPr/>
        </p:nvPicPr>
        <p:blipFill>
          <a:blip r:embed="rId2"/>
          <a:stretch>
            <a:fillRect/>
          </a:stretch>
        </p:blipFill>
        <p:spPr>
          <a:xfrm>
            <a:off x="2819400" y="4191000"/>
            <a:ext cx="5526003" cy="1234726"/>
          </a:xfrm>
          <a:prstGeom prst="rect">
            <a:avLst/>
          </a:prstGeom>
        </p:spPr>
      </p:pic>
      <p:pic>
        <p:nvPicPr>
          <p:cNvPr id="7" name="Picture 6"/>
          <p:cNvPicPr>
            <a:picLocks noChangeAspect="1"/>
          </p:cNvPicPr>
          <p:nvPr/>
        </p:nvPicPr>
        <p:blipFill>
          <a:blip r:embed="rId3"/>
          <a:stretch>
            <a:fillRect/>
          </a:stretch>
        </p:blipFill>
        <p:spPr>
          <a:xfrm>
            <a:off x="5029200" y="5498401"/>
            <a:ext cx="5791498" cy="1257365"/>
          </a:xfrm>
          <a:prstGeom prst="rect">
            <a:avLst/>
          </a:prstGeom>
        </p:spPr>
      </p:pic>
      <p:sp>
        <p:nvSpPr>
          <p:cNvPr id="8" name="TextBox 7"/>
          <p:cNvSpPr txBox="1"/>
          <p:nvPr/>
        </p:nvSpPr>
        <p:spPr>
          <a:xfrm>
            <a:off x="609600" y="4408253"/>
            <a:ext cx="1676400" cy="400110"/>
          </a:xfrm>
          <a:prstGeom prst="rect">
            <a:avLst/>
          </a:prstGeom>
          <a:noFill/>
        </p:spPr>
        <p:txBody>
          <a:bodyPr wrap="square" rtlCol="0">
            <a:spAutoFit/>
          </a:bodyPr>
          <a:lstStyle/>
          <a:p>
            <a:r>
              <a:rPr lang="en-US" sz="2000" dirty="0" smtClean="0"/>
              <a:t>Example 1</a:t>
            </a:r>
            <a:endParaRPr lang="en-US" sz="2000" dirty="0"/>
          </a:p>
        </p:txBody>
      </p:sp>
      <p:sp>
        <p:nvSpPr>
          <p:cNvPr id="9" name="TextBox 8"/>
          <p:cNvSpPr txBox="1"/>
          <p:nvPr/>
        </p:nvSpPr>
        <p:spPr>
          <a:xfrm>
            <a:off x="3048000" y="5773708"/>
            <a:ext cx="1676400" cy="400110"/>
          </a:xfrm>
          <a:prstGeom prst="rect">
            <a:avLst/>
          </a:prstGeom>
          <a:noFill/>
        </p:spPr>
        <p:txBody>
          <a:bodyPr wrap="square" rtlCol="0">
            <a:spAutoFit/>
          </a:bodyPr>
          <a:lstStyle/>
          <a:p>
            <a:r>
              <a:rPr lang="en-US" sz="2000" dirty="0" smtClean="0"/>
              <a:t>Example 2</a:t>
            </a:r>
            <a:endParaRPr lang="en-US" sz="2000" dirty="0"/>
          </a:p>
        </p:txBody>
      </p:sp>
    </p:spTree>
    <p:extLst>
      <p:ext uri="{BB962C8B-B14F-4D97-AF65-F5344CB8AC3E}">
        <p14:creationId xmlns:p14="http://schemas.microsoft.com/office/powerpoint/2010/main" val="31801968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620000" y="274638"/>
            <a:ext cx="3962400" cy="1143000"/>
          </a:xfrm>
        </p:spPr>
        <p:txBody>
          <a:bodyPr/>
          <a:lstStyle/>
          <a:p>
            <a:pPr eaLnBrk="1" hangingPunct="1"/>
            <a:r>
              <a:rPr lang="en-US" altLang="en-US" dirty="0" smtClean="0"/>
              <a:t>Entropy</a:t>
            </a:r>
            <a:endParaRPr lang="sv-SE" altLang="en-US" dirty="0" smtClean="0"/>
          </a:p>
        </p:txBody>
      </p:sp>
      <p:sp>
        <p:nvSpPr>
          <p:cNvPr id="24579" name="Rectangle 3"/>
          <p:cNvSpPr>
            <a:spLocks noGrp="1" noChangeArrowheads="1"/>
          </p:cNvSpPr>
          <p:nvPr>
            <p:ph idx="1"/>
          </p:nvPr>
        </p:nvSpPr>
        <p:spPr>
          <a:xfrm>
            <a:off x="2667000" y="4191000"/>
            <a:ext cx="7543800" cy="4114800"/>
          </a:xfrm>
        </p:spPr>
        <p:txBody>
          <a:bodyPr/>
          <a:lstStyle/>
          <a:p>
            <a:pPr eaLnBrk="1" hangingPunct="1"/>
            <a:r>
              <a:rPr lang="sv-SE" altLang="en-US" sz="2400" dirty="0"/>
              <a:t>S is a sample of training examples</a:t>
            </a:r>
          </a:p>
          <a:p>
            <a:pPr eaLnBrk="1" hangingPunct="1"/>
            <a:r>
              <a:rPr lang="sv-SE" altLang="en-US" sz="2400" dirty="0"/>
              <a:t>p</a:t>
            </a:r>
            <a:r>
              <a:rPr lang="sv-SE" altLang="en-US" sz="2400" baseline="-25000" dirty="0"/>
              <a:t>+</a:t>
            </a:r>
            <a:r>
              <a:rPr lang="sv-SE" altLang="en-US" sz="2400" dirty="0"/>
              <a:t> is the proportion of positive examples</a:t>
            </a:r>
          </a:p>
          <a:p>
            <a:pPr eaLnBrk="1" hangingPunct="1"/>
            <a:r>
              <a:rPr lang="sv-SE" altLang="en-US" sz="2400" dirty="0"/>
              <a:t>p</a:t>
            </a:r>
            <a:r>
              <a:rPr lang="sv-SE" altLang="en-US" sz="2400" baseline="-25000" dirty="0"/>
              <a:t>-</a:t>
            </a:r>
            <a:r>
              <a:rPr lang="sv-SE" altLang="en-US" sz="2400" dirty="0"/>
              <a:t> is the proportion of negative examples</a:t>
            </a:r>
          </a:p>
          <a:p>
            <a:pPr eaLnBrk="1" hangingPunct="1"/>
            <a:r>
              <a:rPr lang="sv-SE" altLang="en-US" sz="2400" dirty="0"/>
              <a:t>Entropy measures the impurity of S</a:t>
            </a:r>
          </a:p>
          <a:p>
            <a:pPr lvl="1" eaLnBrk="1" hangingPunct="1">
              <a:buFont typeface="Wingdings" panose="05000000000000000000" pitchFamily="2" charset="2"/>
              <a:buNone/>
            </a:pPr>
            <a:r>
              <a:rPr lang="sv-SE" altLang="en-US" dirty="0" smtClean="0"/>
              <a:t>Entropy(S) = -p</a:t>
            </a:r>
            <a:r>
              <a:rPr lang="sv-SE" altLang="en-US" baseline="-25000" dirty="0" smtClean="0"/>
              <a:t>+</a:t>
            </a:r>
            <a:r>
              <a:rPr lang="sv-SE" altLang="en-US" dirty="0" smtClean="0"/>
              <a:t> log</a:t>
            </a:r>
            <a:r>
              <a:rPr lang="sv-SE" altLang="en-US" baseline="-25000" dirty="0" smtClean="0"/>
              <a:t>2</a:t>
            </a:r>
            <a:r>
              <a:rPr lang="sv-SE" altLang="en-US" dirty="0" smtClean="0"/>
              <a:t> p</a:t>
            </a:r>
            <a:r>
              <a:rPr lang="sv-SE" altLang="en-US" baseline="-25000" dirty="0" smtClean="0"/>
              <a:t>+</a:t>
            </a:r>
            <a:r>
              <a:rPr lang="sv-SE" altLang="en-US" dirty="0" smtClean="0"/>
              <a:t> - p</a:t>
            </a:r>
            <a:r>
              <a:rPr lang="sv-SE" altLang="en-US" baseline="-25000" dirty="0" smtClean="0"/>
              <a:t>-</a:t>
            </a:r>
            <a:r>
              <a:rPr lang="sv-SE" altLang="en-US" dirty="0" smtClean="0"/>
              <a:t> log</a:t>
            </a:r>
            <a:r>
              <a:rPr lang="sv-SE" altLang="en-US" baseline="-25000" dirty="0" smtClean="0"/>
              <a:t>2</a:t>
            </a:r>
            <a:r>
              <a:rPr lang="sv-SE" altLang="en-US" dirty="0" smtClean="0"/>
              <a:t> p</a:t>
            </a:r>
            <a:r>
              <a:rPr lang="sv-SE" altLang="en-US" baseline="-25000" dirty="0" smtClean="0"/>
              <a:t>-</a:t>
            </a:r>
          </a:p>
        </p:txBody>
      </p:sp>
      <p:sp>
        <p:nvSpPr>
          <p:cNvPr id="5" name="Footer Placeholder 4"/>
          <p:cNvSpPr>
            <a:spLocks noGrp="1"/>
          </p:cNvSpPr>
          <p:nvPr>
            <p:ph type="ftr" sz="quarter" idx="11"/>
          </p:nvPr>
        </p:nvSpPr>
        <p:spPr/>
        <p:txBody>
          <a:bodyPr/>
          <a:lstStyle/>
          <a:p>
            <a:pPr>
              <a:defRPr/>
            </a:pPr>
            <a:r>
              <a:rPr lang="en-US"/>
              <a:t>Decision Tree Learning</a:t>
            </a:r>
          </a:p>
        </p:txBody>
      </p:sp>
      <p:sp>
        <p:nvSpPr>
          <p:cNvPr id="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AE4F197-EEE0-4858-800D-0EAFF2369C6A}" type="slidenum">
              <a:rPr lang="en-US" altLang="en-US" sz="1200">
                <a:solidFill>
                  <a:srgbClr val="898989"/>
                </a:solidFill>
              </a:rPr>
              <a:pPr eaLnBrk="1" hangingPunct="1"/>
              <a:t>32</a:t>
            </a:fld>
            <a:endParaRPr lang="en-US" altLang="en-US" sz="1200">
              <a:solidFill>
                <a:srgbClr val="898989"/>
              </a:solidFill>
            </a:endParaRPr>
          </a:p>
        </p:txBody>
      </p:sp>
      <p:pic>
        <p:nvPicPr>
          <p:cNvPr id="24582" name="Picture 4" descr="entr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8631" y="533400"/>
            <a:ext cx="587716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Gain</a:t>
            </a:r>
            <a:endParaRPr lang="en-US" dirty="0"/>
          </a:p>
        </p:txBody>
      </p:sp>
      <p:sp>
        <p:nvSpPr>
          <p:cNvPr id="3" name="Content Placeholder 2"/>
          <p:cNvSpPr>
            <a:spLocks noGrp="1"/>
          </p:cNvSpPr>
          <p:nvPr>
            <p:ph idx="1"/>
          </p:nvPr>
        </p:nvSpPr>
        <p:spPr/>
        <p:txBody>
          <a:bodyPr/>
          <a:lstStyle/>
          <a:p>
            <a:r>
              <a:rPr lang="en-US" sz="2800" dirty="0"/>
              <a:t>Given entropy as a measure of the impurity in a collection of training examples, we can now define a measure of the effectiveness of an attribute in classifying the training data. </a:t>
            </a:r>
            <a:endParaRPr lang="en-US" sz="2800" dirty="0" smtClean="0"/>
          </a:p>
          <a:p>
            <a:r>
              <a:rPr lang="en-US" sz="2800" dirty="0" smtClean="0"/>
              <a:t>The </a:t>
            </a:r>
            <a:r>
              <a:rPr lang="en-US" sz="2800" dirty="0"/>
              <a:t>measure we will use, called </a:t>
            </a:r>
            <a:r>
              <a:rPr lang="en-US" sz="2800" b="1" dirty="0"/>
              <a:t>information gain</a:t>
            </a:r>
            <a:r>
              <a:rPr lang="en-US" sz="2800" dirty="0"/>
              <a:t>, is simply the expected reduction in entropy caused by partitioning the examples according to this attribute. More precisely, the information gain, Gain(S, A) of an attribute A, relative to a collection of examples S, is defined as</a:t>
            </a:r>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33</a:t>
            </a:fld>
            <a:endParaRPr lang="en-US" altLang="en-US"/>
          </a:p>
        </p:txBody>
      </p:sp>
      <p:pic>
        <p:nvPicPr>
          <p:cNvPr id="6" name="Picture 5"/>
          <p:cNvPicPr>
            <a:picLocks noChangeAspect="1"/>
          </p:cNvPicPr>
          <p:nvPr/>
        </p:nvPicPr>
        <p:blipFill>
          <a:blip r:embed="rId2"/>
          <a:stretch>
            <a:fillRect/>
          </a:stretch>
        </p:blipFill>
        <p:spPr>
          <a:xfrm>
            <a:off x="2057400" y="4916474"/>
            <a:ext cx="7271151" cy="1209690"/>
          </a:xfrm>
          <a:prstGeom prst="rect">
            <a:avLst/>
          </a:prstGeom>
        </p:spPr>
      </p:pic>
    </p:spTree>
    <p:extLst>
      <p:ext uri="{BB962C8B-B14F-4D97-AF65-F5344CB8AC3E}">
        <p14:creationId xmlns:p14="http://schemas.microsoft.com/office/powerpoint/2010/main" val="8892469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sv-SE" altLang="en-US" sz="4000" dirty="0"/>
              <a:t>Which Attribute is ”best”?</a:t>
            </a:r>
            <a:br>
              <a:rPr lang="sv-SE" altLang="en-US" sz="4000" dirty="0"/>
            </a:br>
            <a:r>
              <a:rPr lang="sv-SE" altLang="en-US" sz="4000" dirty="0"/>
              <a:t>Sweets example</a:t>
            </a:r>
            <a:endParaRPr lang="en-US" altLang="en-US" sz="4000" dirty="0"/>
          </a:p>
        </p:txBody>
      </p:sp>
      <p:sp>
        <p:nvSpPr>
          <p:cNvPr id="22" name="Footer Placeholder 3"/>
          <p:cNvSpPr>
            <a:spLocks noGrp="1"/>
          </p:cNvSpPr>
          <p:nvPr>
            <p:ph type="ftr" sz="quarter" idx="11"/>
          </p:nvPr>
        </p:nvSpPr>
        <p:spPr/>
        <p:txBody>
          <a:bodyPr/>
          <a:lstStyle/>
          <a:p>
            <a:pPr>
              <a:defRPr/>
            </a:pPr>
            <a:r>
              <a:rPr lang="en-US"/>
              <a:t>Decision Tree Learning</a:t>
            </a:r>
          </a:p>
        </p:txBody>
      </p:sp>
      <p:sp>
        <p:nvSpPr>
          <p:cNvPr id="23"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0CD9E39-C391-4E26-A480-40BD57F85367}" type="slidenum">
              <a:rPr lang="en-US" altLang="en-US" sz="1200">
                <a:solidFill>
                  <a:srgbClr val="898989"/>
                </a:solidFill>
              </a:rPr>
              <a:pPr eaLnBrk="1" hangingPunct="1"/>
              <a:t>34</a:t>
            </a:fld>
            <a:endParaRPr lang="en-US" altLang="en-US" sz="1200">
              <a:solidFill>
                <a:srgbClr val="898989"/>
              </a:solidFill>
            </a:endParaRPr>
          </a:p>
        </p:txBody>
      </p:sp>
      <p:grpSp>
        <p:nvGrpSpPr>
          <p:cNvPr id="2" name="Group 3"/>
          <p:cNvGrpSpPr>
            <a:grpSpLocks/>
          </p:cNvGrpSpPr>
          <p:nvPr/>
        </p:nvGrpSpPr>
        <p:grpSpPr bwMode="auto">
          <a:xfrm>
            <a:off x="3640571" y="1680796"/>
            <a:ext cx="2581275" cy="2239963"/>
            <a:chOff x="261" y="2880"/>
            <a:chExt cx="2318" cy="1051"/>
          </a:xfrm>
        </p:grpSpPr>
        <p:sp>
          <p:nvSpPr>
            <p:cNvPr id="27677" name="Line 4"/>
            <p:cNvSpPr>
              <a:spLocks noChangeShapeType="1"/>
            </p:cNvSpPr>
            <p:nvPr/>
          </p:nvSpPr>
          <p:spPr bwMode="auto">
            <a:xfrm flipH="1">
              <a:off x="830" y="3091"/>
              <a:ext cx="47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78" name="Line 5"/>
            <p:cNvSpPr>
              <a:spLocks noChangeShapeType="1"/>
            </p:cNvSpPr>
            <p:nvPr/>
          </p:nvSpPr>
          <p:spPr bwMode="auto">
            <a:xfrm>
              <a:off x="1463" y="3091"/>
              <a:ext cx="43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79" name="Text Box 6"/>
            <p:cNvSpPr txBox="1">
              <a:spLocks noChangeArrowheads="1"/>
            </p:cNvSpPr>
            <p:nvPr/>
          </p:nvSpPr>
          <p:spPr bwMode="auto">
            <a:xfrm>
              <a:off x="1147" y="2880"/>
              <a:ext cx="979" cy="173"/>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Shape=?</a:t>
              </a:r>
            </a:p>
          </p:txBody>
        </p:sp>
        <p:sp>
          <p:nvSpPr>
            <p:cNvPr id="27680" name="Text Box 7"/>
            <p:cNvSpPr txBox="1">
              <a:spLocks noChangeArrowheads="1"/>
            </p:cNvSpPr>
            <p:nvPr/>
          </p:nvSpPr>
          <p:spPr bwMode="auto">
            <a:xfrm>
              <a:off x="623" y="3372"/>
              <a:ext cx="748" cy="17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Round</a:t>
              </a:r>
            </a:p>
          </p:txBody>
        </p:sp>
        <p:sp>
          <p:nvSpPr>
            <p:cNvPr id="27681" name="Text Box 8"/>
            <p:cNvSpPr txBox="1">
              <a:spLocks noChangeArrowheads="1"/>
            </p:cNvSpPr>
            <p:nvPr/>
          </p:nvSpPr>
          <p:spPr bwMode="auto">
            <a:xfrm>
              <a:off x="1542" y="3372"/>
              <a:ext cx="805" cy="17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Square</a:t>
              </a:r>
            </a:p>
          </p:txBody>
        </p:sp>
        <p:sp>
          <p:nvSpPr>
            <p:cNvPr id="27682" name="Text Box 9"/>
            <p:cNvSpPr txBox="1">
              <a:spLocks noChangeArrowheads="1"/>
            </p:cNvSpPr>
            <p:nvPr/>
          </p:nvSpPr>
          <p:spPr bwMode="auto">
            <a:xfrm>
              <a:off x="432" y="3758"/>
              <a:ext cx="841" cy="17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[1+,2-]</a:t>
              </a:r>
            </a:p>
          </p:txBody>
        </p:sp>
        <p:sp>
          <p:nvSpPr>
            <p:cNvPr id="27683" name="Text Box 10"/>
            <p:cNvSpPr txBox="1">
              <a:spLocks noChangeArrowheads="1"/>
            </p:cNvSpPr>
            <p:nvPr/>
          </p:nvSpPr>
          <p:spPr bwMode="auto">
            <a:xfrm>
              <a:off x="1738" y="3758"/>
              <a:ext cx="841" cy="17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[2+,1-]</a:t>
              </a:r>
            </a:p>
          </p:txBody>
        </p:sp>
        <p:sp>
          <p:nvSpPr>
            <p:cNvPr id="27684" name="Text Box 11"/>
            <p:cNvSpPr txBox="1">
              <a:spLocks noChangeArrowheads="1"/>
            </p:cNvSpPr>
            <p:nvPr/>
          </p:nvSpPr>
          <p:spPr bwMode="auto">
            <a:xfrm>
              <a:off x="261" y="2880"/>
              <a:ext cx="84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[3+,3-]</a:t>
              </a:r>
            </a:p>
          </p:txBody>
        </p:sp>
      </p:grpSp>
      <p:pic>
        <p:nvPicPr>
          <p:cNvPr id="27654"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495799"/>
            <a:ext cx="5608816" cy="215516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nvGrpSpPr>
          <p:cNvPr id="3" name="Group 3"/>
          <p:cNvGrpSpPr>
            <a:grpSpLocks/>
          </p:cNvGrpSpPr>
          <p:nvPr/>
        </p:nvGrpSpPr>
        <p:grpSpPr bwMode="auto">
          <a:xfrm>
            <a:off x="507637" y="1757850"/>
            <a:ext cx="2463800" cy="2070100"/>
            <a:chOff x="144" y="2880"/>
            <a:chExt cx="2571" cy="1069"/>
          </a:xfrm>
        </p:grpSpPr>
        <p:sp>
          <p:nvSpPr>
            <p:cNvPr id="27669" name="Line 4"/>
            <p:cNvSpPr>
              <a:spLocks noChangeShapeType="1"/>
            </p:cNvSpPr>
            <p:nvPr/>
          </p:nvSpPr>
          <p:spPr bwMode="auto">
            <a:xfrm flipH="1">
              <a:off x="830" y="3091"/>
              <a:ext cx="47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70" name="Line 5"/>
            <p:cNvSpPr>
              <a:spLocks noChangeShapeType="1"/>
            </p:cNvSpPr>
            <p:nvPr/>
          </p:nvSpPr>
          <p:spPr bwMode="auto">
            <a:xfrm>
              <a:off x="1463" y="3091"/>
              <a:ext cx="43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71" name="Text Box 6"/>
            <p:cNvSpPr txBox="1">
              <a:spLocks noChangeArrowheads="1"/>
            </p:cNvSpPr>
            <p:nvPr/>
          </p:nvSpPr>
          <p:spPr bwMode="auto">
            <a:xfrm>
              <a:off x="1147" y="2880"/>
              <a:ext cx="904" cy="191"/>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Size=?</a:t>
              </a:r>
            </a:p>
          </p:txBody>
        </p:sp>
        <p:sp>
          <p:nvSpPr>
            <p:cNvPr id="27672" name="Text Box 7"/>
            <p:cNvSpPr txBox="1">
              <a:spLocks noChangeArrowheads="1"/>
            </p:cNvSpPr>
            <p:nvPr/>
          </p:nvSpPr>
          <p:spPr bwMode="auto">
            <a:xfrm>
              <a:off x="751" y="3372"/>
              <a:ext cx="525" cy="191"/>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Big</a:t>
              </a:r>
            </a:p>
          </p:txBody>
        </p:sp>
        <p:sp>
          <p:nvSpPr>
            <p:cNvPr id="27673" name="Text Box 8"/>
            <p:cNvSpPr txBox="1">
              <a:spLocks noChangeArrowheads="1"/>
            </p:cNvSpPr>
            <p:nvPr/>
          </p:nvSpPr>
          <p:spPr bwMode="auto">
            <a:xfrm>
              <a:off x="1542" y="3372"/>
              <a:ext cx="767" cy="191"/>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Small</a:t>
              </a:r>
            </a:p>
          </p:txBody>
        </p:sp>
        <p:sp>
          <p:nvSpPr>
            <p:cNvPr id="27674" name="Text Box 9"/>
            <p:cNvSpPr txBox="1">
              <a:spLocks noChangeArrowheads="1"/>
            </p:cNvSpPr>
            <p:nvPr/>
          </p:nvSpPr>
          <p:spPr bwMode="auto">
            <a:xfrm>
              <a:off x="432" y="3758"/>
              <a:ext cx="977" cy="191"/>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[3+,1-]</a:t>
              </a:r>
            </a:p>
          </p:txBody>
        </p:sp>
        <p:sp>
          <p:nvSpPr>
            <p:cNvPr id="27675" name="Text Box 10"/>
            <p:cNvSpPr txBox="1">
              <a:spLocks noChangeArrowheads="1"/>
            </p:cNvSpPr>
            <p:nvPr/>
          </p:nvSpPr>
          <p:spPr bwMode="auto">
            <a:xfrm>
              <a:off x="1738" y="3758"/>
              <a:ext cx="977" cy="191"/>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[0+,2-]</a:t>
              </a:r>
            </a:p>
          </p:txBody>
        </p:sp>
        <p:sp>
          <p:nvSpPr>
            <p:cNvPr id="27676" name="Text Box 11"/>
            <p:cNvSpPr txBox="1">
              <a:spLocks noChangeArrowheads="1"/>
            </p:cNvSpPr>
            <p:nvPr/>
          </p:nvSpPr>
          <p:spPr bwMode="auto">
            <a:xfrm>
              <a:off x="144" y="2880"/>
              <a:ext cx="97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[3+,3-]</a:t>
              </a:r>
            </a:p>
          </p:txBody>
        </p:sp>
      </p:grpSp>
      <p:grpSp>
        <p:nvGrpSpPr>
          <p:cNvPr id="27656" name="Group 35"/>
          <p:cNvGrpSpPr>
            <a:grpSpLocks/>
          </p:cNvGrpSpPr>
          <p:nvPr/>
        </p:nvGrpSpPr>
        <p:grpSpPr bwMode="auto">
          <a:xfrm>
            <a:off x="6653214" y="1447801"/>
            <a:ext cx="3709987" cy="2759075"/>
            <a:chOff x="4953004" y="1829350"/>
            <a:chExt cx="3710725" cy="2758918"/>
          </a:xfrm>
        </p:grpSpPr>
        <p:grpSp>
          <p:nvGrpSpPr>
            <p:cNvPr id="27657" name="Group 12"/>
            <p:cNvGrpSpPr>
              <a:grpSpLocks/>
            </p:cNvGrpSpPr>
            <p:nvPr/>
          </p:nvGrpSpPr>
          <p:grpSpPr bwMode="auto">
            <a:xfrm>
              <a:off x="4953004" y="1829350"/>
              <a:ext cx="2943227" cy="2758918"/>
              <a:chOff x="3408" y="2932"/>
              <a:chExt cx="1854" cy="938"/>
            </a:xfrm>
          </p:grpSpPr>
          <p:sp>
            <p:nvSpPr>
              <p:cNvPr id="27661" name="Line 13"/>
              <p:cNvSpPr>
                <a:spLocks noChangeShapeType="1"/>
              </p:cNvSpPr>
              <p:nvPr/>
            </p:nvSpPr>
            <p:spPr bwMode="auto">
              <a:xfrm flipH="1">
                <a:off x="3696" y="3091"/>
                <a:ext cx="585" cy="67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2" name="Line 14"/>
              <p:cNvSpPr>
                <a:spLocks noChangeShapeType="1"/>
              </p:cNvSpPr>
              <p:nvPr/>
            </p:nvSpPr>
            <p:spPr bwMode="auto">
              <a:xfrm>
                <a:off x="4320" y="3091"/>
                <a:ext cx="336" cy="72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3" name="Text Box 15"/>
              <p:cNvSpPr txBox="1">
                <a:spLocks noChangeArrowheads="1"/>
              </p:cNvSpPr>
              <p:nvPr/>
            </p:nvSpPr>
            <p:spPr bwMode="auto">
              <a:xfrm>
                <a:off x="3936" y="2932"/>
                <a:ext cx="682" cy="126"/>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colour=?</a:t>
                </a:r>
              </a:p>
            </p:txBody>
          </p:sp>
          <p:sp>
            <p:nvSpPr>
              <p:cNvPr id="27664" name="Text Box 16"/>
              <p:cNvSpPr txBox="1">
                <a:spLocks noChangeArrowheads="1"/>
              </p:cNvSpPr>
              <p:nvPr/>
            </p:nvSpPr>
            <p:spPr bwMode="auto">
              <a:xfrm>
                <a:off x="3727" y="3372"/>
                <a:ext cx="361" cy="126"/>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Red</a:t>
                </a:r>
              </a:p>
            </p:txBody>
          </p:sp>
          <p:sp>
            <p:nvSpPr>
              <p:cNvPr id="27665" name="Text Box 17"/>
              <p:cNvSpPr txBox="1">
                <a:spLocks noChangeArrowheads="1"/>
              </p:cNvSpPr>
              <p:nvPr/>
            </p:nvSpPr>
            <p:spPr bwMode="auto">
              <a:xfrm>
                <a:off x="4272" y="3372"/>
                <a:ext cx="394" cy="126"/>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Blue</a:t>
                </a:r>
              </a:p>
            </p:txBody>
          </p:sp>
          <p:sp>
            <p:nvSpPr>
              <p:cNvPr id="27666" name="Text Box 18"/>
              <p:cNvSpPr txBox="1">
                <a:spLocks noChangeArrowheads="1"/>
              </p:cNvSpPr>
              <p:nvPr/>
            </p:nvSpPr>
            <p:spPr bwMode="auto">
              <a:xfrm>
                <a:off x="3408" y="3744"/>
                <a:ext cx="590" cy="126"/>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[2+,1-]</a:t>
                </a:r>
              </a:p>
            </p:txBody>
          </p:sp>
          <p:sp>
            <p:nvSpPr>
              <p:cNvPr id="27667" name="Text Box 19"/>
              <p:cNvSpPr txBox="1">
                <a:spLocks noChangeArrowheads="1"/>
              </p:cNvSpPr>
              <p:nvPr/>
            </p:nvSpPr>
            <p:spPr bwMode="auto">
              <a:xfrm>
                <a:off x="4320" y="3735"/>
                <a:ext cx="590" cy="126"/>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[1+,0-]</a:t>
                </a:r>
              </a:p>
            </p:txBody>
          </p:sp>
          <p:sp>
            <p:nvSpPr>
              <p:cNvPr id="27668" name="Text Box 20"/>
              <p:cNvSpPr txBox="1">
                <a:spLocks noChangeArrowheads="1"/>
              </p:cNvSpPr>
              <p:nvPr/>
            </p:nvSpPr>
            <p:spPr bwMode="auto">
              <a:xfrm>
                <a:off x="4581" y="2932"/>
                <a:ext cx="68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  [3+,3-]</a:t>
                </a:r>
              </a:p>
            </p:txBody>
          </p:sp>
        </p:grpSp>
        <p:sp>
          <p:nvSpPr>
            <p:cNvPr id="27658" name="Text Box 19"/>
            <p:cNvSpPr txBox="1">
              <a:spLocks noChangeArrowheads="1"/>
            </p:cNvSpPr>
            <p:nvPr/>
          </p:nvSpPr>
          <p:spPr bwMode="auto">
            <a:xfrm>
              <a:off x="7727254" y="4186535"/>
              <a:ext cx="936475" cy="369332"/>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[0+,2-]</a:t>
              </a:r>
            </a:p>
          </p:txBody>
        </p:sp>
        <p:sp>
          <p:nvSpPr>
            <p:cNvPr id="27659" name="Line 14"/>
            <p:cNvSpPr>
              <a:spLocks noChangeShapeType="1"/>
            </p:cNvSpPr>
            <p:nvPr/>
          </p:nvSpPr>
          <p:spPr bwMode="auto">
            <a:xfrm>
              <a:off x="6553200" y="2286000"/>
              <a:ext cx="1752600" cy="1981199"/>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0" name="Text Box 17"/>
            <p:cNvSpPr txBox="1">
              <a:spLocks noChangeArrowheads="1"/>
            </p:cNvSpPr>
            <p:nvPr/>
          </p:nvSpPr>
          <p:spPr bwMode="auto">
            <a:xfrm>
              <a:off x="7239000" y="3124200"/>
              <a:ext cx="859851" cy="40011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t>Green</a:t>
              </a:r>
            </a:p>
          </p:txBody>
        </p:sp>
      </p:grpSp>
      <p:sp>
        <p:nvSpPr>
          <p:cNvPr id="4" name="TextBox 3"/>
          <p:cNvSpPr txBox="1"/>
          <p:nvPr/>
        </p:nvSpPr>
        <p:spPr>
          <a:xfrm>
            <a:off x="685800" y="4495801"/>
            <a:ext cx="4711300" cy="1754326"/>
          </a:xfrm>
          <a:prstGeom prst="rect">
            <a:avLst/>
          </a:prstGeom>
          <a:noFill/>
        </p:spPr>
        <p:txBody>
          <a:bodyPr wrap="square" rtlCol="0">
            <a:spAutoFit/>
          </a:bodyPr>
          <a:lstStyle/>
          <a:p>
            <a:r>
              <a:rPr lang="en-US" sz="1800" dirty="0"/>
              <a:t>Shape Entropy(S)=</a:t>
            </a:r>
            <a:r>
              <a:rPr lang="en-US" sz="1800" b="1" dirty="0"/>
              <a:t>1</a:t>
            </a:r>
          </a:p>
          <a:p>
            <a:r>
              <a:rPr lang="en-US" sz="1800" dirty="0"/>
              <a:t>Shape Entropy(</a:t>
            </a:r>
            <a:r>
              <a:rPr lang="en-US" sz="1800" dirty="0" err="1"/>
              <a:t>S,size_big</a:t>
            </a:r>
            <a:r>
              <a:rPr lang="en-US" sz="1800" dirty="0"/>
              <a:t>)=</a:t>
            </a:r>
            <a:r>
              <a:rPr lang="en-US" sz="1800" dirty="0" smtClean="0"/>
              <a:t>0.81</a:t>
            </a:r>
            <a:endParaRPr lang="en-US" sz="1800" dirty="0"/>
          </a:p>
          <a:p>
            <a:r>
              <a:rPr lang="en-US" sz="1800" dirty="0"/>
              <a:t>Shape Entropy(</a:t>
            </a:r>
            <a:r>
              <a:rPr lang="en-US" sz="1800" dirty="0" err="1"/>
              <a:t>S,size_small</a:t>
            </a:r>
            <a:r>
              <a:rPr lang="en-US" sz="1800" dirty="0"/>
              <a:t>)=</a:t>
            </a:r>
            <a:r>
              <a:rPr lang="en-US" sz="1800" dirty="0" smtClean="0"/>
              <a:t>0.0</a:t>
            </a:r>
            <a:endParaRPr lang="en-US" sz="1800" dirty="0"/>
          </a:p>
          <a:p>
            <a:endParaRPr lang="en-US" sz="1800" dirty="0"/>
          </a:p>
          <a:p>
            <a:r>
              <a:rPr lang="en-US" sz="1800" dirty="0"/>
              <a:t>1 – (4/6(0.81)+2/6(0)) =1-0.54=</a:t>
            </a:r>
            <a:r>
              <a:rPr lang="en-US" sz="1800" b="1" dirty="0"/>
              <a:t>0.46</a:t>
            </a:r>
          </a:p>
          <a:p>
            <a:endParaRPr lang="en-US" sz="1800" b="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pPr>
              <a:defRPr/>
            </a:pPr>
            <a:r>
              <a:rPr lang="en-US" smtClean="0"/>
              <a:t>Decision Tree Learning</a:t>
            </a:r>
            <a:endParaRPr lang="en-US"/>
          </a:p>
        </p:txBody>
      </p:sp>
      <p:sp>
        <p:nvSpPr>
          <p:cNvPr id="4" name="Slide Number Placeholder 3"/>
          <p:cNvSpPr>
            <a:spLocks noGrp="1"/>
          </p:cNvSpPr>
          <p:nvPr>
            <p:ph type="sldNum" sz="quarter" idx="12"/>
          </p:nvPr>
        </p:nvSpPr>
        <p:spPr/>
        <p:txBody>
          <a:bodyPr/>
          <a:lstStyle/>
          <a:p>
            <a:fld id="{D7964449-AEA1-4664-9DF1-F5FD612FF9D7}" type="slidenum">
              <a:rPr lang="en-US" altLang="en-US" smtClean="0"/>
              <a:pPr/>
              <a:t>35</a:t>
            </a:fld>
            <a:endParaRPr lang="en-US" altLang="en-US"/>
          </a:p>
        </p:txBody>
      </p:sp>
      <p:pic>
        <p:nvPicPr>
          <p:cNvPr id="5" name="Picture 4"/>
          <p:cNvPicPr>
            <a:picLocks noChangeAspect="1"/>
          </p:cNvPicPr>
          <p:nvPr/>
        </p:nvPicPr>
        <p:blipFill>
          <a:blip r:embed="rId2"/>
          <a:stretch>
            <a:fillRect/>
          </a:stretch>
        </p:blipFill>
        <p:spPr>
          <a:xfrm>
            <a:off x="5181600" y="76200"/>
            <a:ext cx="6664334" cy="6781800"/>
          </a:xfrm>
          <a:prstGeom prst="rect">
            <a:avLst/>
          </a:prstGeom>
        </p:spPr>
      </p:pic>
      <p:grpSp>
        <p:nvGrpSpPr>
          <p:cNvPr id="6" name="Group 3"/>
          <p:cNvGrpSpPr>
            <a:grpSpLocks/>
          </p:cNvGrpSpPr>
          <p:nvPr/>
        </p:nvGrpSpPr>
        <p:grpSpPr bwMode="auto">
          <a:xfrm>
            <a:off x="838200" y="1417638"/>
            <a:ext cx="2463800" cy="2070100"/>
            <a:chOff x="144" y="2880"/>
            <a:chExt cx="2571" cy="1069"/>
          </a:xfrm>
        </p:grpSpPr>
        <p:sp>
          <p:nvSpPr>
            <p:cNvPr id="7" name="Line 4"/>
            <p:cNvSpPr>
              <a:spLocks noChangeShapeType="1"/>
            </p:cNvSpPr>
            <p:nvPr/>
          </p:nvSpPr>
          <p:spPr bwMode="auto">
            <a:xfrm flipH="1">
              <a:off x="830" y="3091"/>
              <a:ext cx="47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8" name="Line 5"/>
            <p:cNvSpPr>
              <a:spLocks noChangeShapeType="1"/>
            </p:cNvSpPr>
            <p:nvPr/>
          </p:nvSpPr>
          <p:spPr bwMode="auto">
            <a:xfrm>
              <a:off x="1463" y="3091"/>
              <a:ext cx="43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9" name="Text Box 6"/>
            <p:cNvSpPr txBox="1">
              <a:spLocks noChangeArrowheads="1"/>
            </p:cNvSpPr>
            <p:nvPr/>
          </p:nvSpPr>
          <p:spPr bwMode="auto">
            <a:xfrm>
              <a:off x="1147" y="2880"/>
              <a:ext cx="904" cy="191"/>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Size=?</a:t>
              </a:r>
            </a:p>
          </p:txBody>
        </p:sp>
        <p:sp>
          <p:nvSpPr>
            <p:cNvPr id="10" name="Text Box 7"/>
            <p:cNvSpPr txBox="1">
              <a:spLocks noChangeArrowheads="1"/>
            </p:cNvSpPr>
            <p:nvPr/>
          </p:nvSpPr>
          <p:spPr bwMode="auto">
            <a:xfrm>
              <a:off x="751" y="3372"/>
              <a:ext cx="525" cy="191"/>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Big</a:t>
              </a:r>
            </a:p>
          </p:txBody>
        </p:sp>
        <p:sp>
          <p:nvSpPr>
            <p:cNvPr id="11" name="Text Box 8"/>
            <p:cNvSpPr txBox="1">
              <a:spLocks noChangeArrowheads="1"/>
            </p:cNvSpPr>
            <p:nvPr/>
          </p:nvSpPr>
          <p:spPr bwMode="auto">
            <a:xfrm>
              <a:off x="1542" y="3372"/>
              <a:ext cx="767" cy="191"/>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Small</a:t>
              </a:r>
            </a:p>
          </p:txBody>
        </p:sp>
        <p:sp>
          <p:nvSpPr>
            <p:cNvPr id="12" name="Text Box 9"/>
            <p:cNvSpPr txBox="1">
              <a:spLocks noChangeArrowheads="1"/>
            </p:cNvSpPr>
            <p:nvPr/>
          </p:nvSpPr>
          <p:spPr bwMode="auto">
            <a:xfrm>
              <a:off x="432" y="3758"/>
              <a:ext cx="977" cy="191"/>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[3+,1-]</a:t>
              </a:r>
            </a:p>
          </p:txBody>
        </p:sp>
        <p:sp>
          <p:nvSpPr>
            <p:cNvPr id="13" name="Text Box 10"/>
            <p:cNvSpPr txBox="1">
              <a:spLocks noChangeArrowheads="1"/>
            </p:cNvSpPr>
            <p:nvPr/>
          </p:nvSpPr>
          <p:spPr bwMode="auto">
            <a:xfrm>
              <a:off x="1738" y="3758"/>
              <a:ext cx="977" cy="191"/>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[0+,2-]</a:t>
              </a:r>
            </a:p>
          </p:txBody>
        </p:sp>
        <p:sp>
          <p:nvSpPr>
            <p:cNvPr id="14" name="Text Box 11"/>
            <p:cNvSpPr txBox="1">
              <a:spLocks noChangeArrowheads="1"/>
            </p:cNvSpPr>
            <p:nvPr/>
          </p:nvSpPr>
          <p:spPr bwMode="auto">
            <a:xfrm>
              <a:off x="144" y="2880"/>
              <a:ext cx="97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[3+,3-]</a:t>
              </a:r>
            </a:p>
          </p:txBody>
        </p:sp>
      </p:grpSp>
    </p:spTree>
    <p:extLst>
      <p:ext uri="{BB962C8B-B14F-4D97-AF65-F5344CB8AC3E}">
        <p14:creationId xmlns:p14="http://schemas.microsoft.com/office/powerpoint/2010/main" val="11513040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pPr>
              <a:defRPr/>
            </a:pPr>
            <a:r>
              <a:rPr lang="en-US" smtClean="0"/>
              <a:t>Decision Tree Learning</a:t>
            </a:r>
            <a:endParaRPr lang="en-US"/>
          </a:p>
        </p:txBody>
      </p:sp>
      <p:sp>
        <p:nvSpPr>
          <p:cNvPr id="4" name="Slide Number Placeholder 3"/>
          <p:cNvSpPr>
            <a:spLocks noGrp="1"/>
          </p:cNvSpPr>
          <p:nvPr>
            <p:ph type="sldNum" sz="quarter" idx="12"/>
          </p:nvPr>
        </p:nvSpPr>
        <p:spPr/>
        <p:txBody>
          <a:bodyPr/>
          <a:lstStyle/>
          <a:p>
            <a:fld id="{D7964449-AEA1-4664-9DF1-F5FD612FF9D7}" type="slidenum">
              <a:rPr lang="en-US" altLang="en-US" smtClean="0"/>
              <a:pPr/>
              <a:t>36</a:t>
            </a:fld>
            <a:endParaRPr lang="en-US" altLang="en-US"/>
          </a:p>
        </p:txBody>
      </p:sp>
      <p:pic>
        <p:nvPicPr>
          <p:cNvPr id="5" name="Picture 4"/>
          <p:cNvPicPr>
            <a:picLocks noChangeAspect="1"/>
          </p:cNvPicPr>
          <p:nvPr/>
        </p:nvPicPr>
        <p:blipFill>
          <a:blip r:embed="rId2"/>
          <a:stretch>
            <a:fillRect/>
          </a:stretch>
        </p:blipFill>
        <p:spPr>
          <a:xfrm>
            <a:off x="5066146" y="152400"/>
            <a:ext cx="7125854" cy="6644687"/>
          </a:xfrm>
          <a:prstGeom prst="rect">
            <a:avLst/>
          </a:prstGeom>
        </p:spPr>
      </p:pic>
      <p:grpSp>
        <p:nvGrpSpPr>
          <p:cNvPr id="6" name="Group 3"/>
          <p:cNvGrpSpPr>
            <a:grpSpLocks/>
          </p:cNvGrpSpPr>
          <p:nvPr/>
        </p:nvGrpSpPr>
        <p:grpSpPr bwMode="auto">
          <a:xfrm>
            <a:off x="609600" y="274638"/>
            <a:ext cx="2581275" cy="2239963"/>
            <a:chOff x="261" y="2880"/>
            <a:chExt cx="2318" cy="1051"/>
          </a:xfrm>
        </p:grpSpPr>
        <p:sp>
          <p:nvSpPr>
            <p:cNvPr id="7" name="Line 4"/>
            <p:cNvSpPr>
              <a:spLocks noChangeShapeType="1"/>
            </p:cNvSpPr>
            <p:nvPr/>
          </p:nvSpPr>
          <p:spPr bwMode="auto">
            <a:xfrm flipH="1">
              <a:off x="830" y="3091"/>
              <a:ext cx="47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8" name="Line 5"/>
            <p:cNvSpPr>
              <a:spLocks noChangeShapeType="1"/>
            </p:cNvSpPr>
            <p:nvPr/>
          </p:nvSpPr>
          <p:spPr bwMode="auto">
            <a:xfrm>
              <a:off x="1463" y="3091"/>
              <a:ext cx="435" cy="66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9" name="Text Box 6"/>
            <p:cNvSpPr txBox="1">
              <a:spLocks noChangeArrowheads="1"/>
            </p:cNvSpPr>
            <p:nvPr/>
          </p:nvSpPr>
          <p:spPr bwMode="auto">
            <a:xfrm>
              <a:off x="1147" y="2880"/>
              <a:ext cx="979" cy="173"/>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Shape=?</a:t>
              </a:r>
            </a:p>
          </p:txBody>
        </p:sp>
        <p:sp>
          <p:nvSpPr>
            <p:cNvPr id="10" name="Text Box 7"/>
            <p:cNvSpPr txBox="1">
              <a:spLocks noChangeArrowheads="1"/>
            </p:cNvSpPr>
            <p:nvPr/>
          </p:nvSpPr>
          <p:spPr bwMode="auto">
            <a:xfrm>
              <a:off x="623" y="3372"/>
              <a:ext cx="748" cy="17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Round</a:t>
              </a:r>
            </a:p>
          </p:txBody>
        </p:sp>
        <p:sp>
          <p:nvSpPr>
            <p:cNvPr id="11" name="Text Box 8"/>
            <p:cNvSpPr txBox="1">
              <a:spLocks noChangeArrowheads="1"/>
            </p:cNvSpPr>
            <p:nvPr/>
          </p:nvSpPr>
          <p:spPr bwMode="auto">
            <a:xfrm>
              <a:off x="1542" y="3372"/>
              <a:ext cx="805" cy="17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Square</a:t>
              </a:r>
            </a:p>
          </p:txBody>
        </p:sp>
        <p:sp>
          <p:nvSpPr>
            <p:cNvPr id="12" name="Text Box 9"/>
            <p:cNvSpPr txBox="1">
              <a:spLocks noChangeArrowheads="1"/>
            </p:cNvSpPr>
            <p:nvPr/>
          </p:nvSpPr>
          <p:spPr bwMode="auto">
            <a:xfrm>
              <a:off x="432" y="3758"/>
              <a:ext cx="841" cy="17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[1+,2-]</a:t>
              </a:r>
            </a:p>
          </p:txBody>
        </p:sp>
        <p:sp>
          <p:nvSpPr>
            <p:cNvPr id="13" name="Text Box 10"/>
            <p:cNvSpPr txBox="1">
              <a:spLocks noChangeArrowheads="1"/>
            </p:cNvSpPr>
            <p:nvPr/>
          </p:nvSpPr>
          <p:spPr bwMode="auto">
            <a:xfrm>
              <a:off x="1738" y="3758"/>
              <a:ext cx="841" cy="17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[2+,1-]</a:t>
              </a:r>
            </a:p>
          </p:txBody>
        </p:sp>
        <p:sp>
          <p:nvSpPr>
            <p:cNvPr id="14" name="Text Box 11"/>
            <p:cNvSpPr txBox="1">
              <a:spLocks noChangeArrowheads="1"/>
            </p:cNvSpPr>
            <p:nvPr/>
          </p:nvSpPr>
          <p:spPr bwMode="auto">
            <a:xfrm>
              <a:off x="261" y="2880"/>
              <a:ext cx="84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[3+,3-]</a:t>
              </a:r>
            </a:p>
          </p:txBody>
        </p:sp>
      </p:grpSp>
      <p:grpSp>
        <p:nvGrpSpPr>
          <p:cNvPr id="15" name="Group 35"/>
          <p:cNvGrpSpPr>
            <a:grpSpLocks/>
          </p:cNvGrpSpPr>
          <p:nvPr/>
        </p:nvGrpSpPr>
        <p:grpSpPr bwMode="auto">
          <a:xfrm>
            <a:off x="358667" y="2968562"/>
            <a:ext cx="3709987" cy="2759075"/>
            <a:chOff x="4953004" y="1829350"/>
            <a:chExt cx="3710725" cy="2758918"/>
          </a:xfrm>
        </p:grpSpPr>
        <p:grpSp>
          <p:nvGrpSpPr>
            <p:cNvPr id="16" name="Group 12"/>
            <p:cNvGrpSpPr>
              <a:grpSpLocks/>
            </p:cNvGrpSpPr>
            <p:nvPr/>
          </p:nvGrpSpPr>
          <p:grpSpPr bwMode="auto">
            <a:xfrm>
              <a:off x="4953004" y="1829350"/>
              <a:ext cx="2943227" cy="2758918"/>
              <a:chOff x="3408" y="2932"/>
              <a:chExt cx="1854" cy="938"/>
            </a:xfrm>
          </p:grpSpPr>
          <p:sp>
            <p:nvSpPr>
              <p:cNvPr id="20" name="Line 13"/>
              <p:cNvSpPr>
                <a:spLocks noChangeShapeType="1"/>
              </p:cNvSpPr>
              <p:nvPr/>
            </p:nvSpPr>
            <p:spPr bwMode="auto">
              <a:xfrm flipH="1">
                <a:off x="3696" y="3091"/>
                <a:ext cx="585" cy="67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1" name="Line 14"/>
              <p:cNvSpPr>
                <a:spLocks noChangeShapeType="1"/>
              </p:cNvSpPr>
              <p:nvPr/>
            </p:nvSpPr>
            <p:spPr bwMode="auto">
              <a:xfrm>
                <a:off x="4320" y="3091"/>
                <a:ext cx="336" cy="72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2" name="Text Box 15"/>
              <p:cNvSpPr txBox="1">
                <a:spLocks noChangeArrowheads="1"/>
              </p:cNvSpPr>
              <p:nvPr/>
            </p:nvSpPr>
            <p:spPr bwMode="auto">
              <a:xfrm>
                <a:off x="3936" y="2932"/>
                <a:ext cx="682" cy="126"/>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colour=?</a:t>
                </a:r>
              </a:p>
            </p:txBody>
          </p:sp>
          <p:sp>
            <p:nvSpPr>
              <p:cNvPr id="23" name="Text Box 16"/>
              <p:cNvSpPr txBox="1">
                <a:spLocks noChangeArrowheads="1"/>
              </p:cNvSpPr>
              <p:nvPr/>
            </p:nvSpPr>
            <p:spPr bwMode="auto">
              <a:xfrm>
                <a:off x="3727" y="3372"/>
                <a:ext cx="361" cy="126"/>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Red</a:t>
                </a:r>
              </a:p>
            </p:txBody>
          </p:sp>
          <p:sp>
            <p:nvSpPr>
              <p:cNvPr id="24" name="Text Box 17"/>
              <p:cNvSpPr txBox="1">
                <a:spLocks noChangeArrowheads="1"/>
              </p:cNvSpPr>
              <p:nvPr/>
            </p:nvSpPr>
            <p:spPr bwMode="auto">
              <a:xfrm>
                <a:off x="4272" y="3372"/>
                <a:ext cx="394" cy="126"/>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dirty="0"/>
                  <a:t>Blue</a:t>
                </a:r>
              </a:p>
            </p:txBody>
          </p:sp>
          <p:sp>
            <p:nvSpPr>
              <p:cNvPr id="25" name="Text Box 18"/>
              <p:cNvSpPr txBox="1">
                <a:spLocks noChangeArrowheads="1"/>
              </p:cNvSpPr>
              <p:nvPr/>
            </p:nvSpPr>
            <p:spPr bwMode="auto">
              <a:xfrm>
                <a:off x="3408" y="3744"/>
                <a:ext cx="590" cy="126"/>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[2+,1-]</a:t>
                </a:r>
              </a:p>
            </p:txBody>
          </p:sp>
          <p:sp>
            <p:nvSpPr>
              <p:cNvPr id="26" name="Text Box 19"/>
              <p:cNvSpPr txBox="1">
                <a:spLocks noChangeArrowheads="1"/>
              </p:cNvSpPr>
              <p:nvPr/>
            </p:nvSpPr>
            <p:spPr bwMode="auto">
              <a:xfrm>
                <a:off x="4320" y="3735"/>
                <a:ext cx="590" cy="126"/>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[1+,0-]</a:t>
                </a:r>
              </a:p>
            </p:txBody>
          </p:sp>
          <p:sp>
            <p:nvSpPr>
              <p:cNvPr id="27" name="Text Box 20"/>
              <p:cNvSpPr txBox="1">
                <a:spLocks noChangeArrowheads="1"/>
              </p:cNvSpPr>
              <p:nvPr/>
            </p:nvSpPr>
            <p:spPr bwMode="auto">
              <a:xfrm>
                <a:off x="4581" y="2932"/>
                <a:ext cx="68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  [3+,3-]</a:t>
                </a:r>
              </a:p>
            </p:txBody>
          </p:sp>
        </p:grpSp>
        <p:sp>
          <p:nvSpPr>
            <p:cNvPr id="17" name="Text Box 19"/>
            <p:cNvSpPr txBox="1">
              <a:spLocks noChangeArrowheads="1"/>
            </p:cNvSpPr>
            <p:nvPr/>
          </p:nvSpPr>
          <p:spPr bwMode="auto">
            <a:xfrm>
              <a:off x="7727254" y="4186535"/>
              <a:ext cx="936475" cy="369332"/>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[0+,2-]</a:t>
              </a:r>
            </a:p>
          </p:txBody>
        </p:sp>
        <p:sp>
          <p:nvSpPr>
            <p:cNvPr id="18" name="Line 14"/>
            <p:cNvSpPr>
              <a:spLocks noChangeShapeType="1"/>
            </p:cNvSpPr>
            <p:nvPr/>
          </p:nvSpPr>
          <p:spPr bwMode="auto">
            <a:xfrm>
              <a:off x="6553200" y="2286000"/>
              <a:ext cx="1752600" cy="1981199"/>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9" name="Text Box 17"/>
            <p:cNvSpPr txBox="1">
              <a:spLocks noChangeArrowheads="1"/>
            </p:cNvSpPr>
            <p:nvPr/>
          </p:nvSpPr>
          <p:spPr bwMode="auto">
            <a:xfrm>
              <a:off x="7239000" y="3124200"/>
              <a:ext cx="859851" cy="400110"/>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t>Green</a:t>
              </a:r>
            </a:p>
          </p:txBody>
        </p:sp>
      </p:grpSp>
    </p:spTree>
    <p:extLst>
      <p:ext uri="{BB962C8B-B14F-4D97-AF65-F5344CB8AC3E}">
        <p14:creationId xmlns:p14="http://schemas.microsoft.com/office/powerpoint/2010/main" val="2769469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sv-SE" altLang="en-US" sz="4000"/>
              <a:t>Which Attribute is ”best”?</a:t>
            </a:r>
            <a:br>
              <a:rPr lang="sv-SE" altLang="en-US" sz="4000"/>
            </a:br>
            <a:r>
              <a:rPr lang="sv-SE" altLang="en-US" sz="4000"/>
              <a:t>Sweets example</a:t>
            </a:r>
            <a:endParaRPr lang="en-US" altLang="en-US" sz="4000"/>
          </a:p>
        </p:txBody>
      </p:sp>
      <p:sp>
        <p:nvSpPr>
          <p:cNvPr id="22" name="Footer Placeholder 3"/>
          <p:cNvSpPr>
            <a:spLocks noGrp="1"/>
          </p:cNvSpPr>
          <p:nvPr>
            <p:ph type="ftr" sz="quarter" idx="11"/>
          </p:nvPr>
        </p:nvSpPr>
        <p:spPr/>
        <p:txBody>
          <a:bodyPr/>
          <a:lstStyle/>
          <a:p>
            <a:pPr>
              <a:defRPr/>
            </a:pPr>
            <a:r>
              <a:rPr lang="en-US"/>
              <a:t>Decision Tree Learning</a:t>
            </a:r>
          </a:p>
        </p:txBody>
      </p:sp>
      <p:sp>
        <p:nvSpPr>
          <p:cNvPr id="23"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8585930-0C95-4252-A00A-F0FAEF20FA86}" type="slidenum">
              <a:rPr lang="en-US" altLang="en-US" sz="1200">
                <a:solidFill>
                  <a:srgbClr val="898989"/>
                </a:solidFill>
              </a:rPr>
              <a:pPr eaLnBrk="1" hangingPunct="1"/>
              <a:t>37</a:t>
            </a:fld>
            <a:endParaRPr lang="en-US" altLang="en-US" sz="1200">
              <a:solidFill>
                <a:srgbClr val="898989"/>
              </a:solidFill>
            </a:endParaRPr>
          </a:p>
        </p:txBody>
      </p:sp>
      <p:pic>
        <p:nvPicPr>
          <p:cNvPr id="28677"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7838" y="4953000"/>
            <a:ext cx="4957762" cy="19050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nvGrpSpPr>
          <p:cNvPr id="28678" name="Group 35"/>
          <p:cNvGrpSpPr>
            <a:grpSpLocks/>
          </p:cNvGrpSpPr>
          <p:nvPr/>
        </p:nvGrpSpPr>
        <p:grpSpPr bwMode="auto">
          <a:xfrm>
            <a:off x="6705600" y="1641474"/>
            <a:ext cx="4953000" cy="2890839"/>
            <a:chOff x="4953002" y="1947006"/>
            <a:chExt cx="3581400" cy="2323720"/>
          </a:xfrm>
        </p:grpSpPr>
        <p:grpSp>
          <p:nvGrpSpPr>
            <p:cNvPr id="28684" name="Group 12"/>
            <p:cNvGrpSpPr>
              <a:grpSpLocks/>
            </p:cNvGrpSpPr>
            <p:nvPr/>
          </p:nvGrpSpPr>
          <p:grpSpPr bwMode="auto">
            <a:xfrm>
              <a:off x="4953002" y="1947006"/>
              <a:ext cx="2193926" cy="2323610"/>
              <a:chOff x="3408" y="2972"/>
              <a:chExt cx="1382" cy="790"/>
            </a:xfrm>
          </p:grpSpPr>
          <p:sp>
            <p:nvSpPr>
              <p:cNvPr id="28688" name="Line 13"/>
              <p:cNvSpPr>
                <a:spLocks noChangeShapeType="1"/>
              </p:cNvSpPr>
              <p:nvPr/>
            </p:nvSpPr>
            <p:spPr bwMode="auto">
              <a:xfrm flipH="1">
                <a:off x="3696" y="3091"/>
                <a:ext cx="585" cy="67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9" name="Line 14"/>
              <p:cNvSpPr>
                <a:spLocks noChangeShapeType="1"/>
              </p:cNvSpPr>
              <p:nvPr/>
            </p:nvSpPr>
            <p:spPr bwMode="auto">
              <a:xfrm>
                <a:off x="4320" y="3091"/>
                <a:ext cx="240" cy="61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90" name="Text Box 15"/>
              <p:cNvSpPr txBox="1">
                <a:spLocks noChangeArrowheads="1"/>
              </p:cNvSpPr>
              <p:nvPr/>
            </p:nvSpPr>
            <p:spPr bwMode="auto">
              <a:xfrm>
                <a:off x="4063" y="2972"/>
                <a:ext cx="540" cy="11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a:t>Colour</a:t>
                </a:r>
              </a:p>
            </p:txBody>
          </p:sp>
          <p:sp>
            <p:nvSpPr>
              <p:cNvPr id="28691" name="Text Box 16"/>
              <p:cNvSpPr txBox="1">
                <a:spLocks noChangeArrowheads="1"/>
              </p:cNvSpPr>
              <p:nvPr/>
            </p:nvSpPr>
            <p:spPr bwMode="auto">
              <a:xfrm>
                <a:off x="3727" y="3372"/>
                <a:ext cx="336" cy="10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Red</a:t>
                </a:r>
              </a:p>
            </p:txBody>
          </p:sp>
          <p:sp>
            <p:nvSpPr>
              <p:cNvPr id="28692" name="Text Box 17"/>
              <p:cNvSpPr txBox="1">
                <a:spLocks noChangeArrowheads="1"/>
              </p:cNvSpPr>
              <p:nvPr/>
            </p:nvSpPr>
            <p:spPr bwMode="auto">
              <a:xfrm>
                <a:off x="4272" y="3372"/>
                <a:ext cx="369" cy="10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Blue</a:t>
                </a:r>
              </a:p>
            </p:txBody>
          </p:sp>
          <p:sp>
            <p:nvSpPr>
              <p:cNvPr id="28693" name="Text Box 18"/>
              <p:cNvSpPr txBox="1">
                <a:spLocks noChangeArrowheads="1"/>
              </p:cNvSpPr>
              <p:nvPr/>
            </p:nvSpPr>
            <p:spPr bwMode="auto">
              <a:xfrm>
                <a:off x="3408" y="3657"/>
                <a:ext cx="576" cy="105"/>
              </a:xfrm>
              <a:prstGeom prst="rect">
                <a:avLst/>
              </a:prstGeom>
              <a:solidFill>
                <a:schemeClr val="bg1"/>
              </a:solidFill>
              <a:ln w="38100">
                <a:solidFill>
                  <a:schemeClr val="accent2"/>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[2+,1-]</a:t>
                </a:r>
              </a:p>
            </p:txBody>
          </p:sp>
          <p:sp>
            <p:nvSpPr>
              <p:cNvPr id="28694" name="Text Box 19"/>
              <p:cNvSpPr txBox="1">
                <a:spLocks noChangeArrowheads="1"/>
              </p:cNvSpPr>
              <p:nvPr/>
            </p:nvSpPr>
            <p:spPr bwMode="auto">
              <a:xfrm>
                <a:off x="4406" y="3657"/>
                <a:ext cx="384" cy="10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LIKE</a:t>
                </a:r>
              </a:p>
            </p:txBody>
          </p:sp>
        </p:grpSp>
        <p:sp>
          <p:nvSpPr>
            <p:cNvPr id="28685" name="Line 14"/>
            <p:cNvSpPr>
              <a:spLocks noChangeShapeType="1"/>
            </p:cNvSpPr>
            <p:nvPr/>
          </p:nvSpPr>
          <p:spPr bwMode="auto">
            <a:xfrm>
              <a:off x="6553200" y="2286000"/>
              <a:ext cx="1447802" cy="1753149"/>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6" name="Text Box 17"/>
            <p:cNvSpPr txBox="1">
              <a:spLocks noChangeArrowheads="1"/>
            </p:cNvSpPr>
            <p:nvPr/>
          </p:nvSpPr>
          <p:spPr bwMode="auto">
            <a:xfrm>
              <a:off x="7239000" y="3124200"/>
              <a:ext cx="801823" cy="33855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a:t>Green</a:t>
              </a:r>
            </a:p>
          </p:txBody>
        </p:sp>
        <p:sp>
          <p:nvSpPr>
            <p:cNvPr id="28687" name="Text Box 19"/>
            <p:cNvSpPr txBox="1">
              <a:spLocks noChangeArrowheads="1"/>
            </p:cNvSpPr>
            <p:nvPr/>
          </p:nvSpPr>
          <p:spPr bwMode="auto">
            <a:xfrm>
              <a:off x="7467602" y="3962949"/>
              <a:ext cx="1066800" cy="307777"/>
            </a:xfrm>
            <a:prstGeom prst="rect">
              <a:avLst/>
            </a:prstGeom>
            <a:solidFill>
              <a:schemeClr val="bg1"/>
            </a:solidFill>
            <a:ln w="38100">
              <a:solidFill>
                <a:schemeClr val="accent2"/>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DISLIKE</a:t>
              </a:r>
            </a:p>
          </p:txBody>
        </p:sp>
      </p:grpSp>
      <p:sp>
        <p:nvSpPr>
          <p:cNvPr id="28679" name="TextBox 36"/>
          <p:cNvSpPr txBox="1">
            <a:spLocks noChangeArrowheads="1"/>
          </p:cNvSpPr>
          <p:nvPr/>
        </p:nvSpPr>
        <p:spPr bwMode="auto">
          <a:xfrm>
            <a:off x="609600" y="1524001"/>
            <a:ext cx="59436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dirty="0"/>
              <a:t>Information Gain for each Attributes : </a:t>
            </a:r>
            <a:r>
              <a:rPr lang="en-US" altLang="en-US" sz="1800" dirty="0"/>
              <a:t>Gain(</a:t>
            </a:r>
            <a:r>
              <a:rPr lang="en-US" altLang="en-US" sz="1800" dirty="0" err="1"/>
              <a:t>Sweets,Shape</a:t>
            </a:r>
            <a:r>
              <a:rPr lang="en-US" altLang="en-US" sz="1800" dirty="0"/>
              <a:t>)=0.0817</a:t>
            </a:r>
          </a:p>
          <a:p>
            <a:pPr eaLnBrk="1" hangingPunct="1"/>
            <a:r>
              <a:rPr lang="en-US" altLang="en-US" sz="1800" dirty="0"/>
              <a:t>Gain(</a:t>
            </a:r>
            <a:r>
              <a:rPr lang="en-US" altLang="en-US" sz="1800" dirty="0" err="1"/>
              <a:t>Sweets,Size</a:t>
            </a:r>
            <a:r>
              <a:rPr lang="en-US" altLang="en-US" sz="1800" dirty="0"/>
              <a:t>)=0.4591</a:t>
            </a:r>
          </a:p>
          <a:p>
            <a:pPr eaLnBrk="1" hangingPunct="1"/>
            <a:r>
              <a:rPr lang="en-US" altLang="en-US" sz="1800" dirty="0">
                <a:solidFill>
                  <a:srgbClr val="FF0000"/>
                </a:solidFill>
              </a:rPr>
              <a:t>Gain(</a:t>
            </a:r>
            <a:r>
              <a:rPr lang="en-US" altLang="en-US" sz="1800" dirty="0" err="1">
                <a:solidFill>
                  <a:srgbClr val="FF0000"/>
                </a:solidFill>
              </a:rPr>
              <a:t>Sweets,Colour</a:t>
            </a:r>
            <a:r>
              <a:rPr lang="en-US" altLang="en-US" sz="1800" dirty="0">
                <a:solidFill>
                  <a:srgbClr val="FF0000"/>
                </a:solidFill>
              </a:rPr>
              <a:t>)=0.5409</a:t>
            </a:r>
          </a:p>
          <a:p>
            <a:pPr eaLnBrk="1" hangingPunct="1"/>
            <a:endParaRPr lang="en-US" altLang="en-US" sz="1800" dirty="0">
              <a:solidFill>
                <a:srgbClr val="FF0000"/>
              </a:solidFill>
            </a:endParaRPr>
          </a:p>
          <a:p>
            <a:pPr eaLnBrk="1" hangingPunct="1">
              <a:buFont typeface="Arial" panose="020B0604020202020204" pitchFamily="34" charset="0"/>
              <a:buChar char="•"/>
            </a:pPr>
            <a:r>
              <a:rPr lang="en-US" altLang="en-US" sz="1800" b="1" dirty="0" err="1"/>
              <a:t>Colour</a:t>
            </a:r>
            <a:r>
              <a:rPr lang="en-US" altLang="en-US" sz="1800" b="1" dirty="0"/>
              <a:t> </a:t>
            </a:r>
            <a:r>
              <a:rPr lang="en-US" altLang="en-US" sz="1800" dirty="0"/>
              <a:t>becomes Root Node</a:t>
            </a:r>
          </a:p>
          <a:p>
            <a:pPr eaLnBrk="1" hangingPunct="1"/>
            <a:endParaRPr lang="en-US" altLang="en-US" sz="1800" dirty="0"/>
          </a:p>
          <a:p>
            <a:pPr eaLnBrk="1" hangingPunct="1">
              <a:buFont typeface="Arial" panose="020B0604020202020204" pitchFamily="34" charset="0"/>
              <a:buChar char="•"/>
            </a:pPr>
            <a:r>
              <a:rPr lang="en-US" altLang="en-US" sz="1800" dirty="0"/>
              <a:t>Expand tree using </a:t>
            </a:r>
            <a:r>
              <a:rPr lang="en-US" altLang="en-US" sz="1800" dirty="0" err="1"/>
              <a:t>Colour</a:t>
            </a:r>
            <a:r>
              <a:rPr lang="en-US" altLang="en-US" sz="1800" dirty="0"/>
              <a:t> Attribute</a:t>
            </a:r>
          </a:p>
          <a:p>
            <a:pPr eaLnBrk="1" hangingPunct="1">
              <a:buFont typeface="Arial" panose="020B0604020202020204" pitchFamily="34" charset="0"/>
              <a:buChar char="•"/>
            </a:pPr>
            <a:r>
              <a:rPr lang="en-US" altLang="en-US" sz="1800" dirty="0"/>
              <a:t>Branches for Blue and Green attribute values terminate</a:t>
            </a:r>
          </a:p>
          <a:p>
            <a:pPr eaLnBrk="1" hangingPunct="1">
              <a:buFont typeface="Arial" panose="020B0604020202020204" pitchFamily="34" charset="0"/>
              <a:buChar char="•"/>
            </a:pPr>
            <a:endParaRPr lang="en-US" altLang="en-US" sz="1800" dirty="0"/>
          </a:p>
          <a:p>
            <a:pPr eaLnBrk="1" hangingPunct="1">
              <a:buFont typeface="Arial" panose="020B0604020202020204" pitchFamily="34" charset="0"/>
              <a:buChar char="•"/>
            </a:pPr>
            <a:r>
              <a:rPr lang="en-US" altLang="en-US" sz="1800" dirty="0"/>
              <a:t>Now iterate again for </a:t>
            </a:r>
            <a:r>
              <a:rPr lang="en-US" altLang="en-US" sz="1800" dirty="0" err="1"/>
              <a:t>Colour</a:t>
            </a:r>
            <a:r>
              <a:rPr lang="en-US" altLang="en-US" sz="1800" dirty="0"/>
              <a:t> Red attribute value with a subset of the data</a:t>
            </a:r>
          </a:p>
        </p:txBody>
      </p:sp>
      <p:sp>
        <p:nvSpPr>
          <p:cNvPr id="38" name="Rectangle 37"/>
          <p:cNvSpPr/>
          <p:nvPr/>
        </p:nvSpPr>
        <p:spPr>
          <a:xfrm>
            <a:off x="5443538" y="5519738"/>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Rectangle 38"/>
          <p:cNvSpPr/>
          <p:nvPr/>
        </p:nvSpPr>
        <p:spPr>
          <a:xfrm>
            <a:off x="5443538" y="5971794"/>
            <a:ext cx="5105400" cy="276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5486400" y="6584633"/>
            <a:ext cx="5105400" cy="251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683" name="TextBox 41"/>
          <p:cNvSpPr txBox="1">
            <a:spLocks noChangeArrowheads="1"/>
          </p:cNvSpPr>
          <p:nvPr/>
        </p:nvSpPr>
        <p:spPr bwMode="auto">
          <a:xfrm>
            <a:off x="7516480" y="4015186"/>
            <a:ext cx="381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3600" b="1"/>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sv-SE" altLang="en-US" sz="4000"/>
              <a:t>Which Attribute is ”best”?</a:t>
            </a:r>
            <a:br>
              <a:rPr lang="sv-SE" altLang="en-US" sz="4000"/>
            </a:br>
            <a:r>
              <a:rPr lang="sv-SE" altLang="en-US" sz="4000"/>
              <a:t>Sweets example</a:t>
            </a:r>
            <a:endParaRPr lang="en-US" altLang="en-US" sz="4000"/>
          </a:p>
        </p:txBody>
      </p:sp>
      <p:sp>
        <p:nvSpPr>
          <p:cNvPr id="22" name="Footer Placeholder 3"/>
          <p:cNvSpPr>
            <a:spLocks noGrp="1"/>
          </p:cNvSpPr>
          <p:nvPr>
            <p:ph type="ftr" sz="quarter" idx="11"/>
          </p:nvPr>
        </p:nvSpPr>
        <p:spPr/>
        <p:txBody>
          <a:bodyPr/>
          <a:lstStyle/>
          <a:p>
            <a:pPr>
              <a:defRPr/>
            </a:pPr>
            <a:r>
              <a:rPr lang="en-US"/>
              <a:t>Decision Tree Learning</a:t>
            </a:r>
          </a:p>
        </p:txBody>
      </p:sp>
      <p:sp>
        <p:nvSpPr>
          <p:cNvPr id="23"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8D80D36-61F7-4378-B574-FA4724163B1B}" type="slidenum">
              <a:rPr lang="en-US" altLang="en-US" sz="1200">
                <a:solidFill>
                  <a:srgbClr val="898989"/>
                </a:solidFill>
              </a:rPr>
              <a:pPr eaLnBrk="1" hangingPunct="1"/>
              <a:t>38</a:t>
            </a:fld>
            <a:endParaRPr lang="en-US" altLang="en-US" sz="1200">
              <a:solidFill>
                <a:srgbClr val="898989"/>
              </a:solidFill>
            </a:endParaRPr>
          </a:p>
        </p:txBody>
      </p:sp>
      <p:pic>
        <p:nvPicPr>
          <p:cNvPr id="29701"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7838" y="4953000"/>
            <a:ext cx="4957762" cy="19050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nvGrpSpPr>
          <p:cNvPr id="29702" name="Group 35"/>
          <p:cNvGrpSpPr>
            <a:grpSpLocks/>
          </p:cNvGrpSpPr>
          <p:nvPr/>
        </p:nvGrpSpPr>
        <p:grpSpPr bwMode="auto">
          <a:xfrm>
            <a:off x="6705600" y="1641474"/>
            <a:ext cx="5029200" cy="2890840"/>
            <a:chOff x="4953002" y="1947006"/>
            <a:chExt cx="3581400" cy="2323720"/>
          </a:xfrm>
        </p:grpSpPr>
        <p:grpSp>
          <p:nvGrpSpPr>
            <p:cNvPr id="29709" name="Group 12"/>
            <p:cNvGrpSpPr>
              <a:grpSpLocks/>
            </p:cNvGrpSpPr>
            <p:nvPr/>
          </p:nvGrpSpPr>
          <p:grpSpPr bwMode="auto">
            <a:xfrm>
              <a:off x="4953002" y="1947006"/>
              <a:ext cx="2193926" cy="2323610"/>
              <a:chOff x="3408" y="2972"/>
              <a:chExt cx="1382" cy="790"/>
            </a:xfrm>
          </p:grpSpPr>
          <p:sp>
            <p:nvSpPr>
              <p:cNvPr id="29713" name="Line 13"/>
              <p:cNvSpPr>
                <a:spLocks noChangeShapeType="1"/>
              </p:cNvSpPr>
              <p:nvPr/>
            </p:nvSpPr>
            <p:spPr bwMode="auto">
              <a:xfrm flipH="1">
                <a:off x="3696" y="3091"/>
                <a:ext cx="585" cy="67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9714" name="Line 14"/>
              <p:cNvSpPr>
                <a:spLocks noChangeShapeType="1"/>
              </p:cNvSpPr>
              <p:nvPr/>
            </p:nvSpPr>
            <p:spPr bwMode="auto">
              <a:xfrm>
                <a:off x="4320" y="3091"/>
                <a:ext cx="240" cy="61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9715" name="Text Box 15"/>
              <p:cNvSpPr txBox="1">
                <a:spLocks noChangeArrowheads="1"/>
              </p:cNvSpPr>
              <p:nvPr/>
            </p:nvSpPr>
            <p:spPr bwMode="auto">
              <a:xfrm>
                <a:off x="4063" y="2972"/>
                <a:ext cx="540" cy="11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a:t>Colour</a:t>
                </a:r>
              </a:p>
            </p:txBody>
          </p:sp>
          <p:sp>
            <p:nvSpPr>
              <p:cNvPr id="29716" name="Text Box 16"/>
              <p:cNvSpPr txBox="1">
                <a:spLocks noChangeArrowheads="1"/>
              </p:cNvSpPr>
              <p:nvPr/>
            </p:nvSpPr>
            <p:spPr bwMode="auto">
              <a:xfrm>
                <a:off x="3727" y="3372"/>
                <a:ext cx="336" cy="10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Red</a:t>
                </a:r>
              </a:p>
            </p:txBody>
          </p:sp>
          <p:sp>
            <p:nvSpPr>
              <p:cNvPr id="29717" name="Text Box 17"/>
              <p:cNvSpPr txBox="1">
                <a:spLocks noChangeArrowheads="1"/>
              </p:cNvSpPr>
              <p:nvPr/>
            </p:nvSpPr>
            <p:spPr bwMode="auto">
              <a:xfrm>
                <a:off x="4272" y="3372"/>
                <a:ext cx="369" cy="10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Blue</a:t>
                </a:r>
              </a:p>
            </p:txBody>
          </p:sp>
          <p:sp>
            <p:nvSpPr>
              <p:cNvPr id="29718" name="Text Box 18"/>
              <p:cNvSpPr txBox="1">
                <a:spLocks noChangeArrowheads="1"/>
              </p:cNvSpPr>
              <p:nvPr/>
            </p:nvSpPr>
            <p:spPr bwMode="auto">
              <a:xfrm>
                <a:off x="3408" y="3657"/>
                <a:ext cx="576" cy="105"/>
              </a:xfrm>
              <a:prstGeom prst="rect">
                <a:avLst/>
              </a:prstGeom>
              <a:solidFill>
                <a:schemeClr val="bg1"/>
              </a:solidFill>
              <a:ln w="38100">
                <a:solidFill>
                  <a:schemeClr val="accent2"/>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dirty="0"/>
                  <a:t>[2+,1-]</a:t>
                </a:r>
              </a:p>
            </p:txBody>
          </p:sp>
          <p:sp>
            <p:nvSpPr>
              <p:cNvPr id="29719" name="Text Box 19"/>
              <p:cNvSpPr txBox="1">
                <a:spLocks noChangeArrowheads="1"/>
              </p:cNvSpPr>
              <p:nvPr/>
            </p:nvSpPr>
            <p:spPr bwMode="auto">
              <a:xfrm>
                <a:off x="4406" y="3657"/>
                <a:ext cx="384" cy="10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LIKE</a:t>
                </a:r>
              </a:p>
            </p:txBody>
          </p:sp>
        </p:grpSp>
        <p:sp>
          <p:nvSpPr>
            <p:cNvPr id="29710" name="Line 14"/>
            <p:cNvSpPr>
              <a:spLocks noChangeShapeType="1"/>
            </p:cNvSpPr>
            <p:nvPr/>
          </p:nvSpPr>
          <p:spPr bwMode="auto">
            <a:xfrm>
              <a:off x="6553200" y="2286000"/>
              <a:ext cx="1447802" cy="1753149"/>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9711" name="Text Box 17"/>
            <p:cNvSpPr txBox="1">
              <a:spLocks noChangeArrowheads="1"/>
            </p:cNvSpPr>
            <p:nvPr/>
          </p:nvSpPr>
          <p:spPr bwMode="auto">
            <a:xfrm>
              <a:off x="7239000" y="3124200"/>
              <a:ext cx="801823" cy="33855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a:t>Green</a:t>
              </a:r>
            </a:p>
          </p:txBody>
        </p:sp>
        <p:sp>
          <p:nvSpPr>
            <p:cNvPr id="29712" name="Text Box 19"/>
            <p:cNvSpPr txBox="1">
              <a:spLocks noChangeArrowheads="1"/>
            </p:cNvSpPr>
            <p:nvPr/>
          </p:nvSpPr>
          <p:spPr bwMode="auto">
            <a:xfrm>
              <a:off x="7467602" y="3962949"/>
              <a:ext cx="1066800" cy="307777"/>
            </a:xfrm>
            <a:prstGeom prst="rect">
              <a:avLst/>
            </a:prstGeom>
            <a:solidFill>
              <a:schemeClr val="bg1"/>
            </a:solidFill>
            <a:ln w="38100">
              <a:solidFill>
                <a:schemeClr val="accent2"/>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DISLIKE</a:t>
              </a:r>
            </a:p>
          </p:txBody>
        </p:sp>
      </p:grpSp>
      <p:sp>
        <p:nvSpPr>
          <p:cNvPr id="29703" name="TextBox 36"/>
          <p:cNvSpPr txBox="1">
            <a:spLocks noChangeArrowheads="1"/>
          </p:cNvSpPr>
          <p:nvPr/>
        </p:nvSpPr>
        <p:spPr bwMode="auto">
          <a:xfrm>
            <a:off x="76200" y="1395948"/>
            <a:ext cx="6477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b="1" dirty="0"/>
              <a:t>Information Gain for each Attributes : </a:t>
            </a:r>
            <a:r>
              <a:rPr lang="en-US" altLang="en-US" sz="2000" dirty="0"/>
              <a:t>Gain(</a:t>
            </a:r>
            <a:r>
              <a:rPr lang="en-US" altLang="en-US" sz="2000" dirty="0" err="1"/>
              <a:t>Sweets,Shape</a:t>
            </a:r>
            <a:r>
              <a:rPr lang="en-US" altLang="en-US" sz="2000" dirty="0"/>
              <a:t>)=0.0817</a:t>
            </a:r>
          </a:p>
          <a:p>
            <a:pPr eaLnBrk="1" hangingPunct="1"/>
            <a:r>
              <a:rPr lang="en-US" altLang="en-US" sz="2000" dirty="0"/>
              <a:t>Gain(</a:t>
            </a:r>
            <a:r>
              <a:rPr lang="en-US" altLang="en-US" sz="2000" dirty="0" err="1"/>
              <a:t>Sweets,Size</a:t>
            </a:r>
            <a:r>
              <a:rPr lang="en-US" altLang="en-US" sz="2000" dirty="0"/>
              <a:t>)=0.4591</a:t>
            </a:r>
          </a:p>
          <a:p>
            <a:pPr eaLnBrk="1" hangingPunct="1"/>
            <a:r>
              <a:rPr lang="en-US" altLang="en-US" sz="2000" dirty="0">
                <a:solidFill>
                  <a:srgbClr val="FF0000"/>
                </a:solidFill>
              </a:rPr>
              <a:t>Gain(</a:t>
            </a:r>
            <a:r>
              <a:rPr lang="en-US" altLang="en-US" sz="2000" dirty="0" err="1">
                <a:solidFill>
                  <a:srgbClr val="FF0000"/>
                </a:solidFill>
              </a:rPr>
              <a:t>Sweets,Colour</a:t>
            </a:r>
            <a:r>
              <a:rPr lang="en-US" altLang="en-US" sz="2000" dirty="0">
                <a:solidFill>
                  <a:srgbClr val="FF0000"/>
                </a:solidFill>
              </a:rPr>
              <a:t>)=0.5409</a:t>
            </a:r>
          </a:p>
          <a:p>
            <a:pPr eaLnBrk="1" hangingPunct="1"/>
            <a:endParaRPr lang="en-US" altLang="en-US" sz="2000" dirty="0">
              <a:solidFill>
                <a:srgbClr val="FF0000"/>
              </a:solidFill>
            </a:endParaRPr>
          </a:p>
          <a:p>
            <a:pPr eaLnBrk="1" hangingPunct="1">
              <a:buFont typeface="Arial" panose="020B0604020202020204" pitchFamily="34" charset="0"/>
              <a:buChar char="•"/>
            </a:pPr>
            <a:r>
              <a:rPr lang="en-US" altLang="en-US" sz="2000" b="1" dirty="0" err="1"/>
              <a:t>Colour</a:t>
            </a:r>
            <a:r>
              <a:rPr lang="en-US" altLang="en-US" sz="2000" b="1" dirty="0"/>
              <a:t> </a:t>
            </a:r>
            <a:r>
              <a:rPr lang="en-US" altLang="en-US" sz="2000" dirty="0"/>
              <a:t>becomes Root Node</a:t>
            </a:r>
          </a:p>
          <a:p>
            <a:pPr eaLnBrk="1" hangingPunct="1"/>
            <a:endParaRPr lang="en-US" altLang="en-US" sz="2000" dirty="0"/>
          </a:p>
          <a:p>
            <a:pPr eaLnBrk="1" hangingPunct="1">
              <a:buFont typeface="Arial" panose="020B0604020202020204" pitchFamily="34" charset="0"/>
              <a:buChar char="•"/>
            </a:pPr>
            <a:r>
              <a:rPr lang="en-US" altLang="en-US" sz="2000" dirty="0"/>
              <a:t>Expand tree using </a:t>
            </a:r>
            <a:r>
              <a:rPr lang="en-US" altLang="en-US" sz="2000" dirty="0" err="1"/>
              <a:t>Colour</a:t>
            </a:r>
            <a:r>
              <a:rPr lang="en-US" altLang="en-US" sz="2000" dirty="0"/>
              <a:t> Attribute</a:t>
            </a:r>
          </a:p>
          <a:p>
            <a:pPr eaLnBrk="1" hangingPunct="1">
              <a:buFont typeface="Arial" panose="020B0604020202020204" pitchFamily="34" charset="0"/>
              <a:buChar char="•"/>
            </a:pPr>
            <a:r>
              <a:rPr lang="en-US" altLang="en-US" sz="2000" dirty="0"/>
              <a:t>Branches for Blue and Green attribute values terminate</a:t>
            </a:r>
          </a:p>
          <a:p>
            <a:pPr eaLnBrk="1" hangingPunct="1">
              <a:buFont typeface="Arial" panose="020B0604020202020204" pitchFamily="34" charset="0"/>
              <a:buChar char="•"/>
            </a:pPr>
            <a:endParaRPr lang="en-US" altLang="en-US" sz="2000" dirty="0"/>
          </a:p>
          <a:p>
            <a:pPr eaLnBrk="1" hangingPunct="1">
              <a:buFont typeface="Arial" panose="020B0604020202020204" pitchFamily="34" charset="0"/>
              <a:buChar char="•"/>
            </a:pPr>
            <a:r>
              <a:rPr lang="en-US" altLang="en-US" sz="2000" dirty="0"/>
              <a:t>Now iterate again for </a:t>
            </a:r>
            <a:r>
              <a:rPr lang="en-US" altLang="en-US" sz="2000" dirty="0" err="1"/>
              <a:t>Colour</a:t>
            </a:r>
            <a:r>
              <a:rPr lang="en-US" altLang="en-US" sz="2000" dirty="0"/>
              <a:t> Red attribute value with a subset of the data</a:t>
            </a:r>
          </a:p>
        </p:txBody>
      </p:sp>
      <p:sp>
        <p:nvSpPr>
          <p:cNvPr id="38" name="Rectangle 37"/>
          <p:cNvSpPr/>
          <p:nvPr/>
        </p:nvSpPr>
        <p:spPr>
          <a:xfrm>
            <a:off x="5443538" y="5519738"/>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Rectangle 38"/>
          <p:cNvSpPr/>
          <p:nvPr/>
        </p:nvSpPr>
        <p:spPr>
          <a:xfrm>
            <a:off x="5443538" y="6053138"/>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5486400" y="6596063"/>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1" name="Rectangle 40"/>
          <p:cNvSpPr/>
          <p:nvPr/>
        </p:nvSpPr>
        <p:spPr>
          <a:xfrm>
            <a:off x="6053138" y="4953000"/>
            <a:ext cx="1033462"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708" name="TextBox 41"/>
          <p:cNvSpPr txBox="1">
            <a:spLocks noChangeArrowheads="1"/>
          </p:cNvSpPr>
          <p:nvPr/>
        </p:nvSpPr>
        <p:spPr bwMode="auto">
          <a:xfrm>
            <a:off x="7572101" y="4023300"/>
            <a:ext cx="3901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3600" b="1" dirty="0"/>
              <a: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sv-SE" altLang="en-US" sz="4000"/>
              <a:t>Which Attribute is ”best”?</a:t>
            </a:r>
            <a:br>
              <a:rPr lang="sv-SE" altLang="en-US" sz="4000"/>
            </a:br>
            <a:r>
              <a:rPr lang="sv-SE" altLang="en-US" sz="4000"/>
              <a:t>Sweets example</a:t>
            </a:r>
            <a:endParaRPr lang="en-US" altLang="en-US" sz="4000"/>
          </a:p>
        </p:txBody>
      </p:sp>
      <p:sp>
        <p:nvSpPr>
          <p:cNvPr id="22" name="Footer Placeholder 3"/>
          <p:cNvSpPr>
            <a:spLocks noGrp="1"/>
          </p:cNvSpPr>
          <p:nvPr>
            <p:ph type="ftr" sz="quarter" idx="11"/>
          </p:nvPr>
        </p:nvSpPr>
        <p:spPr/>
        <p:txBody>
          <a:bodyPr/>
          <a:lstStyle/>
          <a:p>
            <a:pPr>
              <a:defRPr/>
            </a:pPr>
            <a:r>
              <a:rPr lang="en-US"/>
              <a:t>Decision Tree Learning</a:t>
            </a:r>
          </a:p>
        </p:txBody>
      </p:sp>
      <p:sp>
        <p:nvSpPr>
          <p:cNvPr id="23"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B1EFA4B-242C-4582-857D-93B9A771960B}" type="slidenum">
              <a:rPr lang="en-US" altLang="en-US" sz="1200">
                <a:solidFill>
                  <a:srgbClr val="898989"/>
                </a:solidFill>
              </a:rPr>
              <a:pPr eaLnBrk="1" hangingPunct="1"/>
              <a:t>39</a:t>
            </a:fld>
            <a:endParaRPr lang="en-US" altLang="en-US" sz="1200">
              <a:solidFill>
                <a:srgbClr val="898989"/>
              </a:solidFill>
            </a:endParaRPr>
          </a:p>
        </p:txBody>
      </p:sp>
      <p:pic>
        <p:nvPicPr>
          <p:cNvPr id="30725"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7838" y="4953000"/>
            <a:ext cx="4957762" cy="19050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nvGrpSpPr>
          <p:cNvPr id="30726" name="Group 35"/>
          <p:cNvGrpSpPr>
            <a:grpSpLocks/>
          </p:cNvGrpSpPr>
          <p:nvPr/>
        </p:nvGrpSpPr>
        <p:grpSpPr bwMode="auto">
          <a:xfrm>
            <a:off x="6705600" y="1641474"/>
            <a:ext cx="4800600" cy="2473325"/>
            <a:chOff x="4953002" y="1947006"/>
            <a:chExt cx="3581400" cy="2323720"/>
          </a:xfrm>
        </p:grpSpPr>
        <p:grpSp>
          <p:nvGrpSpPr>
            <p:cNvPr id="30733" name="Group 12"/>
            <p:cNvGrpSpPr>
              <a:grpSpLocks/>
            </p:cNvGrpSpPr>
            <p:nvPr/>
          </p:nvGrpSpPr>
          <p:grpSpPr bwMode="auto">
            <a:xfrm>
              <a:off x="4953002" y="1947006"/>
              <a:ext cx="2193926" cy="2323610"/>
              <a:chOff x="3408" y="2972"/>
              <a:chExt cx="1382" cy="790"/>
            </a:xfrm>
          </p:grpSpPr>
          <p:sp>
            <p:nvSpPr>
              <p:cNvPr id="30737" name="Line 13"/>
              <p:cNvSpPr>
                <a:spLocks noChangeShapeType="1"/>
              </p:cNvSpPr>
              <p:nvPr/>
            </p:nvSpPr>
            <p:spPr bwMode="auto">
              <a:xfrm flipH="1">
                <a:off x="3696" y="3091"/>
                <a:ext cx="585" cy="67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0738" name="Line 14"/>
              <p:cNvSpPr>
                <a:spLocks noChangeShapeType="1"/>
              </p:cNvSpPr>
              <p:nvPr/>
            </p:nvSpPr>
            <p:spPr bwMode="auto">
              <a:xfrm>
                <a:off x="4320" y="3091"/>
                <a:ext cx="240" cy="61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0739" name="Text Box 15"/>
              <p:cNvSpPr txBox="1">
                <a:spLocks noChangeArrowheads="1"/>
              </p:cNvSpPr>
              <p:nvPr/>
            </p:nvSpPr>
            <p:spPr bwMode="auto">
              <a:xfrm>
                <a:off x="4063" y="2972"/>
                <a:ext cx="540" cy="11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a:t>Colour</a:t>
                </a:r>
              </a:p>
            </p:txBody>
          </p:sp>
          <p:sp>
            <p:nvSpPr>
              <p:cNvPr id="30740" name="Text Box 16"/>
              <p:cNvSpPr txBox="1">
                <a:spLocks noChangeArrowheads="1"/>
              </p:cNvSpPr>
              <p:nvPr/>
            </p:nvSpPr>
            <p:spPr bwMode="auto">
              <a:xfrm>
                <a:off x="3727" y="3372"/>
                <a:ext cx="336" cy="10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Red</a:t>
                </a:r>
              </a:p>
            </p:txBody>
          </p:sp>
          <p:sp>
            <p:nvSpPr>
              <p:cNvPr id="30741" name="Text Box 17"/>
              <p:cNvSpPr txBox="1">
                <a:spLocks noChangeArrowheads="1"/>
              </p:cNvSpPr>
              <p:nvPr/>
            </p:nvSpPr>
            <p:spPr bwMode="auto">
              <a:xfrm>
                <a:off x="4272" y="3372"/>
                <a:ext cx="369" cy="10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Blue</a:t>
                </a:r>
              </a:p>
            </p:txBody>
          </p:sp>
          <p:sp>
            <p:nvSpPr>
              <p:cNvPr id="30742" name="Text Box 18"/>
              <p:cNvSpPr txBox="1">
                <a:spLocks noChangeArrowheads="1"/>
              </p:cNvSpPr>
              <p:nvPr/>
            </p:nvSpPr>
            <p:spPr bwMode="auto">
              <a:xfrm>
                <a:off x="3408" y="3657"/>
                <a:ext cx="576" cy="105"/>
              </a:xfrm>
              <a:prstGeom prst="rect">
                <a:avLst/>
              </a:prstGeom>
              <a:solidFill>
                <a:schemeClr val="bg1"/>
              </a:solidFill>
              <a:ln w="38100">
                <a:solidFill>
                  <a:schemeClr val="accent2"/>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[2+,1-]</a:t>
                </a:r>
              </a:p>
            </p:txBody>
          </p:sp>
          <p:sp>
            <p:nvSpPr>
              <p:cNvPr id="30743" name="Text Box 19"/>
              <p:cNvSpPr txBox="1">
                <a:spLocks noChangeArrowheads="1"/>
              </p:cNvSpPr>
              <p:nvPr/>
            </p:nvSpPr>
            <p:spPr bwMode="auto">
              <a:xfrm>
                <a:off x="4406" y="3657"/>
                <a:ext cx="384" cy="10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a:t>LIKE</a:t>
                </a:r>
              </a:p>
            </p:txBody>
          </p:sp>
        </p:grpSp>
        <p:sp>
          <p:nvSpPr>
            <p:cNvPr id="30734" name="Line 14"/>
            <p:cNvSpPr>
              <a:spLocks noChangeShapeType="1"/>
            </p:cNvSpPr>
            <p:nvPr/>
          </p:nvSpPr>
          <p:spPr bwMode="auto">
            <a:xfrm>
              <a:off x="6553200" y="2286000"/>
              <a:ext cx="1447802" cy="1753149"/>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0735" name="Text Box 17"/>
            <p:cNvSpPr txBox="1">
              <a:spLocks noChangeArrowheads="1"/>
            </p:cNvSpPr>
            <p:nvPr/>
          </p:nvSpPr>
          <p:spPr bwMode="auto">
            <a:xfrm>
              <a:off x="7239000" y="3124200"/>
              <a:ext cx="801823" cy="338554"/>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b="1"/>
                <a:t>Green</a:t>
              </a:r>
            </a:p>
          </p:txBody>
        </p:sp>
        <p:sp>
          <p:nvSpPr>
            <p:cNvPr id="30736" name="Text Box 19"/>
            <p:cNvSpPr txBox="1">
              <a:spLocks noChangeArrowheads="1"/>
            </p:cNvSpPr>
            <p:nvPr/>
          </p:nvSpPr>
          <p:spPr bwMode="auto">
            <a:xfrm>
              <a:off x="7467602" y="3962949"/>
              <a:ext cx="1066800" cy="307777"/>
            </a:xfrm>
            <a:prstGeom prst="rect">
              <a:avLst/>
            </a:prstGeom>
            <a:solidFill>
              <a:schemeClr val="bg1"/>
            </a:solidFill>
            <a:ln w="38100">
              <a:solidFill>
                <a:schemeClr val="accent2"/>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b="1" dirty="0"/>
                <a:t>DISLIKE</a:t>
              </a:r>
            </a:p>
          </p:txBody>
        </p:sp>
      </p:grpSp>
      <p:sp>
        <p:nvSpPr>
          <p:cNvPr id="30727" name="TextBox 36"/>
          <p:cNvSpPr txBox="1">
            <a:spLocks noChangeArrowheads="1"/>
          </p:cNvSpPr>
          <p:nvPr/>
        </p:nvSpPr>
        <p:spPr bwMode="auto">
          <a:xfrm>
            <a:off x="679011" y="1588616"/>
            <a:ext cx="59436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b="1" dirty="0"/>
              <a:t>Information Gain for each Attributes : </a:t>
            </a:r>
            <a:r>
              <a:rPr lang="en-US" altLang="en-US" sz="2000" dirty="0"/>
              <a:t>Gain(</a:t>
            </a:r>
            <a:r>
              <a:rPr lang="en-US" altLang="en-US" sz="2000" dirty="0" err="1"/>
              <a:t>Sweets,Colour</a:t>
            </a:r>
            <a:r>
              <a:rPr lang="en-US" altLang="en-US" sz="2000" dirty="0"/>
              <a:t> Red, Shape)=0.251</a:t>
            </a:r>
          </a:p>
          <a:p>
            <a:pPr eaLnBrk="1" hangingPunct="1"/>
            <a:r>
              <a:rPr lang="en-US" altLang="en-US" sz="2000" dirty="0">
                <a:solidFill>
                  <a:srgbClr val="FF0000"/>
                </a:solidFill>
              </a:rPr>
              <a:t>Gain(</a:t>
            </a:r>
            <a:r>
              <a:rPr lang="en-US" altLang="en-US" sz="2000" dirty="0" err="1">
                <a:solidFill>
                  <a:srgbClr val="FF0000"/>
                </a:solidFill>
              </a:rPr>
              <a:t>Sweets,Colour</a:t>
            </a:r>
            <a:r>
              <a:rPr lang="en-US" altLang="en-US" sz="2000" dirty="0">
                <a:solidFill>
                  <a:srgbClr val="FF0000"/>
                </a:solidFill>
              </a:rPr>
              <a:t> Red, Size)=0.9183</a:t>
            </a:r>
          </a:p>
          <a:p>
            <a:pPr eaLnBrk="1" hangingPunct="1"/>
            <a:endParaRPr lang="en-US" altLang="en-US" sz="2000" dirty="0">
              <a:solidFill>
                <a:srgbClr val="FF0000"/>
              </a:solidFill>
            </a:endParaRPr>
          </a:p>
          <a:p>
            <a:pPr eaLnBrk="1" hangingPunct="1"/>
            <a:endParaRPr lang="en-US" altLang="en-US" sz="2000" dirty="0">
              <a:solidFill>
                <a:srgbClr val="FF0000"/>
              </a:solidFill>
            </a:endParaRPr>
          </a:p>
          <a:p>
            <a:pPr eaLnBrk="1" hangingPunct="1">
              <a:buFont typeface="Arial" panose="020B0604020202020204" pitchFamily="34" charset="0"/>
              <a:buChar char="•"/>
            </a:pPr>
            <a:r>
              <a:rPr lang="en-US" altLang="en-US" sz="2000" b="1" dirty="0"/>
              <a:t>Size </a:t>
            </a:r>
            <a:r>
              <a:rPr lang="en-US" altLang="en-US" sz="2000" dirty="0"/>
              <a:t>becomes next Node under the Red attribute Value branch</a:t>
            </a:r>
          </a:p>
          <a:p>
            <a:pPr eaLnBrk="1" hangingPunct="1"/>
            <a:endParaRPr lang="en-US" altLang="en-US" sz="2000" dirty="0"/>
          </a:p>
          <a:p>
            <a:pPr eaLnBrk="1" hangingPunct="1">
              <a:buFont typeface="Arial" panose="020B0604020202020204" pitchFamily="34" charset="0"/>
              <a:buChar char="•"/>
            </a:pPr>
            <a:r>
              <a:rPr lang="en-US" altLang="en-US" sz="2000" dirty="0"/>
              <a:t>The tree then terminates</a:t>
            </a:r>
          </a:p>
          <a:p>
            <a:pPr eaLnBrk="1" hangingPunct="1">
              <a:buFont typeface="Arial" panose="020B0604020202020204" pitchFamily="34" charset="0"/>
              <a:buChar char="•"/>
            </a:pPr>
            <a:endParaRPr lang="en-US" altLang="en-US" sz="2000" dirty="0"/>
          </a:p>
        </p:txBody>
      </p:sp>
      <p:sp>
        <p:nvSpPr>
          <p:cNvPr id="38" name="Rectangle 37"/>
          <p:cNvSpPr/>
          <p:nvPr/>
        </p:nvSpPr>
        <p:spPr>
          <a:xfrm>
            <a:off x="5443538" y="5519738"/>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Rectangle 38"/>
          <p:cNvSpPr/>
          <p:nvPr/>
        </p:nvSpPr>
        <p:spPr>
          <a:xfrm>
            <a:off x="5443538" y="6053138"/>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5486400" y="6596063"/>
            <a:ext cx="5105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1" name="Rectangle 40"/>
          <p:cNvSpPr/>
          <p:nvPr/>
        </p:nvSpPr>
        <p:spPr>
          <a:xfrm>
            <a:off x="6053138" y="4953000"/>
            <a:ext cx="1033462"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732" name="TextBox 41"/>
          <p:cNvSpPr txBox="1">
            <a:spLocks noChangeArrowheads="1"/>
          </p:cNvSpPr>
          <p:nvPr/>
        </p:nvSpPr>
        <p:spPr bwMode="auto">
          <a:xfrm>
            <a:off x="7423948" y="3632093"/>
            <a:ext cx="381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3600" b="1" dirty="0"/>
              <a: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sv-SE" altLang="en-US" smtClean="0"/>
              <a:t>PlayTennis Training Examples</a:t>
            </a:r>
            <a:endParaRPr lang="en-US" altLang="en-US" smtClean="0"/>
          </a:p>
        </p:txBody>
      </p:sp>
      <p:sp>
        <p:nvSpPr>
          <p:cNvPr id="117" name="Footer Placeholder 3"/>
          <p:cNvSpPr>
            <a:spLocks noGrp="1"/>
          </p:cNvSpPr>
          <p:nvPr>
            <p:ph type="ftr" sz="quarter" idx="11"/>
          </p:nvPr>
        </p:nvSpPr>
        <p:spPr/>
        <p:txBody>
          <a:bodyPr/>
          <a:lstStyle/>
          <a:p>
            <a:pPr>
              <a:defRPr/>
            </a:pPr>
            <a:r>
              <a:rPr lang="en-US"/>
              <a:t>Decision Tree Learning</a:t>
            </a:r>
          </a:p>
        </p:txBody>
      </p:sp>
      <p:sp>
        <p:nvSpPr>
          <p:cNvPr id="118"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9283A3A-240C-46AE-B710-2D8CD285292D}" type="slidenum">
              <a:rPr lang="en-US" altLang="en-US" sz="1200">
                <a:solidFill>
                  <a:srgbClr val="898989"/>
                </a:solidFill>
              </a:rPr>
              <a:pPr eaLnBrk="1" hangingPunct="1"/>
              <a:t>40</a:t>
            </a:fld>
            <a:endParaRPr lang="en-US" altLang="en-US" sz="1200">
              <a:solidFill>
                <a:srgbClr val="898989"/>
              </a:solidFill>
            </a:endParaRPr>
          </a:p>
        </p:txBody>
      </p:sp>
      <p:grpSp>
        <p:nvGrpSpPr>
          <p:cNvPr id="31749" name="Group 3"/>
          <p:cNvGrpSpPr>
            <a:grpSpLocks/>
          </p:cNvGrpSpPr>
          <p:nvPr/>
        </p:nvGrpSpPr>
        <p:grpSpPr bwMode="auto">
          <a:xfrm>
            <a:off x="2209800" y="1584326"/>
            <a:ext cx="8305800" cy="5045075"/>
            <a:chOff x="432" y="960"/>
            <a:chExt cx="5232" cy="3178"/>
          </a:xfrm>
        </p:grpSpPr>
        <p:sp>
          <p:nvSpPr>
            <p:cNvPr id="31750" name="Rectangle 4"/>
            <p:cNvSpPr>
              <a:spLocks noChangeArrowheads="1"/>
            </p:cNvSpPr>
            <p:nvPr/>
          </p:nvSpPr>
          <p:spPr bwMode="auto">
            <a:xfrm>
              <a:off x="4560" y="3927"/>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751" name="Rectangle 5"/>
            <p:cNvSpPr>
              <a:spLocks noChangeArrowheads="1"/>
            </p:cNvSpPr>
            <p:nvPr/>
          </p:nvSpPr>
          <p:spPr bwMode="auto">
            <a:xfrm>
              <a:off x="3840" y="3927"/>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52" name="Rectangle 6"/>
            <p:cNvSpPr>
              <a:spLocks noChangeArrowheads="1"/>
            </p:cNvSpPr>
            <p:nvPr/>
          </p:nvSpPr>
          <p:spPr bwMode="auto">
            <a:xfrm>
              <a:off x="3072" y="3927"/>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753" name="Rectangle 7"/>
            <p:cNvSpPr>
              <a:spLocks noChangeArrowheads="1"/>
            </p:cNvSpPr>
            <p:nvPr/>
          </p:nvSpPr>
          <p:spPr bwMode="auto">
            <a:xfrm>
              <a:off x="2336" y="3927"/>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54" name="Rectangle 8"/>
            <p:cNvSpPr>
              <a:spLocks noChangeArrowheads="1"/>
            </p:cNvSpPr>
            <p:nvPr/>
          </p:nvSpPr>
          <p:spPr bwMode="auto">
            <a:xfrm>
              <a:off x="912" y="3927"/>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755" name="Rectangle 9"/>
            <p:cNvSpPr>
              <a:spLocks noChangeArrowheads="1"/>
            </p:cNvSpPr>
            <p:nvPr/>
          </p:nvSpPr>
          <p:spPr bwMode="auto">
            <a:xfrm>
              <a:off x="432" y="3927"/>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D14</a:t>
              </a:r>
              <a:endParaRPr lang="en-US" altLang="en-US" sz="1800"/>
            </a:p>
          </p:txBody>
        </p:sp>
        <p:sp>
          <p:nvSpPr>
            <p:cNvPr id="31756" name="Rectangle 10"/>
            <p:cNvSpPr>
              <a:spLocks noChangeArrowheads="1"/>
            </p:cNvSpPr>
            <p:nvPr/>
          </p:nvSpPr>
          <p:spPr bwMode="auto">
            <a:xfrm>
              <a:off x="4560" y="3716"/>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57" name="Rectangle 11"/>
            <p:cNvSpPr>
              <a:spLocks noChangeArrowheads="1"/>
            </p:cNvSpPr>
            <p:nvPr/>
          </p:nvSpPr>
          <p:spPr bwMode="auto">
            <a:xfrm>
              <a:off x="3840" y="3716"/>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58" name="Rectangle 12"/>
            <p:cNvSpPr>
              <a:spLocks noChangeArrowheads="1"/>
            </p:cNvSpPr>
            <p:nvPr/>
          </p:nvSpPr>
          <p:spPr bwMode="auto">
            <a:xfrm>
              <a:off x="3072" y="3716"/>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59" name="Rectangle 13"/>
            <p:cNvSpPr>
              <a:spLocks noChangeArrowheads="1"/>
            </p:cNvSpPr>
            <p:nvPr/>
          </p:nvSpPr>
          <p:spPr bwMode="auto">
            <a:xfrm>
              <a:off x="2336" y="3716"/>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760" name="Rectangle 14"/>
            <p:cNvSpPr>
              <a:spLocks noChangeArrowheads="1"/>
            </p:cNvSpPr>
            <p:nvPr/>
          </p:nvSpPr>
          <p:spPr bwMode="auto">
            <a:xfrm>
              <a:off x="912" y="3716"/>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761" name="Rectangle 15"/>
            <p:cNvSpPr>
              <a:spLocks noChangeArrowheads="1"/>
            </p:cNvSpPr>
            <p:nvPr/>
          </p:nvSpPr>
          <p:spPr bwMode="auto">
            <a:xfrm>
              <a:off x="432" y="3716"/>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D13</a:t>
              </a:r>
              <a:endParaRPr lang="en-US" altLang="en-US" sz="1800"/>
            </a:p>
          </p:txBody>
        </p:sp>
        <p:sp>
          <p:nvSpPr>
            <p:cNvPr id="31762" name="Rectangle 16"/>
            <p:cNvSpPr>
              <a:spLocks noChangeArrowheads="1"/>
            </p:cNvSpPr>
            <p:nvPr/>
          </p:nvSpPr>
          <p:spPr bwMode="auto">
            <a:xfrm>
              <a:off x="4560" y="3505"/>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63" name="Rectangle 17"/>
            <p:cNvSpPr>
              <a:spLocks noChangeArrowheads="1"/>
            </p:cNvSpPr>
            <p:nvPr/>
          </p:nvSpPr>
          <p:spPr bwMode="auto">
            <a:xfrm>
              <a:off x="3840" y="3505"/>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64" name="Rectangle 18"/>
            <p:cNvSpPr>
              <a:spLocks noChangeArrowheads="1"/>
            </p:cNvSpPr>
            <p:nvPr/>
          </p:nvSpPr>
          <p:spPr bwMode="auto">
            <a:xfrm>
              <a:off x="3072" y="3505"/>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765" name="Rectangle 19"/>
            <p:cNvSpPr>
              <a:spLocks noChangeArrowheads="1"/>
            </p:cNvSpPr>
            <p:nvPr/>
          </p:nvSpPr>
          <p:spPr bwMode="auto">
            <a:xfrm>
              <a:off x="2336" y="3505"/>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66" name="Rectangle 20"/>
            <p:cNvSpPr>
              <a:spLocks noChangeArrowheads="1"/>
            </p:cNvSpPr>
            <p:nvPr/>
          </p:nvSpPr>
          <p:spPr bwMode="auto">
            <a:xfrm>
              <a:off x="912" y="3505"/>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767" name="Rectangle 21"/>
            <p:cNvSpPr>
              <a:spLocks noChangeArrowheads="1"/>
            </p:cNvSpPr>
            <p:nvPr/>
          </p:nvSpPr>
          <p:spPr bwMode="auto">
            <a:xfrm>
              <a:off x="432" y="3505"/>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D12</a:t>
              </a:r>
              <a:endParaRPr lang="en-US" altLang="en-US" sz="1800"/>
            </a:p>
          </p:txBody>
        </p:sp>
        <p:sp>
          <p:nvSpPr>
            <p:cNvPr id="31768" name="Rectangle 22"/>
            <p:cNvSpPr>
              <a:spLocks noChangeArrowheads="1"/>
            </p:cNvSpPr>
            <p:nvPr/>
          </p:nvSpPr>
          <p:spPr bwMode="auto">
            <a:xfrm>
              <a:off x="4560" y="3294"/>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69" name="Rectangle 23"/>
            <p:cNvSpPr>
              <a:spLocks noChangeArrowheads="1"/>
            </p:cNvSpPr>
            <p:nvPr/>
          </p:nvSpPr>
          <p:spPr bwMode="auto">
            <a:xfrm>
              <a:off x="3840" y="3294"/>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70" name="Rectangle 24"/>
            <p:cNvSpPr>
              <a:spLocks noChangeArrowheads="1"/>
            </p:cNvSpPr>
            <p:nvPr/>
          </p:nvSpPr>
          <p:spPr bwMode="auto">
            <a:xfrm>
              <a:off x="3072" y="3294"/>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71" name="Rectangle 25"/>
            <p:cNvSpPr>
              <a:spLocks noChangeArrowheads="1"/>
            </p:cNvSpPr>
            <p:nvPr/>
          </p:nvSpPr>
          <p:spPr bwMode="auto">
            <a:xfrm>
              <a:off x="2336" y="3294"/>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72" name="Rectangle 26"/>
            <p:cNvSpPr>
              <a:spLocks noChangeArrowheads="1"/>
            </p:cNvSpPr>
            <p:nvPr/>
          </p:nvSpPr>
          <p:spPr bwMode="auto">
            <a:xfrm>
              <a:off x="912" y="3294"/>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773" name="Rectangle 27"/>
            <p:cNvSpPr>
              <a:spLocks noChangeArrowheads="1"/>
            </p:cNvSpPr>
            <p:nvPr/>
          </p:nvSpPr>
          <p:spPr bwMode="auto">
            <a:xfrm>
              <a:off x="432" y="3294"/>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D11</a:t>
              </a:r>
              <a:endParaRPr lang="en-US" altLang="en-US" sz="1800"/>
            </a:p>
          </p:txBody>
        </p:sp>
        <p:sp>
          <p:nvSpPr>
            <p:cNvPr id="31774" name="Rectangle 28"/>
            <p:cNvSpPr>
              <a:spLocks noChangeArrowheads="1"/>
            </p:cNvSpPr>
            <p:nvPr/>
          </p:nvSpPr>
          <p:spPr bwMode="auto">
            <a:xfrm>
              <a:off x="4560" y="3083"/>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75" name="Rectangle 29"/>
            <p:cNvSpPr>
              <a:spLocks noChangeArrowheads="1"/>
            </p:cNvSpPr>
            <p:nvPr/>
          </p:nvSpPr>
          <p:spPr bwMode="auto">
            <a:xfrm>
              <a:off x="3840" y="3083"/>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776" name="Rectangle 30"/>
            <p:cNvSpPr>
              <a:spLocks noChangeArrowheads="1"/>
            </p:cNvSpPr>
            <p:nvPr/>
          </p:nvSpPr>
          <p:spPr bwMode="auto">
            <a:xfrm>
              <a:off x="3072" y="3083"/>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77" name="Rectangle 31"/>
            <p:cNvSpPr>
              <a:spLocks noChangeArrowheads="1"/>
            </p:cNvSpPr>
            <p:nvPr/>
          </p:nvSpPr>
          <p:spPr bwMode="auto">
            <a:xfrm>
              <a:off x="2336" y="3083"/>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78" name="Rectangle 32"/>
            <p:cNvSpPr>
              <a:spLocks noChangeArrowheads="1"/>
            </p:cNvSpPr>
            <p:nvPr/>
          </p:nvSpPr>
          <p:spPr bwMode="auto">
            <a:xfrm>
              <a:off x="912" y="3083"/>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779" name="Rectangle 33"/>
            <p:cNvSpPr>
              <a:spLocks noChangeArrowheads="1"/>
            </p:cNvSpPr>
            <p:nvPr/>
          </p:nvSpPr>
          <p:spPr bwMode="auto">
            <a:xfrm>
              <a:off x="432" y="3083"/>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D10</a:t>
              </a:r>
              <a:endParaRPr lang="en-US" altLang="en-US" sz="1800"/>
            </a:p>
          </p:txBody>
        </p:sp>
        <p:sp>
          <p:nvSpPr>
            <p:cNvPr id="31780" name="Rectangle 34"/>
            <p:cNvSpPr>
              <a:spLocks noChangeArrowheads="1"/>
            </p:cNvSpPr>
            <p:nvPr/>
          </p:nvSpPr>
          <p:spPr bwMode="auto">
            <a:xfrm>
              <a:off x="4560" y="2872"/>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81" name="Rectangle 35"/>
            <p:cNvSpPr>
              <a:spLocks noChangeArrowheads="1"/>
            </p:cNvSpPr>
            <p:nvPr/>
          </p:nvSpPr>
          <p:spPr bwMode="auto">
            <a:xfrm>
              <a:off x="3840" y="2872"/>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82" name="Rectangle 36"/>
            <p:cNvSpPr>
              <a:spLocks noChangeArrowheads="1"/>
            </p:cNvSpPr>
            <p:nvPr/>
          </p:nvSpPr>
          <p:spPr bwMode="auto">
            <a:xfrm>
              <a:off x="3072" y="2872"/>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83" name="Rectangle 37"/>
            <p:cNvSpPr>
              <a:spLocks noChangeArrowheads="1"/>
            </p:cNvSpPr>
            <p:nvPr/>
          </p:nvSpPr>
          <p:spPr bwMode="auto">
            <a:xfrm>
              <a:off x="2336" y="2872"/>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Cold</a:t>
              </a:r>
              <a:endParaRPr lang="en-US" altLang="en-US" sz="1800"/>
            </a:p>
          </p:txBody>
        </p:sp>
        <p:sp>
          <p:nvSpPr>
            <p:cNvPr id="31784" name="Rectangle 38"/>
            <p:cNvSpPr>
              <a:spLocks noChangeArrowheads="1"/>
            </p:cNvSpPr>
            <p:nvPr/>
          </p:nvSpPr>
          <p:spPr bwMode="auto">
            <a:xfrm>
              <a:off x="912" y="2872"/>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785" name="Rectangle 39"/>
            <p:cNvSpPr>
              <a:spLocks noChangeArrowheads="1"/>
            </p:cNvSpPr>
            <p:nvPr/>
          </p:nvSpPr>
          <p:spPr bwMode="auto">
            <a:xfrm>
              <a:off x="432" y="2872"/>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D9</a:t>
              </a:r>
              <a:endParaRPr lang="en-US" altLang="en-US" sz="1800"/>
            </a:p>
          </p:txBody>
        </p:sp>
        <p:sp>
          <p:nvSpPr>
            <p:cNvPr id="31786" name="Rectangle 40"/>
            <p:cNvSpPr>
              <a:spLocks noChangeArrowheads="1"/>
            </p:cNvSpPr>
            <p:nvPr/>
          </p:nvSpPr>
          <p:spPr bwMode="auto">
            <a:xfrm>
              <a:off x="4560" y="2661"/>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787" name="Rectangle 41"/>
            <p:cNvSpPr>
              <a:spLocks noChangeArrowheads="1"/>
            </p:cNvSpPr>
            <p:nvPr/>
          </p:nvSpPr>
          <p:spPr bwMode="auto">
            <a:xfrm>
              <a:off x="3840" y="2661"/>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88" name="Rectangle 42"/>
            <p:cNvSpPr>
              <a:spLocks noChangeArrowheads="1"/>
            </p:cNvSpPr>
            <p:nvPr/>
          </p:nvSpPr>
          <p:spPr bwMode="auto">
            <a:xfrm>
              <a:off x="3072" y="2661"/>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789" name="Rectangle 43"/>
            <p:cNvSpPr>
              <a:spLocks noChangeArrowheads="1"/>
            </p:cNvSpPr>
            <p:nvPr/>
          </p:nvSpPr>
          <p:spPr bwMode="auto">
            <a:xfrm>
              <a:off x="2336" y="2661"/>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790" name="Rectangle 44"/>
            <p:cNvSpPr>
              <a:spLocks noChangeArrowheads="1"/>
            </p:cNvSpPr>
            <p:nvPr/>
          </p:nvSpPr>
          <p:spPr bwMode="auto">
            <a:xfrm>
              <a:off x="912" y="2661"/>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791" name="Rectangle 45"/>
            <p:cNvSpPr>
              <a:spLocks noChangeArrowheads="1"/>
            </p:cNvSpPr>
            <p:nvPr/>
          </p:nvSpPr>
          <p:spPr bwMode="auto">
            <a:xfrm>
              <a:off x="432" y="2661"/>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D8</a:t>
              </a:r>
              <a:endParaRPr lang="en-US" altLang="en-US" sz="1800"/>
            </a:p>
          </p:txBody>
        </p:sp>
        <p:sp>
          <p:nvSpPr>
            <p:cNvPr id="31792" name="Rectangle 46"/>
            <p:cNvSpPr>
              <a:spLocks noChangeArrowheads="1"/>
            </p:cNvSpPr>
            <p:nvPr/>
          </p:nvSpPr>
          <p:spPr bwMode="auto">
            <a:xfrm>
              <a:off x="4560" y="2450"/>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793" name="Rectangle 47"/>
            <p:cNvSpPr>
              <a:spLocks noChangeArrowheads="1"/>
            </p:cNvSpPr>
            <p:nvPr/>
          </p:nvSpPr>
          <p:spPr bwMode="auto">
            <a:xfrm>
              <a:off x="3840" y="2450"/>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794" name="Rectangle 48"/>
            <p:cNvSpPr>
              <a:spLocks noChangeArrowheads="1"/>
            </p:cNvSpPr>
            <p:nvPr/>
          </p:nvSpPr>
          <p:spPr bwMode="auto">
            <a:xfrm>
              <a:off x="3072" y="2450"/>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795" name="Rectangle 49"/>
            <p:cNvSpPr>
              <a:spLocks noChangeArrowheads="1"/>
            </p:cNvSpPr>
            <p:nvPr/>
          </p:nvSpPr>
          <p:spPr bwMode="auto">
            <a:xfrm>
              <a:off x="2336" y="2450"/>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1796" name="Rectangle 50"/>
            <p:cNvSpPr>
              <a:spLocks noChangeArrowheads="1"/>
            </p:cNvSpPr>
            <p:nvPr/>
          </p:nvSpPr>
          <p:spPr bwMode="auto">
            <a:xfrm>
              <a:off x="912" y="2450"/>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797" name="Rectangle 51"/>
            <p:cNvSpPr>
              <a:spLocks noChangeArrowheads="1"/>
            </p:cNvSpPr>
            <p:nvPr/>
          </p:nvSpPr>
          <p:spPr bwMode="auto">
            <a:xfrm>
              <a:off x="432" y="2450"/>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D7</a:t>
              </a:r>
              <a:endParaRPr lang="en-US" altLang="en-US" sz="1800"/>
            </a:p>
          </p:txBody>
        </p:sp>
        <p:sp>
          <p:nvSpPr>
            <p:cNvPr id="31798" name="Rectangle 52"/>
            <p:cNvSpPr>
              <a:spLocks noChangeArrowheads="1"/>
            </p:cNvSpPr>
            <p:nvPr/>
          </p:nvSpPr>
          <p:spPr bwMode="auto">
            <a:xfrm>
              <a:off x="4560" y="2239"/>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799" name="Rectangle 53"/>
            <p:cNvSpPr>
              <a:spLocks noChangeArrowheads="1"/>
            </p:cNvSpPr>
            <p:nvPr/>
          </p:nvSpPr>
          <p:spPr bwMode="auto">
            <a:xfrm>
              <a:off x="3840" y="2239"/>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800" name="Rectangle 54"/>
            <p:cNvSpPr>
              <a:spLocks noChangeArrowheads="1"/>
            </p:cNvSpPr>
            <p:nvPr/>
          </p:nvSpPr>
          <p:spPr bwMode="auto">
            <a:xfrm>
              <a:off x="3072" y="2239"/>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801" name="Rectangle 55"/>
            <p:cNvSpPr>
              <a:spLocks noChangeArrowheads="1"/>
            </p:cNvSpPr>
            <p:nvPr/>
          </p:nvSpPr>
          <p:spPr bwMode="auto">
            <a:xfrm>
              <a:off x="2336" y="2239"/>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1802" name="Rectangle 56"/>
            <p:cNvSpPr>
              <a:spLocks noChangeArrowheads="1"/>
            </p:cNvSpPr>
            <p:nvPr/>
          </p:nvSpPr>
          <p:spPr bwMode="auto">
            <a:xfrm>
              <a:off x="912" y="2239"/>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803" name="Rectangle 57"/>
            <p:cNvSpPr>
              <a:spLocks noChangeArrowheads="1"/>
            </p:cNvSpPr>
            <p:nvPr/>
          </p:nvSpPr>
          <p:spPr bwMode="auto">
            <a:xfrm>
              <a:off x="432" y="2239"/>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D6</a:t>
              </a:r>
              <a:endParaRPr lang="en-US" altLang="en-US" sz="1800"/>
            </a:p>
          </p:txBody>
        </p:sp>
        <p:sp>
          <p:nvSpPr>
            <p:cNvPr id="31804" name="Rectangle 58"/>
            <p:cNvSpPr>
              <a:spLocks noChangeArrowheads="1"/>
            </p:cNvSpPr>
            <p:nvPr/>
          </p:nvSpPr>
          <p:spPr bwMode="auto">
            <a:xfrm>
              <a:off x="4560" y="2028"/>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805" name="Rectangle 59"/>
            <p:cNvSpPr>
              <a:spLocks noChangeArrowheads="1"/>
            </p:cNvSpPr>
            <p:nvPr/>
          </p:nvSpPr>
          <p:spPr bwMode="auto">
            <a:xfrm>
              <a:off x="3840" y="2028"/>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06" name="Rectangle 60"/>
            <p:cNvSpPr>
              <a:spLocks noChangeArrowheads="1"/>
            </p:cNvSpPr>
            <p:nvPr/>
          </p:nvSpPr>
          <p:spPr bwMode="auto">
            <a:xfrm>
              <a:off x="3072" y="2028"/>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1807" name="Rectangle 61"/>
            <p:cNvSpPr>
              <a:spLocks noChangeArrowheads="1"/>
            </p:cNvSpPr>
            <p:nvPr/>
          </p:nvSpPr>
          <p:spPr bwMode="auto">
            <a:xfrm>
              <a:off x="2336" y="2028"/>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1808" name="Rectangle 62"/>
            <p:cNvSpPr>
              <a:spLocks noChangeArrowheads="1"/>
            </p:cNvSpPr>
            <p:nvPr/>
          </p:nvSpPr>
          <p:spPr bwMode="auto">
            <a:xfrm>
              <a:off x="912" y="2028"/>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1809" name="Rectangle 63"/>
            <p:cNvSpPr>
              <a:spLocks noChangeArrowheads="1"/>
            </p:cNvSpPr>
            <p:nvPr/>
          </p:nvSpPr>
          <p:spPr bwMode="auto">
            <a:xfrm>
              <a:off x="432" y="2028"/>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D5</a:t>
              </a:r>
              <a:endParaRPr lang="en-US" altLang="en-US" sz="1800"/>
            </a:p>
          </p:txBody>
        </p:sp>
        <p:sp>
          <p:nvSpPr>
            <p:cNvPr id="31810" name="Rectangle 64"/>
            <p:cNvSpPr>
              <a:spLocks noChangeArrowheads="1"/>
            </p:cNvSpPr>
            <p:nvPr/>
          </p:nvSpPr>
          <p:spPr bwMode="auto">
            <a:xfrm>
              <a:off x="4560" y="1817"/>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811" name="Rectangle 65"/>
            <p:cNvSpPr>
              <a:spLocks noChangeArrowheads="1"/>
            </p:cNvSpPr>
            <p:nvPr/>
          </p:nvSpPr>
          <p:spPr bwMode="auto">
            <a:xfrm>
              <a:off x="3840" y="1817"/>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12" name="Rectangle 66"/>
            <p:cNvSpPr>
              <a:spLocks noChangeArrowheads="1"/>
            </p:cNvSpPr>
            <p:nvPr/>
          </p:nvSpPr>
          <p:spPr bwMode="auto">
            <a:xfrm>
              <a:off x="3072" y="1817"/>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13" name="Rectangle 67"/>
            <p:cNvSpPr>
              <a:spLocks noChangeArrowheads="1"/>
            </p:cNvSpPr>
            <p:nvPr/>
          </p:nvSpPr>
          <p:spPr bwMode="auto">
            <a:xfrm>
              <a:off x="2336" y="1817"/>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1814" name="Rectangle 68"/>
            <p:cNvSpPr>
              <a:spLocks noChangeArrowheads="1"/>
            </p:cNvSpPr>
            <p:nvPr/>
          </p:nvSpPr>
          <p:spPr bwMode="auto">
            <a:xfrm>
              <a:off x="912" y="1817"/>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 </a:t>
              </a:r>
              <a:endParaRPr lang="en-US" altLang="en-US" sz="1800"/>
            </a:p>
          </p:txBody>
        </p:sp>
        <p:sp>
          <p:nvSpPr>
            <p:cNvPr id="31815" name="Rectangle 69"/>
            <p:cNvSpPr>
              <a:spLocks noChangeArrowheads="1"/>
            </p:cNvSpPr>
            <p:nvPr/>
          </p:nvSpPr>
          <p:spPr bwMode="auto">
            <a:xfrm>
              <a:off x="432" y="1817"/>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D4 </a:t>
              </a:r>
              <a:endParaRPr lang="en-US" altLang="en-US" sz="1800"/>
            </a:p>
          </p:txBody>
        </p:sp>
        <p:sp>
          <p:nvSpPr>
            <p:cNvPr id="31816" name="Rectangle 70"/>
            <p:cNvSpPr>
              <a:spLocks noChangeArrowheads="1"/>
            </p:cNvSpPr>
            <p:nvPr/>
          </p:nvSpPr>
          <p:spPr bwMode="auto">
            <a:xfrm>
              <a:off x="4560" y="1606"/>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1817" name="Rectangle 71"/>
            <p:cNvSpPr>
              <a:spLocks noChangeArrowheads="1"/>
            </p:cNvSpPr>
            <p:nvPr/>
          </p:nvSpPr>
          <p:spPr bwMode="auto">
            <a:xfrm>
              <a:off x="3840" y="1606"/>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18" name="Rectangle 72"/>
            <p:cNvSpPr>
              <a:spLocks noChangeArrowheads="1"/>
            </p:cNvSpPr>
            <p:nvPr/>
          </p:nvSpPr>
          <p:spPr bwMode="auto">
            <a:xfrm>
              <a:off x="3072" y="1606"/>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19" name="Rectangle 73"/>
            <p:cNvSpPr>
              <a:spLocks noChangeArrowheads="1"/>
            </p:cNvSpPr>
            <p:nvPr/>
          </p:nvSpPr>
          <p:spPr bwMode="auto">
            <a:xfrm>
              <a:off x="2336" y="1606"/>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820" name="Rectangle 74"/>
            <p:cNvSpPr>
              <a:spLocks noChangeArrowheads="1"/>
            </p:cNvSpPr>
            <p:nvPr/>
          </p:nvSpPr>
          <p:spPr bwMode="auto">
            <a:xfrm>
              <a:off x="912" y="1606"/>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1821" name="Rectangle 75"/>
            <p:cNvSpPr>
              <a:spLocks noChangeArrowheads="1"/>
            </p:cNvSpPr>
            <p:nvPr/>
          </p:nvSpPr>
          <p:spPr bwMode="auto">
            <a:xfrm>
              <a:off x="432" y="1606"/>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D3</a:t>
              </a:r>
              <a:endParaRPr lang="en-US" altLang="en-US" sz="1800"/>
            </a:p>
          </p:txBody>
        </p:sp>
        <p:sp>
          <p:nvSpPr>
            <p:cNvPr id="31822" name="Rectangle 76"/>
            <p:cNvSpPr>
              <a:spLocks noChangeArrowheads="1"/>
            </p:cNvSpPr>
            <p:nvPr/>
          </p:nvSpPr>
          <p:spPr bwMode="auto">
            <a:xfrm>
              <a:off x="4560" y="1395"/>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823" name="Rectangle 77"/>
            <p:cNvSpPr>
              <a:spLocks noChangeArrowheads="1"/>
            </p:cNvSpPr>
            <p:nvPr/>
          </p:nvSpPr>
          <p:spPr bwMode="auto">
            <a:xfrm>
              <a:off x="3840" y="1395"/>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1824" name="Rectangle 78"/>
            <p:cNvSpPr>
              <a:spLocks noChangeArrowheads="1"/>
            </p:cNvSpPr>
            <p:nvPr/>
          </p:nvSpPr>
          <p:spPr bwMode="auto">
            <a:xfrm>
              <a:off x="3072" y="1395"/>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25" name="Rectangle 79"/>
            <p:cNvSpPr>
              <a:spLocks noChangeArrowheads="1"/>
            </p:cNvSpPr>
            <p:nvPr/>
          </p:nvSpPr>
          <p:spPr bwMode="auto">
            <a:xfrm>
              <a:off x="2336" y="1395"/>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826" name="Rectangle 80"/>
            <p:cNvSpPr>
              <a:spLocks noChangeArrowheads="1"/>
            </p:cNvSpPr>
            <p:nvPr/>
          </p:nvSpPr>
          <p:spPr bwMode="auto">
            <a:xfrm>
              <a:off x="912" y="1395"/>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827" name="Rectangle 81"/>
            <p:cNvSpPr>
              <a:spLocks noChangeArrowheads="1"/>
            </p:cNvSpPr>
            <p:nvPr/>
          </p:nvSpPr>
          <p:spPr bwMode="auto">
            <a:xfrm>
              <a:off x="432" y="1395"/>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D2</a:t>
              </a:r>
              <a:endParaRPr lang="en-US" altLang="en-US" sz="1800"/>
            </a:p>
          </p:txBody>
        </p:sp>
        <p:sp>
          <p:nvSpPr>
            <p:cNvPr id="31828" name="Rectangle 82"/>
            <p:cNvSpPr>
              <a:spLocks noChangeArrowheads="1"/>
            </p:cNvSpPr>
            <p:nvPr/>
          </p:nvSpPr>
          <p:spPr bwMode="auto">
            <a:xfrm>
              <a:off x="4560" y="1184"/>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1829" name="Rectangle 83"/>
            <p:cNvSpPr>
              <a:spLocks noChangeArrowheads="1"/>
            </p:cNvSpPr>
            <p:nvPr/>
          </p:nvSpPr>
          <p:spPr bwMode="auto">
            <a:xfrm>
              <a:off x="3840" y="1184"/>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1830" name="Rectangle 84"/>
            <p:cNvSpPr>
              <a:spLocks noChangeArrowheads="1"/>
            </p:cNvSpPr>
            <p:nvPr/>
          </p:nvSpPr>
          <p:spPr bwMode="auto">
            <a:xfrm>
              <a:off x="3072" y="1184"/>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1831" name="Rectangle 85"/>
            <p:cNvSpPr>
              <a:spLocks noChangeArrowheads="1"/>
            </p:cNvSpPr>
            <p:nvPr/>
          </p:nvSpPr>
          <p:spPr bwMode="auto">
            <a:xfrm>
              <a:off x="2336" y="1184"/>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1832" name="Rectangle 86"/>
            <p:cNvSpPr>
              <a:spLocks noChangeArrowheads="1"/>
            </p:cNvSpPr>
            <p:nvPr/>
          </p:nvSpPr>
          <p:spPr bwMode="auto">
            <a:xfrm>
              <a:off x="912" y="1184"/>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1833" name="Rectangle 87"/>
            <p:cNvSpPr>
              <a:spLocks noChangeArrowheads="1"/>
            </p:cNvSpPr>
            <p:nvPr/>
          </p:nvSpPr>
          <p:spPr bwMode="auto">
            <a:xfrm>
              <a:off x="432" y="1184"/>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a:t>
              </a:r>
              <a:endParaRPr lang="en-US" altLang="en-US" sz="1800"/>
            </a:p>
          </p:txBody>
        </p:sp>
        <p:sp>
          <p:nvSpPr>
            <p:cNvPr id="31834" name="Rectangle 88"/>
            <p:cNvSpPr>
              <a:spLocks noChangeArrowheads="1"/>
            </p:cNvSpPr>
            <p:nvPr/>
          </p:nvSpPr>
          <p:spPr bwMode="auto">
            <a:xfrm>
              <a:off x="4560" y="960"/>
              <a:ext cx="110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b="1">
                  <a:solidFill>
                    <a:schemeClr val="hlink"/>
                  </a:solidFill>
                </a:rPr>
                <a:t>Play Tennis</a:t>
              </a:r>
              <a:endParaRPr lang="en-US" altLang="en-US" sz="1800" b="1">
                <a:solidFill>
                  <a:schemeClr val="hlink"/>
                </a:solidFill>
              </a:endParaRPr>
            </a:p>
          </p:txBody>
        </p:sp>
        <p:sp>
          <p:nvSpPr>
            <p:cNvPr id="31835" name="Rectangle 89"/>
            <p:cNvSpPr>
              <a:spLocks noChangeArrowheads="1"/>
            </p:cNvSpPr>
            <p:nvPr/>
          </p:nvSpPr>
          <p:spPr bwMode="auto">
            <a:xfrm>
              <a:off x="3840" y="960"/>
              <a:ext cx="72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Wind</a:t>
              </a:r>
              <a:endParaRPr lang="en-US" altLang="en-US" sz="1800"/>
            </a:p>
          </p:txBody>
        </p:sp>
        <p:sp>
          <p:nvSpPr>
            <p:cNvPr id="31836" name="Rectangle 90"/>
            <p:cNvSpPr>
              <a:spLocks noChangeArrowheads="1"/>
            </p:cNvSpPr>
            <p:nvPr/>
          </p:nvSpPr>
          <p:spPr bwMode="auto">
            <a:xfrm>
              <a:off x="3072" y="960"/>
              <a:ext cx="7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Humidity</a:t>
              </a:r>
              <a:endParaRPr lang="en-US" altLang="en-US" sz="1800"/>
            </a:p>
          </p:txBody>
        </p:sp>
        <p:sp>
          <p:nvSpPr>
            <p:cNvPr id="31837" name="Rectangle 91"/>
            <p:cNvSpPr>
              <a:spLocks noChangeArrowheads="1"/>
            </p:cNvSpPr>
            <p:nvPr/>
          </p:nvSpPr>
          <p:spPr bwMode="auto">
            <a:xfrm>
              <a:off x="2336" y="960"/>
              <a:ext cx="73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Temp.</a:t>
              </a:r>
              <a:endParaRPr lang="en-US" altLang="en-US" sz="1800"/>
            </a:p>
          </p:txBody>
        </p:sp>
        <p:sp>
          <p:nvSpPr>
            <p:cNvPr id="31838" name="Rectangle 92"/>
            <p:cNvSpPr>
              <a:spLocks noChangeArrowheads="1"/>
            </p:cNvSpPr>
            <p:nvPr/>
          </p:nvSpPr>
          <p:spPr bwMode="auto">
            <a:xfrm>
              <a:off x="912" y="960"/>
              <a:ext cx="142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Outlook</a:t>
              </a:r>
              <a:endParaRPr lang="en-US" altLang="en-US" sz="1800"/>
            </a:p>
          </p:txBody>
        </p:sp>
        <p:sp>
          <p:nvSpPr>
            <p:cNvPr id="31839" name="Rectangle 93"/>
            <p:cNvSpPr>
              <a:spLocks noChangeArrowheads="1"/>
            </p:cNvSpPr>
            <p:nvPr/>
          </p:nvSpPr>
          <p:spPr bwMode="auto">
            <a:xfrm>
              <a:off x="432" y="960"/>
              <a:ext cx="48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Day</a:t>
              </a:r>
              <a:endParaRPr lang="en-US" altLang="en-US" sz="1800"/>
            </a:p>
          </p:txBody>
        </p:sp>
        <p:sp>
          <p:nvSpPr>
            <p:cNvPr id="31840" name="Line 94"/>
            <p:cNvSpPr>
              <a:spLocks noChangeShapeType="1"/>
            </p:cNvSpPr>
            <p:nvPr/>
          </p:nvSpPr>
          <p:spPr bwMode="auto">
            <a:xfrm>
              <a:off x="432" y="960"/>
              <a:ext cx="523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1" name="Line 95"/>
            <p:cNvSpPr>
              <a:spLocks noChangeShapeType="1"/>
            </p:cNvSpPr>
            <p:nvPr/>
          </p:nvSpPr>
          <p:spPr bwMode="auto">
            <a:xfrm>
              <a:off x="432" y="1184"/>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2" name="Line 96"/>
            <p:cNvSpPr>
              <a:spLocks noChangeShapeType="1"/>
            </p:cNvSpPr>
            <p:nvPr/>
          </p:nvSpPr>
          <p:spPr bwMode="auto">
            <a:xfrm>
              <a:off x="432" y="1395"/>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3" name="Line 97"/>
            <p:cNvSpPr>
              <a:spLocks noChangeShapeType="1"/>
            </p:cNvSpPr>
            <p:nvPr/>
          </p:nvSpPr>
          <p:spPr bwMode="auto">
            <a:xfrm>
              <a:off x="432" y="1606"/>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4" name="Line 98"/>
            <p:cNvSpPr>
              <a:spLocks noChangeShapeType="1"/>
            </p:cNvSpPr>
            <p:nvPr/>
          </p:nvSpPr>
          <p:spPr bwMode="auto">
            <a:xfrm>
              <a:off x="432" y="1817"/>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5" name="Line 99"/>
            <p:cNvSpPr>
              <a:spLocks noChangeShapeType="1"/>
            </p:cNvSpPr>
            <p:nvPr/>
          </p:nvSpPr>
          <p:spPr bwMode="auto">
            <a:xfrm>
              <a:off x="432" y="2028"/>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6" name="Line 100"/>
            <p:cNvSpPr>
              <a:spLocks noChangeShapeType="1"/>
            </p:cNvSpPr>
            <p:nvPr/>
          </p:nvSpPr>
          <p:spPr bwMode="auto">
            <a:xfrm>
              <a:off x="432" y="2239"/>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7" name="Line 101"/>
            <p:cNvSpPr>
              <a:spLocks noChangeShapeType="1"/>
            </p:cNvSpPr>
            <p:nvPr/>
          </p:nvSpPr>
          <p:spPr bwMode="auto">
            <a:xfrm>
              <a:off x="432" y="2450"/>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8" name="Line 102"/>
            <p:cNvSpPr>
              <a:spLocks noChangeShapeType="1"/>
            </p:cNvSpPr>
            <p:nvPr/>
          </p:nvSpPr>
          <p:spPr bwMode="auto">
            <a:xfrm>
              <a:off x="432" y="2661"/>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49" name="Line 103"/>
            <p:cNvSpPr>
              <a:spLocks noChangeShapeType="1"/>
            </p:cNvSpPr>
            <p:nvPr/>
          </p:nvSpPr>
          <p:spPr bwMode="auto">
            <a:xfrm>
              <a:off x="432" y="2872"/>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0" name="Line 104"/>
            <p:cNvSpPr>
              <a:spLocks noChangeShapeType="1"/>
            </p:cNvSpPr>
            <p:nvPr/>
          </p:nvSpPr>
          <p:spPr bwMode="auto">
            <a:xfrm>
              <a:off x="432" y="3083"/>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1" name="Line 105"/>
            <p:cNvSpPr>
              <a:spLocks noChangeShapeType="1"/>
            </p:cNvSpPr>
            <p:nvPr/>
          </p:nvSpPr>
          <p:spPr bwMode="auto">
            <a:xfrm>
              <a:off x="432" y="3294"/>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2" name="Line 106"/>
            <p:cNvSpPr>
              <a:spLocks noChangeShapeType="1"/>
            </p:cNvSpPr>
            <p:nvPr/>
          </p:nvSpPr>
          <p:spPr bwMode="auto">
            <a:xfrm>
              <a:off x="432" y="3505"/>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3" name="Line 107"/>
            <p:cNvSpPr>
              <a:spLocks noChangeShapeType="1"/>
            </p:cNvSpPr>
            <p:nvPr/>
          </p:nvSpPr>
          <p:spPr bwMode="auto">
            <a:xfrm>
              <a:off x="432" y="3716"/>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4" name="Line 108"/>
            <p:cNvSpPr>
              <a:spLocks noChangeShapeType="1"/>
            </p:cNvSpPr>
            <p:nvPr/>
          </p:nvSpPr>
          <p:spPr bwMode="auto">
            <a:xfrm>
              <a:off x="432" y="3927"/>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5" name="Line 109"/>
            <p:cNvSpPr>
              <a:spLocks noChangeShapeType="1"/>
            </p:cNvSpPr>
            <p:nvPr/>
          </p:nvSpPr>
          <p:spPr bwMode="auto">
            <a:xfrm>
              <a:off x="432" y="4138"/>
              <a:ext cx="523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6" name="Line 110"/>
            <p:cNvSpPr>
              <a:spLocks noChangeShapeType="1"/>
            </p:cNvSpPr>
            <p:nvPr/>
          </p:nvSpPr>
          <p:spPr bwMode="auto">
            <a:xfrm>
              <a:off x="432" y="960"/>
              <a:ext cx="0" cy="317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7" name="Line 111"/>
            <p:cNvSpPr>
              <a:spLocks noChangeShapeType="1"/>
            </p:cNvSpPr>
            <p:nvPr/>
          </p:nvSpPr>
          <p:spPr bwMode="auto">
            <a:xfrm>
              <a:off x="912"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8" name="Line 112"/>
            <p:cNvSpPr>
              <a:spLocks noChangeShapeType="1"/>
            </p:cNvSpPr>
            <p:nvPr/>
          </p:nvSpPr>
          <p:spPr bwMode="auto">
            <a:xfrm>
              <a:off x="2336"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59" name="Line 113"/>
            <p:cNvSpPr>
              <a:spLocks noChangeShapeType="1"/>
            </p:cNvSpPr>
            <p:nvPr/>
          </p:nvSpPr>
          <p:spPr bwMode="auto">
            <a:xfrm>
              <a:off x="3072"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60" name="Line 114"/>
            <p:cNvSpPr>
              <a:spLocks noChangeShapeType="1"/>
            </p:cNvSpPr>
            <p:nvPr/>
          </p:nvSpPr>
          <p:spPr bwMode="auto">
            <a:xfrm>
              <a:off x="3840"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61" name="Line 115"/>
            <p:cNvSpPr>
              <a:spLocks noChangeShapeType="1"/>
            </p:cNvSpPr>
            <p:nvPr/>
          </p:nvSpPr>
          <p:spPr bwMode="auto">
            <a:xfrm>
              <a:off x="4560"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862" name="Line 116"/>
            <p:cNvSpPr>
              <a:spLocks noChangeShapeType="1"/>
            </p:cNvSpPr>
            <p:nvPr/>
          </p:nvSpPr>
          <p:spPr bwMode="auto">
            <a:xfrm>
              <a:off x="5664" y="960"/>
              <a:ext cx="0" cy="317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7518106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sv-SE" altLang="en-US" dirty="0" smtClean="0"/>
              <a:t>Selecting the Next Attribute</a:t>
            </a:r>
            <a:endParaRPr lang="en-US" altLang="en-US" dirty="0" smtClean="0"/>
          </a:p>
        </p:txBody>
      </p:sp>
      <p:sp>
        <p:nvSpPr>
          <p:cNvPr id="26" name="Footer Placeholder 3"/>
          <p:cNvSpPr>
            <a:spLocks noGrp="1"/>
          </p:cNvSpPr>
          <p:nvPr>
            <p:ph type="ftr" sz="quarter" idx="11"/>
          </p:nvPr>
        </p:nvSpPr>
        <p:spPr/>
        <p:txBody>
          <a:bodyPr/>
          <a:lstStyle/>
          <a:p>
            <a:pPr>
              <a:defRPr/>
            </a:pPr>
            <a:r>
              <a:rPr lang="en-US">
                <a:latin typeface="+mn-lt"/>
              </a:rPr>
              <a:t>Decision Tree Learning</a:t>
            </a:r>
          </a:p>
        </p:txBody>
      </p:sp>
      <p:sp>
        <p:nvSpPr>
          <p:cNvPr id="27"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E6B5284-414A-4571-A698-E2231188775E}" type="slidenum">
              <a:rPr lang="en-US" altLang="en-US" sz="1200">
                <a:solidFill>
                  <a:srgbClr val="898989"/>
                </a:solidFill>
                <a:latin typeface="+mn-lt"/>
              </a:rPr>
              <a:pPr eaLnBrk="1" hangingPunct="1"/>
              <a:t>41</a:t>
            </a:fld>
            <a:endParaRPr lang="en-US" altLang="en-US" sz="1200">
              <a:solidFill>
                <a:srgbClr val="898989"/>
              </a:solidFill>
              <a:latin typeface="+mn-lt"/>
            </a:endParaRPr>
          </a:p>
        </p:txBody>
      </p:sp>
      <p:sp>
        <p:nvSpPr>
          <p:cNvPr id="32773" name="Line 3"/>
          <p:cNvSpPr>
            <a:spLocks noChangeShapeType="1"/>
          </p:cNvSpPr>
          <p:nvPr/>
        </p:nvSpPr>
        <p:spPr bwMode="auto">
          <a:xfrm flipH="1">
            <a:off x="3130551" y="2735264"/>
            <a:ext cx="754063" cy="12271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2774" name="Line 4"/>
          <p:cNvSpPr>
            <a:spLocks noChangeShapeType="1"/>
          </p:cNvSpPr>
          <p:nvPr/>
        </p:nvSpPr>
        <p:spPr bwMode="auto">
          <a:xfrm>
            <a:off x="4135438" y="2735264"/>
            <a:ext cx="690562" cy="12271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2775" name="Text Box 5"/>
          <p:cNvSpPr txBox="1">
            <a:spLocks noChangeArrowheads="1"/>
          </p:cNvSpPr>
          <p:nvPr/>
        </p:nvSpPr>
        <p:spPr bwMode="auto">
          <a:xfrm>
            <a:off x="3352800" y="2286001"/>
            <a:ext cx="1362874"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b="1">
                <a:latin typeface="+mn-lt"/>
              </a:rPr>
              <a:t>Humidity</a:t>
            </a:r>
            <a:endParaRPr lang="en-US" altLang="en-US" b="1">
              <a:latin typeface="+mn-lt"/>
            </a:endParaRPr>
          </a:p>
        </p:txBody>
      </p:sp>
      <p:sp>
        <p:nvSpPr>
          <p:cNvPr id="32776" name="Text Box 6"/>
          <p:cNvSpPr txBox="1">
            <a:spLocks noChangeArrowheads="1"/>
          </p:cNvSpPr>
          <p:nvPr/>
        </p:nvSpPr>
        <p:spPr bwMode="auto">
          <a:xfrm>
            <a:off x="3005138" y="3251201"/>
            <a:ext cx="753732"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High</a:t>
            </a:r>
            <a:endParaRPr lang="en-US" altLang="en-US">
              <a:latin typeface="+mn-lt"/>
            </a:endParaRPr>
          </a:p>
        </p:txBody>
      </p:sp>
      <p:sp>
        <p:nvSpPr>
          <p:cNvPr id="32777" name="Text Box 7"/>
          <p:cNvSpPr txBox="1">
            <a:spLocks noChangeArrowheads="1"/>
          </p:cNvSpPr>
          <p:nvPr/>
        </p:nvSpPr>
        <p:spPr bwMode="auto">
          <a:xfrm>
            <a:off x="4260851" y="3251201"/>
            <a:ext cx="1116011"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Normal</a:t>
            </a:r>
            <a:endParaRPr lang="en-US" altLang="en-US">
              <a:latin typeface="+mn-lt"/>
            </a:endParaRPr>
          </a:p>
        </p:txBody>
      </p:sp>
      <p:sp>
        <p:nvSpPr>
          <p:cNvPr id="32778" name="Text Box 8"/>
          <p:cNvSpPr txBox="1">
            <a:spLocks noChangeArrowheads="1"/>
          </p:cNvSpPr>
          <p:nvPr/>
        </p:nvSpPr>
        <p:spPr bwMode="auto">
          <a:xfrm>
            <a:off x="2498725" y="3962401"/>
            <a:ext cx="10791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3</a:t>
            </a:r>
            <a:r>
              <a:rPr lang="en-US" altLang="en-US">
                <a:latin typeface="+mn-lt"/>
              </a:rPr>
              <a:t>+, </a:t>
            </a:r>
            <a:r>
              <a:rPr lang="sv-SE" altLang="en-US">
                <a:latin typeface="+mn-lt"/>
              </a:rPr>
              <a:t>4</a:t>
            </a:r>
            <a:r>
              <a:rPr lang="en-US" altLang="en-US">
                <a:latin typeface="+mn-lt"/>
              </a:rPr>
              <a:t>-]</a:t>
            </a:r>
          </a:p>
        </p:txBody>
      </p:sp>
      <p:sp>
        <p:nvSpPr>
          <p:cNvPr id="32779" name="Text Box 9"/>
          <p:cNvSpPr txBox="1">
            <a:spLocks noChangeArrowheads="1"/>
          </p:cNvSpPr>
          <p:nvPr/>
        </p:nvSpPr>
        <p:spPr bwMode="auto">
          <a:xfrm>
            <a:off x="4572000" y="3962401"/>
            <a:ext cx="10791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6</a:t>
            </a:r>
            <a:r>
              <a:rPr lang="en-US" altLang="en-US">
                <a:latin typeface="+mn-lt"/>
              </a:rPr>
              <a:t>+, </a:t>
            </a:r>
            <a:r>
              <a:rPr lang="sv-SE" altLang="en-US">
                <a:latin typeface="+mn-lt"/>
              </a:rPr>
              <a:t>1</a:t>
            </a:r>
            <a:r>
              <a:rPr lang="en-US" altLang="en-US">
                <a:latin typeface="+mn-lt"/>
              </a:rPr>
              <a:t>-]</a:t>
            </a:r>
          </a:p>
        </p:txBody>
      </p:sp>
      <p:sp>
        <p:nvSpPr>
          <p:cNvPr id="32780" name="Text Box 10"/>
          <p:cNvSpPr txBox="1">
            <a:spLocks noChangeArrowheads="1"/>
          </p:cNvSpPr>
          <p:nvPr/>
        </p:nvSpPr>
        <p:spPr bwMode="auto">
          <a:xfrm>
            <a:off x="3429001" y="1447801"/>
            <a:ext cx="130516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S=</a:t>
            </a:r>
            <a:r>
              <a:rPr lang="en-US" altLang="en-US" dirty="0">
                <a:latin typeface="+mn-lt"/>
              </a:rPr>
              <a:t>[9+,5-]</a:t>
            </a:r>
            <a:endParaRPr lang="sv-SE" altLang="en-US" dirty="0">
              <a:latin typeface="+mn-lt"/>
            </a:endParaRPr>
          </a:p>
          <a:p>
            <a:pPr eaLnBrk="1" hangingPunct="1"/>
            <a:r>
              <a:rPr lang="sv-SE" altLang="en-US" dirty="0">
                <a:latin typeface="+mn-lt"/>
              </a:rPr>
              <a:t>E=0.940</a:t>
            </a:r>
            <a:endParaRPr lang="en-US" altLang="en-US" dirty="0">
              <a:latin typeface="+mn-lt"/>
            </a:endParaRPr>
          </a:p>
        </p:txBody>
      </p:sp>
      <p:sp>
        <p:nvSpPr>
          <p:cNvPr id="32781" name="Text Box 11"/>
          <p:cNvSpPr txBox="1">
            <a:spLocks noChangeArrowheads="1"/>
          </p:cNvSpPr>
          <p:nvPr/>
        </p:nvSpPr>
        <p:spPr bwMode="auto">
          <a:xfrm>
            <a:off x="1218668" y="5029200"/>
            <a:ext cx="48773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Gain(S,Humidity)</a:t>
            </a:r>
          </a:p>
          <a:p>
            <a:pPr eaLnBrk="1" hangingPunct="1"/>
            <a:r>
              <a:rPr lang="sv-SE" altLang="en-US" dirty="0">
                <a:latin typeface="+mn-lt"/>
              </a:rPr>
              <a:t>=</a:t>
            </a:r>
            <a:r>
              <a:rPr lang="sv-SE" altLang="en-US" dirty="0" smtClean="0">
                <a:latin typeface="+mn-lt"/>
              </a:rPr>
              <a:t>0.940 - (</a:t>
            </a:r>
            <a:r>
              <a:rPr lang="sv-SE" altLang="en-US" dirty="0">
                <a:latin typeface="+mn-lt"/>
              </a:rPr>
              <a:t>7/14)*</a:t>
            </a:r>
            <a:r>
              <a:rPr lang="sv-SE" altLang="en-US" dirty="0" smtClean="0">
                <a:latin typeface="+mn-lt"/>
              </a:rPr>
              <a:t>0.985 – </a:t>
            </a:r>
            <a:r>
              <a:rPr lang="sv-SE" altLang="en-US" dirty="0">
                <a:latin typeface="+mn-lt"/>
              </a:rPr>
              <a:t>(7/14)*0.592</a:t>
            </a:r>
          </a:p>
          <a:p>
            <a:pPr eaLnBrk="1" hangingPunct="1"/>
            <a:r>
              <a:rPr lang="sv-SE" altLang="en-US" dirty="0">
                <a:latin typeface="+mn-lt"/>
              </a:rPr>
              <a:t>=0.151</a:t>
            </a:r>
            <a:endParaRPr lang="en-US" altLang="en-US" dirty="0">
              <a:latin typeface="+mn-lt"/>
            </a:endParaRPr>
          </a:p>
        </p:txBody>
      </p:sp>
      <p:sp>
        <p:nvSpPr>
          <p:cNvPr id="32782" name="Rectangle 12"/>
          <p:cNvSpPr>
            <a:spLocks noChangeArrowheads="1"/>
          </p:cNvSpPr>
          <p:nvPr/>
        </p:nvSpPr>
        <p:spPr bwMode="auto">
          <a:xfrm>
            <a:off x="2286000" y="4572001"/>
            <a:ext cx="45720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70000"/>
              </a:lnSpc>
              <a:spcBef>
                <a:spcPct val="50000"/>
              </a:spcBef>
            </a:pPr>
            <a:r>
              <a:rPr lang="sv-SE" altLang="en-US">
                <a:latin typeface="+mn-lt"/>
              </a:rPr>
              <a:t>E=0.985</a:t>
            </a:r>
            <a:endParaRPr lang="en-US" altLang="en-US">
              <a:latin typeface="+mn-lt"/>
            </a:endParaRPr>
          </a:p>
        </p:txBody>
      </p:sp>
      <p:sp>
        <p:nvSpPr>
          <p:cNvPr id="32783" name="Rectangle 13"/>
          <p:cNvSpPr>
            <a:spLocks noChangeArrowheads="1"/>
          </p:cNvSpPr>
          <p:nvPr/>
        </p:nvSpPr>
        <p:spPr bwMode="auto">
          <a:xfrm>
            <a:off x="4495800" y="44958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E=0.592</a:t>
            </a:r>
            <a:endParaRPr lang="en-US" altLang="en-US">
              <a:latin typeface="+mn-lt"/>
            </a:endParaRPr>
          </a:p>
        </p:txBody>
      </p:sp>
      <p:sp>
        <p:nvSpPr>
          <p:cNvPr id="32784" name="Line 14"/>
          <p:cNvSpPr>
            <a:spLocks noChangeShapeType="1"/>
          </p:cNvSpPr>
          <p:nvPr/>
        </p:nvSpPr>
        <p:spPr bwMode="auto">
          <a:xfrm flipH="1">
            <a:off x="7702551" y="2735264"/>
            <a:ext cx="754063" cy="12271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2785" name="Line 15"/>
          <p:cNvSpPr>
            <a:spLocks noChangeShapeType="1"/>
          </p:cNvSpPr>
          <p:nvPr/>
        </p:nvSpPr>
        <p:spPr bwMode="auto">
          <a:xfrm>
            <a:off x="8707438" y="2735264"/>
            <a:ext cx="690562" cy="12271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2786" name="Text Box 16"/>
          <p:cNvSpPr txBox="1">
            <a:spLocks noChangeArrowheads="1"/>
          </p:cNvSpPr>
          <p:nvPr/>
        </p:nvSpPr>
        <p:spPr bwMode="auto">
          <a:xfrm>
            <a:off x="7924801" y="2286001"/>
            <a:ext cx="86914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b="1">
                <a:latin typeface="+mn-lt"/>
              </a:rPr>
              <a:t>Wind</a:t>
            </a:r>
            <a:endParaRPr lang="en-US" altLang="en-US" b="1">
              <a:latin typeface="+mn-lt"/>
            </a:endParaRPr>
          </a:p>
        </p:txBody>
      </p:sp>
      <p:sp>
        <p:nvSpPr>
          <p:cNvPr id="32787" name="Text Box 17"/>
          <p:cNvSpPr txBox="1">
            <a:spLocks noChangeArrowheads="1"/>
          </p:cNvSpPr>
          <p:nvPr/>
        </p:nvSpPr>
        <p:spPr bwMode="auto">
          <a:xfrm>
            <a:off x="7577138" y="32512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Weak</a:t>
            </a:r>
            <a:endParaRPr lang="en-US" altLang="en-US" dirty="0">
              <a:latin typeface="+mn-lt"/>
            </a:endParaRPr>
          </a:p>
        </p:txBody>
      </p:sp>
      <p:sp>
        <p:nvSpPr>
          <p:cNvPr id="32788" name="Text Box 18"/>
          <p:cNvSpPr txBox="1">
            <a:spLocks noChangeArrowheads="1"/>
          </p:cNvSpPr>
          <p:nvPr/>
        </p:nvSpPr>
        <p:spPr bwMode="auto">
          <a:xfrm>
            <a:off x="8832851" y="32512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Strong</a:t>
            </a:r>
            <a:endParaRPr lang="en-US" altLang="en-US">
              <a:latin typeface="+mn-lt"/>
            </a:endParaRPr>
          </a:p>
        </p:txBody>
      </p:sp>
      <p:sp>
        <p:nvSpPr>
          <p:cNvPr id="32789" name="Text Box 19"/>
          <p:cNvSpPr txBox="1">
            <a:spLocks noChangeArrowheads="1"/>
          </p:cNvSpPr>
          <p:nvPr/>
        </p:nvSpPr>
        <p:spPr bwMode="auto">
          <a:xfrm>
            <a:off x="7070725" y="3962401"/>
            <a:ext cx="10791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6</a:t>
            </a:r>
            <a:r>
              <a:rPr lang="en-US" altLang="en-US">
                <a:latin typeface="+mn-lt"/>
              </a:rPr>
              <a:t>+, </a:t>
            </a:r>
            <a:r>
              <a:rPr lang="sv-SE" altLang="en-US">
                <a:latin typeface="+mn-lt"/>
              </a:rPr>
              <a:t>2</a:t>
            </a:r>
            <a:r>
              <a:rPr lang="en-US" altLang="en-US">
                <a:latin typeface="+mn-lt"/>
              </a:rPr>
              <a:t>-]</a:t>
            </a:r>
          </a:p>
        </p:txBody>
      </p:sp>
      <p:sp>
        <p:nvSpPr>
          <p:cNvPr id="32790" name="Text Box 20"/>
          <p:cNvSpPr txBox="1">
            <a:spLocks noChangeArrowheads="1"/>
          </p:cNvSpPr>
          <p:nvPr/>
        </p:nvSpPr>
        <p:spPr bwMode="auto">
          <a:xfrm>
            <a:off x="9144000" y="3962401"/>
            <a:ext cx="10791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3</a:t>
            </a:r>
            <a:r>
              <a:rPr lang="en-US" altLang="en-US">
                <a:latin typeface="+mn-lt"/>
              </a:rPr>
              <a:t>+, </a:t>
            </a:r>
            <a:r>
              <a:rPr lang="sv-SE" altLang="en-US">
                <a:latin typeface="+mn-lt"/>
              </a:rPr>
              <a:t>3</a:t>
            </a:r>
            <a:r>
              <a:rPr lang="en-US" altLang="en-US">
                <a:latin typeface="+mn-lt"/>
              </a:rPr>
              <a:t>-]</a:t>
            </a:r>
          </a:p>
        </p:txBody>
      </p:sp>
      <p:sp>
        <p:nvSpPr>
          <p:cNvPr id="32791" name="Text Box 21"/>
          <p:cNvSpPr txBox="1">
            <a:spLocks noChangeArrowheads="1"/>
          </p:cNvSpPr>
          <p:nvPr/>
        </p:nvSpPr>
        <p:spPr bwMode="auto">
          <a:xfrm>
            <a:off x="8001001" y="1447801"/>
            <a:ext cx="130516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S=</a:t>
            </a:r>
            <a:r>
              <a:rPr lang="en-US" altLang="en-US">
                <a:latin typeface="+mn-lt"/>
              </a:rPr>
              <a:t>[9+,5-]</a:t>
            </a:r>
            <a:endParaRPr lang="sv-SE" altLang="en-US">
              <a:latin typeface="+mn-lt"/>
            </a:endParaRPr>
          </a:p>
          <a:p>
            <a:pPr eaLnBrk="1" hangingPunct="1"/>
            <a:r>
              <a:rPr lang="sv-SE" altLang="en-US">
                <a:latin typeface="+mn-lt"/>
              </a:rPr>
              <a:t>E=0.940</a:t>
            </a:r>
            <a:endParaRPr lang="en-US" altLang="en-US">
              <a:latin typeface="+mn-lt"/>
            </a:endParaRPr>
          </a:p>
        </p:txBody>
      </p:sp>
      <p:sp>
        <p:nvSpPr>
          <p:cNvPr id="32792" name="Rectangle 22"/>
          <p:cNvSpPr>
            <a:spLocks noChangeArrowheads="1"/>
          </p:cNvSpPr>
          <p:nvPr/>
        </p:nvSpPr>
        <p:spPr bwMode="auto">
          <a:xfrm>
            <a:off x="7086600" y="44958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E=0.811</a:t>
            </a:r>
            <a:endParaRPr lang="en-US" altLang="en-US">
              <a:latin typeface="+mn-lt"/>
            </a:endParaRPr>
          </a:p>
        </p:txBody>
      </p:sp>
      <p:sp>
        <p:nvSpPr>
          <p:cNvPr id="32793" name="Rectangle 23"/>
          <p:cNvSpPr>
            <a:spLocks noChangeArrowheads="1"/>
          </p:cNvSpPr>
          <p:nvPr/>
        </p:nvSpPr>
        <p:spPr bwMode="auto">
          <a:xfrm>
            <a:off x="8991600" y="44958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E=1.0</a:t>
            </a:r>
            <a:endParaRPr lang="en-US" altLang="en-US">
              <a:latin typeface="+mn-lt"/>
            </a:endParaRPr>
          </a:p>
        </p:txBody>
      </p:sp>
      <p:sp>
        <p:nvSpPr>
          <p:cNvPr id="32794" name="Text Box 24"/>
          <p:cNvSpPr txBox="1">
            <a:spLocks noChangeArrowheads="1"/>
          </p:cNvSpPr>
          <p:nvPr/>
        </p:nvSpPr>
        <p:spPr bwMode="auto">
          <a:xfrm>
            <a:off x="6858000" y="4953000"/>
            <a:ext cx="472386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Gain(S,Wind)</a:t>
            </a:r>
          </a:p>
          <a:p>
            <a:pPr eaLnBrk="1" hangingPunct="1"/>
            <a:r>
              <a:rPr lang="sv-SE" altLang="en-US" dirty="0">
                <a:latin typeface="+mn-lt"/>
              </a:rPr>
              <a:t>=</a:t>
            </a:r>
            <a:r>
              <a:rPr lang="sv-SE" altLang="en-US" dirty="0" smtClean="0">
                <a:latin typeface="+mn-lt"/>
              </a:rPr>
              <a:t>0.940 - (</a:t>
            </a:r>
            <a:r>
              <a:rPr lang="sv-SE" altLang="en-US" dirty="0">
                <a:latin typeface="+mn-lt"/>
              </a:rPr>
              <a:t>8/14)*</a:t>
            </a:r>
            <a:r>
              <a:rPr lang="sv-SE" altLang="en-US" dirty="0" smtClean="0">
                <a:latin typeface="+mn-lt"/>
              </a:rPr>
              <a:t>0.811 – </a:t>
            </a:r>
            <a:r>
              <a:rPr lang="sv-SE" altLang="en-US" dirty="0">
                <a:latin typeface="+mn-lt"/>
              </a:rPr>
              <a:t>(6/14)*1.0</a:t>
            </a:r>
          </a:p>
          <a:p>
            <a:pPr eaLnBrk="1" hangingPunct="1"/>
            <a:r>
              <a:rPr lang="sv-SE" altLang="en-US" dirty="0">
                <a:latin typeface="+mn-lt"/>
              </a:rPr>
              <a:t>=0.048</a:t>
            </a:r>
            <a:endParaRPr lang="en-US" altLang="en-US" dirty="0">
              <a:latin typeface="+mn-lt"/>
            </a:endParaRPr>
          </a:p>
        </p:txBody>
      </p:sp>
      <p:sp>
        <p:nvSpPr>
          <p:cNvPr id="32795" name="Text Box 25"/>
          <p:cNvSpPr txBox="1">
            <a:spLocks noChangeArrowheads="1"/>
          </p:cNvSpPr>
          <p:nvPr/>
        </p:nvSpPr>
        <p:spPr bwMode="auto">
          <a:xfrm>
            <a:off x="1100194" y="6183631"/>
            <a:ext cx="77689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dirty="0">
                <a:latin typeface="+mn-lt"/>
              </a:rPr>
              <a:t>Humidity provides greater info. gain than Wind, w.r.t target classification.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sv-SE" altLang="en-US" smtClean="0"/>
              <a:t>Selecting the Next Attribute</a:t>
            </a:r>
            <a:endParaRPr lang="en-US" altLang="en-US" smtClean="0"/>
          </a:p>
        </p:txBody>
      </p:sp>
      <p:sp>
        <p:nvSpPr>
          <p:cNvPr id="18" name="Footer Placeholder 3"/>
          <p:cNvSpPr>
            <a:spLocks noGrp="1"/>
          </p:cNvSpPr>
          <p:nvPr>
            <p:ph type="ftr" sz="quarter" idx="11"/>
          </p:nvPr>
        </p:nvSpPr>
        <p:spPr/>
        <p:txBody>
          <a:bodyPr/>
          <a:lstStyle/>
          <a:p>
            <a:pPr>
              <a:defRPr/>
            </a:pPr>
            <a:r>
              <a:rPr lang="en-US">
                <a:latin typeface="+mn-lt"/>
              </a:rPr>
              <a:t>Decision Tree Learning</a:t>
            </a:r>
          </a:p>
        </p:txBody>
      </p:sp>
      <p:sp>
        <p:nvSpPr>
          <p:cNvPr id="19"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3F13685-E9D3-4DE5-B71A-BD81CCDA9B80}" type="slidenum">
              <a:rPr lang="en-US" altLang="en-US" sz="1200">
                <a:solidFill>
                  <a:srgbClr val="898989"/>
                </a:solidFill>
                <a:latin typeface="+mn-lt"/>
              </a:rPr>
              <a:pPr eaLnBrk="1" hangingPunct="1"/>
              <a:t>42</a:t>
            </a:fld>
            <a:endParaRPr lang="en-US" altLang="en-US" sz="1200">
              <a:solidFill>
                <a:srgbClr val="898989"/>
              </a:solidFill>
              <a:latin typeface="+mn-lt"/>
            </a:endParaRPr>
          </a:p>
        </p:txBody>
      </p:sp>
      <p:sp>
        <p:nvSpPr>
          <p:cNvPr id="33797" name="Line 3"/>
          <p:cNvSpPr>
            <a:spLocks noChangeShapeType="1"/>
          </p:cNvSpPr>
          <p:nvPr/>
        </p:nvSpPr>
        <p:spPr bwMode="auto">
          <a:xfrm flipH="1">
            <a:off x="3908426" y="2735264"/>
            <a:ext cx="754063" cy="12271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3798" name="Line 4"/>
          <p:cNvSpPr>
            <a:spLocks noChangeShapeType="1"/>
          </p:cNvSpPr>
          <p:nvPr/>
        </p:nvSpPr>
        <p:spPr bwMode="auto">
          <a:xfrm>
            <a:off x="6116638" y="2659064"/>
            <a:ext cx="690562" cy="12271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3799" name="Text Box 5"/>
          <p:cNvSpPr txBox="1">
            <a:spLocks noChangeArrowheads="1"/>
          </p:cNvSpPr>
          <p:nvPr/>
        </p:nvSpPr>
        <p:spPr bwMode="auto">
          <a:xfrm>
            <a:off x="4495800" y="2209801"/>
            <a:ext cx="1828800" cy="461665"/>
          </a:xfrm>
          <a:prstGeom prst="rect">
            <a:avLst/>
          </a:prstGeom>
          <a:solidFill>
            <a:schemeClr val="bg1"/>
          </a:solidFill>
          <a:ln w="38100">
            <a:solidFill>
              <a:schemeClr val="hlink"/>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b="1">
                <a:latin typeface="+mn-lt"/>
              </a:rPr>
              <a:t>   Outlook</a:t>
            </a:r>
            <a:endParaRPr lang="en-US" altLang="en-US" b="1">
              <a:latin typeface="+mn-lt"/>
            </a:endParaRPr>
          </a:p>
        </p:txBody>
      </p:sp>
      <p:sp>
        <p:nvSpPr>
          <p:cNvPr id="33800" name="Text Box 6"/>
          <p:cNvSpPr txBox="1">
            <a:spLocks noChangeArrowheads="1"/>
          </p:cNvSpPr>
          <p:nvPr/>
        </p:nvSpPr>
        <p:spPr bwMode="auto">
          <a:xfrm>
            <a:off x="3783013" y="3251201"/>
            <a:ext cx="945195"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Sunny</a:t>
            </a:r>
            <a:endParaRPr lang="en-US" altLang="en-US" dirty="0">
              <a:latin typeface="+mn-lt"/>
            </a:endParaRPr>
          </a:p>
        </p:txBody>
      </p:sp>
      <p:sp>
        <p:nvSpPr>
          <p:cNvPr id="33801" name="Text Box 7"/>
          <p:cNvSpPr txBox="1">
            <a:spLocks noChangeArrowheads="1"/>
          </p:cNvSpPr>
          <p:nvPr/>
        </p:nvSpPr>
        <p:spPr bwMode="auto">
          <a:xfrm>
            <a:off x="6242051" y="3175001"/>
            <a:ext cx="73129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Rain</a:t>
            </a:r>
            <a:endParaRPr lang="en-US" altLang="en-US">
              <a:latin typeface="+mn-lt"/>
            </a:endParaRPr>
          </a:p>
        </p:txBody>
      </p:sp>
      <p:sp>
        <p:nvSpPr>
          <p:cNvPr id="33802" name="Text Box 8"/>
          <p:cNvSpPr txBox="1">
            <a:spLocks noChangeArrowheads="1"/>
          </p:cNvSpPr>
          <p:nvPr/>
        </p:nvSpPr>
        <p:spPr bwMode="auto">
          <a:xfrm>
            <a:off x="3276600" y="3962401"/>
            <a:ext cx="10791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2</a:t>
            </a:r>
            <a:r>
              <a:rPr lang="en-US" altLang="en-US">
                <a:latin typeface="+mn-lt"/>
              </a:rPr>
              <a:t>+, </a:t>
            </a:r>
            <a:r>
              <a:rPr lang="sv-SE" altLang="en-US">
                <a:latin typeface="+mn-lt"/>
              </a:rPr>
              <a:t>3</a:t>
            </a:r>
            <a:r>
              <a:rPr lang="en-US" altLang="en-US">
                <a:latin typeface="+mn-lt"/>
              </a:rPr>
              <a:t>-]</a:t>
            </a:r>
          </a:p>
        </p:txBody>
      </p:sp>
      <p:sp>
        <p:nvSpPr>
          <p:cNvPr id="33803" name="Text Box 9"/>
          <p:cNvSpPr txBox="1">
            <a:spLocks noChangeArrowheads="1"/>
          </p:cNvSpPr>
          <p:nvPr/>
        </p:nvSpPr>
        <p:spPr bwMode="auto">
          <a:xfrm>
            <a:off x="6553200" y="3886201"/>
            <a:ext cx="10791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3</a:t>
            </a:r>
            <a:r>
              <a:rPr lang="en-US" altLang="en-US">
                <a:latin typeface="+mn-lt"/>
              </a:rPr>
              <a:t>+, </a:t>
            </a:r>
            <a:r>
              <a:rPr lang="sv-SE" altLang="en-US">
                <a:latin typeface="+mn-lt"/>
              </a:rPr>
              <a:t>2</a:t>
            </a:r>
            <a:r>
              <a:rPr lang="en-US" altLang="en-US">
                <a:latin typeface="+mn-lt"/>
              </a:rPr>
              <a:t>-]</a:t>
            </a:r>
          </a:p>
        </p:txBody>
      </p:sp>
      <p:sp>
        <p:nvSpPr>
          <p:cNvPr id="33804" name="Text Box 10"/>
          <p:cNvSpPr txBox="1">
            <a:spLocks noChangeArrowheads="1"/>
          </p:cNvSpPr>
          <p:nvPr/>
        </p:nvSpPr>
        <p:spPr bwMode="auto">
          <a:xfrm>
            <a:off x="4724400" y="1371601"/>
            <a:ext cx="130516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S=</a:t>
            </a:r>
            <a:r>
              <a:rPr lang="en-US" altLang="en-US" dirty="0">
                <a:latin typeface="+mn-lt"/>
              </a:rPr>
              <a:t>[9+,5-]</a:t>
            </a:r>
            <a:endParaRPr lang="sv-SE" altLang="en-US" dirty="0">
              <a:latin typeface="+mn-lt"/>
            </a:endParaRPr>
          </a:p>
          <a:p>
            <a:pPr eaLnBrk="1" hangingPunct="1"/>
            <a:r>
              <a:rPr lang="sv-SE" altLang="en-US" dirty="0">
                <a:latin typeface="+mn-lt"/>
              </a:rPr>
              <a:t>E=0.940</a:t>
            </a:r>
            <a:endParaRPr lang="en-US" altLang="en-US" dirty="0">
              <a:latin typeface="+mn-lt"/>
            </a:endParaRPr>
          </a:p>
        </p:txBody>
      </p:sp>
      <p:sp>
        <p:nvSpPr>
          <p:cNvPr id="33805" name="Text Box 11"/>
          <p:cNvSpPr txBox="1">
            <a:spLocks noChangeArrowheads="1"/>
          </p:cNvSpPr>
          <p:nvPr/>
        </p:nvSpPr>
        <p:spPr bwMode="auto">
          <a:xfrm>
            <a:off x="2362200" y="4971871"/>
            <a:ext cx="655319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Gain(S,Outlook)</a:t>
            </a:r>
          </a:p>
          <a:p>
            <a:pPr eaLnBrk="1" hangingPunct="1"/>
            <a:r>
              <a:rPr lang="sv-SE" altLang="en-US" dirty="0">
                <a:latin typeface="+mn-lt"/>
              </a:rPr>
              <a:t>=</a:t>
            </a:r>
            <a:r>
              <a:rPr lang="sv-SE" altLang="en-US" dirty="0" smtClean="0">
                <a:latin typeface="+mn-lt"/>
              </a:rPr>
              <a:t>0.940 - (</a:t>
            </a:r>
            <a:r>
              <a:rPr lang="sv-SE" altLang="en-US" dirty="0">
                <a:latin typeface="+mn-lt"/>
              </a:rPr>
              <a:t>5/14)*0.971 </a:t>
            </a:r>
            <a:r>
              <a:rPr lang="sv-SE" altLang="en-US" dirty="0" smtClean="0">
                <a:latin typeface="+mn-lt"/>
              </a:rPr>
              <a:t>- (</a:t>
            </a:r>
            <a:r>
              <a:rPr lang="sv-SE" altLang="en-US" dirty="0">
                <a:latin typeface="+mn-lt"/>
              </a:rPr>
              <a:t>4/14)*0.0 – (5/14)*0.0971</a:t>
            </a:r>
          </a:p>
          <a:p>
            <a:pPr eaLnBrk="1" hangingPunct="1"/>
            <a:r>
              <a:rPr lang="sv-SE" altLang="en-US" dirty="0">
                <a:latin typeface="+mn-lt"/>
              </a:rPr>
              <a:t>=0.247</a:t>
            </a:r>
            <a:endParaRPr lang="en-US" altLang="en-US" dirty="0">
              <a:latin typeface="+mn-lt"/>
            </a:endParaRPr>
          </a:p>
        </p:txBody>
      </p:sp>
      <p:sp>
        <p:nvSpPr>
          <p:cNvPr id="33806" name="Rectangle 12"/>
          <p:cNvSpPr>
            <a:spLocks noChangeArrowheads="1"/>
          </p:cNvSpPr>
          <p:nvPr/>
        </p:nvSpPr>
        <p:spPr bwMode="auto">
          <a:xfrm>
            <a:off x="3352800" y="4572001"/>
            <a:ext cx="13716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70000"/>
              </a:lnSpc>
              <a:spcBef>
                <a:spcPct val="50000"/>
              </a:spcBef>
            </a:pPr>
            <a:r>
              <a:rPr lang="sv-SE" altLang="en-US">
                <a:latin typeface="+mn-lt"/>
              </a:rPr>
              <a:t>E=0.971</a:t>
            </a:r>
            <a:endParaRPr lang="en-US" altLang="en-US">
              <a:latin typeface="+mn-lt"/>
            </a:endParaRPr>
          </a:p>
        </p:txBody>
      </p:sp>
      <p:sp>
        <p:nvSpPr>
          <p:cNvPr id="33807" name="Rectangle 13"/>
          <p:cNvSpPr>
            <a:spLocks noChangeArrowheads="1"/>
          </p:cNvSpPr>
          <p:nvPr/>
        </p:nvSpPr>
        <p:spPr bwMode="auto">
          <a:xfrm>
            <a:off x="6629400" y="4462463"/>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E=0.971</a:t>
            </a:r>
            <a:endParaRPr lang="en-US" altLang="en-US">
              <a:latin typeface="+mn-lt"/>
            </a:endParaRPr>
          </a:p>
        </p:txBody>
      </p:sp>
      <p:sp>
        <p:nvSpPr>
          <p:cNvPr id="33808" name="Line 14"/>
          <p:cNvSpPr>
            <a:spLocks noChangeShapeType="1"/>
          </p:cNvSpPr>
          <p:nvPr/>
        </p:nvSpPr>
        <p:spPr bwMode="auto">
          <a:xfrm flipH="1">
            <a:off x="5486400" y="2735264"/>
            <a:ext cx="14288" cy="130333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3809" name="Text Box 15"/>
          <p:cNvSpPr txBox="1">
            <a:spLocks noChangeArrowheads="1"/>
          </p:cNvSpPr>
          <p:nvPr/>
        </p:nvSpPr>
        <p:spPr bwMode="auto">
          <a:xfrm>
            <a:off x="4953000" y="2971801"/>
            <a:ext cx="1163637" cy="830997"/>
          </a:xfrm>
          <a:prstGeom prst="rect">
            <a:avLst/>
          </a:prstGeom>
          <a:solidFill>
            <a:schemeClr val="bg1"/>
          </a:solidFill>
          <a:ln w="38100">
            <a:solidFill>
              <a:schemeClr val="tx2"/>
            </a:solidFill>
            <a:miter lim="800000"/>
            <a:headEnd/>
            <a:tailEnd/>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smtClean="0">
                <a:latin typeface="+mn-lt"/>
              </a:rPr>
              <a:t>Over</a:t>
            </a:r>
          </a:p>
          <a:p>
            <a:pPr eaLnBrk="1" hangingPunct="1"/>
            <a:r>
              <a:rPr lang="sv-SE" altLang="en-US" dirty="0" smtClean="0">
                <a:latin typeface="+mn-lt"/>
              </a:rPr>
              <a:t>cast</a:t>
            </a:r>
            <a:endParaRPr lang="en-US" altLang="en-US" dirty="0">
              <a:latin typeface="+mn-lt"/>
            </a:endParaRPr>
          </a:p>
        </p:txBody>
      </p:sp>
      <p:sp>
        <p:nvSpPr>
          <p:cNvPr id="33810" name="Text Box 16"/>
          <p:cNvSpPr txBox="1">
            <a:spLocks noChangeArrowheads="1"/>
          </p:cNvSpPr>
          <p:nvPr/>
        </p:nvSpPr>
        <p:spPr bwMode="auto">
          <a:xfrm>
            <a:off x="4953000" y="3962401"/>
            <a:ext cx="984565"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a:t>
            </a:r>
            <a:r>
              <a:rPr lang="sv-SE" altLang="en-US">
                <a:latin typeface="+mn-lt"/>
              </a:rPr>
              <a:t>4</a:t>
            </a:r>
            <a:r>
              <a:rPr lang="en-US" altLang="en-US">
                <a:latin typeface="+mn-lt"/>
              </a:rPr>
              <a:t>+, </a:t>
            </a:r>
            <a:r>
              <a:rPr lang="sv-SE" altLang="en-US">
                <a:latin typeface="+mn-lt"/>
              </a:rPr>
              <a:t>0</a:t>
            </a:r>
            <a:r>
              <a:rPr lang="en-US" altLang="en-US">
                <a:latin typeface="+mn-lt"/>
              </a:rPr>
              <a:t>]</a:t>
            </a:r>
          </a:p>
        </p:txBody>
      </p:sp>
      <p:sp>
        <p:nvSpPr>
          <p:cNvPr id="33811" name="Rectangle 17"/>
          <p:cNvSpPr>
            <a:spLocks noChangeArrowheads="1"/>
          </p:cNvSpPr>
          <p:nvPr/>
        </p:nvSpPr>
        <p:spPr bwMode="auto">
          <a:xfrm>
            <a:off x="4953000" y="4572001"/>
            <a:ext cx="13716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70000"/>
              </a:lnSpc>
              <a:spcBef>
                <a:spcPct val="50000"/>
              </a:spcBef>
            </a:pPr>
            <a:r>
              <a:rPr lang="sv-SE" altLang="en-US">
                <a:latin typeface="+mn-lt"/>
              </a:rPr>
              <a:t>E=0.0</a:t>
            </a:r>
            <a:endParaRPr lang="en-US" altLang="en-US">
              <a:latin typeface="+mn-lt"/>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sv-SE" altLang="en-US" smtClean="0"/>
              <a:t>Selecting the Next Attribute</a:t>
            </a:r>
            <a:endParaRPr lang="en-US" altLang="en-US" smtClean="0"/>
          </a:p>
        </p:txBody>
      </p:sp>
      <p:sp>
        <p:nvSpPr>
          <p:cNvPr id="4" name="Footer Placeholder 3"/>
          <p:cNvSpPr>
            <a:spLocks noGrp="1"/>
          </p:cNvSpPr>
          <p:nvPr>
            <p:ph type="ftr" sz="quarter" idx="11"/>
          </p:nvPr>
        </p:nvSpPr>
        <p:spPr/>
        <p:txBody>
          <a:bodyPr/>
          <a:lstStyle/>
          <a:p>
            <a:pPr>
              <a:defRPr/>
            </a:pPr>
            <a:r>
              <a:rPr lang="en-US"/>
              <a:t>Decision Tree Learning</a:t>
            </a:r>
          </a:p>
        </p:txBody>
      </p:sp>
      <p:sp>
        <p:nvSpPr>
          <p:cNvPr id="5"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88F2F7D-95D9-4C38-A291-BEC11EAF77B5}" type="slidenum">
              <a:rPr lang="en-US" altLang="en-US" sz="1200">
                <a:solidFill>
                  <a:srgbClr val="898989"/>
                </a:solidFill>
              </a:rPr>
              <a:pPr eaLnBrk="1" hangingPunct="1"/>
              <a:t>43</a:t>
            </a:fld>
            <a:endParaRPr lang="en-US" altLang="en-US" sz="1200">
              <a:solidFill>
                <a:srgbClr val="898989"/>
              </a:solidFill>
            </a:endParaRPr>
          </a:p>
        </p:txBody>
      </p:sp>
      <p:sp>
        <p:nvSpPr>
          <p:cNvPr id="34821" name="Text Box 3"/>
          <p:cNvSpPr txBox="1">
            <a:spLocks noChangeArrowheads="1"/>
          </p:cNvSpPr>
          <p:nvPr/>
        </p:nvSpPr>
        <p:spPr bwMode="auto">
          <a:xfrm>
            <a:off x="1600200" y="1600201"/>
            <a:ext cx="9829800"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sz="2800" dirty="0">
                <a:latin typeface="+mn-lt"/>
              </a:rPr>
              <a:t>The information gain values for the 4 attributes are:</a:t>
            </a:r>
            <a:endParaRPr lang="sv-SE" altLang="en-US" dirty="0">
              <a:latin typeface="+mn-lt"/>
            </a:endParaRPr>
          </a:p>
          <a:p>
            <a:pPr eaLnBrk="1" hangingPunct="1">
              <a:buFontTx/>
              <a:buChar char="•"/>
            </a:pPr>
            <a:r>
              <a:rPr lang="sv-SE" altLang="en-US" dirty="0">
                <a:latin typeface="+mn-lt"/>
              </a:rPr>
              <a:t> Gain(S,Outlook) =0.247</a:t>
            </a:r>
          </a:p>
          <a:p>
            <a:pPr eaLnBrk="1" hangingPunct="1">
              <a:buFontTx/>
              <a:buChar char="•"/>
            </a:pPr>
            <a:r>
              <a:rPr lang="sv-SE" altLang="en-US" dirty="0">
                <a:latin typeface="+mn-lt"/>
              </a:rPr>
              <a:t> Gain(S,Humidity) =0.151</a:t>
            </a:r>
            <a:endParaRPr lang="en-US" altLang="en-US" dirty="0">
              <a:latin typeface="+mn-lt"/>
            </a:endParaRPr>
          </a:p>
          <a:p>
            <a:pPr eaLnBrk="1" hangingPunct="1">
              <a:buFontTx/>
              <a:buChar char="•"/>
            </a:pPr>
            <a:r>
              <a:rPr lang="sv-SE" altLang="en-US" dirty="0">
                <a:latin typeface="+mn-lt"/>
              </a:rPr>
              <a:t> Gain(S,Wind) =0.048</a:t>
            </a:r>
            <a:endParaRPr lang="en-US" altLang="en-US" dirty="0">
              <a:latin typeface="+mn-lt"/>
            </a:endParaRPr>
          </a:p>
          <a:p>
            <a:pPr eaLnBrk="1" hangingPunct="1">
              <a:buFontTx/>
              <a:buChar char="•"/>
            </a:pPr>
            <a:r>
              <a:rPr lang="sv-SE" altLang="en-US" dirty="0">
                <a:latin typeface="+mn-lt"/>
              </a:rPr>
              <a:t> Gain(S,Temperature) =0.029</a:t>
            </a:r>
          </a:p>
          <a:p>
            <a:pPr eaLnBrk="1" hangingPunct="1"/>
            <a:endParaRPr lang="en-US" altLang="en-US" dirty="0">
              <a:latin typeface="+mn-lt"/>
            </a:endParaRPr>
          </a:p>
          <a:p>
            <a:pPr eaLnBrk="1" hangingPunct="1"/>
            <a:r>
              <a:rPr lang="en-US" altLang="en-US" dirty="0">
                <a:latin typeface="+mn-lt"/>
              </a:rPr>
              <a:t>where S denotes the collection of training examples</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sv-SE" altLang="en-US" sz="4000"/>
              <a:t>PlayTennis Training Examples</a:t>
            </a:r>
            <a:br>
              <a:rPr lang="sv-SE" altLang="en-US" sz="4000"/>
            </a:br>
            <a:r>
              <a:rPr lang="sv-SE" altLang="en-US" sz="2800"/>
              <a:t>(Outlook = Sunny) </a:t>
            </a:r>
            <a:r>
              <a:rPr lang="sv-SE" altLang="en-US" sz="2000" i="1"/>
              <a:t>(use subset of original dataset)</a:t>
            </a:r>
            <a:endParaRPr lang="en-US" altLang="en-US" sz="2000" i="1"/>
          </a:p>
        </p:txBody>
      </p:sp>
      <p:sp>
        <p:nvSpPr>
          <p:cNvPr id="120" name="Footer Placeholder 3"/>
          <p:cNvSpPr>
            <a:spLocks noGrp="1"/>
          </p:cNvSpPr>
          <p:nvPr>
            <p:ph type="ftr" sz="quarter" idx="11"/>
          </p:nvPr>
        </p:nvSpPr>
        <p:spPr/>
        <p:txBody>
          <a:bodyPr/>
          <a:lstStyle/>
          <a:p>
            <a:pPr>
              <a:defRPr/>
            </a:pPr>
            <a:r>
              <a:rPr lang="en-US"/>
              <a:t>Decision Tree Learning</a:t>
            </a:r>
          </a:p>
        </p:txBody>
      </p:sp>
      <p:sp>
        <p:nvSpPr>
          <p:cNvPr id="121"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0A75268-F98C-4628-A09E-7C5E7AC259B1}" type="slidenum">
              <a:rPr lang="en-US" altLang="en-US" sz="1200">
                <a:solidFill>
                  <a:srgbClr val="898989"/>
                </a:solidFill>
              </a:rPr>
              <a:pPr eaLnBrk="1" hangingPunct="1"/>
              <a:t>44</a:t>
            </a:fld>
            <a:endParaRPr lang="en-US" altLang="en-US" sz="1200">
              <a:solidFill>
                <a:srgbClr val="898989"/>
              </a:solidFill>
            </a:endParaRPr>
          </a:p>
        </p:txBody>
      </p:sp>
      <p:grpSp>
        <p:nvGrpSpPr>
          <p:cNvPr id="35845" name="Group 3"/>
          <p:cNvGrpSpPr>
            <a:grpSpLocks/>
          </p:cNvGrpSpPr>
          <p:nvPr/>
        </p:nvGrpSpPr>
        <p:grpSpPr bwMode="auto">
          <a:xfrm>
            <a:off x="2209800" y="1524001"/>
            <a:ext cx="8305800" cy="5045075"/>
            <a:chOff x="432" y="960"/>
            <a:chExt cx="5232" cy="3178"/>
          </a:xfrm>
        </p:grpSpPr>
        <p:sp>
          <p:nvSpPr>
            <p:cNvPr id="35849" name="Rectangle 4"/>
            <p:cNvSpPr>
              <a:spLocks noChangeArrowheads="1"/>
            </p:cNvSpPr>
            <p:nvPr/>
          </p:nvSpPr>
          <p:spPr bwMode="auto">
            <a:xfrm>
              <a:off x="4560" y="3927"/>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5850" name="Rectangle 5"/>
            <p:cNvSpPr>
              <a:spLocks noChangeArrowheads="1"/>
            </p:cNvSpPr>
            <p:nvPr/>
          </p:nvSpPr>
          <p:spPr bwMode="auto">
            <a:xfrm>
              <a:off x="3840" y="3927"/>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5851" name="Rectangle 6"/>
            <p:cNvSpPr>
              <a:spLocks noChangeArrowheads="1"/>
            </p:cNvSpPr>
            <p:nvPr/>
          </p:nvSpPr>
          <p:spPr bwMode="auto">
            <a:xfrm>
              <a:off x="3072" y="3927"/>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852" name="Rectangle 7"/>
            <p:cNvSpPr>
              <a:spLocks noChangeArrowheads="1"/>
            </p:cNvSpPr>
            <p:nvPr/>
          </p:nvSpPr>
          <p:spPr bwMode="auto">
            <a:xfrm>
              <a:off x="2336" y="3927"/>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5853" name="Rectangle 8"/>
            <p:cNvSpPr>
              <a:spLocks noChangeArrowheads="1"/>
            </p:cNvSpPr>
            <p:nvPr/>
          </p:nvSpPr>
          <p:spPr bwMode="auto">
            <a:xfrm>
              <a:off x="912" y="3927"/>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5854" name="Rectangle 9"/>
            <p:cNvSpPr>
              <a:spLocks noChangeArrowheads="1"/>
            </p:cNvSpPr>
            <p:nvPr/>
          </p:nvSpPr>
          <p:spPr bwMode="auto">
            <a:xfrm>
              <a:off x="432" y="3927"/>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D14</a:t>
              </a:r>
              <a:endParaRPr lang="en-US" altLang="en-US" sz="1800"/>
            </a:p>
          </p:txBody>
        </p:sp>
        <p:sp>
          <p:nvSpPr>
            <p:cNvPr id="35855" name="Rectangle 10"/>
            <p:cNvSpPr>
              <a:spLocks noChangeArrowheads="1"/>
            </p:cNvSpPr>
            <p:nvPr/>
          </p:nvSpPr>
          <p:spPr bwMode="auto">
            <a:xfrm>
              <a:off x="4560" y="3716"/>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856" name="Rectangle 11"/>
            <p:cNvSpPr>
              <a:spLocks noChangeArrowheads="1"/>
            </p:cNvSpPr>
            <p:nvPr/>
          </p:nvSpPr>
          <p:spPr bwMode="auto">
            <a:xfrm>
              <a:off x="3840" y="3716"/>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857" name="Rectangle 12"/>
            <p:cNvSpPr>
              <a:spLocks noChangeArrowheads="1"/>
            </p:cNvSpPr>
            <p:nvPr/>
          </p:nvSpPr>
          <p:spPr bwMode="auto">
            <a:xfrm>
              <a:off x="3072" y="3716"/>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858" name="Rectangle 13"/>
            <p:cNvSpPr>
              <a:spLocks noChangeArrowheads="1"/>
            </p:cNvSpPr>
            <p:nvPr/>
          </p:nvSpPr>
          <p:spPr bwMode="auto">
            <a:xfrm>
              <a:off x="2336" y="3716"/>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5859" name="Rectangle 14"/>
            <p:cNvSpPr>
              <a:spLocks noChangeArrowheads="1"/>
            </p:cNvSpPr>
            <p:nvPr/>
          </p:nvSpPr>
          <p:spPr bwMode="auto">
            <a:xfrm>
              <a:off x="912" y="3716"/>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5860" name="Rectangle 15"/>
            <p:cNvSpPr>
              <a:spLocks noChangeArrowheads="1"/>
            </p:cNvSpPr>
            <p:nvPr/>
          </p:nvSpPr>
          <p:spPr bwMode="auto">
            <a:xfrm>
              <a:off x="432" y="3716"/>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D13</a:t>
              </a:r>
              <a:endParaRPr lang="en-US" altLang="en-US" sz="1800"/>
            </a:p>
          </p:txBody>
        </p:sp>
        <p:sp>
          <p:nvSpPr>
            <p:cNvPr id="35861" name="Rectangle 16"/>
            <p:cNvSpPr>
              <a:spLocks noChangeArrowheads="1"/>
            </p:cNvSpPr>
            <p:nvPr/>
          </p:nvSpPr>
          <p:spPr bwMode="auto">
            <a:xfrm>
              <a:off x="4560" y="3505"/>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862" name="Rectangle 17"/>
            <p:cNvSpPr>
              <a:spLocks noChangeArrowheads="1"/>
            </p:cNvSpPr>
            <p:nvPr/>
          </p:nvSpPr>
          <p:spPr bwMode="auto">
            <a:xfrm>
              <a:off x="3840" y="3505"/>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5863" name="Rectangle 18"/>
            <p:cNvSpPr>
              <a:spLocks noChangeArrowheads="1"/>
            </p:cNvSpPr>
            <p:nvPr/>
          </p:nvSpPr>
          <p:spPr bwMode="auto">
            <a:xfrm>
              <a:off x="3072" y="3505"/>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864" name="Rectangle 19"/>
            <p:cNvSpPr>
              <a:spLocks noChangeArrowheads="1"/>
            </p:cNvSpPr>
            <p:nvPr/>
          </p:nvSpPr>
          <p:spPr bwMode="auto">
            <a:xfrm>
              <a:off x="2336" y="3505"/>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5865" name="Rectangle 20"/>
            <p:cNvSpPr>
              <a:spLocks noChangeArrowheads="1"/>
            </p:cNvSpPr>
            <p:nvPr/>
          </p:nvSpPr>
          <p:spPr bwMode="auto">
            <a:xfrm>
              <a:off x="912" y="3505"/>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5866" name="Rectangle 21"/>
            <p:cNvSpPr>
              <a:spLocks noChangeArrowheads="1"/>
            </p:cNvSpPr>
            <p:nvPr/>
          </p:nvSpPr>
          <p:spPr bwMode="auto">
            <a:xfrm>
              <a:off x="432" y="3505"/>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D12</a:t>
              </a:r>
              <a:endParaRPr lang="en-US" altLang="en-US" sz="1800"/>
            </a:p>
          </p:txBody>
        </p:sp>
        <p:sp>
          <p:nvSpPr>
            <p:cNvPr id="35867" name="Rectangle 22"/>
            <p:cNvSpPr>
              <a:spLocks noChangeArrowheads="1"/>
            </p:cNvSpPr>
            <p:nvPr/>
          </p:nvSpPr>
          <p:spPr bwMode="auto">
            <a:xfrm>
              <a:off x="4560" y="3294"/>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868" name="Rectangle 23"/>
            <p:cNvSpPr>
              <a:spLocks noChangeArrowheads="1"/>
            </p:cNvSpPr>
            <p:nvPr/>
          </p:nvSpPr>
          <p:spPr bwMode="auto">
            <a:xfrm>
              <a:off x="3840" y="3294"/>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5869" name="Rectangle 24"/>
            <p:cNvSpPr>
              <a:spLocks noChangeArrowheads="1"/>
            </p:cNvSpPr>
            <p:nvPr/>
          </p:nvSpPr>
          <p:spPr bwMode="auto">
            <a:xfrm>
              <a:off x="3072" y="3294"/>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870" name="Rectangle 25"/>
            <p:cNvSpPr>
              <a:spLocks noChangeArrowheads="1"/>
            </p:cNvSpPr>
            <p:nvPr/>
          </p:nvSpPr>
          <p:spPr bwMode="auto">
            <a:xfrm>
              <a:off x="2336" y="3294"/>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5871" name="Rectangle 26"/>
            <p:cNvSpPr>
              <a:spLocks noChangeArrowheads="1"/>
            </p:cNvSpPr>
            <p:nvPr/>
          </p:nvSpPr>
          <p:spPr bwMode="auto">
            <a:xfrm>
              <a:off x="912" y="3294"/>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5872" name="Rectangle 27"/>
            <p:cNvSpPr>
              <a:spLocks noChangeArrowheads="1"/>
            </p:cNvSpPr>
            <p:nvPr/>
          </p:nvSpPr>
          <p:spPr bwMode="auto">
            <a:xfrm>
              <a:off x="432" y="3294"/>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D11</a:t>
              </a:r>
              <a:endParaRPr lang="en-US" altLang="en-US" sz="1800"/>
            </a:p>
          </p:txBody>
        </p:sp>
        <p:sp>
          <p:nvSpPr>
            <p:cNvPr id="35873" name="Rectangle 28"/>
            <p:cNvSpPr>
              <a:spLocks noChangeArrowheads="1"/>
            </p:cNvSpPr>
            <p:nvPr/>
          </p:nvSpPr>
          <p:spPr bwMode="auto">
            <a:xfrm>
              <a:off x="4560" y="3083"/>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874" name="Rectangle 29"/>
            <p:cNvSpPr>
              <a:spLocks noChangeArrowheads="1"/>
            </p:cNvSpPr>
            <p:nvPr/>
          </p:nvSpPr>
          <p:spPr bwMode="auto">
            <a:xfrm>
              <a:off x="3840" y="3083"/>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5875" name="Rectangle 30"/>
            <p:cNvSpPr>
              <a:spLocks noChangeArrowheads="1"/>
            </p:cNvSpPr>
            <p:nvPr/>
          </p:nvSpPr>
          <p:spPr bwMode="auto">
            <a:xfrm>
              <a:off x="3072" y="3083"/>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876" name="Rectangle 31"/>
            <p:cNvSpPr>
              <a:spLocks noChangeArrowheads="1"/>
            </p:cNvSpPr>
            <p:nvPr/>
          </p:nvSpPr>
          <p:spPr bwMode="auto">
            <a:xfrm>
              <a:off x="2336" y="3083"/>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5877" name="Rectangle 32"/>
            <p:cNvSpPr>
              <a:spLocks noChangeArrowheads="1"/>
            </p:cNvSpPr>
            <p:nvPr/>
          </p:nvSpPr>
          <p:spPr bwMode="auto">
            <a:xfrm>
              <a:off x="912" y="3083"/>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5878" name="Rectangle 33"/>
            <p:cNvSpPr>
              <a:spLocks noChangeArrowheads="1"/>
            </p:cNvSpPr>
            <p:nvPr/>
          </p:nvSpPr>
          <p:spPr bwMode="auto">
            <a:xfrm>
              <a:off x="432" y="3083"/>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D10</a:t>
              </a:r>
              <a:endParaRPr lang="en-US" altLang="en-US" sz="1800"/>
            </a:p>
          </p:txBody>
        </p:sp>
        <p:sp>
          <p:nvSpPr>
            <p:cNvPr id="35879" name="Rectangle 34"/>
            <p:cNvSpPr>
              <a:spLocks noChangeArrowheads="1"/>
            </p:cNvSpPr>
            <p:nvPr/>
          </p:nvSpPr>
          <p:spPr bwMode="auto">
            <a:xfrm>
              <a:off x="4560" y="2872"/>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880" name="Rectangle 35"/>
            <p:cNvSpPr>
              <a:spLocks noChangeArrowheads="1"/>
            </p:cNvSpPr>
            <p:nvPr/>
          </p:nvSpPr>
          <p:spPr bwMode="auto">
            <a:xfrm>
              <a:off x="3840" y="2872"/>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881" name="Rectangle 36"/>
            <p:cNvSpPr>
              <a:spLocks noChangeArrowheads="1"/>
            </p:cNvSpPr>
            <p:nvPr/>
          </p:nvSpPr>
          <p:spPr bwMode="auto">
            <a:xfrm>
              <a:off x="3072" y="2872"/>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882" name="Rectangle 37"/>
            <p:cNvSpPr>
              <a:spLocks noChangeArrowheads="1"/>
            </p:cNvSpPr>
            <p:nvPr/>
          </p:nvSpPr>
          <p:spPr bwMode="auto">
            <a:xfrm>
              <a:off x="2336" y="2872"/>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Cold</a:t>
              </a:r>
              <a:endParaRPr lang="en-US" altLang="en-US" sz="1800"/>
            </a:p>
          </p:txBody>
        </p:sp>
        <p:sp>
          <p:nvSpPr>
            <p:cNvPr id="35883" name="Rectangle 38"/>
            <p:cNvSpPr>
              <a:spLocks noChangeArrowheads="1"/>
            </p:cNvSpPr>
            <p:nvPr/>
          </p:nvSpPr>
          <p:spPr bwMode="auto">
            <a:xfrm>
              <a:off x="912" y="2872"/>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5884" name="Rectangle 39"/>
            <p:cNvSpPr>
              <a:spLocks noChangeArrowheads="1"/>
            </p:cNvSpPr>
            <p:nvPr/>
          </p:nvSpPr>
          <p:spPr bwMode="auto">
            <a:xfrm>
              <a:off x="432" y="2872"/>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D9</a:t>
              </a:r>
              <a:endParaRPr lang="en-US" altLang="en-US" sz="1800"/>
            </a:p>
          </p:txBody>
        </p:sp>
        <p:sp>
          <p:nvSpPr>
            <p:cNvPr id="35885" name="Rectangle 40"/>
            <p:cNvSpPr>
              <a:spLocks noChangeArrowheads="1"/>
            </p:cNvSpPr>
            <p:nvPr/>
          </p:nvSpPr>
          <p:spPr bwMode="auto">
            <a:xfrm>
              <a:off x="4560" y="2661"/>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5886" name="Rectangle 41"/>
            <p:cNvSpPr>
              <a:spLocks noChangeArrowheads="1"/>
            </p:cNvSpPr>
            <p:nvPr/>
          </p:nvSpPr>
          <p:spPr bwMode="auto">
            <a:xfrm>
              <a:off x="3840" y="2661"/>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887" name="Rectangle 42"/>
            <p:cNvSpPr>
              <a:spLocks noChangeArrowheads="1"/>
            </p:cNvSpPr>
            <p:nvPr/>
          </p:nvSpPr>
          <p:spPr bwMode="auto">
            <a:xfrm>
              <a:off x="3072" y="2661"/>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888" name="Rectangle 43"/>
            <p:cNvSpPr>
              <a:spLocks noChangeArrowheads="1"/>
            </p:cNvSpPr>
            <p:nvPr/>
          </p:nvSpPr>
          <p:spPr bwMode="auto">
            <a:xfrm>
              <a:off x="2336" y="2661"/>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5889" name="Rectangle 44"/>
            <p:cNvSpPr>
              <a:spLocks noChangeArrowheads="1"/>
            </p:cNvSpPr>
            <p:nvPr/>
          </p:nvSpPr>
          <p:spPr bwMode="auto">
            <a:xfrm>
              <a:off x="912" y="2661"/>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5890" name="Rectangle 45"/>
            <p:cNvSpPr>
              <a:spLocks noChangeArrowheads="1"/>
            </p:cNvSpPr>
            <p:nvPr/>
          </p:nvSpPr>
          <p:spPr bwMode="auto">
            <a:xfrm>
              <a:off x="432" y="2661"/>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D8</a:t>
              </a:r>
              <a:endParaRPr lang="en-US" altLang="en-US" sz="1800"/>
            </a:p>
          </p:txBody>
        </p:sp>
        <p:sp>
          <p:nvSpPr>
            <p:cNvPr id="35891" name="Rectangle 46"/>
            <p:cNvSpPr>
              <a:spLocks noChangeArrowheads="1"/>
            </p:cNvSpPr>
            <p:nvPr/>
          </p:nvSpPr>
          <p:spPr bwMode="auto">
            <a:xfrm>
              <a:off x="4560" y="2450"/>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892" name="Rectangle 47"/>
            <p:cNvSpPr>
              <a:spLocks noChangeArrowheads="1"/>
            </p:cNvSpPr>
            <p:nvPr/>
          </p:nvSpPr>
          <p:spPr bwMode="auto">
            <a:xfrm>
              <a:off x="3840" y="2450"/>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893" name="Rectangle 48"/>
            <p:cNvSpPr>
              <a:spLocks noChangeArrowheads="1"/>
            </p:cNvSpPr>
            <p:nvPr/>
          </p:nvSpPr>
          <p:spPr bwMode="auto">
            <a:xfrm>
              <a:off x="3072" y="2450"/>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894" name="Rectangle 49"/>
            <p:cNvSpPr>
              <a:spLocks noChangeArrowheads="1"/>
            </p:cNvSpPr>
            <p:nvPr/>
          </p:nvSpPr>
          <p:spPr bwMode="auto">
            <a:xfrm>
              <a:off x="2336" y="2450"/>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5895" name="Rectangle 50"/>
            <p:cNvSpPr>
              <a:spLocks noChangeArrowheads="1"/>
            </p:cNvSpPr>
            <p:nvPr/>
          </p:nvSpPr>
          <p:spPr bwMode="auto">
            <a:xfrm>
              <a:off x="912" y="2450"/>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5896" name="Rectangle 51"/>
            <p:cNvSpPr>
              <a:spLocks noChangeArrowheads="1"/>
            </p:cNvSpPr>
            <p:nvPr/>
          </p:nvSpPr>
          <p:spPr bwMode="auto">
            <a:xfrm>
              <a:off x="432" y="2450"/>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D7</a:t>
              </a:r>
              <a:endParaRPr lang="en-US" altLang="en-US" sz="1800"/>
            </a:p>
          </p:txBody>
        </p:sp>
        <p:sp>
          <p:nvSpPr>
            <p:cNvPr id="35897" name="Rectangle 52"/>
            <p:cNvSpPr>
              <a:spLocks noChangeArrowheads="1"/>
            </p:cNvSpPr>
            <p:nvPr/>
          </p:nvSpPr>
          <p:spPr bwMode="auto">
            <a:xfrm>
              <a:off x="4560" y="2239"/>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5898" name="Rectangle 53"/>
            <p:cNvSpPr>
              <a:spLocks noChangeArrowheads="1"/>
            </p:cNvSpPr>
            <p:nvPr/>
          </p:nvSpPr>
          <p:spPr bwMode="auto">
            <a:xfrm>
              <a:off x="3840" y="2239"/>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5899" name="Rectangle 54"/>
            <p:cNvSpPr>
              <a:spLocks noChangeArrowheads="1"/>
            </p:cNvSpPr>
            <p:nvPr/>
          </p:nvSpPr>
          <p:spPr bwMode="auto">
            <a:xfrm>
              <a:off x="3072" y="2239"/>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900" name="Rectangle 55"/>
            <p:cNvSpPr>
              <a:spLocks noChangeArrowheads="1"/>
            </p:cNvSpPr>
            <p:nvPr/>
          </p:nvSpPr>
          <p:spPr bwMode="auto">
            <a:xfrm>
              <a:off x="2336" y="2239"/>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5901" name="Rectangle 56"/>
            <p:cNvSpPr>
              <a:spLocks noChangeArrowheads="1"/>
            </p:cNvSpPr>
            <p:nvPr/>
          </p:nvSpPr>
          <p:spPr bwMode="auto">
            <a:xfrm>
              <a:off x="912" y="2239"/>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5902" name="Rectangle 57"/>
            <p:cNvSpPr>
              <a:spLocks noChangeArrowheads="1"/>
            </p:cNvSpPr>
            <p:nvPr/>
          </p:nvSpPr>
          <p:spPr bwMode="auto">
            <a:xfrm>
              <a:off x="432" y="2239"/>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D6</a:t>
              </a:r>
              <a:endParaRPr lang="en-US" altLang="en-US" sz="1800"/>
            </a:p>
          </p:txBody>
        </p:sp>
        <p:sp>
          <p:nvSpPr>
            <p:cNvPr id="35903" name="Rectangle 58"/>
            <p:cNvSpPr>
              <a:spLocks noChangeArrowheads="1"/>
            </p:cNvSpPr>
            <p:nvPr/>
          </p:nvSpPr>
          <p:spPr bwMode="auto">
            <a:xfrm>
              <a:off x="4560" y="2028"/>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904" name="Rectangle 59"/>
            <p:cNvSpPr>
              <a:spLocks noChangeArrowheads="1"/>
            </p:cNvSpPr>
            <p:nvPr/>
          </p:nvSpPr>
          <p:spPr bwMode="auto">
            <a:xfrm>
              <a:off x="3840" y="2028"/>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905" name="Rectangle 60"/>
            <p:cNvSpPr>
              <a:spLocks noChangeArrowheads="1"/>
            </p:cNvSpPr>
            <p:nvPr/>
          </p:nvSpPr>
          <p:spPr bwMode="auto">
            <a:xfrm>
              <a:off x="3072" y="2028"/>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Normal</a:t>
              </a:r>
              <a:endParaRPr lang="en-US" altLang="en-US" sz="1800"/>
            </a:p>
          </p:txBody>
        </p:sp>
        <p:sp>
          <p:nvSpPr>
            <p:cNvPr id="35906" name="Rectangle 61"/>
            <p:cNvSpPr>
              <a:spLocks noChangeArrowheads="1"/>
            </p:cNvSpPr>
            <p:nvPr/>
          </p:nvSpPr>
          <p:spPr bwMode="auto">
            <a:xfrm>
              <a:off x="2336" y="2028"/>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Cool</a:t>
              </a:r>
              <a:endParaRPr lang="en-US" altLang="en-US" sz="1800"/>
            </a:p>
          </p:txBody>
        </p:sp>
        <p:sp>
          <p:nvSpPr>
            <p:cNvPr id="35907" name="Rectangle 62"/>
            <p:cNvSpPr>
              <a:spLocks noChangeArrowheads="1"/>
            </p:cNvSpPr>
            <p:nvPr/>
          </p:nvSpPr>
          <p:spPr bwMode="auto">
            <a:xfrm>
              <a:off x="912" y="2028"/>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a:t>
              </a:r>
              <a:endParaRPr lang="en-US" altLang="en-US" sz="1800"/>
            </a:p>
          </p:txBody>
        </p:sp>
        <p:sp>
          <p:nvSpPr>
            <p:cNvPr id="35908" name="Rectangle 63"/>
            <p:cNvSpPr>
              <a:spLocks noChangeArrowheads="1"/>
            </p:cNvSpPr>
            <p:nvPr/>
          </p:nvSpPr>
          <p:spPr bwMode="auto">
            <a:xfrm>
              <a:off x="432" y="2028"/>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D5</a:t>
              </a:r>
              <a:endParaRPr lang="en-US" altLang="en-US" sz="1800"/>
            </a:p>
          </p:txBody>
        </p:sp>
        <p:sp>
          <p:nvSpPr>
            <p:cNvPr id="35909" name="Rectangle 64"/>
            <p:cNvSpPr>
              <a:spLocks noChangeArrowheads="1"/>
            </p:cNvSpPr>
            <p:nvPr/>
          </p:nvSpPr>
          <p:spPr bwMode="auto">
            <a:xfrm>
              <a:off x="4560" y="1817"/>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910" name="Rectangle 65"/>
            <p:cNvSpPr>
              <a:spLocks noChangeArrowheads="1"/>
            </p:cNvSpPr>
            <p:nvPr/>
          </p:nvSpPr>
          <p:spPr bwMode="auto">
            <a:xfrm>
              <a:off x="3840" y="1817"/>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911" name="Rectangle 66"/>
            <p:cNvSpPr>
              <a:spLocks noChangeArrowheads="1"/>
            </p:cNvSpPr>
            <p:nvPr/>
          </p:nvSpPr>
          <p:spPr bwMode="auto">
            <a:xfrm>
              <a:off x="3072" y="1817"/>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912" name="Rectangle 67"/>
            <p:cNvSpPr>
              <a:spLocks noChangeArrowheads="1"/>
            </p:cNvSpPr>
            <p:nvPr/>
          </p:nvSpPr>
          <p:spPr bwMode="auto">
            <a:xfrm>
              <a:off x="2336" y="1817"/>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Mild</a:t>
              </a:r>
              <a:endParaRPr lang="en-US" altLang="en-US" sz="1800"/>
            </a:p>
          </p:txBody>
        </p:sp>
        <p:sp>
          <p:nvSpPr>
            <p:cNvPr id="35913" name="Rectangle 68"/>
            <p:cNvSpPr>
              <a:spLocks noChangeArrowheads="1"/>
            </p:cNvSpPr>
            <p:nvPr/>
          </p:nvSpPr>
          <p:spPr bwMode="auto">
            <a:xfrm>
              <a:off x="912" y="1817"/>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Rain </a:t>
              </a:r>
              <a:endParaRPr lang="en-US" altLang="en-US" sz="1800"/>
            </a:p>
          </p:txBody>
        </p:sp>
        <p:sp>
          <p:nvSpPr>
            <p:cNvPr id="35914" name="Rectangle 69"/>
            <p:cNvSpPr>
              <a:spLocks noChangeArrowheads="1"/>
            </p:cNvSpPr>
            <p:nvPr/>
          </p:nvSpPr>
          <p:spPr bwMode="auto">
            <a:xfrm>
              <a:off x="432" y="1817"/>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D4 </a:t>
              </a:r>
              <a:endParaRPr lang="en-US" altLang="en-US" sz="1800"/>
            </a:p>
          </p:txBody>
        </p:sp>
        <p:sp>
          <p:nvSpPr>
            <p:cNvPr id="35915" name="Rectangle 70"/>
            <p:cNvSpPr>
              <a:spLocks noChangeArrowheads="1"/>
            </p:cNvSpPr>
            <p:nvPr/>
          </p:nvSpPr>
          <p:spPr bwMode="auto">
            <a:xfrm>
              <a:off x="4560" y="1606"/>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Yes</a:t>
              </a:r>
              <a:endParaRPr lang="en-US" altLang="en-US" sz="1800"/>
            </a:p>
          </p:txBody>
        </p:sp>
        <p:sp>
          <p:nvSpPr>
            <p:cNvPr id="35916" name="Rectangle 71"/>
            <p:cNvSpPr>
              <a:spLocks noChangeArrowheads="1"/>
            </p:cNvSpPr>
            <p:nvPr/>
          </p:nvSpPr>
          <p:spPr bwMode="auto">
            <a:xfrm>
              <a:off x="3840" y="1606"/>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917" name="Rectangle 72"/>
            <p:cNvSpPr>
              <a:spLocks noChangeArrowheads="1"/>
            </p:cNvSpPr>
            <p:nvPr/>
          </p:nvSpPr>
          <p:spPr bwMode="auto">
            <a:xfrm>
              <a:off x="3072" y="1606"/>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918" name="Rectangle 73"/>
            <p:cNvSpPr>
              <a:spLocks noChangeArrowheads="1"/>
            </p:cNvSpPr>
            <p:nvPr/>
          </p:nvSpPr>
          <p:spPr bwMode="auto">
            <a:xfrm>
              <a:off x="2336" y="1606"/>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5919" name="Rectangle 74"/>
            <p:cNvSpPr>
              <a:spLocks noChangeArrowheads="1"/>
            </p:cNvSpPr>
            <p:nvPr/>
          </p:nvSpPr>
          <p:spPr bwMode="auto">
            <a:xfrm>
              <a:off x="912" y="1606"/>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Overcast</a:t>
              </a:r>
              <a:endParaRPr lang="en-US" altLang="en-US" sz="1800"/>
            </a:p>
          </p:txBody>
        </p:sp>
        <p:sp>
          <p:nvSpPr>
            <p:cNvPr id="35920" name="Rectangle 75"/>
            <p:cNvSpPr>
              <a:spLocks noChangeArrowheads="1"/>
            </p:cNvSpPr>
            <p:nvPr/>
          </p:nvSpPr>
          <p:spPr bwMode="auto">
            <a:xfrm>
              <a:off x="432" y="1606"/>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D3</a:t>
              </a:r>
              <a:endParaRPr lang="en-US" altLang="en-US" sz="1800"/>
            </a:p>
          </p:txBody>
        </p:sp>
        <p:sp>
          <p:nvSpPr>
            <p:cNvPr id="35921" name="Rectangle 76"/>
            <p:cNvSpPr>
              <a:spLocks noChangeArrowheads="1"/>
            </p:cNvSpPr>
            <p:nvPr/>
          </p:nvSpPr>
          <p:spPr bwMode="auto">
            <a:xfrm>
              <a:off x="4560" y="1395"/>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5922" name="Rectangle 77"/>
            <p:cNvSpPr>
              <a:spLocks noChangeArrowheads="1"/>
            </p:cNvSpPr>
            <p:nvPr/>
          </p:nvSpPr>
          <p:spPr bwMode="auto">
            <a:xfrm>
              <a:off x="3840" y="1395"/>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Strong</a:t>
              </a:r>
              <a:endParaRPr lang="en-US" altLang="en-US" sz="1800"/>
            </a:p>
          </p:txBody>
        </p:sp>
        <p:sp>
          <p:nvSpPr>
            <p:cNvPr id="35923" name="Rectangle 78"/>
            <p:cNvSpPr>
              <a:spLocks noChangeArrowheads="1"/>
            </p:cNvSpPr>
            <p:nvPr/>
          </p:nvSpPr>
          <p:spPr bwMode="auto">
            <a:xfrm>
              <a:off x="3072" y="1395"/>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924" name="Rectangle 79"/>
            <p:cNvSpPr>
              <a:spLocks noChangeArrowheads="1"/>
            </p:cNvSpPr>
            <p:nvPr/>
          </p:nvSpPr>
          <p:spPr bwMode="auto">
            <a:xfrm>
              <a:off x="2336" y="1395"/>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5925" name="Rectangle 80"/>
            <p:cNvSpPr>
              <a:spLocks noChangeArrowheads="1"/>
            </p:cNvSpPr>
            <p:nvPr/>
          </p:nvSpPr>
          <p:spPr bwMode="auto">
            <a:xfrm>
              <a:off x="912" y="1395"/>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5926" name="Rectangle 81"/>
            <p:cNvSpPr>
              <a:spLocks noChangeArrowheads="1"/>
            </p:cNvSpPr>
            <p:nvPr/>
          </p:nvSpPr>
          <p:spPr bwMode="auto">
            <a:xfrm>
              <a:off x="432" y="1395"/>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D2</a:t>
              </a:r>
              <a:endParaRPr lang="en-US" altLang="en-US" sz="1800"/>
            </a:p>
          </p:txBody>
        </p:sp>
        <p:sp>
          <p:nvSpPr>
            <p:cNvPr id="35927" name="Rectangle 82"/>
            <p:cNvSpPr>
              <a:spLocks noChangeArrowheads="1"/>
            </p:cNvSpPr>
            <p:nvPr/>
          </p:nvSpPr>
          <p:spPr bwMode="auto">
            <a:xfrm>
              <a:off x="4560" y="1184"/>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No</a:t>
              </a:r>
              <a:endParaRPr lang="en-US" altLang="en-US" sz="1800"/>
            </a:p>
          </p:txBody>
        </p:sp>
        <p:sp>
          <p:nvSpPr>
            <p:cNvPr id="35928" name="Rectangle 83"/>
            <p:cNvSpPr>
              <a:spLocks noChangeArrowheads="1"/>
            </p:cNvSpPr>
            <p:nvPr/>
          </p:nvSpPr>
          <p:spPr bwMode="auto">
            <a:xfrm>
              <a:off x="3840" y="1184"/>
              <a:ext cx="72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Weak</a:t>
              </a:r>
              <a:endParaRPr lang="en-US" altLang="en-US" sz="1800"/>
            </a:p>
          </p:txBody>
        </p:sp>
        <p:sp>
          <p:nvSpPr>
            <p:cNvPr id="35929" name="Rectangle 84"/>
            <p:cNvSpPr>
              <a:spLocks noChangeArrowheads="1"/>
            </p:cNvSpPr>
            <p:nvPr/>
          </p:nvSpPr>
          <p:spPr bwMode="auto">
            <a:xfrm>
              <a:off x="3072" y="1184"/>
              <a:ext cx="7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High</a:t>
              </a:r>
              <a:endParaRPr lang="en-US" altLang="en-US" sz="1800"/>
            </a:p>
          </p:txBody>
        </p:sp>
        <p:sp>
          <p:nvSpPr>
            <p:cNvPr id="35930" name="Rectangle 85"/>
            <p:cNvSpPr>
              <a:spLocks noChangeArrowheads="1"/>
            </p:cNvSpPr>
            <p:nvPr/>
          </p:nvSpPr>
          <p:spPr bwMode="auto">
            <a:xfrm>
              <a:off x="2336" y="1184"/>
              <a:ext cx="7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Hot</a:t>
              </a:r>
              <a:endParaRPr lang="en-US" altLang="en-US" sz="1800"/>
            </a:p>
          </p:txBody>
        </p:sp>
        <p:sp>
          <p:nvSpPr>
            <p:cNvPr id="35931" name="Rectangle 86"/>
            <p:cNvSpPr>
              <a:spLocks noChangeArrowheads="1"/>
            </p:cNvSpPr>
            <p:nvPr/>
          </p:nvSpPr>
          <p:spPr bwMode="auto">
            <a:xfrm>
              <a:off x="912" y="1184"/>
              <a:ext cx="142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Sunny</a:t>
              </a:r>
              <a:endParaRPr lang="en-US" altLang="en-US" sz="1800"/>
            </a:p>
          </p:txBody>
        </p:sp>
        <p:sp>
          <p:nvSpPr>
            <p:cNvPr id="35932" name="Rectangle 87"/>
            <p:cNvSpPr>
              <a:spLocks noChangeArrowheads="1"/>
            </p:cNvSpPr>
            <p:nvPr/>
          </p:nvSpPr>
          <p:spPr bwMode="auto">
            <a:xfrm>
              <a:off x="432" y="1184"/>
              <a:ext cx="4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D1</a:t>
              </a:r>
              <a:endParaRPr lang="en-US" altLang="en-US" sz="1800"/>
            </a:p>
          </p:txBody>
        </p:sp>
        <p:sp>
          <p:nvSpPr>
            <p:cNvPr id="35933" name="Rectangle 88"/>
            <p:cNvSpPr>
              <a:spLocks noChangeArrowheads="1"/>
            </p:cNvSpPr>
            <p:nvPr/>
          </p:nvSpPr>
          <p:spPr bwMode="auto">
            <a:xfrm>
              <a:off x="4560" y="960"/>
              <a:ext cx="110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Play Tennis</a:t>
              </a:r>
              <a:endParaRPr lang="en-US" altLang="en-US" sz="1800"/>
            </a:p>
          </p:txBody>
        </p:sp>
        <p:sp>
          <p:nvSpPr>
            <p:cNvPr id="35934" name="Rectangle 89"/>
            <p:cNvSpPr>
              <a:spLocks noChangeArrowheads="1"/>
            </p:cNvSpPr>
            <p:nvPr/>
          </p:nvSpPr>
          <p:spPr bwMode="auto">
            <a:xfrm>
              <a:off x="3840" y="960"/>
              <a:ext cx="72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Wind</a:t>
              </a:r>
              <a:endParaRPr lang="en-US" altLang="en-US" sz="1800"/>
            </a:p>
          </p:txBody>
        </p:sp>
        <p:sp>
          <p:nvSpPr>
            <p:cNvPr id="35935" name="Rectangle 90"/>
            <p:cNvSpPr>
              <a:spLocks noChangeArrowheads="1"/>
            </p:cNvSpPr>
            <p:nvPr/>
          </p:nvSpPr>
          <p:spPr bwMode="auto">
            <a:xfrm>
              <a:off x="3072" y="960"/>
              <a:ext cx="7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Humidity</a:t>
              </a:r>
              <a:endParaRPr lang="en-US" altLang="en-US" sz="1800"/>
            </a:p>
          </p:txBody>
        </p:sp>
        <p:sp>
          <p:nvSpPr>
            <p:cNvPr id="35936" name="Rectangle 91"/>
            <p:cNvSpPr>
              <a:spLocks noChangeArrowheads="1"/>
            </p:cNvSpPr>
            <p:nvPr/>
          </p:nvSpPr>
          <p:spPr bwMode="auto">
            <a:xfrm>
              <a:off x="2336" y="960"/>
              <a:ext cx="73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Temp.</a:t>
              </a:r>
              <a:endParaRPr lang="en-US" altLang="en-US" sz="1800"/>
            </a:p>
          </p:txBody>
        </p:sp>
        <p:sp>
          <p:nvSpPr>
            <p:cNvPr id="35937" name="Rectangle 92"/>
            <p:cNvSpPr>
              <a:spLocks noChangeArrowheads="1"/>
            </p:cNvSpPr>
            <p:nvPr/>
          </p:nvSpPr>
          <p:spPr bwMode="auto">
            <a:xfrm>
              <a:off x="912" y="960"/>
              <a:ext cx="142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Outlook</a:t>
              </a:r>
              <a:endParaRPr lang="en-US" altLang="en-US" sz="1800"/>
            </a:p>
          </p:txBody>
        </p:sp>
        <p:sp>
          <p:nvSpPr>
            <p:cNvPr id="35938" name="Rectangle 93"/>
            <p:cNvSpPr>
              <a:spLocks noChangeArrowheads="1"/>
            </p:cNvSpPr>
            <p:nvPr/>
          </p:nvSpPr>
          <p:spPr bwMode="auto">
            <a:xfrm>
              <a:off x="432" y="960"/>
              <a:ext cx="48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None/>
              </a:pPr>
              <a:r>
                <a:rPr lang="sv-SE" altLang="en-US" sz="1800"/>
                <a:t>Day</a:t>
              </a:r>
              <a:endParaRPr lang="en-US" altLang="en-US" sz="1800"/>
            </a:p>
          </p:txBody>
        </p:sp>
        <p:sp>
          <p:nvSpPr>
            <p:cNvPr id="35939" name="Line 94"/>
            <p:cNvSpPr>
              <a:spLocks noChangeShapeType="1"/>
            </p:cNvSpPr>
            <p:nvPr/>
          </p:nvSpPr>
          <p:spPr bwMode="auto">
            <a:xfrm>
              <a:off x="432" y="960"/>
              <a:ext cx="523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0" name="Line 95"/>
            <p:cNvSpPr>
              <a:spLocks noChangeShapeType="1"/>
            </p:cNvSpPr>
            <p:nvPr/>
          </p:nvSpPr>
          <p:spPr bwMode="auto">
            <a:xfrm>
              <a:off x="432" y="1184"/>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1" name="Line 96"/>
            <p:cNvSpPr>
              <a:spLocks noChangeShapeType="1"/>
            </p:cNvSpPr>
            <p:nvPr/>
          </p:nvSpPr>
          <p:spPr bwMode="auto">
            <a:xfrm>
              <a:off x="432" y="1395"/>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2" name="Line 97"/>
            <p:cNvSpPr>
              <a:spLocks noChangeShapeType="1"/>
            </p:cNvSpPr>
            <p:nvPr/>
          </p:nvSpPr>
          <p:spPr bwMode="auto">
            <a:xfrm>
              <a:off x="432" y="1606"/>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3" name="Line 98"/>
            <p:cNvSpPr>
              <a:spLocks noChangeShapeType="1"/>
            </p:cNvSpPr>
            <p:nvPr/>
          </p:nvSpPr>
          <p:spPr bwMode="auto">
            <a:xfrm>
              <a:off x="432" y="1817"/>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4" name="Line 99"/>
            <p:cNvSpPr>
              <a:spLocks noChangeShapeType="1"/>
            </p:cNvSpPr>
            <p:nvPr/>
          </p:nvSpPr>
          <p:spPr bwMode="auto">
            <a:xfrm>
              <a:off x="432" y="2028"/>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5" name="Line 100"/>
            <p:cNvSpPr>
              <a:spLocks noChangeShapeType="1"/>
            </p:cNvSpPr>
            <p:nvPr/>
          </p:nvSpPr>
          <p:spPr bwMode="auto">
            <a:xfrm>
              <a:off x="432" y="2239"/>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6" name="Line 101"/>
            <p:cNvSpPr>
              <a:spLocks noChangeShapeType="1"/>
            </p:cNvSpPr>
            <p:nvPr/>
          </p:nvSpPr>
          <p:spPr bwMode="auto">
            <a:xfrm>
              <a:off x="432" y="2450"/>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7" name="Line 102"/>
            <p:cNvSpPr>
              <a:spLocks noChangeShapeType="1"/>
            </p:cNvSpPr>
            <p:nvPr/>
          </p:nvSpPr>
          <p:spPr bwMode="auto">
            <a:xfrm>
              <a:off x="432" y="2661"/>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8" name="Line 103"/>
            <p:cNvSpPr>
              <a:spLocks noChangeShapeType="1"/>
            </p:cNvSpPr>
            <p:nvPr/>
          </p:nvSpPr>
          <p:spPr bwMode="auto">
            <a:xfrm>
              <a:off x="432" y="2872"/>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49" name="Line 104"/>
            <p:cNvSpPr>
              <a:spLocks noChangeShapeType="1"/>
            </p:cNvSpPr>
            <p:nvPr/>
          </p:nvSpPr>
          <p:spPr bwMode="auto">
            <a:xfrm>
              <a:off x="432" y="3083"/>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0" name="Line 105"/>
            <p:cNvSpPr>
              <a:spLocks noChangeShapeType="1"/>
            </p:cNvSpPr>
            <p:nvPr/>
          </p:nvSpPr>
          <p:spPr bwMode="auto">
            <a:xfrm>
              <a:off x="432" y="3294"/>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1" name="Line 106"/>
            <p:cNvSpPr>
              <a:spLocks noChangeShapeType="1"/>
            </p:cNvSpPr>
            <p:nvPr/>
          </p:nvSpPr>
          <p:spPr bwMode="auto">
            <a:xfrm>
              <a:off x="432" y="3505"/>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2" name="Line 107"/>
            <p:cNvSpPr>
              <a:spLocks noChangeShapeType="1"/>
            </p:cNvSpPr>
            <p:nvPr/>
          </p:nvSpPr>
          <p:spPr bwMode="auto">
            <a:xfrm>
              <a:off x="432" y="3716"/>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3" name="Line 108"/>
            <p:cNvSpPr>
              <a:spLocks noChangeShapeType="1"/>
            </p:cNvSpPr>
            <p:nvPr/>
          </p:nvSpPr>
          <p:spPr bwMode="auto">
            <a:xfrm>
              <a:off x="432" y="3927"/>
              <a:ext cx="523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4" name="Line 109"/>
            <p:cNvSpPr>
              <a:spLocks noChangeShapeType="1"/>
            </p:cNvSpPr>
            <p:nvPr/>
          </p:nvSpPr>
          <p:spPr bwMode="auto">
            <a:xfrm>
              <a:off x="432" y="4138"/>
              <a:ext cx="523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5" name="Line 110"/>
            <p:cNvSpPr>
              <a:spLocks noChangeShapeType="1"/>
            </p:cNvSpPr>
            <p:nvPr/>
          </p:nvSpPr>
          <p:spPr bwMode="auto">
            <a:xfrm>
              <a:off x="432" y="960"/>
              <a:ext cx="0" cy="317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6" name="Line 111"/>
            <p:cNvSpPr>
              <a:spLocks noChangeShapeType="1"/>
            </p:cNvSpPr>
            <p:nvPr/>
          </p:nvSpPr>
          <p:spPr bwMode="auto">
            <a:xfrm>
              <a:off x="912"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7" name="Line 112"/>
            <p:cNvSpPr>
              <a:spLocks noChangeShapeType="1"/>
            </p:cNvSpPr>
            <p:nvPr/>
          </p:nvSpPr>
          <p:spPr bwMode="auto">
            <a:xfrm>
              <a:off x="2336"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8" name="Line 113"/>
            <p:cNvSpPr>
              <a:spLocks noChangeShapeType="1"/>
            </p:cNvSpPr>
            <p:nvPr/>
          </p:nvSpPr>
          <p:spPr bwMode="auto">
            <a:xfrm>
              <a:off x="3072"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59" name="Line 114"/>
            <p:cNvSpPr>
              <a:spLocks noChangeShapeType="1"/>
            </p:cNvSpPr>
            <p:nvPr/>
          </p:nvSpPr>
          <p:spPr bwMode="auto">
            <a:xfrm>
              <a:off x="3840"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60" name="Line 115"/>
            <p:cNvSpPr>
              <a:spLocks noChangeShapeType="1"/>
            </p:cNvSpPr>
            <p:nvPr/>
          </p:nvSpPr>
          <p:spPr bwMode="auto">
            <a:xfrm>
              <a:off x="4560" y="960"/>
              <a:ext cx="0" cy="317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961" name="Line 116"/>
            <p:cNvSpPr>
              <a:spLocks noChangeShapeType="1"/>
            </p:cNvSpPr>
            <p:nvPr/>
          </p:nvSpPr>
          <p:spPr bwMode="auto">
            <a:xfrm>
              <a:off x="5664" y="960"/>
              <a:ext cx="0" cy="317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35846" name="Rectangle 117"/>
          <p:cNvSpPr>
            <a:spLocks noChangeArrowheads="1"/>
          </p:cNvSpPr>
          <p:nvPr/>
        </p:nvSpPr>
        <p:spPr bwMode="auto">
          <a:xfrm>
            <a:off x="1981200" y="2514600"/>
            <a:ext cx="8610600" cy="1676400"/>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847" name="Rectangle 118"/>
          <p:cNvSpPr>
            <a:spLocks noChangeArrowheads="1"/>
          </p:cNvSpPr>
          <p:nvPr/>
        </p:nvSpPr>
        <p:spPr bwMode="auto">
          <a:xfrm>
            <a:off x="1981200" y="5562600"/>
            <a:ext cx="8610600" cy="990600"/>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848" name="Rectangle 119"/>
          <p:cNvSpPr>
            <a:spLocks noChangeArrowheads="1"/>
          </p:cNvSpPr>
          <p:nvPr/>
        </p:nvSpPr>
        <p:spPr bwMode="auto">
          <a:xfrm>
            <a:off x="1981200" y="4876800"/>
            <a:ext cx="8610600" cy="381000"/>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sv-SE" altLang="en-US" smtClean="0"/>
              <a:t>ID3 Algorithm</a:t>
            </a:r>
          </a:p>
        </p:txBody>
      </p:sp>
      <p:sp>
        <p:nvSpPr>
          <p:cNvPr id="18" name="Footer Placeholder 3"/>
          <p:cNvSpPr>
            <a:spLocks noGrp="1"/>
          </p:cNvSpPr>
          <p:nvPr>
            <p:ph type="ftr" sz="quarter" idx="11"/>
          </p:nvPr>
        </p:nvSpPr>
        <p:spPr/>
        <p:txBody>
          <a:bodyPr/>
          <a:lstStyle/>
          <a:p>
            <a:pPr>
              <a:defRPr/>
            </a:pPr>
            <a:r>
              <a:rPr lang="en-US">
                <a:latin typeface="+mn-lt"/>
              </a:rPr>
              <a:t>Decision Tree Learning</a:t>
            </a:r>
          </a:p>
        </p:txBody>
      </p:sp>
      <p:sp>
        <p:nvSpPr>
          <p:cNvPr id="19"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891AB84-68FF-4680-BD82-C0E3CF801B33}" type="slidenum">
              <a:rPr lang="en-US" altLang="en-US" sz="1200">
                <a:solidFill>
                  <a:srgbClr val="898989"/>
                </a:solidFill>
                <a:latin typeface="+mn-lt"/>
              </a:rPr>
              <a:pPr eaLnBrk="1" hangingPunct="1"/>
              <a:t>45</a:t>
            </a:fld>
            <a:endParaRPr lang="en-US" altLang="en-US" sz="1200">
              <a:solidFill>
                <a:srgbClr val="898989"/>
              </a:solidFill>
              <a:latin typeface="+mn-lt"/>
            </a:endParaRPr>
          </a:p>
        </p:txBody>
      </p:sp>
      <p:sp>
        <p:nvSpPr>
          <p:cNvPr id="36869" name="Line 3"/>
          <p:cNvSpPr>
            <a:spLocks noChangeShapeType="1"/>
          </p:cNvSpPr>
          <p:nvPr/>
        </p:nvSpPr>
        <p:spPr bwMode="auto">
          <a:xfrm flipH="1">
            <a:off x="3567113" y="1795463"/>
            <a:ext cx="2895600" cy="18288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6870" name="Line 4"/>
          <p:cNvSpPr>
            <a:spLocks noChangeShapeType="1"/>
          </p:cNvSpPr>
          <p:nvPr/>
        </p:nvSpPr>
        <p:spPr bwMode="auto">
          <a:xfrm>
            <a:off x="6767513" y="2100263"/>
            <a:ext cx="1905000" cy="16764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6871" name="Line 5"/>
          <p:cNvSpPr>
            <a:spLocks noChangeShapeType="1"/>
          </p:cNvSpPr>
          <p:nvPr/>
        </p:nvSpPr>
        <p:spPr bwMode="auto">
          <a:xfrm>
            <a:off x="6310313" y="2176463"/>
            <a:ext cx="0" cy="16002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6872" name="Text Box 6"/>
          <p:cNvSpPr txBox="1">
            <a:spLocks noChangeArrowheads="1"/>
          </p:cNvSpPr>
          <p:nvPr/>
        </p:nvSpPr>
        <p:spPr bwMode="auto">
          <a:xfrm>
            <a:off x="5700714" y="1643064"/>
            <a:ext cx="118654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Outlook</a:t>
            </a:r>
          </a:p>
        </p:txBody>
      </p:sp>
      <p:sp>
        <p:nvSpPr>
          <p:cNvPr id="36873" name="Text Box 7"/>
          <p:cNvSpPr txBox="1">
            <a:spLocks noChangeArrowheads="1"/>
          </p:cNvSpPr>
          <p:nvPr/>
        </p:nvSpPr>
        <p:spPr bwMode="auto">
          <a:xfrm>
            <a:off x="4252914" y="2633664"/>
            <a:ext cx="945195"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36874" name="Text Box 8"/>
          <p:cNvSpPr txBox="1">
            <a:spLocks noChangeArrowheads="1"/>
          </p:cNvSpPr>
          <p:nvPr/>
        </p:nvSpPr>
        <p:spPr bwMode="auto">
          <a:xfrm>
            <a:off x="5624513" y="2633664"/>
            <a:ext cx="1275606"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Overcast</a:t>
            </a:r>
          </a:p>
        </p:txBody>
      </p:sp>
      <p:sp>
        <p:nvSpPr>
          <p:cNvPr id="36875" name="Text Box 9"/>
          <p:cNvSpPr txBox="1">
            <a:spLocks noChangeArrowheads="1"/>
          </p:cNvSpPr>
          <p:nvPr/>
        </p:nvSpPr>
        <p:spPr bwMode="auto">
          <a:xfrm>
            <a:off x="7377113" y="2633664"/>
            <a:ext cx="73129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36876" name="Text Box 10"/>
          <p:cNvSpPr txBox="1">
            <a:spLocks noChangeArrowheads="1"/>
          </p:cNvSpPr>
          <p:nvPr/>
        </p:nvSpPr>
        <p:spPr bwMode="auto">
          <a:xfrm>
            <a:off x="5943600" y="4462464"/>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36877" name="Text Box 11"/>
          <p:cNvSpPr txBox="1">
            <a:spLocks noChangeArrowheads="1"/>
          </p:cNvSpPr>
          <p:nvPr/>
        </p:nvSpPr>
        <p:spPr bwMode="auto">
          <a:xfrm>
            <a:off x="3124201" y="1600201"/>
            <a:ext cx="20072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[D1,D2,…,D14]</a:t>
            </a:r>
          </a:p>
          <a:p>
            <a:pPr eaLnBrk="1" hangingPunct="1"/>
            <a:r>
              <a:rPr lang="sv-SE" altLang="en-US" dirty="0">
                <a:latin typeface="+mn-lt"/>
              </a:rPr>
              <a:t>    [9+,5-]</a:t>
            </a:r>
            <a:endParaRPr lang="en-US" altLang="en-US" dirty="0">
              <a:latin typeface="+mn-lt"/>
            </a:endParaRPr>
          </a:p>
        </p:txBody>
      </p:sp>
      <p:sp>
        <p:nvSpPr>
          <p:cNvPr id="36878" name="Text Box 12"/>
          <p:cNvSpPr txBox="1">
            <a:spLocks noChangeArrowheads="1"/>
          </p:cNvSpPr>
          <p:nvPr/>
        </p:nvSpPr>
        <p:spPr bwMode="auto">
          <a:xfrm>
            <a:off x="1524000" y="3624264"/>
            <a:ext cx="33468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S</a:t>
            </a:r>
            <a:r>
              <a:rPr lang="sv-SE" altLang="en-US" baseline="-25000">
                <a:latin typeface="+mn-lt"/>
              </a:rPr>
              <a:t>sunny</a:t>
            </a:r>
            <a:r>
              <a:rPr lang="sv-SE" altLang="en-US">
                <a:latin typeface="+mn-lt"/>
              </a:rPr>
              <a:t>=[D1,D2,D8,D9,D11]</a:t>
            </a:r>
          </a:p>
          <a:p>
            <a:pPr eaLnBrk="1" hangingPunct="1"/>
            <a:r>
              <a:rPr lang="sv-SE" altLang="en-US">
                <a:latin typeface="+mn-lt"/>
              </a:rPr>
              <a:t>            [2+,3-]</a:t>
            </a:r>
            <a:endParaRPr lang="en-US" altLang="en-US">
              <a:latin typeface="+mn-lt"/>
            </a:endParaRPr>
          </a:p>
        </p:txBody>
      </p:sp>
      <p:sp>
        <p:nvSpPr>
          <p:cNvPr id="36879" name="Text Box 13"/>
          <p:cNvSpPr txBox="1">
            <a:spLocks noChangeArrowheads="1"/>
          </p:cNvSpPr>
          <p:nvPr/>
        </p:nvSpPr>
        <p:spPr bwMode="auto">
          <a:xfrm>
            <a:off x="3033714" y="4538664"/>
            <a:ext cx="809837"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   ?    </a:t>
            </a:r>
            <a:endParaRPr lang="en-US" altLang="en-US">
              <a:latin typeface="+mn-lt"/>
            </a:endParaRPr>
          </a:p>
        </p:txBody>
      </p:sp>
      <p:sp>
        <p:nvSpPr>
          <p:cNvPr id="36880" name="Text Box 14"/>
          <p:cNvSpPr txBox="1">
            <a:spLocks noChangeArrowheads="1"/>
          </p:cNvSpPr>
          <p:nvPr/>
        </p:nvSpPr>
        <p:spPr bwMode="auto">
          <a:xfrm>
            <a:off x="8443914" y="4538664"/>
            <a:ext cx="809837"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   ?    </a:t>
            </a:r>
            <a:endParaRPr lang="en-US" altLang="en-US">
              <a:latin typeface="+mn-lt"/>
            </a:endParaRPr>
          </a:p>
        </p:txBody>
      </p:sp>
      <p:sp>
        <p:nvSpPr>
          <p:cNvPr id="36881" name="Text Box 15"/>
          <p:cNvSpPr txBox="1">
            <a:spLocks noChangeArrowheads="1"/>
          </p:cNvSpPr>
          <p:nvPr/>
        </p:nvSpPr>
        <p:spPr bwMode="auto">
          <a:xfrm>
            <a:off x="5257800" y="3624264"/>
            <a:ext cx="22942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[D3,D7,D12,D13]</a:t>
            </a:r>
          </a:p>
          <a:p>
            <a:pPr eaLnBrk="1" hangingPunct="1"/>
            <a:r>
              <a:rPr lang="sv-SE" altLang="en-US">
                <a:latin typeface="+mn-lt"/>
              </a:rPr>
              <a:t>    [4+,0-]</a:t>
            </a:r>
            <a:endParaRPr lang="en-US" altLang="en-US">
              <a:latin typeface="+mn-lt"/>
            </a:endParaRPr>
          </a:p>
        </p:txBody>
      </p:sp>
      <p:sp>
        <p:nvSpPr>
          <p:cNvPr id="36882" name="Text Box 16"/>
          <p:cNvSpPr txBox="1">
            <a:spLocks noChangeArrowheads="1"/>
          </p:cNvSpPr>
          <p:nvPr/>
        </p:nvSpPr>
        <p:spPr bwMode="auto">
          <a:xfrm>
            <a:off x="7681913" y="3624264"/>
            <a:ext cx="27158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a:latin typeface="+mn-lt"/>
              </a:rPr>
              <a:t>[D4,D5,D6,D10,D14]</a:t>
            </a:r>
          </a:p>
          <a:p>
            <a:pPr eaLnBrk="1" hangingPunct="1"/>
            <a:r>
              <a:rPr lang="sv-SE" altLang="en-US">
                <a:latin typeface="+mn-lt"/>
              </a:rPr>
              <a:t>    [3+,2-]</a:t>
            </a:r>
            <a:endParaRPr lang="en-US" altLang="en-US">
              <a:latin typeface="+mn-lt"/>
            </a:endParaRPr>
          </a:p>
        </p:txBody>
      </p:sp>
      <p:sp>
        <p:nvSpPr>
          <p:cNvPr id="36883" name="Text Box 17"/>
          <p:cNvSpPr txBox="1">
            <a:spLocks noChangeArrowheads="1"/>
          </p:cNvSpPr>
          <p:nvPr/>
        </p:nvSpPr>
        <p:spPr bwMode="auto">
          <a:xfrm>
            <a:off x="1524000" y="5105401"/>
            <a:ext cx="8915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n-lt"/>
              </a:rPr>
              <a:t>Gain(S</a:t>
            </a:r>
            <a:r>
              <a:rPr lang="sv-SE" altLang="en-US" baseline="-25000" dirty="0">
                <a:latin typeface="+mn-lt"/>
              </a:rPr>
              <a:t>sunny</a:t>
            </a:r>
            <a:r>
              <a:rPr lang="sv-SE" altLang="en-US" dirty="0">
                <a:latin typeface="+mn-lt"/>
              </a:rPr>
              <a:t> , Humidity)=0.970-(3/5)0.0 – 2/5(0.0) = 0.970</a:t>
            </a:r>
          </a:p>
          <a:p>
            <a:pPr eaLnBrk="1" hangingPunct="1"/>
            <a:r>
              <a:rPr lang="sv-SE" altLang="en-US" dirty="0">
                <a:latin typeface="+mn-lt"/>
              </a:rPr>
              <a:t>Gain(S</a:t>
            </a:r>
            <a:r>
              <a:rPr lang="sv-SE" altLang="en-US" baseline="-25000" dirty="0">
                <a:latin typeface="+mn-lt"/>
              </a:rPr>
              <a:t>sunny</a:t>
            </a:r>
            <a:r>
              <a:rPr lang="sv-SE" altLang="en-US" dirty="0">
                <a:latin typeface="+mn-lt"/>
              </a:rPr>
              <a:t> , Temp.)=0.970-(2/5)0.0 –2/5(1.0)-(1/5)0.0 = 0.570</a:t>
            </a:r>
          </a:p>
          <a:p>
            <a:pPr eaLnBrk="1" hangingPunct="1"/>
            <a:r>
              <a:rPr lang="sv-SE" altLang="en-US" dirty="0">
                <a:latin typeface="+mn-lt"/>
              </a:rPr>
              <a:t>Gain(S</a:t>
            </a:r>
            <a:r>
              <a:rPr lang="sv-SE" altLang="en-US" baseline="-25000" dirty="0">
                <a:latin typeface="+mn-lt"/>
              </a:rPr>
              <a:t>sunny</a:t>
            </a:r>
            <a:r>
              <a:rPr lang="sv-SE" altLang="en-US" dirty="0">
                <a:latin typeface="+mn-lt"/>
              </a:rPr>
              <a:t> , Wind)=0.970= -(2/5)1.0 – 3/5(0.918) = 0.019</a:t>
            </a:r>
            <a:endParaRPr lang="en-US" altLang="en-US" dirty="0">
              <a:latin typeface="+mn-lt"/>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title"/>
          </p:nvPr>
        </p:nvSpPr>
        <p:spPr/>
        <p:txBody>
          <a:bodyPr/>
          <a:lstStyle/>
          <a:p>
            <a:pPr eaLnBrk="1" hangingPunct="1"/>
            <a:r>
              <a:rPr lang="sv-SE" altLang="en-US" smtClean="0"/>
              <a:t>ID3 Algorithm</a:t>
            </a:r>
            <a:endParaRPr lang="en-US" altLang="en-US" smtClean="0"/>
          </a:p>
        </p:txBody>
      </p:sp>
      <p:sp>
        <p:nvSpPr>
          <p:cNvPr id="30" name="Footer Placeholder 3"/>
          <p:cNvSpPr>
            <a:spLocks noGrp="1"/>
          </p:cNvSpPr>
          <p:nvPr>
            <p:ph type="ftr" sz="quarter" idx="11"/>
          </p:nvPr>
        </p:nvSpPr>
        <p:spPr/>
        <p:txBody>
          <a:bodyPr/>
          <a:lstStyle/>
          <a:p>
            <a:pPr>
              <a:defRPr/>
            </a:pPr>
            <a:r>
              <a:rPr lang="en-US">
                <a:latin typeface="+mn-lt"/>
              </a:rPr>
              <a:t>Decision Tree Learning</a:t>
            </a:r>
          </a:p>
        </p:txBody>
      </p:sp>
      <p:sp>
        <p:nvSpPr>
          <p:cNvPr id="31" name="Slide Number Placeholder 4"/>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A21FF8A-8CB2-4F93-B7BD-E8D090C49B5D}" type="slidenum">
              <a:rPr lang="en-US" altLang="en-US" sz="1200">
                <a:solidFill>
                  <a:srgbClr val="898989"/>
                </a:solidFill>
                <a:latin typeface="+mn-lt"/>
              </a:rPr>
              <a:pPr eaLnBrk="1" hangingPunct="1"/>
              <a:t>46</a:t>
            </a:fld>
            <a:endParaRPr lang="en-US" altLang="en-US" sz="1200">
              <a:solidFill>
                <a:srgbClr val="898989"/>
              </a:solidFill>
              <a:latin typeface="+mn-lt"/>
            </a:endParaRPr>
          </a:p>
        </p:txBody>
      </p:sp>
      <p:sp>
        <p:nvSpPr>
          <p:cNvPr id="37893" name="Line 2"/>
          <p:cNvSpPr>
            <a:spLocks noChangeShapeType="1"/>
          </p:cNvSpPr>
          <p:nvPr/>
        </p:nvSpPr>
        <p:spPr bwMode="auto">
          <a:xfrm flipH="1">
            <a:off x="3557588" y="2268538"/>
            <a:ext cx="2233612" cy="116046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894" name="Line 3"/>
          <p:cNvSpPr>
            <a:spLocks noChangeShapeType="1"/>
          </p:cNvSpPr>
          <p:nvPr/>
        </p:nvSpPr>
        <p:spPr bwMode="auto">
          <a:xfrm>
            <a:off x="6738938" y="2268538"/>
            <a:ext cx="1643062" cy="116046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895" name="Line 4"/>
          <p:cNvSpPr>
            <a:spLocks noChangeShapeType="1"/>
          </p:cNvSpPr>
          <p:nvPr/>
        </p:nvSpPr>
        <p:spPr bwMode="auto">
          <a:xfrm flipH="1">
            <a:off x="2182814" y="4332288"/>
            <a:ext cx="788987" cy="10017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896" name="Line 5"/>
          <p:cNvSpPr>
            <a:spLocks noChangeShapeType="1"/>
          </p:cNvSpPr>
          <p:nvPr/>
        </p:nvSpPr>
        <p:spPr bwMode="auto">
          <a:xfrm>
            <a:off x="3424238" y="4332288"/>
            <a:ext cx="919162" cy="10017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897" name="Line 6"/>
          <p:cNvSpPr>
            <a:spLocks noChangeShapeType="1"/>
          </p:cNvSpPr>
          <p:nvPr/>
        </p:nvSpPr>
        <p:spPr bwMode="auto">
          <a:xfrm>
            <a:off x="8670926" y="4332288"/>
            <a:ext cx="854075" cy="10017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898" name="Line 7"/>
          <p:cNvSpPr>
            <a:spLocks noChangeShapeType="1"/>
          </p:cNvSpPr>
          <p:nvPr/>
        </p:nvSpPr>
        <p:spPr bwMode="auto">
          <a:xfrm flipH="1">
            <a:off x="7593014" y="4332288"/>
            <a:ext cx="788987" cy="10017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899" name="Line 8"/>
          <p:cNvSpPr>
            <a:spLocks noChangeShapeType="1"/>
          </p:cNvSpPr>
          <p:nvPr/>
        </p:nvSpPr>
        <p:spPr bwMode="auto">
          <a:xfrm>
            <a:off x="6019800" y="2320926"/>
            <a:ext cx="1588" cy="1108075"/>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37900" name="Text Box 10"/>
          <p:cNvSpPr txBox="1">
            <a:spLocks noChangeArrowheads="1"/>
          </p:cNvSpPr>
          <p:nvPr/>
        </p:nvSpPr>
        <p:spPr bwMode="auto">
          <a:xfrm>
            <a:off x="5486401" y="1600201"/>
            <a:ext cx="1186543"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Outlook</a:t>
            </a:r>
          </a:p>
        </p:txBody>
      </p:sp>
      <p:sp>
        <p:nvSpPr>
          <p:cNvPr id="37901" name="Text Box 11"/>
          <p:cNvSpPr txBox="1">
            <a:spLocks noChangeArrowheads="1"/>
          </p:cNvSpPr>
          <p:nvPr/>
        </p:nvSpPr>
        <p:spPr bwMode="auto">
          <a:xfrm>
            <a:off x="3962401" y="2590801"/>
            <a:ext cx="945195"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Sunny</a:t>
            </a:r>
          </a:p>
        </p:txBody>
      </p:sp>
      <p:sp>
        <p:nvSpPr>
          <p:cNvPr id="37902" name="Text Box 12"/>
          <p:cNvSpPr txBox="1">
            <a:spLocks noChangeArrowheads="1"/>
          </p:cNvSpPr>
          <p:nvPr/>
        </p:nvSpPr>
        <p:spPr bwMode="auto">
          <a:xfrm>
            <a:off x="5562600" y="2590801"/>
            <a:ext cx="1275606"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37903" name="Text Box 13"/>
          <p:cNvSpPr txBox="1">
            <a:spLocks noChangeArrowheads="1"/>
          </p:cNvSpPr>
          <p:nvPr/>
        </p:nvSpPr>
        <p:spPr bwMode="auto">
          <a:xfrm>
            <a:off x="7391400" y="2590801"/>
            <a:ext cx="73129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37904" name="Text Box 14"/>
          <p:cNvSpPr txBox="1">
            <a:spLocks noChangeArrowheads="1"/>
          </p:cNvSpPr>
          <p:nvPr/>
        </p:nvSpPr>
        <p:spPr bwMode="auto">
          <a:xfrm>
            <a:off x="2633663" y="3581401"/>
            <a:ext cx="1329210"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Humidity</a:t>
            </a:r>
          </a:p>
        </p:txBody>
      </p:sp>
      <p:sp>
        <p:nvSpPr>
          <p:cNvPr id="37905" name="Text Box 15"/>
          <p:cNvSpPr txBox="1">
            <a:spLocks noChangeArrowheads="1"/>
          </p:cNvSpPr>
          <p:nvPr/>
        </p:nvSpPr>
        <p:spPr bwMode="auto">
          <a:xfrm>
            <a:off x="2020888" y="4648201"/>
            <a:ext cx="753732"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High</a:t>
            </a:r>
          </a:p>
        </p:txBody>
      </p:sp>
      <p:sp>
        <p:nvSpPr>
          <p:cNvPr id="37906" name="Text Box 16"/>
          <p:cNvSpPr txBox="1">
            <a:spLocks noChangeArrowheads="1"/>
          </p:cNvSpPr>
          <p:nvPr/>
        </p:nvSpPr>
        <p:spPr bwMode="auto">
          <a:xfrm>
            <a:off x="3592514" y="4648201"/>
            <a:ext cx="1116011"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Normal</a:t>
            </a:r>
          </a:p>
        </p:txBody>
      </p:sp>
      <p:sp>
        <p:nvSpPr>
          <p:cNvPr id="37907" name="Text Box 17"/>
          <p:cNvSpPr txBox="1">
            <a:spLocks noChangeArrowheads="1"/>
          </p:cNvSpPr>
          <p:nvPr/>
        </p:nvSpPr>
        <p:spPr bwMode="auto">
          <a:xfrm>
            <a:off x="8050214" y="3581401"/>
            <a:ext cx="853119" cy="461665"/>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Wind</a:t>
            </a:r>
          </a:p>
        </p:txBody>
      </p:sp>
      <p:sp>
        <p:nvSpPr>
          <p:cNvPr id="37908" name="Text Box 18"/>
          <p:cNvSpPr txBox="1">
            <a:spLocks noChangeArrowheads="1"/>
          </p:cNvSpPr>
          <p:nvPr/>
        </p:nvSpPr>
        <p:spPr bwMode="auto">
          <a:xfrm>
            <a:off x="7391401" y="4648201"/>
            <a:ext cx="998863"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37909" name="Text Box 19"/>
          <p:cNvSpPr txBox="1">
            <a:spLocks noChangeArrowheads="1"/>
          </p:cNvSpPr>
          <p:nvPr/>
        </p:nvSpPr>
        <p:spPr bwMode="auto">
          <a:xfrm>
            <a:off x="8896350" y="4648201"/>
            <a:ext cx="888320" cy="461665"/>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37910" name="Text Box 20"/>
          <p:cNvSpPr txBox="1">
            <a:spLocks noChangeArrowheads="1"/>
          </p:cNvSpPr>
          <p:nvPr/>
        </p:nvSpPr>
        <p:spPr bwMode="auto">
          <a:xfrm>
            <a:off x="1833563" y="5486401"/>
            <a:ext cx="5453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37911" name="Text Box 21"/>
          <p:cNvSpPr txBox="1">
            <a:spLocks noChangeArrowheads="1"/>
          </p:cNvSpPr>
          <p:nvPr/>
        </p:nvSpPr>
        <p:spPr bwMode="auto">
          <a:xfrm>
            <a:off x="4133850" y="54864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37912" name="Text Box 22"/>
          <p:cNvSpPr txBox="1">
            <a:spLocks noChangeArrowheads="1"/>
          </p:cNvSpPr>
          <p:nvPr/>
        </p:nvSpPr>
        <p:spPr bwMode="auto">
          <a:xfrm>
            <a:off x="5810250" y="35814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37913" name="Text Box 23"/>
          <p:cNvSpPr txBox="1">
            <a:spLocks noChangeArrowheads="1"/>
          </p:cNvSpPr>
          <p:nvPr/>
        </p:nvSpPr>
        <p:spPr bwMode="auto">
          <a:xfrm>
            <a:off x="9391650" y="5486401"/>
            <a:ext cx="587340"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37914" name="Text Box 24"/>
          <p:cNvSpPr txBox="1">
            <a:spLocks noChangeArrowheads="1"/>
          </p:cNvSpPr>
          <p:nvPr/>
        </p:nvSpPr>
        <p:spPr bwMode="auto">
          <a:xfrm>
            <a:off x="7243763" y="5486401"/>
            <a:ext cx="545342" cy="461665"/>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37915" name="Rectangle 25"/>
          <p:cNvSpPr>
            <a:spLocks noChangeArrowheads="1"/>
          </p:cNvSpPr>
          <p:nvPr/>
        </p:nvSpPr>
        <p:spPr bwMode="auto">
          <a:xfrm>
            <a:off x="4953000" y="4027488"/>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[D3,D7,D12,D13]</a:t>
            </a:r>
            <a:endParaRPr lang="en-US" altLang="en-US">
              <a:latin typeface="+mn-lt"/>
            </a:endParaRPr>
          </a:p>
        </p:txBody>
      </p:sp>
      <p:sp>
        <p:nvSpPr>
          <p:cNvPr id="37916" name="Rectangle 26"/>
          <p:cNvSpPr>
            <a:spLocks noChangeArrowheads="1"/>
          </p:cNvSpPr>
          <p:nvPr/>
        </p:nvSpPr>
        <p:spPr bwMode="auto">
          <a:xfrm>
            <a:off x="3709988" y="6161088"/>
            <a:ext cx="223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[D8,D9,D11]</a:t>
            </a:r>
            <a:endParaRPr lang="en-US" altLang="en-US">
              <a:latin typeface="+mn-lt"/>
            </a:endParaRPr>
          </a:p>
        </p:txBody>
      </p:sp>
      <p:sp>
        <p:nvSpPr>
          <p:cNvPr id="37917" name="Rectangle 27"/>
          <p:cNvSpPr>
            <a:spLocks noChangeArrowheads="1"/>
          </p:cNvSpPr>
          <p:nvPr/>
        </p:nvSpPr>
        <p:spPr bwMode="auto">
          <a:xfrm>
            <a:off x="6834188" y="6084888"/>
            <a:ext cx="223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[D6,D14]</a:t>
            </a:r>
            <a:endParaRPr lang="en-US" altLang="en-US">
              <a:latin typeface="+mn-lt"/>
            </a:endParaRPr>
          </a:p>
        </p:txBody>
      </p:sp>
      <p:sp>
        <p:nvSpPr>
          <p:cNvPr id="37918" name="Rectangle 28"/>
          <p:cNvSpPr>
            <a:spLocks noChangeArrowheads="1"/>
          </p:cNvSpPr>
          <p:nvPr/>
        </p:nvSpPr>
        <p:spPr bwMode="auto">
          <a:xfrm>
            <a:off x="1524001" y="6172200"/>
            <a:ext cx="139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[D1,D2]</a:t>
            </a:r>
            <a:endParaRPr lang="en-US" altLang="en-US">
              <a:latin typeface="+mn-lt"/>
            </a:endParaRPr>
          </a:p>
        </p:txBody>
      </p:sp>
      <p:sp>
        <p:nvSpPr>
          <p:cNvPr id="37919" name="Rectangle 29"/>
          <p:cNvSpPr>
            <a:spLocks noChangeArrowheads="1"/>
          </p:cNvSpPr>
          <p:nvPr/>
        </p:nvSpPr>
        <p:spPr bwMode="auto">
          <a:xfrm>
            <a:off x="8815388" y="6084888"/>
            <a:ext cx="223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sv-SE" altLang="en-US">
                <a:latin typeface="+mn-lt"/>
              </a:rPr>
              <a:t>[D4,D5,D10]</a:t>
            </a:r>
            <a:endParaRPr lang="en-US" altLang="en-US">
              <a:latin typeface="+mn-lt"/>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sv-SE" altLang="en-US" smtClean="0"/>
              <a:t>Occam’s Razor</a:t>
            </a:r>
          </a:p>
        </p:txBody>
      </p:sp>
      <p:sp>
        <p:nvSpPr>
          <p:cNvPr id="38915" name="Rectangle 3"/>
          <p:cNvSpPr>
            <a:spLocks noGrp="1" noChangeArrowheads="1"/>
          </p:cNvSpPr>
          <p:nvPr>
            <p:ph idx="1"/>
          </p:nvPr>
        </p:nvSpPr>
        <p:spPr>
          <a:xfrm>
            <a:off x="990600" y="1752600"/>
            <a:ext cx="10591800" cy="4876800"/>
          </a:xfrm>
        </p:spPr>
        <p:txBody>
          <a:bodyPr/>
          <a:lstStyle/>
          <a:p>
            <a:pPr eaLnBrk="1" hangingPunct="1">
              <a:buFont typeface="Wingdings" panose="05000000000000000000" pitchFamily="2" charset="2"/>
              <a:buNone/>
            </a:pPr>
            <a:r>
              <a:rPr lang="sv-SE" altLang="en-US" sz="2400" dirty="0"/>
              <a:t>Why prefer short hypotheses?</a:t>
            </a:r>
          </a:p>
          <a:p>
            <a:pPr eaLnBrk="1" hangingPunct="1">
              <a:buFont typeface="Wingdings" panose="05000000000000000000" pitchFamily="2" charset="2"/>
              <a:buNone/>
            </a:pPr>
            <a:r>
              <a:rPr lang="sv-SE" altLang="en-US" sz="2400" dirty="0"/>
              <a:t>Argument in favor: </a:t>
            </a:r>
          </a:p>
          <a:p>
            <a:pPr lvl="1" eaLnBrk="1" hangingPunct="1"/>
            <a:r>
              <a:rPr lang="sv-SE" altLang="en-US" sz="2400" dirty="0"/>
              <a:t>Fewer short hypotheses than long hypotheses</a:t>
            </a:r>
          </a:p>
          <a:p>
            <a:pPr lvl="1" eaLnBrk="1" hangingPunct="1"/>
            <a:r>
              <a:rPr lang="sv-SE" altLang="en-US" sz="2400" dirty="0"/>
              <a:t>A short hypothesis that fits the data is unlikely to be a coincidence</a:t>
            </a:r>
          </a:p>
          <a:p>
            <a:pPr lvl="1" eaLnBrk="1" hangingPunct="1"/>
            <a:r>
              <a:rPr lang="sv-SE" altLang="en-US" sz="2400" dirty="0"/>
              <a:t>A long hypothesis that fits the data might be a coincidence</a:t>
            </a:r>
          </a:p>
          <a:p>
            <a:pPr eaLnBrk="1" hangingPunct="1">
              <a:buFont typeface="Wingdings" panose="05000000000000000000" pitchFamily="2" charset="2"/>
              <a:buNone/>
            </a:pPr>
            <a:r>
              <a:rPr lang="sv-SE" altLang="en-US" sz="2400" dirty="0"/>
              <a:t>Argument opposed:</a:t>
            </a:r>
          </a:p>
          <a:p>
            <a:pPr lvl="1" eaLnBrk="1" hangingPunct="1"/>
            <a:r>
              <a:rPr lang="sv-SE" altLang="en-US" sz="2400" dirty="0"/>
              <a:t>There are many ways to define small sets of hypotheses</a:t>
            </a:r>
          </a:p>
          <a:p>
            <a:pPr lvl="1" eaLnBrk="1" hangingPunct="1"/>
            <a:r>
              <a:rPr lang="sv-SE" altLang="en-US" sz="2400" dirty="0"/>
              <a:t>E.g. All trees with a prime number of nodes that use attributes beginning with ”Z”</a:t>
            </a:r>
          </a:p>
          <a:p>
            <a:pPr lvl="1" eaLnBrk="1" hangingPunct="1"/>
            <a:r>
              <a:rPr lang="sv-SE" altLang="en-US" sz="2400" dirty="0"/>
              <a:t>What is so special about small sets based on </a:t>
            </a:r>
            <a:r>
              <a:rPr lang="sv-SE" altLang="en-US" sz="2400" i="1" dirty="0"/>
              <a:t>size</a:t>
            </a:r>
            <a:r>
              <a:rPr lang="sv-SE" altLang="en-US" sz="2400" dirty="0"/>
              <a:t> of hypothesis</a:t>
            </a:r>
            <a:endParaRPr lang="en-US" altLang="en-US" sz="2400" dirty="0"/>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D067B02-D26E-4045-94E7-F05F9590F0A2}" type="slidenum">
              <a:rPr lang="en-US" altLang="en-US" sz="1200">
                <a:solidFill>
                  <a:srgbClr val="898989"/>
                </a:solidFill>
              </a:rPr>
              <a:pPr eaLnBrk="1" hangingPunct="1"/>
              <a:t>47</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sv-SE" altLang="en-US" dirty="0" smtClean="0"/>
              <a:t>Overfitting</a:t>
            </a:r>
            <a:endParaRPr lang="en-US" altLang="en-US" dirty="0" smtClean="0"/>
          </a:p>
        </p:txBody>
      </p:sp>
      <p:sp>
        <p:nvSpPr>
          <p:cNvPr id="39939" name="Rectangle 3"/>
          <p:cNvSpPr>
            <a:spLocks noGrp="1" noChangeArrowheads="1"/>
          </p:cNvSpPr>
          <p:nvPr>
            <p:ph idx="1"/>
          </p:nvPr>
        </p:nvSpPr>
        <p:spPr>
          <a:xfrm>
            <a:off x="1066800" y="2017714"/>
            <a:ext cx="10058400" cy="4383087"/>
          </a:xfrm>
        </p:spPr>
        <p:txBody>
          <a:bodyPr/>
          <a:lstStyle/>
          <a:p>
            <a:pPr eaLnBrk="1" hangingPunct="1">
              <a:lnSpc>
                <a:spcPct val="90000"/>
              </a:lnSpc>
            </a:pPr>
            <a:r>
              <a:rPr lang="sv-SE" altLang="en-US" sz="2800" dirty="0"/>
              <a:t>One of the biggest problems with decision trees is </a:t>
            </a:r>
            <a:r>
              <a:rPr lang="sv-SE" altLang="en-US" sz="2800" b="1" dirty="0" smtClean="0"/>
              <a:t>Overfitting</a:t>
            </a:r>
          </a:p>
          <a:p>
            <a:r>
              <a:rPr lang="en-US" sz="2800" dirty="0"/>
              <a:t>It occurs when our machine learning model is not able to capture the underlying trend of the data. </a:t>
            </a:r>
          </a:p>
          <a:p>
            <a:endParaRPr lang="en-US" sz="2800" dirty="0"/>
          </a:p>
          <a:p>
            <a:r>
              <a:rPr lang="en-US" sz="2800" dirty="0"/>
              <a:t>To avoid the overfitting in the model, the feed for training data can be stopped at an early stage, due to which the model may not learn enough from the training data.</a:t>
            </a:r>
          </a:p>
          <a:p>
            <a:pPr eaLnBrk="1" hangingPunct="1">
              <a:lnSpc>
                <a:spcPct val="90000"/>
              </a:lnSpc>
            </a:pPr>
            <a:endParaRPr lang="sv-SE" altLang="en-US" sz="2800" b="1" dirty="0" smtClean="0"/>
          </a:p>
          <a:p>
            <a:pPr eaLnBrk="1" hangingPunct="1">
              <a:lnSpc>
                <a:spcPct val="90000"/>
              </a:lnSpc>
            </a:pPr>
            <a:endParaRPr lang="sv-SE" altLang="en-US" sz="2800" b="1" dirty="0"/>
          </a:p>
          <a:p>
            <a:pPr eaLnBrk="1" hangingPunct="1">
              <a:lnSpc>
                <a:spcPct val="90000"/>
              </a:lnSpc>
            </a:pPr>
            <a:endParaRPr lang="sv-SE" altLang="en-US" sz="2800" dirty="0"/>
          </a:p>
          <a:p>
            <a:pPr eaLnBrk="1" hangingPunct="1">
              <a:lnSpc>
                <a:spcPct val="90000"/>
              </a:lnSpc>
              <a:buFont typeface="Wingdings" panose="05000000000000000000" pitchFamily="2" charset="2"/>
              <a:buNone/>
            </a:pPr>
            <a:endParaRPr lang="sv-SE" altLang="en-US" sz="2800" dirty="0"/>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1C12DFC-7874-4B74-9ABF-673F4A9F98D8}" type="slidenum">
              <a:rPr lang="en-US" altLang="en-US" sz="1200">
                <a:solidFill>
                  <a:srgbClr val="898989"/>
                </a:solidFill>
              </a:rPr>
              <a:pPr eaLnBrk="1" hangingPunct="1"/>
              <a:t>48</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sv-SE" altLang="en-US" smtClean="0"/>
              <a:t>Avoid Overfitting</a:t>
            </a:r>
          </a:p>
        </p:txBody>
      </p:sp>
      <p:sp>
        <p:nvSpPr>
          <p:cNvPr id="40963" name="Rectangle 3"/>
          <p:cNvSpPr>
            <a:spLocks noGrp="1" noChangeArrowheads="1"/>
          </p:cNvSpPr>
          <p:nvPr>
            <p:ph idx="1"/>
          </p:nvPr>
        </p:nvSpPr>
        <p:spPr>
          <a:xfrm>
            <a:off x="990600" y="1600200"/>
            <a:ext cx="10058400" cy="4114800"/>
          </a:xfrm>
        </p:spPr>
        <p:txBody>
          <a:bodyPr/>
          <a:lstStyle/>
          <a:p>
            <a:pPr eaLnBrk="1" hangingPunct="1">
              <a:buFont typeface="Wingdings" panose="05000000000000000000" pitchFamily="2" charset="2"/>
              <a:buNone/>
            </a:pPr>
            <a:r>
              <a:rPr lang="sv-SE" altLang="en-US" sz="2400" dirty="0"/>
              <a:t>How can we avoid overfitting?</a:t>
            </a:r>
          </a:p>
          <a:p>
            <a:pPr eaLnBrk="1" hangingPunct="1"/>
            <a:r>
              <a:rPr lang="sv-SE" altLang="en-US" sz="2400" dirty="0"/>
              <a:t>Stop growing when data split not statistically significant</a:t>
            </a:r>
          </a:p>
          <a:p>
            <a:pPr eaLnBrk="1" hangingPunct="1"/>
            <a:r>
              <a:rPr lang="sv-SE" altLang="en-US" sz="2400" dirty="0"/>
              <a:t>Grow full tree then post-prune</a:t>
            </a:r>
          </a:p>
          <a:p>
            <a:pPr eaLnBrk="1" hangingPunct="1"/>
            <a:r>
              <a:rPr lang="sv-SE" altLang="en-US" sz="2400" dirty="0"/>
              <a:t>Minimum description length (MDL): 	</a:t>
            </a:r>
          </a:p>
          <a:p>
            <a:pPr lvl="2" eaLnBrk="1" hangingPunct="1">
              <a:buFont typeface="Wingdings" panose="05000000000000000000" pitchFamily="2" charset="2"/>
              <a:buNone/>
            </a:pPr>
            <a:r>
              <a:rPr lang="sv-SE" altLang="en-US" sz="2000" i="1" dirty="0" smtClean="0"/>
              <a:t>Minimize: </a:t>
            </a:r>
          </a:p>
          <a:p>
            <a:pPr lvl="2" eaLnBrk="1" hangingPunct="1">
              <a:buFont typeface="Wingdings" panose="05000000000000000000" pitchFamily="2" charset="2"/>
              <a:buNone/>
            </a:pPr>
            <a:r>
              <a:rPr lang="sv-SE" altLang="en-US" sz="2000" i="1" dirty="0" smtClean="0"/>
              <a:t>size(tree) + size(misclassifications(tree))</a:t>
            </a:r>
            <a:endParaRPr lang="en-US" altLang="en-US" sz="2000" i="1" dirty="0" smtClean="0"/>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EDDB036-D854-40C9-86F5-7B5AC4BC30D5}" type="slidenum">
              <a:rPr lang="en-US" altLang="en-US" sz="1200">
                <a:solidFill>
                  <a:srgbClr val="898989"/>
                </a:solidFill>
              </a:rPr>
              <a:pPr eaLnBrk="1" hangingPunct="1"/>
              <a:t>49</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a:xfrm>
            <a:off x="1981200" y="274638"/>
            <a:ext cx="8458200" cy="1143000"/>
          </a:xfrm>
        </p:spPr>
        <p:txBody>
          <a:bodyPr/>
          <a:lstStyle/>
          <a:p>
            <a:pPr eaLnBrk="1" hangingPunct="1"/>
            <a:r>
              <a:rPr lang="sv-SE" altLang="en-US" dirty="0" smtClean="0"/>
              <a:t>Overfitting in Decision Tree Learning</a:t>
            </a:r>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5EFE97A-34FA-477B-9F99-A2642D3465E8}" type="slidenum">
              <a:rPr lang="en-US" altLang="en-US" sz="1200">
                <a:solidFill>
                  <a:srgbClr val="898989"/>
                </a:solidFill>
              </a:rPr>
              <a:pPr eaLnBrk="1" hangingPunct="1"/>
              <a:t>50</a:t>
            </a:fld>
            <a:endParaRPr lang="en-US" altLang="en-US" sz="1200">
              <a:solidFill>
                <a:srgbClr val="898989"/>
              </a:solidFill>
            </a:endParaRPr>
          </a:p>
        </p:txBody>
      </p:sp>
      <p:pic>
        <p:nvPicPr>
          <p:cNvPr id="2" name="Picture 1"/>
          <p:cNvPicPr>
            <a:picLocks noChangeAspect="1"/>
          </p:cNvPicPr>
          <p:nvPr/>
        </p:nvPicPr>
        <p:blipFill>
          <a:blip r:embed="rId2"/>
          <a:stretch>
            <a:fillRect/>
          </a:stretch>
        </p:blipFill>
        <p:spPr>
          <a:xfrm>
            <a:off x="2057400" y="1388840"/>
            <a:ext cx="8077200" cy="4859561"/>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sv-SE" altLang="en-US" dirty="0" smtClean="0"/>
              <a:t>Converting a Tree to Rules</a:t>
            </a:r>
          </a:p>
        </p:txBody>
      </p:sp>
      <p:sp>
        <p:nvSpPr>
          <p:cNvPr id="27" name="Footer Placeholder 4"/>
          <p:cNvSpPr>
            <a:spLocks noGrp="1"/>
          </p:cNvSpPr>
          <p:nvPr>
            <p:ph type="ftr" sz="quarter" idx="11"/>
          </p:nvPr>
        </p:nvSpPr>
        <p:spPr/>
        <p:txBody>
          <a:bodyPr/>
          <a:lstStyle/>
          <a:p>
            <a:pPr>
              <a:defRPr/>
            </a:pPr>
            <a:r>
              <a:rPr lang="en-US"/>
              <a:t>Decision Tree Learning</a:t>
            </a:r>
          </a:p>
        </p:txBody>
      </p:sp>
      <p:sp>
        <p:nvSpPr>
          <p:cNvPr id="28"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3966976-4E7D-40F8-8674-A2C94BCCB351}" type="slidenum">
              <a:rPr lang="en-US" altLang="en-US" sz="1200">
                <a:solidFill>
                  <a:srgbClr val="898989"/>
                </a:solidFill>
              </a:rPr>
              <a:pPr eaLnBrk="1" hangingPunct="1"/>
              <a:t>51</a:t>
            </a:fld>
            <a:endParaRPr lang="en-US" altLang="en-US" sz="1200">
              <a:solidFill>
                <a:srgbClr val="898989"/>
              </a:solidFill>
            </a:endParaRPr>
          </a:p>
        </p:txBody>
      </p:sp>
      <p:grpSp>
        <p:nvGrpSpPr>
          <p:cNvPr id="41989" name="Group 3"/>
          <p:cNvGrpSpPr>
            <a:grpSpLocks/>
          </p:cNvGrpSpPr>
          <p:nvPr/>
        </p:nvGrpSpPr>
        <p:grpSpPr bwMode="auto">
          <a:xfrm>
            <a:off x="2133601" y="1524000"/>
            <a:ext cx="7619919" cy="3176844"/>
            <a:chOff x="96" y="1104"/>
            <a:chExt cx="5149" cy="2977"/>
          </a:xfrm>
        </p:grpSpPr>
        <p:sp>
          <p:nvSpPr>
            <p:cNvPr id="41991" name="Line 4"/>
            <p:cNvSpPr>
              <a:spLocks noChangeShapeType="1"/>
            </p:cNvSpPr>
            <p:nvPr/>
          </p:nvSpPr>
          <p:spPr bwMode="auto">
            <a:xfrm flipH="1">
              <a:off x="1008" y="1392"/>
              <a:ext cx="1632" cy="10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2" name="Line 5"/>
            <p:cNvSpPr>
              <a:spLocks noChangeShapeType="1"/>
            </p:cNvSpPr>
            <p:nvPr/>
          </p:nvSpPr>
          <p:spPr bwMode="auto">
            <a:xfrm>
              <a:off x="3072" y="1392"/>
              <a:ext cx="1200" cy="10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3" name="Line 6"/>
            <p:cNvSpPr>
              <a:spLocks noChangeShapeType="1"/>
            </p:cNvSpPr>
            <p:nvPr/>
          </p:nvSpPr>
          <p:spPr bwMode="auto">
            <a:xfrm flipH="1">
              <a:off x="288" y="2736"/>
              <a:ext cx="576"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4" name="Line 7"/>
            <p:cNvSpPr>
              <a:spLocks noChangeShapeType="1"/>
            </p:cNvSpPr>
            <p:nvPr/>
          </p:nvSpPr>
          <p:spPr bwMode="auto">
            <a:xfrm>
              <a:off x="1056" y="2736"/>
              <a:ext cx="672"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5" name="Line 8"/>
            <p:cNvSpPr>
              <a:spLocks noChangeShapeType="1"/>
            </p:cNvSpPr>
            <p:nvPr/>
          </p:nvSpPr>
          <p:spPr bwMode="auto">
            <a:xfrm>
              <a:off x="4368" y="2736"/>
              <a:ext cx="624"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6" name="Line 9"/>
            <p:cNvSpPr>
              <a:spLocks noChangeShapeType="1"/>
            </p:cNvSpPr>
            <p:nvPr/>
          </p:nvSpPr>
          <p:spPr bwMode="auto">
            <a:xfrm flipH="1">
              <a:off x="3696" y="2736"/>
              <a:ext cx="576" cy="91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7" name="Line 10"/>
            <p:cNvSpPr>
              <a:spLocks noChangeShapeType="1"/>
            </p:cNvSpPr>
            <p:nvPr/>
          </p:nvSpPr>
          <p:spPr bwMode="auto">
            <a:xfrm>
              <a:off x="2784" y="1440"/>
              <a:ext cx="0" cy="100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mn-lt"/>
              </a:endParaRPr>
            </a:p>
          </p:txBody>
        </p:sp>
        <p:sp>
          <p:nvSpPr>
            <p:cNvPr id="41998" name="Text Box 11"/>
            <p:cNvSpPr txBox="1">
              <a:spLocks noChangeArrowheads="1"/>
            </p:cNvSpPr>
            <p:nvPr/>
          </p:nvSpPr>
          <p:spPr bwMode="auto">
            <a:xfrm>
              <a:off x="2400" y="1104"/>
              <a:ext cx="802" cy="433"/>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Outlook</a:t>
              </a:r>
            </a:p>
          </p:txBody>
        </p:sp>
        <p:sp>
          <p:nvSpPr>
            <p:cNvPr id="41999" name="Text Box 12"/>
            <p:cNvSpPr txBox="1">
              <a:spLocks noChangeArrowheads="1"/>
            </p:cNvSpPr>
            <p:nvPr/>
          </p:nvSpPr>
          <p:spPr bwMode="auto">
            <a:xfrm>
              <a:off x="1488" y="1727"/>
              <a:ext cx="639"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dirty="0">
                  <a:latin typeface="+mn-lt"/>
                </a:rPr>
                <a:t>Sunny</a:t>
              </a:r>
            </a:p>
          </p:txBody>
        </p:sp>
        <p:sp>
          <p:nvSpPr>
            <p:cNvPr id="42000" name="Text Box 13"/>
            <p:cNvSpPr txBox="1">
              <a:spLocks noChangeArrowheads="1"/>
            </p:cNvSpPr>
            <p:nvPr/>
          </p:nvSpPr>
          <p:spPr bwMode="auto">
            <a:xfrm>
              <a:off x="2352" y="1727"/>
              <a:ext cx="862"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Overcast</a:t>
              </a:r>
            </a:p>
          </p:txBody>
        </p:sp>
        <p:sp>
          <p:nvSpPr>
            <p:cNvPr id="42001" name="Text Box 14"/>
            <p:cNvSpPr txBox="1">
              <a:spLocks noChangeArrowheads="1"/>
            </p:cNvSpPr>
            <p:nvPr/>
          </p:nvSpPr>
          <p:spPr bwMode="auto">
            <a:xfrm>
              <a:off x="3456" y="1727"/>
              <a:ext cx="494"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Rain</a:t>
              </a:r>
            </a:p>
          </p:txBody>
        </p:sp>
        <p:sp>
          <p:nvSpPr>
            <p:cNvPr id="42002" name="Text Box 15"/>
            <p:cNvSpPr txBox="1">
              <a:spLocks noChangeArrowheads="1"/>
            </p:cNvSpPr>
            <p:nvPr/>
          </p:nvSpPr>
          <p:spPr bwMode="auto">
            <a:xfrm>
              <a:off x="528" y="2447"/>
              <a:ext cx="898" cy="433"/>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Humidity</a:t>
              </a:r>
            </a:p>
          </p:txBody>
        </p:sp>
        <p:sp>
          <p:nvSpPr>
            <p:cNvPr id="42003" name="Text Box 16"/>
            <p:cNvSpPr txBox="1">
              <a:spLocks noChangeArrowheads="1"/>
            </p:cNvSpPr>
            <p:nvPr/>
          </p:nvSpPr>
          <p:spPr bwMode="auto">
            <a:xfrm>
              <a:off x="191" y="3120"/>
              <a:ext cx="509"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High</a:t>
              </a:r>
            </a:p>
          </p:txBody>
        </p:sp>
        <p:sp>
          <p:nvSpPr>
            <p:cNvPr id="42004" name="Text Box 17"/>
            <p:cNvSpPr txBox="1">
              <a:spLocks noChangeArrowheads="1"/>
            </p:cNvSpPr>
            <p:nvPr/>
          </p:nvSpPr>
          <p:spPr bwMode="auto">
            <a:xfrm>
              <a:off x="1152" y="3120"/>
              <a:ext cx="754"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Normal</a:t>
              </a:r>
            </a:p>
          </p:txBody>
        </p:sp>
        <p:sp>
          <p:nvSpPr>
            <p:cNvPr id="42005" name="Text Box 18"/>
            <p:cNvSpPr txBox="1">
              <a:spLocks noChangeArrowheads="1"/>
            </p:cNvSpPr>
            <p:nvPr/>
          </p:nvSpPr>
          <p:spPr bwMode="auto">
            <a:xfrm>
              <a:off x="3984" y="2447"/>
              <a:ext cx="576" cy="433"/>
            </a:xfrm>
            <a:prstGeom prst="rect">
              <a:avLst/>
            </a:prstGeom>
            <a:solidFill>
              <a:schemeClr val="bg1"/>
            </a:solidFill>
            <a:ln w="38100">
              <a:solidFill>
                <a:schemeClr val="hlink"/>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Wind</a:t>
              </a:r>
            </a:p>
          </p:txBody>
        </p:sp>
        <p:sp>
          <p:nvSpPr>
            <p:cNvPr id="42006" name="Text Box 19"/>
            <p:cNvSpPr txBox="1">
              <a:spLocks noChangeArrowheads="1"/>
            </p:cNvSpPr>
            <p:nvPr/>
          </p:nvSpPr>
          <p:spPr bwMode="auto">
            <a:xfrm>
              <a:off x="3552" y="3120"/>
              <a:ext cx="675"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Strong</a:t>
              </a:r>
            </a:p>
          </p:txBody>
        </p:sp>
        <p:sp>
          <p:nvSpPr>
            <p:cNvPr id="42007" name="Text Box 20"/>
            <p:cNvSpPr txBox="1">
              <a:spLocks noChangeArrowheads="1"/>
            </p:cNvSpPr>
            <p:nvPr/>
          </p:nvSpPr>
          <p:spPr bwMode="auto">
            <a:xfrm>
              <a:off x="4512" y="3120"/>
              <a:ext cx="600" cy="433"/>
            </a:xfrm>
            <a:prstGeom prst="rect">
              <a:avLst/>
            </a:prstGeom>
            <a:solidFill>
              <a:schemeClr val="bg1"/>
            </a:solidFill>
            <a:ln w="38100">
              <a:solidFill>
                <a:schemeClr val="tx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Weak</a:t>
              </a:r>
            </a:p>
          </p:txBody>
        </p:sp>
        <p:sp>
          <p:nvSpPr>
            <p:cNvPr id="42008" name="Text Box 21"/>
            <p:cNvSpPr txBox="1">
              <a:spLocks noChangeArrowheads="1"/>
            </p:cNvSpPr>
            <p:nvPr/>
          </p:nvSpPr>
          <p:spPr bwMode="auto">
            <a:xfrm>
              <a:off x="96" y="3648"/>
              <a:ext cx="369" cy="43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sp>
          <p:nvSpPr>
            <p:cNvPr id="42009" name="Text Box 22"/>
            <p:cNvSpPr txBox="1">
              <a:spLocks noChangeArrowheads="1"/>
            </p:cNvSpPr>
            <p:nvPr/>
          </p:nvSpPr>
          <p:spPr bwMode="auto">
            <a:xfrm>
              <a:off x="1536" y="3648"/>
              <a:ext cx="397" cy="43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42010" name="Text Box 23"/>
            <p:cNvSpPr txBox="1">
              <a:spLocks noChangeArrowheads="1"/>
            </p:cNvSpPr>
            <p:nvPr/>
          </p:nvSpPr>
          <p:spPr bwMode="auto">
            <a:xfrm>
              <a:off x="2592" y="2447"/>
              <a:ext cx="397" cy="43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42011" name="Text Box 24"/>
            <p:cNvSpPr txBox="1">
              <a:spLocks noChangeArrowheads="1"/>
            </p:cNvSpPr>
            <p:nvPr/>
          </p:nvSpPr>
          <p:spPr bwMode="auto">
            <a:xfrm>
              <a:off x="4848" y="3648"/>
              <a:ext cx="397" cy="43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Yes</a:t>
              </a:r>
            </a:p>
          </p:txBody>
        </p:sp>
        <p:sp>
          <p:nvSpPr>
            <p:cNvPr id="42012" name="Text Box 25"/>
            <p:cNvSpPr txBox="1">
              <a:spLocks noChangeArrowheads="1"/>
            </p:cNvSpPr>
            <p:nvPr/>
          </p:nvSpPr>
          <p:spPr bwMode="auto">
            <a:xfrm>
              <a:off x="3505" y="3648"/>
              <a:ext cx="369" cy="433"/>
            </a:xfrm>
            <a:prstGeom prst="rect">
              <a:avLst/>
            </a:prstGeom>
            <a:solidFill>
              <a:schemeClr val="bg1"/>
            </a:solidFill>
            <a:ln w="38100">
              <a:solidFill>
                <a:schemeClr val="accent2"/>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mn-lt"/>
                </a:rPr>
                <a:t>No</a:t>
              </a:r>
            </a:p>
          </p:txBody>
        </p:sp>
      </p:grpSp>
      <p:sp>
        <p:nvSpPr>
          <p:cNvPr id="41990" name="Text Box 26"/>
          <p:cNvSpPr txBox="1">
            <a:spLocks noChangeArrowheads="1"/>
          </p:cNvSpPr>
          <p:nvPr/>
        </p:nvSpPr>
        <p:spPr bwMode="auto">
          <a:xfrm>
            <a:off x="1821106" y="4800600"/>
            <a:ext cx="831349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sv-SE" altLang="en-US" dirty="0">
                <a:latin typeface="+mj-lt"/>
              </a:rPr>
              <a:t>R</a:t>
            </a:r>
            <a:r>
              <a:rPr lang="sv-SE" altLang="en-US" baseline="-25000" dirty="0">
                <a:latin typeface="+mj-lt"/>
              </a:rPr>
              <a:t>1</a:t>
            </a:r>
            <a:r>
              <a:rPr lang="sv-SE" altLang="en-US" dirty="0">
                <a:latin typeface="+mj-lt"/>
              </a:rPr>
              <a:t>: If (Outlook=Sunny) </a:t>
            </a:r>
            <a:r>
              <a:rPr lang="sv-SE" altLang="en-US" dirty="0">
                <a:latin typeface="+mj-lt"/>
                <a:sym typeface="Symbol" panose="05050102010706020507" pitchFamily="18" charset="2"/>
              </a:rPr>
              <a:t> (Humidity=High) Then PlayTennis=No </a:t>
            </a:r>
          </a:p>
          <a:p>
            <a:pPr eaLnBrk="1" hangingPunct="1"/>
            <a:r>
              <a:rPr lang="sv-SE" altLang="en-US" dirty="0">
                <a:latin typeface="+mj-lt"/>
              </a:rPr>
              <a:t>R</a:t>
            </a:r>
            <a:r>
              <a:rPr lang="sv-SE" altLang="en-US" baseline="-25000" dirty="0">
                <a:latin typeface="+mj-lt"/>
              </a:rPr>
              <a:t>2</a:t>
            </a:r>
            <a:r>
              <a:rPr lang="sv-SE" altLang="en-US" dirty="0">
                <a:latin typeface="+mj-lt"/>
              </a:rPr>
              <a:t>: If (Outlook=Sunny) </a:t>
            </a:r>
            <a:r>
              <a:rPr lang="sv-SE" altLang="en-US" dirty="0">
                <a:latin typeface="+mj-lt"/>
                <a:sym typeface="Symbol" panose="05050102010706020507" pitchFamily="18" charset="2"/>
              </a:rPr>
              <a:t> (Humidity=Normal) Then PlayTennis=Yes</a:t>
            </a:r>
          </a:p>
          <a:p>
            <a:pPr eaLnBrk="1" hangingPunct="1"/>
            <a:r>
              <a:rPr lang="sv-SE" altLang="en-US" dirty="0">
                <a:latin typeface="+mj-lt"/>
              </a:rPr>
              <a:t>R</a:t>
            </a:r>
            <a:r>
              <a:rPr lang="sv-SE" altLang="en-US" baseline="-25000" dirty="0">
                <a:latin typeface="+mj-lt"/>
              </a:rPr>
              <a:t>3</a:t>
            </a:r>
            <a:r>
              <a:rPr lang="sv-SE" altLang="en-US" dirty="0">
                <a:latin typeface="+mj-lt"/>
              </a:rPr>
              <a:t>: If (Outlook=Overcast</a:t>
            </a:r>
            <a:r>
              <a:rPr lang="sv-SE" altLang="en-US" dirty="0">
                <a:latin typeface="+mj-lt"/>
                <a:sym typeface="Symbol" panose="05050102010706020507" pitchFamily="18" charset="2"/>
              </a:rPr>
              <a:t>) Then PlayTennis=Yes</a:t>
            </a:r>
            <a:r>
              <a:rPr lang="sv-SE" altLang="en-US" dirty="0">
                <a:latin typeface="+mj-lt"/>
              </a:rPr>
              <a:t> </a:t>
            </a:r>
          </a:p>
          <a:p>
            <a:pPr eaLnBrk="1" hangingPunct="1"/>
            <a:r>
              <a:rPr lang="sv-SE" altLang="en-US" dirty="0">
                <a:latin typeface="+mj-lt"/>
              </a:rPr>
              <a:t>R</a:t>
            </a:r>
            <a:r>
              <a:rPr lang="sv-SE" altLang="en-US" baseline="-25000" dirty="0">
                <a:latin typeface="+mj-lt"/>
              </a:rPr>
              <a:t>4</a:t>
            </a:r>
            <a:r>
              <a:rPr lang="sv-SE" altLang="en-US" dirty="0">
                <a:latin typeface="+mj-lt"/>
              </a:rPr>
              <a:t>: If (Outlook=Rain) </a:t>
            </a:r>
            <a:r>
              <a:rPr lang="sv-SE" altLang="en-US" dirty="0">
                <a:latin typeface="+mj-lt"/>
                <a:sym typeface="Symbol" panose="05050102010706020507" pitchFamily="18" charset="2"/>
              </a:rPr>
              <a:t></a:t>
            </a:r>
            <a:r>
              <a:rPr lang="sv-SE" altLang="en-US" dirty="0">
                <a:latin typeface="+mj-lt"/>
              </a:rPr>
              <a:t>  (Wind=Strong) </a:t>
            </a:r>
            <a:r>
              <a:rPr lang="sv-SE" altLang="en-US" dirty="0">
                <a:latin typeface="+mj-lt"/>
                <a:sym typeface="Symbol" panose="05050102010706020507" pitchFamily="18" charset="2"/>
              </a:rPr>
              <a:t>Then PlayTennis=No</a:t>
            </a:r>
          </a:p>
          <a:p>
            <a:pPr eaLnBrk="1" hangingPunct="1"/>
            <a:r>
              <a:rPr lang="sv-SE" altLang="en-US" dirty="0">
                <a:latin typeface="+mj-lt"/>
              </a:rPr>
              <a:t>R</a:t>
            </a:r>
            <a:r>
              <a:rPr lang="sv-SE" altLang="en-US" baseline="-25000" dirty="0">
                <a:latin typeface="+mj-lt"/>
              </a:rPr>
              <a:t>5</a:t>
            </a:r>
            <a:r>
              <a:rPr lang="sv-SE" altLang="en-US" dirty="0">
                <a:latin typeface="+mj-lt"/>
              </a:rPr>
              <a:t>: If (Outlook=Rain) </a:t>
            </a:r>
            <a:r>
              <a:rPr lang="sv-SE" altLang="en-US" dirty="0">
                <a:latin typeface="+mj-lt"/>
                <a:sym typeface="Symbol" panose="05050102010706020507" pitchFamily="18" charset="2"/>
              </a:rPr>
              <a:t></a:t>
            </a:r>
            <a:r>
              <a:rPr lang="sv-SE" altLang="en-US" dirty="0">
                <a:latin typeface="+mj-lt"/>
              </a:rPr>
              <a:t>  (Wind=Weak) </a:t>
            </a:r>
            <a:r>
              <a:rPr lang="sv-SE" altLang="en-US" dirty="0">
                <a:latin typeface="+mj-lt"/>
                <a:sym typeface="Symbol" panose="05050102010706020507" pitchFamily="18" charset="2"/>
              </a:rPr>
              <a:t>Then PlayTennis=Yes</a:t>
            </a:r>
          </a:p>
          <a:p>
            <a:pPr eaLnBrk="1" hangingPunct="1"/>
            <a:r>
              <a:rPr lang="sv-SE" altLang="en-US" dirty="0">
                <a:latin typeface="+mj-lt"/>
              </a:rPr>
              <a:t> </a:t>
            </a:r>
            <a:endParaRPr lang="en-US" altLang="en-US" dirty="0">
              <a:latin typeface="+mj-lt"/>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sv-SE" altLang="en-US" smtClean="0"/>
              <a:t>Continuous Valued Attributes</a:t>
            </a:r>
            <a:endParaRPr lang="en-US" altLang="en-US" smtClean="0"/>
          </a:p>
        </p:txBody>
      </p:sp>
      <p:sp>
        <p:nvSpPr>
          <p:cNvPr id="43011" name="Rectangle 3"/>
          <p:cNvSpPr>
            <a:spLocks noGrp="1" noChangeArrowheads="1"/>
          </p:cNvSpPr>
          <p:nvPr>
            <p:ph idx="1"/>
          </p:nvPr>
        </p:nvSpPr>
        <p:spPr>
          <a:xfrm>
            <a:off x="1600200" y="1600200"/>
            <a:ext cx="8878888" cy="4114800"/>
          </a:xfrm>
        </p:spPr>
        <p:txBody>
          <a:bodyPr/>
          <a:lstStyle/>
          <a:p>
            <a:pPr eaLnBrk="1" hangingPunct="1">
              <a:buFont typeface="Wingdings" panose="05000000000000000000" pitchFamily="2" charset="2"/>
              <a:buNone/>
            </a:pPr>
            <a:r>
              <a:rPr lang="sv-SE" altLang="en-US" sz="2400"/>
              <a:t>Create a discrete attribute to test continuous </a:t>
            </a:r>
          </a:p>
          <a:p>
            <a:pPr eaLnBrk="1" hangingPunct="1"/>
            <a:r>
              <a:rPr lang="sv-SE" altLang="en-US" sz="2400" dirty="0"/>
              <a:t>Temperature = 24.5</a:t>
            </a:r>
            <a:r>
              <a:rPr lang="sv-SE" altLang="en-US" sz="2400" baseline="30000" dirty="0"/>
              <a:t>0</a:t>
            </a:r>
            <a:r>
              <a:rPr lang="sv-SE" altLang="en-US" sz="2400" dirty="0"/>
              <a:t>C</a:t>
            </a:r>
          </a:p>
          <a:p>
            <a:pPr eaLnBrk="1" hangingPunct="1"/>
            <a:r>
              <a:rPr lang="sv-SE" altLang="en-US" sz="2400" dirty="0"/>
              <a:t>(Temperature &gt; 20.0</a:t>
            </a:r>
            <a:r>
              <a:rPr lang="sv-SE" altLang="en-US" sz="2400" baseline="30000" dirty="0"/>
              <a:t>0</a:t>
            </a:r>
            <a:r>
              <a:rPr lang="sv-SE" altLang="en-US" sz="2400" dirty="0"/>
              <a:t>C) = {true, false} </a:t>
            </a:r>
          </a:p>
          <a:p>
            <a:pPr eaLnBrk="1" hangingPunct="1">
              <a:buFont typeface="Wingdings" panose="05000000000000000000" pitchFamily="2" charset="2"/>
              <a:buNone/>
            </a:pPr>
            <a:r>
              <a:rPr lang="sv-SE" altLang="en-US" sz="2400" dirty="0"/>
              <a:t>Where to set the threshold?</a:t>
            </a:r>
          </a:p>
          <a:p>
            <a:pPr eaLnBrk="1" hangingPunct="1">
              <a:buFont typeface="Wingdings" panose="05000000000000000000" pitchFamily="2" charset="2"/>
              <a:buNone/>
            </a:pPr>
            <a:endParaRPr lang="sv-SE" altLang="en-US" sz="2400" dirty="0"/>
          </a:p>
          <a:p>
            <a:pPr eaLnBrk="1" hangingPunct="1">
              <a:buFont typeface="Wingdings" panose="05000000000000000000" pitchFamily="2" charset="2"/>
              <a:buNone/>
            </a:pPr>
            <a:endParaRPr lang="en-US" altLang="en-US" sz="2400" dirty="0"/>
          </a:p>
          <a:p>
            <a:pPr eaLnBrk="1" hangingPunct="1">
              <a:buFont typeface="Wingdings" panose="05000000000000000000" pitchFamily="2" charset="2"/>
              <a:buNone/>
            </a:pPr>
            <a:endParaRPr lang="en-US" altLang="en-US" sz="2400" dirty="0"/>
          </a:p>
          <a:p>
            <a:pPr eaLnBrk="1" hangingPunct="1">
              <a:buFont typeface="Wingdings" panose="05000000000000000000" pitchFamily="2" charset="2"/>
              <a:buNone/>
            </a:pPr>
            <a:endParaRPr lang="en-US" altLang="en-US" sz="2400" dirty="0"/>
          </a:p>
          <a:p>
            <a:pPr eaLnBrk="1" hangingPunct="1">
              <a:buFont typeface="Wingdings" panose="05000000000000000000" pitchFamily="2" charset="2"/>
              <a:buNone/>
            </a:pPr>
            <a:r>
              <a:rPr lang="en-US" altLang="en-US" sz="2400" dirty="0"/>
              <a:t>Other examples attributes that can be discretized are:</a:t>
            </a:r>
          </a:p>
          <a:p>
            <a:pPr eaLnBrk="1" hangingPunct="1"/>
            <a:r>
              <a:rPr lang="en-US" altLang="en-US" sz="2400" dirty="0"/>
              <a:t>Age, Weight, Height,… all depending on the domain or context of the data</a:t>
            </a:r>
          </a:p>
        </p:txBody>
      </p:sp>
      <p:sp>
        <p:nvSpPr>
          <p:cNvPr id="35" name="Footer Placeholder 4"/>
          <p:cNvSpPr>
            <a:spLocks noGrp="1"/>
          </p:cNvSpPr>
          <p:nvPr>
            <p:ph type="ftr" sz="quarter" idx="11"/>
          </p:nvPr>
        </p:nvSpPr>
        <p:spPr/>
        <p:txBody>
          <a:bodyPr/>
          <a:lstStyle/>
          <a:p>
            <a:pPr>
              <a:defRPr/>
            </a:pPr>
            <a:r>
              <a:rPr lang="en-US"/>
              <a:t>Decision Tree Learning</a:t>
            </a:r>
          </a:p>
        </p:txBody>
      </p:sp>
      <p:sp>
        <p:nvSpPr>
          <p:cNvPr id="36"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C9D7ABA-C650-44D8-A6F1-3F372B42B9CF}" type="slidenum">
              <a:rPr lang="en-US" altLang="en-US" sz="1200">
                <a:solidFill>
                  <a:srgbClr val="898989"/>
                </a:solidFill>
              </a:rPr>
              <a:pPr eaLnBrk="1" hangingPunct="1"/>
              <a:t>52</a:t>
            </a:fld>
            <a:endParaRPr lang="en-US" altLang="en-US" sz="1200">
              <a:solidFill>
                <a:srgbClr val="898989"/>
              </a:solidFill>
            </a:endParaRPr>
          </a:p>
        </p:txBody>
      </p:sp>
      <p:grpSp>
        <p:nvGrpSpPr>
          <p:cNvPr id="43014" name="Group 4"/>
          <p:cNvGrpSpPr>
            <a:grpSpLocks/>
          </p:cNvGrpSpPr>
          <p:nvPr/>
        </p:nvGrpSpPr>
        <p:grpSpPr bwMode="auto">
          <a:xfrm>
            <a:off x="1981200" y="3505200"/>
            <a:ext cx="7696200" cy="1371600"/>
            <a:chOff x="384" y="2736"/>
            <a:chExt cx="4752" cy="864"/>
          </a:xfrm>
        </p:grpSpPr>
        <p:sp>
          <p:nvSpPr>
            <p:cNvPr id="43015" name="Rectangle 5"/>
            <p:cNvSpPr>
              <a:spLocks noChangeArrowheads="1"/>
            </p:cNvSpPr>
            <p:nvPr/>
          </p:nvSpPr>
          <p:spPr bwMode="auto">
            <a:xfrm>
              <a:off x="4573" y="3150"/>
              <a:ext cx="56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No</a:t>
              </a:r>
              <a:endParaRPr lang="en-US" altLang="en-US"/>
            </a:p>
          </p:txBody>
        </p:sp>
        <p:sp>
          <p:nvSpPr>
            <p:cNvPr id="43016" name="Rectangle 6"/>
            <p:cNvSpPr>
              <a:spLocks noChangeArrowheads="1"/>
            </p:cNvSpPr>
            <p:nvPr/>
          </p:nvSpPr>
          <p:spPr bwMode="auto">
            <a:xfrm>
              <a:off x="4012" y="3150"/>
              <a:ext cx="561"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Yes</a:t>
              </a:r>
              <a:endParaRPr lang="en-US" altLang="en-US"/>
            </a:p>
          </p:txBody>
        </p:sp>
        <p:sp>
          <p:nvSpPr>
            <p:cNvPr id="43017" name="Rectangle 7"/>
            <p:cNvSpPr>
              <a:spLocks noChangeArrowheads="1"/>
            </p:cNvSpPr>
            <p:nvPr/>
          </p:nvSpPr>
          <p:spPr bwMode="auto">
            <a:xfrm>
              <a:off x="3449" y="3150"/>
              <a:ext cx="56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Yes</a:t>
              </a:r>
              <a:endParaRPr lang="en-US" altLang="en-US"/>
            </a:p>
          </p:txBody>
        </p:sp>
        <p:sp>
          <p:nvSpPr>
            <p:cNvPr id="43018" name="Rectangle 8"/>
            <p:cNvSpPr>
              <a:spLocks noChangeArrowheads="1"/>
            </p:cNvSpPr>
            <p:nvPr/>
          </p:nvSpPr>
          <p:spPr bwMode="auto">
            <a:xfrm>
              <a:off x="2880" y="3150"/>
              <a:ext cx="569"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Yes</a:t>
              </a:r>
              <a:endParaRPr lang="en-US" altLang="en-US"/>
            </a:p>
          </p:txBody>
        </p:sp>
        <p:sp>
          <p:nvSpPr>
            <p:cNvPr id="43019" name="Rectangle 9"/>
            <p:cNvSpPr>
              <a:spLocks noChangeArrowheads="1"/>
            </p:cNvSpPr>
            <p:nvPr/>
          </p:nvSpPr>
          <p:spPr bwMode="auto">
            <a:xfrm>
              <a:off x="2256" y="3150"/>
              <a:ext cx="62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No</a:t>
              </a:r>
              <a:endParaRPr lang="en-US" altLang="en-US"/>
            </a:p>
          </p:txBody>
        </p:sp>
        <p:sp>
          <p:nvSpPr>
            <p:cNvPr id="43020" name="Rectangle 10"/>
            <p:cNvSpPr>
              <a:spLocks noChangeArrowheads="1"/>
            </p:cNvSpPr>
            <p:nvPr/>
          </p:nvSpPr>
          <p:spPr bwMode="auto">
            <a:xfrm>
              <a:off x="1680" y="3150"/>
              <a:ext cx="576"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No</a:t>
              </a:r>
              <a:endParaRPr lang="en-US" altLang="en-US"/>
            </a:p>
          </p:txBody>
        </p:sp>
        <p:sp>
          <p:nvSpPr>
            <p:cNvPr id="43021" name="Rectangle 11"/>
            <p:cNvSpPr>
              <a:spLocks noChangeArrowheads="1"/>
            </p:cNvSpPr>
            <p:nvPr/>
          </p:nvSpPr>
          <p:spPr bwMode="auto">
            <a:xfrm>
              <a:off x="384" y="3150"/>
              <a:ext cx="1296"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sz="2200"/>
                <a:t>PlayTennis</a:t>
              </a:r>
              <a:endParaRPr lang="en-US" altLang="en-US"/>
            </a:p>
          </p:txBody>
        </p:sp>
        <p:sp>
          <p:nvSpPr>
            <p:cNvPr id="43022" name="Rectangle 12"/>
            <p:cNvSpPr>
              <a:spLocks noChangeArrowheads="1"/>
            </p:cNvSpPr>
            <p:nvPr/>
          </p:nvSpPr>
          <p:spPr bwMode="auto">
            <a:xfrm>
              <a:off x="4573" y="2736"/>
              <a:ext cx="563"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27</a:t>
              </a:r>
              <a:r>
                <a:rPr lang="sv-SE" altLang="en-US" sz="2000" baseline="30000"/>
                <a:t>0</a:t>
              </a:r>
              <a:r>
                <a:rPr lang="sv-SE" altLang="en-US" sz="2000"/>
                <a:t>C</a:t>
              </a:r>
              <a:endParaRPr lang="en-US" altLang="en-US" sz="2000"/>
            </a:p>
          </p:txBody>
        </p:sp>
        <p:sp>
          <p:nvSpPr>
            <p:cNvPr id="43023" name="Rectangle 13"/>
            <p:cNvSpPr>
              <a:spLocks noChangeArrowheads="1"/>
            </p:cNvSpPr>
            <p:nvPr/>
          </p:nvSpPr>
          <p:spPr bwMode="auto">
            <a:xfrm>
              <a:off x="4012" y="2736"/>
              <a:ext cx="561"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24</a:t>
              </a:r>
              <a:r>
                <a:rPr lang="sv-SE" altLang="en-US" sz="2000" baseline="30000"/>
                <a:t>0</a:t>
              </a:r>
              <a:r>
                <a:rPr lang="sv-SE" altLang="en-US" sz="2000"/>
                <a:t>C</a:t>
              </a:r>
              <a:endParaRPr lang="en-US" altLang="en-US" sz="2000"/>
            </a:p>
          </p:txBody>
        </p:sp>
        <p:sp>
          <p:nvSpPr>
            <p:cNvPr id="43024" name="Rectangle 14"/>
            <p:cNvSpPr>
              <a:spLocks noChangeArrowheads="1"/>
            </p:cNvSpPr>
            <p:nvPr/>
          </p:nvSpPr>
          <p:spPr bwMode="auto">
            <a:xfrm>
              <a:off x="3449" y="2736"/>
              <a:ext cx="563"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22</a:t>
              </a:r>
              <a:r>
                <a:rPr lang="sv-SE" altLang="en-US" sz="2000" baseline="30000"/>
                <a:t>0</a:t>
              </a:r>
              <a:r>
                <a:rPr lang="sv-SE" altLang="en-US" sz="2000"/>
                <a:t>C</a:t>
              </a:r>
              <a:endParaRPr lang="en-US" altLang="en-US" sz="2000"/>
            </a:p>
          </p:txBody>
        </p:sp>
        <p:sp>
          <p:nvSpPr>
            <p:cNvPr id="43025" name="Rectangle 15"/>
            <p:cNvSpPr>
              <a:spLocks noChangeArrowheads="1"/>
            </p:cNvSpPr>
            <p:nvPr/>
          </p:nvSpPr>
          <p:spPr bwMode="auto">
            <a:xfrm>
              <a:off x="2880" y="2736"/>
              <a:ext cx="569"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19</a:t>
              </a:r>
              <a:r>
                <a:rPr lang="sv-SE" altLang="en-US" sz="2000" baseline="30000"/>
                <a:t>0</a:t>
              </a:r>
              <a:r>
                <a:rPr lang="sv-SE" altLang="en-US" sz="2000"/>
                <a:t>C</a:t>
              </a:r>
              <a:endParaRPr lang="en-US" altLang="en-US" sz="2000"/>
            </a:p>
          </p:txBody>
        </p:sp>
        <p:sp>
          <p:nvSpPr>
            <p:cNvPr id="43026" name="Rectangle 16"/>
            <p:cNvSpPr>
              <a:spLocks noChangeArrowheads="1"/>
            </p:cNvSpPr>
            <p:nvPr/>
          </p:nvSpPr>
          <p:spPr bwMode="auto">
            <a:xfrm>
              <a:off x="2256" y="2736"/>
              <a:ext cx="624"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18</a:t>
              </a:r>
              <a:r>
                <a:rPr lang="sv-SE" altLang="en-US" sz="2000" baseline="30000"/>
                <a:t>0</a:t>
              </a:r>
              <a:r>
                <a:rPr lang="sv-SE" altLang="en-US" sz="2000"/>
                <a:t>C</a:t>
              </a:r>
              <a:endParaRPr lang="en-US" altLang="en-US" sz="2000"/>
            </a:p>
          </p:txBody>
        </p:sp>
        <p:sp>
          <p:nvSpPr>
            <p:cNvPr id="43027" name="Rectangle 17"/>
            <p:cNvSpPr>
              <a:spLocks noChangeArrowheads="1"/>
            </p:cNvSpPr>
            <p:nvPr/>
          </p:nvSpPr>
          <p:spPr bwMode="auto">
            <a:xfrm>
              <a:off x="1680" y="2736"/>
              <a:ext cx="576"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a:t>15</a:t>
              </a:r>
              <a:r>
                <a:rPr lang="sv-SE" altLang="en-US" sz="2000" baseline="30000"/>
                <a:t>0</a:t>
              </a:r>
              <a:r>
                <a:rPr lang="sv-SE" altLang="en-US" sz="2000"/>
                <a:t>C</a:t>
              </a:r>
              <a:endParaRPr lang="en-US" altLang="en-US" sz="2000"/>
            </a:p>
          </p:txBody>
        </p:sp>
        <p:sp>
          <p:nvSpPr>
            <p:cNvPr id="43028" name="Rectangle 18"/>
            <p:cNvSpPr>
              <a:spLocks noChangeArrowheads="1"/>
            </p:cNvSpPr>
            <p:nvPr/>
          </p:nvSpPr>
          <p:spPr bwMode="auto">
            <a:xfrm>
              <a:off x="384" y="2736"/>
              <a:ext cx="1296"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sv-SE" altLang="en-US" sz="2200"/>
                <a:t>Temperature</a:t>
              </a:r>
              <a:endParaRPr lang="en-US" altLang="en-US" sz="2200"/>
            </a:p>
          </p:txBody>
        </p:sp>
        <p:sp>
          <p:nvSpPr>
            <p:cNvPr id="43029" name="Line 19"/>
            <p:cNvSpPr>
              <a:spLocks noChangeShapeType="1"/>
            </p:cNvSpPr>
            <p:nvPr/>
          </p:nvSpPr>
          <p:spPr bwMode="auto">
            <a:xfrm>
              <a:off x="384" y="3150"/>
              <a:ext cx="475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0" name="Line 20"/>
            <p:cNvSpPr>
              <a:spLocks noChangeShapeType="1"/>
            </p:cNvSpPr>
            <p:nvPr/>
          </p:nvSpPr>
          <p:spPr bwMode="auto">
            <a:xfrm>
              <a:off x="384" y="2736"/>
              <a:ext cx="0" cy="864"/>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1" name="Line 21"/>
            <p:cNvSpPr>
              <a:spLocks noChangeShapeType="1"/>
            </p:cNvSpPr>
            <p:nvPr/>
          </p:nvSpPr>
          <p:spPr bwMode="auto">
            <a:xfrm>
              <a:off x="1680" y="2736"/>
              <a:ext cx="0" cy="86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2" name="Line 22"/>
            <p:cNvSpPr>
              <a:spLocks noChangeShapeType="1"/>
            </p:cNvSpPr>
            <p:nvPr/>
          </p:nvSpPr>
          <p:spPr bwMode="auto">
            <a:xfrm>
              <a:off x="2256" y="2736"/>
              <a:ext cx="0" cy="86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3" name="Line 23"/>
            <p:cNvSpPr>
              <a:spLocks noChangeShapeType="1"/>
            </p:cNvSpPr>
            <p:nvPr/>
          </p:nvSpPr>
          <p:spPr bwMode="auto">
            <a:xfrm>
              <a:off x="2880" y="2736"/>
              <a:ext cx="0" cy="86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4" name="Line 24"/>
            <p:cNvSpPr>
              <a:spLocks noChangeShapeType="1"/>
            </p:cNvSpPr>
            <p:nvPr/>
          </p:nvSpPr>
          <p:spPr bwMode="auto">
            <a:xfrm>
              <a:off x="3449" y="2736"/>
              <a:ext cx="0" cy="86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5" name="Line 25"/>
            <p:cNvSpPr>
              <a:spLocks noChangeShapeType="1"/>
            </p:cNvSpPr>
            <p:nvPr/>
          </p:nvSpPr>
          <p:spPr bwMode="auto">
            <a:xfrm>
              <a:off x="4012" y="2736"/>
              <a:ext cx="0" cy="86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6" name="Line 26"/>
            <p:cNvSpPr>
              <a:spLocks noChangeShapeType="1"/>
            </p:cNvSpPr>
            <p:nvPr/>
          </p:nvSpPr>
          <p:spPr bwMode="auto">
            <a:xfrm>
              <a:off x="4573" y="2736"/>
              <a:ext cx="0" cy="864"/>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7" name="Line 27"/>
            <p:cNvSpPr>
              <a:spLocks noChangeShapeType="1"/>
            </p:cNvSpPr>
            <p:nvPr/>
          </p:nvSpPr>
          <p:spPr bwMode="auto">
            <a:xfrm>
              <a:off x="5136" y="2736"/>
              <a:ext cx="0" cy="864"/>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8" name="Line 28"/>
            <p:cNvSpPr>
              <a:spLocks noChangeShapeType="1"/>
            </p:cNvSpPr>
            <p:nvPr/>
          </p:nvSpPr>
          <p:spPr bwMode="auto">
            <a:xfrm>
              <a:off x="2256" y="2736"/>
              <a:ext cx="62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39" name="Line 29"/>
            <p:cNvSpPr>
              <a:spLocks noChangeShapeType="1"/>
            </p:cNvSpPr>
            <p:nvPr/>
          </p:nvSpPr>
          <p:spPr bwMode="auto">
            <a:xfrm>
              <a:off x="384" y="2736"/>
              <a:ext cx="1872"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40" name="Line 30"/>
            <p:cNvSpPr>
              <a:spLocks noChangeShapeType="1"/>
            </p:cNvSpPr>
            <p:nvPr/>
          </p:nvSpPr>
          <p:spPr bwMode="auto">
            <a:xfrm>
              <a:off x="2880" y="2736"/>
              <a:ext cx="2256"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41" name="Line 31"/>
            <p:cNvSpPr>
              <a:spLocks noChangeShapeType="1"/>
            </p:cNvSpPr>
            <p:nvPr/>
          </p:nvSpPr>
          <p:spPr bwMode="auto">
            <a:xfrm>
              <a:off x="1680" y="3600"/>
              <a:ext cx="576"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42" name="Line 32"/>
            <p:cNvSpPr>
              <a:spLocks noChangeShapeType="1"/>
            </p:cNvSpPr>
            <p:nvPr/>
          </p:nvSpPr>
          <p:spPr bwMode="auto">
            <a:xfrm>
              <a:off x="384" y="3600"/>
              <a:ext cx="1296"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3043" name="Line 33"/>
            <p:cNvSpPr>
              <a:spLocks noChangeShapeType="1"/>
            </p:cNvSpPr>
            <p:nvPr/>
          </p:nvSpPr>
          <p:spPr bwMode="auto">
            <a:xfrm>
              <a:off x="2256" y="3600"/>
              <a:ext cx="288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sv-SE" altLang="en-US" smtClean="0"/>
              <a:t>Attributes with many Values</a:t>
            </a:r>
          </a:p>
        </p:txBody>
      </p:sp>
      <p:sp>
        <p:nvSpPr>
          <p:cNvPr id="44035" name="Rectangle 3"/>
          <p:cNvSpPr>
            <a:spLocks noGrp="1" noChangeArrowheads="1"/>
          </p:cNvSpPr>
          <p:nvPr>
            <p:ph idx="1"/>
          </p:nvPr>
        </p:nvSpPr>
        <p:spPr>
          <a:xfrm>
            <a:off x="990600" y="1828800"/>
            <a:ext cx="10287000" cy="4527551"/>
          </a:xfrm>
        </p:spPr>
        <p:txBody>
          <a:bodyPr/>
          <a:lstStyle/>
          <a:p>
            <a:pPr eaLnBrk="1" hangingPunct="1"/>
            <a:r>
              <a:rPr lang="sv-SE" altLang="en-US" sz="2800" dirty="0"/>
              <a:t>Problem:</a:t>
            </a:r>
            <a:r>
              <a:rPr lang="sv-SE" altLang="en-US" sz="2400" dirty="0"/>
              <a:t> if an attribute has many values, maximizing </a:t>
            </a:r>
            <a:r>
              <a:rPr lang="sv-SE" altLang="en-US" sz="2400" i="1" dirty="0"/>
              <a:t>InformationGain </a:t>
            </a:r>
            <a:r>
              <a:rPr lang="sv-SE" altLang="en-US" sz="2400" dirty="0"/>
              <a:t>will select it.</a:t>
            </a:r>
          </a:p>
          <a:p>
            <a:pPr eaLnBrk="1" hangingPunct="1"/>
            <a:r>
              <a:rPr lang="sv-SE" altLang="en-US" sz="2400" dirty="0"/>
              <a:t>E.g.: Imagine using Date=27.3.2002 as attribute</a:t>
            </a:r>
          </a:p>
          <a:p>
            <a:pPr eaLnBrk="1" hangingPunct="1">
              <a:buFont typeface="Wingdings" panose="05000000000000000000" pitchFamily="2" charset="2"/>
              <a:buNone/>
            </a:pPr>
            <a:r>
              <a:rPr lang="sv-SE" altLang="en-US" sz="2400" i="1" dirty="0"/>
              <a:t>   </a:t>
            </a:r>
            <a:r>
              <a:rPr lang="sv-SE" altLang="en-US" sz="2400" dirty="0"/>
              <a:t>perfectly splits the data into subsets of size 1</a:t>
            </a:r>
          </a:p>
          <a:p>
            <a:pPr eaLnBrk="1" hangingPunct="1">
              <a:buFont typeface="Wingdings" panose="05000000000000000000" pitchFamily="2" charset="2"/>
              <a:buNone/>
            </a:pPr>
            <a:r>
              <a:rPr lang="sv-SE" altLang="en-US" sz="2800" dirty="0"/>
              <a:t>A Solution:</a:t>
            </a:r>
            <a:endParaRPr lang="sv-SE" altLang="en-US" sz="2400" dirty="0"/>
          </a:p>
          <a:p>
            <a:pPr eaLnBrk="1" hangingPunct="1">
              <a:buFont typeface="Wingdings" panose="05000000000000000000" pitchFamily="2" charset="2"/>
              <a:buNone/>
            </a:pPr>
            <a:r>
              <a:rPr lang="sv-SE" altLang="en-US" sz="2400" dirty="0"/>
              <a:t>	</a:t>
            </a:r>
            <a:r>
              <a:rPr lang="sv-SE" altLang="en-US" sz="2400" dirty="0">
                <a:solidFill>
                  <a:schemeClr val="tx2">
                    <a:lumMod val="75000"/>
                  </a:schemeClr>
                </a:solidFill>
              </a:rPr>
              <a:t>Use </a:t>
            </a:r>
            <a:r>
              <a:rPr lang="sv-SE" altLang="en-US" sz="2400" i="1" dirty="0">
                <a:solidFill>
                  <a:schemeClr val="tx2">
                    <a:lumMod val="75000"/>
                  </a:schemeClr>
                </a:solidFill>
              </a:rPr>
              <a:t>GainRatio </a:t>
            </a:r>
            <a:r>
              <a:rPr lang="sv-SE" altLang="en-US" sz="2400" dirty="0">
                <a:solidFill>
                  <a:schemeClr val="tx2">
                    <a:lumMod val="75000"/>
                  </a:schemeClr>
                </a:solidFill>
              </a:rPr>
              <a:t>instead of information gain as  criteria:</a:t>
            </a:r>
          </a:p>
          <a:p>
            <a:pPr eaLnBrk="1" hangingPunct="1">
              <a:buFont typeface="Wingdings" panose="05000000000000000000" pitchFamily="2" charset="2"/>
              <a:buNone/>
            </a:pPr>
            <a:r>
              <a:rPr lang="sv-SE" altLang="en-US" sz="2400" i="1" dirty="0">
                <a:solidFill>
                  <a:schemeClr val="tx2">
                    <a:lumMod val="75000"/>
                  </a:schemeClr>
                </a:solidFill>
              </a:rPr>
              <a:t>	GainRatio(S,A) = Gain(S,A) / SplitInformation(S,A)</a:t>
            </a:r>
          </a:p>
          <a:p>
            <a:pPr eaLnBrk="1" hangingPunct="1">
              <a:buFont typeface="Wingdings" panose="05000000000000000000" pitchFamily="2" charset="2"/>
              <a:buNone/>
            </a:pPr>
            <a:r>
              <a:rPr lang="sv-SE" altLang="en-US" sz="2400" i="1" dirty="0">
                <a:solidFill>
                  <a:schemeClr val="tx2">
                    <a:lumMod val="75000"/>
                  </a:schemeClr>
                </a:solidFill>
              </a:rPr>
              <a:t>	SplitInformation(S,A) = </a:t>
            </a:r>
            <a:r>
              <a:rPr lang="sv-SE" altLang="en-US" sz="2400" dirty="0">
                <a:solidFill>
                  <a:schemeClr val="tx2">
                    <a:lumMod val="75000"/>
                  </a:schemeClr>
                </a:solidFill>
              </a:rPr>
              <a:t>-</a:t>
            </a:r>
            <a:r>
              <a:rPr lang="sv-SE" altLang="en-US" sz="2800" dirty="0">
                <a:solidFill>
                  <a:schemeClr val="tx2">
                    <a:lumMod val="75000"/>
                  </a:schemeClr>
                </a:solidFill>
                <a:sym typeface="Symbol" panose="05050102010706020507" pitchFamily="18" charset="2"/>
              </a:rPr>
              <a:t></a:t>
            </a:r>
            <a:r>
              <a:rPr lang="sv-SE" altLang="en-US" sz="2400" baseline="-25000" dirty="0">
                <a:solidFill>
                  <a:schemeClr val="tx2">
                    <a:lumMod val="75000"/>
                  </a:schemeClr>
                </a:solidFill>
                <a:sym typeface="Symbol" panose="05050102010706020507" pitchFamily="18" charset="2"/>
              </a:rPr>
              <a:t>i=1..c </a:t>
            </a:r>
            <a:r>
              <a:rPr lang="sv-SE" altLang="en-US" sz="2400" dirty="0">
                <a:solidFill>
                  <a:schemeClr val="tx2">
                    <a:lumMod val="75000"/>
                  </a:schemeClr>
                </a:solidFill>
                <a:sym typeface="Symbol" panose="05050102010706020507" pitchFamily="18" charset="2"/>
              </a:rPr>
              <a:t>|S</a:t>
            </a:r>
            <a:r>
              <a:rPr lang="sv-SE" altLang="en-US" sz="2400" baseline="-25000" dirty="0">
                <a:solidFill>
                  <a:schemeClr val="tx2">
                    <a:lumMod val="75000"/>
                  </a:schemeClr>
                </a:solidFill>
                <a:sym typeface="Symbol" panose="05050102010706020507" pitchFamily="18" charset="2"/>
              </a:rPr>
              <a:t>i</a:t>
            </a:r>
            <a:r>
              <a:rPr lang="sv-SE" altLang="en-US" sz="2400" dirty="0">
                <a:solidFill>
                  <a:schemeClr val="tx2">
                    <a:lumMod val="75000"/>
                  </a:schemeClr>
                </a:solidFill>
                <a:sym typeface="Symbol" panose="05050102010706020507" pitchFamily="18" charset="2"/>
              </a:rPr>
              <a:t>|/|S| log</a:t>
            </a:r>
            <a:r>
              <a:rPr lang="sv-SE" altLang="en-US" sz="2400" baseline="-25000" dirty="0">
                <a:solidFill>
                  <a:schemeClr val="tx2">
                    <a:lumMod val="75000"/>
                  </a:schemeClr>
                </a:solidFill>
                <a:sym typeface="Symbol" panose="05050102010706020507" pitchFamily="18" charset="2"/>
              </a:rPr>
              <a:t>2</a:t>
            </a:r>
            <a:r>
              <a:rPr lang="sv-SE" altLang="en-US" sz="2400" dirty="0">
                <a:solidFill>
                  <a:schemeClr val="tx2">
                    <a:lumMod val="75000"/>
                  </a:schemeClr>
                </a:solidFill>
                <a:sym typeface="Symbol" panose="05050102010706020507" pitchFamily="18" charset="2"/>
              </a:rPr>
              <a:t> |S</a:t>
            </a:r>
            <a:r>
              <a:rPr lang="sv-SE" altLang="en-US" sz="2400" baseline="-25000" dirty="0">
                <a:solidFill>
                  <a:schemeClr val="tx2">
                    <a:lumMod val="75000"/>
                  </a:schemeClr>
                </a:solidFill>
                <a:sym typeface="Symbol" panose="05050102010706020507" pitchFamily="18" charset="2"/>
              </a:rPr>
              <a:t>i</a:t>
            </a:r>
            <a:r>
              <a:rPr lang="sv-SE" altLang="en-US" sz="2400" dirty="0">
                <a:solidFill>
                  <a:schemeClr val="tx2">
                    <a:lumMod val="75000"/>
                  </a:schemeClr>
                </a:solidFill>
                <a:sym typeface="Symbol" panose="05050102010706020507" pitchFamily="18" charset="2"/>
              </a:rPr>
              <a:t>|/|S|</a:t>
            </a:r>
          </a:p>
          <a:p>
            <a:pPr eaLnBrk="1" hangingPunct="1">
              <a:buFont typeface="Wingdings" panose="05000000000000000000" pitchFamily="2" charset="2"/>
              <a:buNone/>
            </a:pPr>
            <a:r>
              <a:rPr lang="sv-SE" altLang="en-US" sz="2400" dirty="0">
                <a:solidFill>
                  <a:schemeClr val="tx2">
                    <a:lumMod val="75000"/>
                  </a:schemeClr>
                </a:solidFill>
                <a:sym typeface="Symbol" panose="05050102010706020507" pitchFamily="18" charset="2"/>
              </a:rPr>
              <a:t>	Where S</a:t>
            </a:r>
            <a:r>
              <a:rPr lang="sv-SE" altLang="en-US" sz="2400" baseline="-25000" dirty="0">
                <a:solidFill>
                  <a:schemeClr val="tx2">
                    <a:lumMod val="75000"/>
                  </a:schemeClr>
                </a:solidFill>
                <a:sym typeface="Symbol" panose="05050102010706020507" pitchFamily="18" charset="2"/>
              </a:rPr>
              <a:t>i</a:t>
            </a:r>
            <a:r>
              <a:rPr lang="sv-SE" altLang="en-US" sz="2400" dirty="0">
                <a:solidFill>
                  <a:schemeClr val="tx2">
                    <a:lumMod val="75000"/>
                  </a:schemeClr>
                </a:solidFill>
                <a:sym typeface="Symbol" panose="05050102010706020507" pitchFamily="18" charset="2"/>
              </a:rPr>
              <a:t> is the subset for which </a:t>
            </a:r>
            <a:r>
              <a:rPr lang="sv-SE" altLang="en-US" sz="2400" u="sng" dirty="0">
                <a:solidFill>
                  <a:schemeClr val="tx2">
                    <a:lumMod val="75000"/>
                  </a:schemeClr>
                </a:solidFill>
                <a:sym typeface="Symbol" panose="05050102010706020507" pitchFamily="18" charset="2"/>
              </a:rPr>
              <a:t>attribute</a:t>
            </a:r>
            <a:r>
              <a:rPr lang="sv-SE" altLang="en-US" sz="2400" dirty="0">
                <a:solidFill>
                  <a:schemeClr val="tx2">
                    <a:lumMod val="75000"/>
                  </a:schemeClr>
                </a:solidFill>
                <a:sym typeface="Symbol" panose="05050102010706020507" pitchFamily="18" charset="2"/>
              </a:rPr>
              <a:t> A has the value v</a:t>
            </a:r>
            <a:r>
              <a:rPr lang="sv-SE" altLang="en-US" sz="2400" baseline="-25000" dirty="0">
                <a:solidFill>
                  <a:schemeClr val="tx2">
                    <a:lumMod val="75000"/>
                  </a:schemeClr>
                </a:solidFill>
                <a:sym typeface="Symbol" panose="05050102010706020507" pitchFamily="18" charset="2"/>
              </a:rPr>
              <a:t>i</a:t>
            </a:r>
            <a:endParaRPr lang="en-US" altLang="en-US" sz="2400" baseline="-25000" dirty="0">
              <a:solidFill>
                <a:schemeClr val="tx2">
                  <a:lumMod val="75000"/>
                </a:schemeClr>
              </a:solidFill>
            </a:endParaRPr>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ADC7812-113B-4DE4-8BF1-3AC457A249EC}" type="slidenum">
              <a:rPr lang="en-US" altLang="en-US" sz="1200">
                <a:solidFill>
                  <a:srgbClr val="898989"/>
                </a:solidFill>
              </a:rPr>
              <a:pPr eaLnBrk="1" hangingPunct="1"/>
              <a:t>53</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sv-SE" altLang="en-US" smtClean="0"/>
              <a:t>Unknown Attribute Values</a:t>
            </a:r>
          </a:p>
        </p:txBody>
      </p:sp>
      <p:sp>
        <p:nvSpPr>
          <p:cNvPr id="45059" name="Rectangle 3"/>
          <p:cNvSpPr>
            <a:spLocks noGrp="1" noChangeArrowheads="1"/>
          </p:cNvSpPr>
          <p:nvPr>
            <p:ph idx="1"/>
          </p:nvPr>
        </p:nvSpPr>
        <p:spPr>
          <a:xfrm>
            <a:off x="990600" y="1676400"/>
            <a:ext cx="10439400" cy="4876801"/>
          </a:xfrm>
        </p:spPr>
        <p:txBody>
          <a:bodyPr/>
          <a:lstStyle/>
          <a:p>
            <a:pPr eaLnBrk="1" hangingPunct="1">
              <a:buFont typeface="Wingdings" panose="05000000000000000000" pitchFamily="2" charset="2"/>
              <a:buNone/>
            </a:pPr>
            <a:r>
              <a:rPr lang="sv-SE" altLang="en-US" sz="2400" dirty="0"/>
              <a:t>What if some examples have missing values of A?</a:t>
            </a:r>
          </a:p>
          <a:p>
            <a:pPr eaLnBrk="1" hangingPunct="1">
              <a:buFont typeface="Wingdings" panose="05000000000000000000" pitchFamily="2" charset="2"/>
              <a:buNone/>
            </a:pPr>
            <a:r>
              <a:rPr lang="sv-SE" altLang="en-US" sz="2400" dirty="0"/>
              <a:t>Use training example anyway sort through tree</a:t>
            </a:r>
          </a:p>
          <a:p>
            <a:pPr eaLnBrk="1" hangingPunct="1"/>
            <a:r>
              <a:rPr lang="sv-SE" altLang="en-US" sz="2400" dirty="0"/>
              <a:t>If node n tests A, assign most common value of A among other examples sorted to node n.</a:t>
            </a:r>
          </a:p>
          <a:p>
            <a:pPr eaLnBrk="1" hangingPunct="1"/>
            <a:r>
              <a:rPr lang="sv-SE" altLang="en-US" sz="2400" dirty="0"/>
              <a:t>Assign most common value of A among other examples with same target value</a:t>
            </a:r>
          </a:p>
          <a:p>
            <a:pPr eaLnBrk="1" hangingPunct="1"/>
            <a:r>
              <a:rPr lang="sv-SE" altLang="en-US" sz="2400" dirty="0"/>
              <a:t>Assign probability pi to each possible value vi of A</a:t>
            </a:r>
          </a:p>
          <a:p>
            <a:pPr lvl="1" eaLnBrk="1" hangingPunct="1"/>
            <a:r>
              <a:rPr lang="sv-SE" altLang="en-US" sz="2400" dirty="0"/>
              <a:t>Assign fraction pi of example to each descendant in tree</a:t>
            </a:r>
          </a:p>
          <a:p>
            <a:pPr eaLnBrk="1" hangingPunct="1">
              <a:buFont typeface="Wingdings" panose="05000000000000000000" pitchFamily="2" charset="2"/>
              <a:buNone/>
            </a:pPr>
            <a:endParaRPr lang="sv-SE" altLang="en-US" sz="2400" dirty="0"/>
          </a:p>
          <a:p>
            <a:pPr eaLnBrk="1" hangingPunct="1">
              <a:buFont typeface="Wingdings" panose="05000000000000000000" pitchFamily="2" charset="2"/>
              <a:buNone/>
            </a:pPr>
            <a:r>
              <a:rPr lang="sv-SE" altLang="en-US" sz="2400" dirty="0"/>
              <a:t>Classify new examples in the same fashion </a:t>
            </a:r>
            <a:endParaRPr lang="en-US" altLang="en-US" sz="2400" dirty="0"/>
          </a:p>
        </p:txBody>
      </p:sp>
      <p:sp>
        <p:nvSpPr>
          <p:cNvPr id="4" name="Footer Placeholder 4"/>
          <p:cNvSpPr>
            <a:spLocks noGrp="1"/>
          </p:cNvSpPr>
          <p:nvPr>
            <p:ph type="ftr" sz="quarter" idx="11"/>
          </p:nvPr>
        </p:nvSpPr>
        <p:spPr/>
        <p:txBody>
          <a:bodyPr/>
          <a:lstStyle/>
          <a:p>
            <a:pPr>
              <a:defRPr/>
            </a:pPr>
            <a:r>
              <a:rPr lang="en-US"/>
              <a:t>Decision Tree Learning</a:t>
            </a:r>
          </a:p>
        </p:txBody>
      </p:sp>
      <p:sp>
        <p:nvSpPr>
          <p:cNvPr id="5" name="Slide Number Placeholder 5"/>
          <p:cNvSpPr>
            <a:spLocks noGrp="1"/>
          </p:cNvSpPr>
          <p:nvPr>
            <p:ph type="sldNum" sz="quarter" idx="12"/>
          </p:nvPr>
        </p:nvSpPr>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490C43E-15B8-4AB6-9425-75EE903A3FC8}" type="slidenum">
              <a:rPr lang="en-US" altLang="en-US" sz="1200">
                <a:solidFill>
                  <a:srgbClr val="898989"/>
                </a:solidFill>
              </a:rPr>
              <a:pPr eaLnBrk="1" hangingPunct="1"/>
              <a:t>54</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8763000" cy="868362"/>
          </a:xfrm>
        </p:spPr>
        <p:txBody>
          <a:bodyPr/>
          <a:lstStyle/>
          <a:p>
            <a:r>
              <a:rPr lang="en-US" altLang="zh-HK" sz="4000" dirty="0">
                <a:ea typeface="新細明體" panose="02020500000000000000" pitchFamily="18" charset="-120"/>
              </a:rPr>
              <a:t>Comparing Attribute Selection Measures</a:t>
            </a:r>
            <a:endParaRPr lang="en-US" sz="4000" dirty="0"/>
          </a:p>
        </p:txBody>
      </p:sp>
      <p:sp>
        <p:nvSpPr>
          <p:cNvPr id="3" name="Content Placeholder 2"/>
          <p:cNvSpPr>
            <a:spLocks noGrp="1"/>
          </p:cNvSpPr>
          <p:nvPr>
            <p:ph idx="1"/>
          </p:nvPr>
        </p:nvSpPr>
        <p:spPr>
          <a:xfrm>
            <a:off x="609600" y="1295401"/>
            <a:ext cx="11277600" cy="4830764"/>
          </a:xfrm>
        </p:spPr>
        <p:txBody>
          <a:bodyPr/>
          <a:lstStyle/>
          <a:p>
            <a:pPr eaLnBrk="1" hangingPunct="1">
              <a:lnSpc>
                <a:spcPct val="110000"/>
              </a:lnSpc>
            </a:pPr>
            <a:r>
              <a:rPr lang="en-US" altLang="zh-HK" sz="2400" dirty="0">
                <a:ea typeface="新細明體" panose="02020500000000000000" pitchFamily="18" charset="-120"/>
              </a:rPr>
              <a:t>The three measures, in general, return good results but</a:t>
            </a:r>
          </a:p>
          <a:p>
            <a:pPr lvl="1" eaLnBrk="1" hangingPunct="1">
              <a:lnSpc>
                <a:spcPct val="110000"/>
              </a:lnSpc>
            </a:pPr>
            <a:r>
              <a:rPr lang="en-US" altLang="zh-HK" b="1" dirty="0">
                <a:ea typeface="新細明體" panose="02020500000000000000" pitchFamily="18" charset="-120"/>
              </a:rPr>
              <a:t>Information gain</a:t>
            </a:r>
            <a:r>
              <a:rPr lang="en-US" altLang="zh-HK" dirty="0">
                <a:ea typeface="新細明體" panose="02020500000000000000" pitchFamily="18" charset="-120"/>
              </a:rPr>
              <a:t>: </a:t>
            </a:r>
          </a:p>
          <a:p>
            <a:pPr lvl="2" eaLnBrk="1" hangingPunct="1">
              <a:lnSpc>
                <a:spcPct val="110000"/>
              </a:lnSpc>
            </a:pPr>
            <a:r>
              <a:rPr lang="en-US" altLang="zh-HK" dirty="0">
                <a:ea typeface="新細明體" panose="02020500000000000000" pitchFamily="18" charset="-120"/>
              </a:rPr>
              <a:t>biased towards multivalued attributes</a:t>
            </a:r>
          </a:p>
          <a:p>
            <a:pPr lvl="1" eaLnBrk="1" hangingPunct="1">
              <a:lnSpc>
                <a:spcPct val="110000"/>
              </a:lnSpc>
            </a:pPr>
            <a:r>
              <a:rPr lang="en-US" altLang="zh-HK" b="1" dirty="0">
                <a:ea typeface="新細明體" panose="02020500000000000000" pitchFamily="18" charset="-120"/>
              </a:rPr>
              <a:t>Gain ratio</a:t>
            </a:r>
            <a:r>
              <a:rPr lang="en-US" altLang="zh-HK" dirty="0">
                <a:ea typeface="新細明體" panose="02020500000000000000" pitchFamily="18" charset="-120"/>
              </a:rPr>
              <a:t>: </a:t>
            </a:r>
          </a:p>
          <a:p>
            <a:pPr lvl="2" eaLnBrk="1" hangingPunct="1">
              <a:lnSpc>
                <a:spcPct val="110000"/>
              </a:lnSpc>
            </a:pPr>
            <a:r>
              <a:rPr lang="en-US" altLang="zh-HK" dirty="0">
                <a:ea typeface="新細明體" panose="02020500000000000000" pitchFamily="18" charset="-120"/>
              </a:rPr>
              <a:t>tends to prefer unbalanced splits in which one partition is much smaller than the others</a:t>
            </a:r>
          </a:p>
          <a:p>
            <a:pPr lvl="1" eaLnBrk="1" hangingPunct="1">
              <a:lnSpc>
                <a:spcPct val="110000"/>
              </a:lnSpc>
            </a:pPr>
            <a:r>
              <a:rPr lang="en-US" altLang="zh-HK" b="1" dirty="0">
                <a:ea typeface="新細明體" panose="02020500000000000000" pitchFamily="18" charset="-120"/>
              </a:rPr>
              <a:t>Gini index</a:t>
            </a:r>
            <a:r>
              <a:rPr lang="en-US" altLang="zh-HK" dirty="0">
                <a:ea typeface="新細明體" panose="02020500000000000000" pitchFamily="18" charset="-120"/>
              </a:rPr>
              <a:t>: </a:t>
            </a:r>
          </a:p>
          <a:p>
            <a:pPr lvl="2" eaLnBrk="1" hangingPunct="1">
              <a:lnSpc>
                <a:spcPct val="110000"/>
              </a:lnSpc>
            </a:pPr>
            <a:r>
              <a:rPr lang="en-US" altLang="zh-HK" dirty="0">
                <a:ea typeface="新細明體" panose="02020500000000000000" pitchFamily="18" charset="-120"/>
              </a:rPr>
              <a:t>biased to multivalued attributes</a:t>
            </a:r>
          </a:p>
          <a:p>
            <a:pPr lvl="2" eaLnBrk="1" hangingPunct="1">
              <a:lnSpc>
                <a:spcPct val="110000"/>
              </a:lnSpc>
            </a:pPr>
            <a:r>
              <a:rPr lang="en-US" altLang="zh-HK" dirty="0">
                <a:ea typeface="新細明體" panose="02020500000000000000" pitchFamily="18" charset="-120"/>
              </a:rPr>
              <a:t>has difficulty when # of classes is large</a:t>
            </a:r>
          </a:p>
          <a:p>
            <a:pPr lvl="2" eaLnBrk="1" hangingPunct="1">
              <a:lnSpc>
                <a:spcPct val="110000"/>
              </a:lnSpc>
            </a:pPr>
            <a:r>
              <a:rPr lang="en-US" altLang="zh-HK" dirty="0">
                <a:ea typeface="新細明體" panose="02020500000000000000" pitchFamily="18" charset="-120"/>
              </a:rPr>
              <a:t>tends to favor tests that result in equal-sized partitions and purity in both partitions</a:t>
            </a:r>
          </a:p>
          <a:p>
            <a:endParaRPr lang="en-US"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55</a:t>
            </a:fld>
            <a:endParaRPr lang="en-US" altLang="en-US"/>
          </a:p>
        </p:txBody>
      </p:sp>
    </p:spTree>
    <p:extLst>
      <p:ext uri="{BB962C8B-B14F-4D97-AF65-F5344CB8AC3E}">
        <p14:creationId xmlns:p14="http://schemas.microsoft.com/office/powerpoint/2010/main" val="123756759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z="4000" dirty="0">
                <a:ea typeface="新細明體" panose="02020500000000000000" pitchFamily="18" charset="-120"/>
              </a:rPr>
              <a:t>Overfitting and Tree Pruning</a:t>
            </a:r>
            <a:endParaRPr lang="en-US" sz="4000" dirty="0"/>
          </a:p>
        </p:txBody>
      </p:sp>
      <p:sp>
        <p:nvSpPr>
          <p:cNvPr id="3" name="Content Placeholder 2"/>
          <p:cNvSpPr>
            <a:spLocks noGrp="1"/>
          </p:cNvSpPr>
          <p:nvPr>
            <p:ph idx="1"/>
          </p:nvPr>
        </p:nvSpPr>
        <p:spPr>
          <a:xfrm>
            <a:off x="609600" y="1417639"/>
            <a:ext cx="11430000" cy="4938712"/>
          </a:xfrm>
        </p:spPr>
        <p:txBody>
          <a:bodyPr/>
          <a:lstStyle/>
          <a:p>
            <a:pPr eaLnBrk="1" hangingPunct="1"/>
            <a:r>
              <a:rPr lang="en-US" altLang="zh-HK" sz="2800" b="1" u="sng" dirty="0">
                <a:ea typeface="新細明體" panose="02020500000000000000" pitchFamily="18" charset="-120"/>
              </a:rPr>
              <a:t>Overfitting</a:t>
            </a:r>
            <a:r>
              <a:rPr lang="en-US" altLang="zh-HK" sz="2800" b="1" dirty="0">
                <a:ea typeface="新細明體" panose="02020500000000000000" pitchFamily="18" charset="-120"/>
              </a:rPr>
              <a:t>:  An induced tree may </a:t>
            </a:r>
            <a:r>
              <a:rPr lang="en-US" altLang="zh-HK" sz="2800" b="1" dirty="0" err="1">
                <a:ea typeface="新細明體" panose="02020500000000000000" pitchFamily="18" charset="-120"/>
              </a:rPr>
              <a:t>overfit</a:t>
            </a:r>
            <a:r>
              <a:rPr lang="en-US" altLang="zh-HK" sz="2800" b="1" dirty="0">
                <a:ea typeface="新細明體" panose="02020500000000000000" pitchFamily="18" charset="-120"/>
              </a:rPr>
              <a:t> the training data </a:t>
            </a:r>
          </a:p>
          <a:p>
            <a:pPr lvl="1" eaLnBrk="1" hangingPunct="1"/>
            <a:r>
              <a:rPr lang="en-US" altLang="zh-HK" dirty="0">
                <a:ea typeface="新細明體" panose="02020500000000000000" pitchFamily="18" charset="-120"/>
              </a:rPr>
              <a:t>Too many branches, some may reflect anomalies due to noise or outliers</a:t>
            </a:r>
          </a:p>
          <a:p>
            <a:pPr lvl="1" eaLnBrk="1" hangingPunct="1"/>
            <a:r>
              <a:rPr lang="en-US" altLang="zh-HK" dirty="0">
                <a:ea typeface="新細明體" panose="02020500000000000000" pitchFamily="18" charset="-120"/>
              </a:rPr>
              <a:t>Poor accuracy for unseen samples</a:t>
            </a:r>
          </a:p>
          <a:p>
            <a:pPr eaLnBrk="1" hangingPunct="1"/>
            <a:r>
              <a:rPr lang="en-US" altLang="zh-HK" sz="2800" b="1" dirty="0">
                <a:ea typeface="新細明體" panose="02020500000000000000" pitchFamily="18" charset="-120"/>
              </a:rPr>
              <a:t>Two approaches to avoid overfitting </a:t>
            </a:r>
          </a:p>
          <a:p>
            <a:pPr lvl="1" eaLnBrk="1" hangingPunct="1"/>
            <a:r>
              <a:rPr lang="en-US" altLang="zh-HK" u="sng" dirty="0" smtClean="0">
                <a:ea typeface="新細明體" panose="02020500000000000000" pitchFamily="18" charset="-120"/>
              </a:rPr>
              <a:t>Pre-pruning</a:t>
            </a:r>
            <a:r>
              <a:rPr lang="en-US" altLang="zh-HK" dirty="0">
                <a:ea typeface="新細明體" panose="02020500000000000000" pitchFamily="18" charset="-120"/>
              </a:rPr>
              <a:t>: </a:t>
            </a:r>
            <a:r>
              <a:rPr lang="en-US" altLang="zh-HK" i="1" dirty="0">
                <a:ea typeface="新細明體" panose="02020500000000000000" pitchFamily="18" charset="-120"/>
              </a:rPr>
              <a:t>Halt tree construction early</a:t>
            </a:r>
            <a:r>
              <a:rPr lang="en-US" altLang="zh-HK" dirty="0">
                <a:ea typeface="新細明體" panose="02020500000000000000" pitchFamily="18" charset="-120"/>
              </a:rPr>
              <a:t> </a:t>
            </a:r>
            <a:r>
              <a:rPr lang="en-US" altLang="zh-HK" dirty="0">
                <a:ea typeface="新細明體" panose="02020500000000000000" pitchFamily="18" charset="-120"/>
                <a:cs typeface="Tahoma" panose="020B0604030504040204" pitchFamily="34" charset="0"/>
              </a:rPr>
              <a:t>̵</a:t>
            </a:r>
            <a:r>
              <a:rPr lang="en-US" altLang="zh-HK" dirty="0">
                <a:ea typeface="新細明體" panose="02020500000000000000" pitchFamily="18" charset="-120"/>
              </a:rPr>
              <a:t> do not split a node if this would result in the goodness measure falling below a threshold</a:t>
            </a:r>
          </a:p>
          <a:p>
            <a:pPr lvl="2" eaLnBrk="1" hangingPunct="1"/>
            <a:r>
              <a:rPr lang="en-US" altLang="zh-HK" dirty="0">
                <a:ea typeface="新細明體" panose="02020500000000000000" pitchFamily="18" charset="-120"/>
              </a:rPr>
              <a:t>Difficult to choose an appropriate threshold</a:t>
            </a:r>
          </a:p>
          <a:p>
            <a:pPr lvl="1" eaLnBrk="1" hangingPunct="1"/>
            <a:r>
              <a:rPr lang="en-US" altLang="zh-HK" u="sng" dirty="0" smtClean="0">
                <a:ea typeface="新細明體" panose="02020500000000000000" pitchFamily="18" charset="-120"/>
              </a:rPr>
              <a:t>Post-pruning</a:t>
            </a:r>
            <a:r>
              <a:rPr lang="en-US" altLang="zh-HK" dirty="0">
                <a:ea typeface="新細明體" panose="02020500000000000000" pitchFamily="18" charset="-120"/>
              </a:rPr>
              <a:t>: </a:t>
            </a:r>
            <a:r>
              <a:rPr lang="en-US" altLang="zh-HK" i="1" dirty="0">
                <a:ea typeface="新細明體" panose="02020500000000000000" pitchFamily="18" charset="-120"/>
              </a:rPr>
              <a:t>Remove branches</a:t>
            </a:r>
            <a:r>
              <a:rPr lang="en-US" altLang="zh-HK" dirty="0">
                <a:ea typeface="新細明體" panose="02020500000000000000" pitchFamily="18" charset="-120"/>
              </a:rPr>
              <a:t> from a “fully grown” tree—get a sequence of progressively pruned trees</a:t>
            </a:r>
          </a:p>
          <a:p>
            <a:pPr lvl="2" eaLnBrk="1" hangingPunct="1"/>
            <a:r>
              <a:rPr lang="en-US" altLang="zh-HK" dirty="0">
                <a:ea typeface="新細明體" panose="02020500000000000000" pitchFamily="18" charset="-120"/>
              </a:rPr>
              <a:t>Use a set of data different from the training data to decide which is the “best pruned tree”</a:t>
            </a:r>
          </a:p>
          <a:p>
            <a:endParaRPr lang="en-US"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56</a:t>
            </a:fld>
            <a:endParaRPr lang="en-US" altLang="en-US"/>
          </a:p>
        </p:txBody>
      </p:sp>
    </p:spTree>
    <p:extLst>
      <p:ext uri="{BB962C8B-B14F-4D97-AF65-F5344CB8AC3E}">
        <p14:creationId xmlns:p14="http://schemas.microsoft.com/office/powerpoint/2010/main" val="14139805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z="4000" dirty="0">
                <a:ea typeface="新細明體" panose="02020500000000000000" pitchFamily="18" charset="-120"/>
              </a:rPr>
              <a:t>Overfitting and Tree Pruning</a:t>
            </a:r>
            <a:endParaRPr lang="en-US" sz="4000" dirty="0"/>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57</a:t>
            </a:fld>
            <a:endParaRPr lang="en-US" altLang="en-US"/>
          </a:p>
        </p:txBody>
      </p:sp>
      <p:pic>
        <p:nvPicPr>
          <p:cNvPr id="2050" name="Picture 2" descr="https://miro.medium.com/v2/resize:fit:1144/1*Ioni1lBNmiBAWjDONXeAD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254614"/>
            <a:ext cx="9220200" cy="51017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28600" y="6019800"/>
            <a:ext cx="10134600" cy="461665"/>
          </a:xfrm>
          <a:prstGeom prst="rect">
            <a:avLst/>
          </a:prstGeom>
          <a:noFill/>
        </p:spPr>
        <p:txBody>
          <a:bodyPr wrap="square" rtlCol="0">
            <a:spAutoFit/>
          </a:bodyPr>
          <a:lstStyle/>
          <a:p>
            <a:r>
              <a:rPr lang="en-US" sz="1200" dirty="0" smtClean="0"/>
              <a:t>Decision Tree Pruning</a:t>
            </a:r>
          </a:p>
          <a:p>
            <a:r>
              <a:rPr lang="en-US" sz="1200" dirty="0"/>
              <a:t>Source: </a:t>
            </a:r>
            <a:r>
              <a:rPr lang="en-US" sz="1200" dirty="0">
                <a:hlinkClick r:id="rId3"/>
              </a:rPr>
              <a:t>https://</a:t>
            </a:r>
            <a:r>
              <a:rPr lang="en-US" sz="1200" dirty="0" smtClean="0">
                <a:hlinkClick r:id="rId3"/>
              </a:rPr>
              <a:t>kaumadiechamalka100.medium.com/decision-tree-in-machine-learning-c610ef087260</a:t>
            </a:r>
            <a:r>
              <a:rPr lang="en-US" sz="1200" dirty="0" smtClean="0"/>
              <a:t> </a:t>
            </a:r>
            <a:endParaRPr lang="en-US" sz="1200" dirty="0"/>
          </a:p>
        </p:txBody>
      </p:sp>
    </p:spTree>
    <p:extLst>
      <p:ext uri="{BB962C8B-B14F-4D97-AF65-F5344CB8AC3E}">
        <p14:creationId xmlns:p14="http://schemas.microsoft.com/office/powerpoint/2010/main" val="39479036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Strengths of Decision Tree Learning</a:t>
            </a:r>
            <a:endParaRPr lang="en-US" dirty="0"/>
          </a:p>
        </p:txBody>
      </p:sp>
      <p:sp>
        <p:nvSpPr>
          <p:cNvPr id="3" name="Content Placeholder 2"/>
          <p:cNvSpPr>
            <a:spLocks noGrp="1"/>
          </p:cNvSpPr>
          <p:nvPr>
            <p:ph idx="1"/>
          </p:nvPr>
        </p:nvSpPr>
        <p:spPr/>
        <p:txBody>
          <a:bodyPr/>
          <a:lstStyle/>
          <a:p>
            <a:r>
              <a:rPr lang="en-US" dirty="0"/>
              <a:t>Decision trees are able to generate understandable rules.</a:t>
            </a:r>
          </a:p>
          <a:p>
            <a:r>
              <a:rPr lang="en-US" dirty="0"/>
              <a:t>Decision trees perform classification without requiring much computation.</a:t>
            </a:r>
          </a:p>
          <a:p>
            <a:r>
              <a:rPr lang="en-US" dirty="0"/>
              <a:t>Decision trees are able to handle both continuous and categorical variables.</a:t>
            </a:r>
          </a:p>
          <a:p>
            <a:r>
              <a:rPr lang="en-US" dirty="0"/>
              <a:t>Decision trees provide a clear indication of which fields are most important for prediction or classification.</a:t>
            </a:r>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58</a:t>
            </a:fld>
            <a:endParaRPr lang="en-US" altLang="en-US"/>
          </a:p>
        </p:txBody>
      </p:sp>
    </p:spTree>
    <p:extLst>
      <p:ext uri="{BB962C8B-B14F-4D97-AF65-F5344CB8AC3E}">
        <p14:creationId xmlns:p14="http://schemas.microsoft.com/office/powerpoint/2010/main" val="124118080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C4.5 algorithm</a:t>
            </a:r>
            <a:endParaRPr lang="en-US" dirty="0"/>
          </a:p>
        </p:txBody>
      </p:sp>
      <p:sp>
        <p:nvSpPr>
          <p:cNvPr id="3" name="Content Placeholder 2"/>
          <p:cNvSpPr>
            <a:spLocks noGrp="1"/>
          </p:cNvSpPr>
          <p:nvPr>
            <p:ph idx="1"/>
          </p:nvPr>
        </p:nvSpPr>
        <p:spPr>
          <a:xfrm>
            <a:off x="609600" y="1417638"/>
            <a:ext cx="10972800" cy="5211761"/>
          </a:xfrm>
        </p:spPr>
        <p:txBody>
          <a:bodyPr/>
          <a:lstStyle/>
          <a:p>
            <a:r>
              <a:rPr lang="en-US" dirty="0"/>
              <a:t>C4.5 </a:t>
            </a:r>
            <a:r>
              <a:rPr lang="en-US" dirty="0" smtClean="0"/>
              <a:t>is an improvement on ID3 Algorithm. </a:t>
            </a:r>
            <a:r>
              <a:rPr lang="en-US" dirty="0"/>
              <a:t>Some of these are:</a:t>
            </a:r>
          </a:p>
          <a:p>
            <a:pPr lvl="1"/>
            <a:r>
              <a:rPr lang="en-US" dirty="0" smtClean="0"/>
              <a:t>Handling </a:t>
            </a:r>
            <a:r>
              <a:rPr lang="en-US" dirty="0"/>
              <a:t>both continuous and discrete attributes - In order to handle continuous </a:t>
            </a:r>
            <a:r>
              <a:rPr lang="en-US" dirty="0" smtClean="0"/>
              <a:t>attributes</a:t>
            </a:r>
          </a:p>
          <a:p>
            <a:pPr lvl="1"/>
            <a:r>
              <a:rPr lang="en-US" dirty="0" smtClean="0"/>
              <a:t>Handling </a:t>
            </a:r>
            <a:r>
              <a:rPr lang="en-US" dirty="0"/>
              <a:t>training data with missing attribute values - C4.5 allows attribute values to be marked as ? for missing. Missing attribute values are simply not used in gain and entropy calculations</a:t>
            </a:r>
            <a:r>
              <a:rPr lang="en-US" dirty="0" smtClean="0"/>
              <a:t>. </a:t>
            </a:r>
          </a:p>
          <a:p>
            <a:pPr lvl="1"/>
            <a:r>
              <a:rPr lang="en-US" dirty="0" smtClean="0"/>
              <a:t>Handling </a:t>
            </a:r>
            <a:r>
              <a:rPr lang="en-US" dirty="0"/>
              <a:t>attributes with differing costs.</a:t>
            </a:r>
          </a:p>
          <a:p>
            <a:pPr lvl="1"/>
            <a:r>
              <a:rPr lang="en-US" dirty="0"/>
              <a:t>Pruning trees after creation - C4.5 goes back through the tree once it's been created and attempts to remove branches that do not help by replacing them with leaf nodes</a:t>
            </a:r>
            <a:r>
              <a:rPr lang="en-US" dirty="0" smtClean="0"/>
              <a:t>.</a:t>
            </a:r>
          </a:p>
          <a:p>
            <a:pPr lvl="1"/>
            <a:r>
              <a:rPr lang="en-US" i="1" dirty="0"/>
              <a:t>J4.8 </a:t>
            </a:r>
            <a:r>
              <a:rPr lang="en-US" i="1" dirty="0" smtClean="0"/>
              <a:t>in WEKA ML Toolkit – </a:t>
            </a:r>
            <a:r>
              <a:rPr lang="en-US" i="1" dirty="0"/>
              <a:t>is the further enhanced </a:t>
            </a:r>
            <a:r>
              <a:rPr lang="en-US" i="1" dirty="0" smtClean="0"/>
              <a:t>C4.5</a:t>
            </a:r>
            <a:endParaRPr lang="en-US" i="1" dirty="0"/>
          </a:p>
          <a:p>
            <a:pPr lvl="1"/>
            <a:endParaRPr lang="en-US" dirty="0" smtClean="0"/>
          </a:p>
        </p:txBody>
      </p:sp>
      <p:sp>
        <p:nvSpPr>
          <p:cNvPr id="4" name="Footer Placeholder 3"/>
          <p:cNvSpPr>
            <a:spLocks noGrp="1"/>
          </p:cNvSpPr>
          <p:nvPr>
            <p:ph type="ftr" sz="quarter" idx="11"/>
          </p:nvPr>
        </p:nvSpPr>
        <p:spPr/>
        <p:txBody>
          <a:bodyPr/>
          <a:lstStyle/>
          <a:p>
            <a:pPr>
              <a:defRPr/>
            </a:pPr>
            <a:r>
              <a:rPr lang="en-US" dirty="0" smtClean="0"/>
              <a:t>Decision Tree Learning</a:t>
            </a:r>
            <a:endParaRPr lang="en-US" dirty="0"/>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59</a:t>
            </a:fld>
            <a:endParaRPr lang="en-US" altLang="en-US"/>
          </a:p>
        </p:txBody>
      </p:sp>
    </p:spTree>
    <p:extLst>
      <p:ext uri="{BB962C8B-B14F-4D97-AF65-F5344CB8AC3E}">
        <p14:creationId xmlns:p14="http://schemas.microsoft.com/office/powerpoint/2010/main" val="76479301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Others Decision Tree Algorithms</a:t>
            </a:r>
            <a:endParaRPr lang="en-US" dirty="0"/>
          </a:p>
        </p:txBody>
      </p:sp>
      <p:sp>
        <p:nvSpPr>
          <p:cNvPr id="3" name="Content Placeholder 2"/>
          <p:cNvSpPr>
            <a:spLocks noGrp="1"/>
          </p:cNvSpPr>
          <p:nvPr>
            <p:ph idx="1"/>
          </p:nvPr>
        </p:nvSpPr>
        <p:spPr/>
        <p:txBody>
          <a:bodyPr/>
          <a:lstStyle/>
          <a:p>
            <a:r>
              <a:rPr lang="en-US" dirty="0"/>
              <a:t>CART (Classification And Regression Tree</a:t>
            </a:r>
            <a:r>
              <a:rPr lang="en-US" dirty="0" smtClean="0"/>
              <a:t>)</a:t>
            </a:r>
          </a:p>
          <a:p>
            <a:pPr lvl="1"/>
            <a:r>
              <a:rPr lang="en-US" dirty="0" smtClean="0"/>
              <a:t>Uses Gini’s </a:t>
            </a:r>
            <a:r>
              <a:rPr lang="en-US" dirty="0"/>
              <a:t>impurity index</a:t>
            </a:r>
          </a:p>
          <a:p>
            <a:r>
              <a:rPr lang="en-US" dirty="0"/>
              <a:t>CHAID (</a:t>
            </a:r>
            <a:r>
              <a:rPr lang="en-US" dirty="0" err="1"/>
              <a:t>CHi</a:t>
            </a:r>
            <a:r>
              <a:rPr lang="en-US" dirty="0"/>
              <a:t>-squared Automatic Interaction Detector). </a:t>
            </a:r>
            <a:endParaRPr lang="en-US" dirty="0" smtClean="0"/>
          </a:p>
          <a:p>
            <a:pPr lvl="1"/>
            <a:r>
              <a:rPr lang="en-US" dirty="0" smtClean="0"/>
              <a:t>Performs </a:t>
            </a:r>
            <a:r>
              <a:rPr lang="en-US" dirty="0"/>
              <a:t>multi-level splits when computing classification trees.</a:t>
            </a:r>
          </a:p>
          <a:p>
            <a:r>
              <a:rPr lang="en-US" dirty="0" smtClean="0"/>
              <a:t>MARS</a:t>
            </a:r>
          </a:p>
          <a:p>
            <a:pPr lvl="1"/>
            <a:r>
              <a:rPr lang="en-US" dirty="0" smtClean="0"/>
              <a:t>extends </a:t>
            </a:r>
            <a:r>
              <a:rPr lang="en-US" dirty="0"/>
              <a:t>decision trees to handle numerical data better.</a:t>
            </a:r>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60</a:t>
            </a:fld>
            <a:endParaRPr lang="en-US" altLang="en-US"/>
          </a:p>
        </p:txBody>
      </p:sp>
    </p:spTree>
    <p:extLst>
      <p:ext uri="{BB962C8B-B14F-4D97-AF65-F5344CB8AC3E}">
        <p14:creationId xmlns:p14="http://schemas.microsoft.com/office/powerpoint/2010/main" val="415436872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Forest</a:t>
            </a:r>
            <a:endParaRPr lang="en-US" dirty="0"/>
          </a:p>
        </p:txBody>
      </p:sp>
      <p:sp>
        <p:nvSpPr>
          <p:cNvPr id="3" name="Content Placeholder 2"/>
          <p:cNvSpPr>
            <a:spLocks noGrp="1"/>
          </p:cNvSpPr>
          <p:nvPr>
            <p:ph idx="1"/>
          </p:nvPr>
        </p:nvSpPr>
        <p:spPr>
          <a:xfrm>
            <a:off x="304799" y="4384635"/>
            <a:ext cx="11646053" cy="1635165"/>
          </a:xfrm>
        </p:spPr>
        <p:txBody>
          <a:bodyPr/>
          <a:lstStyle/>
          <a:p>
            <a:r>
              <a:rPr lang="en-US" sz="2800" dirty="0" smtClean="0"/>
              <a:t>Random Forest makes </a:t>
            </a:r>
            <a:r>
              <a:rPr lang="en-US" sz="2800" dirty="0"/>
              <a:t>better forecasts by using a large number of decision trees. It is an ensemble learning technique because each tree examines distinct random portions of the data, and their findings are integrated by voting for classification or averaging for regression. This aids in decreasing errors and increasing accuracy.</a:t>
            </a:r>
          </a:p>
        </p:txBody>
      </p:sp>
      <p:sp>
        <p:nvSpPr>
          <p:cNvPr id="4" name="Footer Placeholder 3"/>
          <p:cNvSpPr>
            <a:spLocks noGrp="1"/>
          </p:cNvSpPr>
          <p:nvPr>
            <p:ph type="ftr" sz="quarter" idx="11"/>
          </p:nvPr>
        </p:nvSpPr>
        <p:spPr/>
        <p:txBody>
          <a:bodyPr/>
          <a:lstStyle/>
          <a:p>
            <a:pPr>
              <a:defRPr/>
            </a:pPr>
            <a:r>
              <a:rPr lang="en-US" smtClean="0"/>
              <a:t>Decision Tree Learning</a:t>
            </a:r>
            <a:endParaRPr lang="en-US"/>
          </a:p>
        </p:txBody>
      </p:sp>
      <p:sp>
        <p:nvSpPr>
          <p:cNvPr id="5" name="Slide Number Placeholder 4"/>
          <p:cNvSpPr>
            <a:spLocks noGrp="1"/>
          </p:cNvSpPr>
          <p:nvPr>
            <p:ph type="sldNum" sz="quarter" idx="12"/>
          </p:nvPr>
        </p:nvSpPr>
        <p:spPr/>
        <p:txBody>
          <a:bodyPr/>
          <a:lstStyle/>
          <a:p>
            <a:fld id="{BF785D5A-39C6-4148-8E4A-9B7BFC3CD3F2}" type="slidenum">
              <a:rPr lang="en-US" altLang="en-US" smtClean="0"/>
              <a:pPr/>
              <a:t>61</a:t>
            </a:fld>
            <a:endParaRPr lang="en-US" altLang="en-US"/>
          </a:p>
        </p:txBody>
      </p:sp>
      <p:pic>
        <p:nvPicPr>
          <p:cNvPr id="6" name="Picture 5"/>
          <p:cNvPicPr>
            <a:picLocks noChangeAspect="1"/>
          </p:cNvPicPr>
          <p:nvPr/>
        </p:nvPicPr>
        <p:blipFill>
          <a:blip r:embed="rId2"/>
          <a:stretch>
            <a:fillRect/>
          </a:stretch>
        </p:blipFill>
        <p:spPr>
          <a:xfrm>
            <a:off x="762000" y="1108604"/>
            <a:ext cx="6553200" cy="3228222"/>
          </a:xfrm>
          <a:prstGeom prst="rect">
            <a:avLst/>
          </a:prstGeom>
        </p:spPr>
      </p:pic>
      <p:sp>
        <p:nvSpPr>
          <p:cNvPr id="7" name="TextBox 6"/>
          <p:cNvSpPr txBox="1"/>
          <p:nvPr/>
        </p:nvSpPr>
        <p:spPr>
          <a:xfrm>
            <a:off x="7382525" y="3598421"/>
            <a:ext cx="4568328" cy="461665"/>
          </a:xfrm>
          <a:prstGeom prst="rect">
            <a:avLst/>
          </a:prstGeom>
          <a:noFill/>
        </p:spPr>
        <p:txBody>
          <a:bodyPr wrap="square" rtlCol="0">
            <a:spAutoFit/>
          </a:bodyPr>
          <a:lstStyle/>
          <a:p>
            <a:r>
              <a:rPr lang="en-US" sz="1200" dirty="0"/>
              <a:t>Source: https://www.geeksforgeeks.org/machine-learning/random-forest-algorithm-in-machine-learning/</a:t>
            </a:r>
          </a:p>
        </p:txBody>
      </p:sp>
    </p:spTree>
    <p:extLst>
      <p:ext uri="{BB962C8B-B14F-4D97-AF65-F5344CB8AC3E}">
        <p14:creationId xmlns:p14="http://schemas.microsoft.com/office/powerpoint/2010/main" val="3702927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Damask</Template>
  <TotalTime>14634</TotalTime>
  <Words>3700</Words>
  <Application>Microsoft Office PowerPoint</Application>
  <PresentationFormat>Widescreen</PresentationFormat>
  <Paragraphs>991</Paragraphs>
  <Slides>61</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2" baseType="lpstr">
      <vt:lpstr>ＭＳ Ｐゴシック</vt:lpstr>
      <vt:lpstr>Arial</vt:lpstr>
      <vt:lpstr>Calibri</vt:lpstr>
      <vt:lpstr>Garamond</vt:lpstr>
      <vt:lpstr>新細明體</vt:lpstr>
      <vt:lpstr>Symbol</vt:lpstr>
      <vt:lpstr>Tahoma</vt:lpstr>
      <vt:lpstr>Times New Roman</vt:lpstr>
      <vt:lpstr>Wingdings</vt:lpstr>
      <vt:lpstr>Office Theme</vt:lpstr>
      <vt:lpstr>Worksheet</vt:lpstr>
      <vt:lpstr>SCS3212 Machine Learning Algorithms &amp; Programming</vt:lpstr>
      <vt:lpstr>Overview</vt:lpstr>
      <vt:lpstr>PowerPoint Presentation</vt:lpstr>
      <vt:lpstr>Supplimentary material</vt:lpstr>
      <vt:lpstr>Example: Data to Rules</vt:lpstr>
      <vt:lpstr>Example: Data to Rules</vt:lpstr>
      <vt:lpstr>Example: Data to Rules</vt:lpstr>
      <vt:lpstr>Example1: Data</vt:lpstr>
      <vt:lpstr>Example 1: Data to Tree</vt:lpstr>
      <vt:lpstr>Example 2 – KRA Tax returns</vt:lpstr>
      <vt:lpstr>Example 2 – KRA Tax returns</vt:lpstr>
      <vt:lpstr>Example 3 – Buying a computer</vt:lpstr>
      <vt:lpstr>Example 4: Plotted data partitioned by a decision tree</vt:lpstr>
      <vt:lpstr>Decision Trees</vt:lpstr>
      <vt:lpstr>Example: Sweets Data</vt:lpstr>
      <vt:lpstr>PlayTennis Training Examples</vt:lpstr>
      <vt:lpstr>Decision Tree for PlayTennis</vt:lpstr>
      <vt:lpstr>Decision Tree for PlayTennis</vt:lpstr>
      <vt:lpstr>Decision Tree for PlayTennis</vt:lpstr>
      <vt:lpstr>Decision Tree for Conjunction</vt:lpstr>
      <vt:lpstr>Decision Tree for Disjunction</vt:lpstr>
      <vt:lpstr>Decision Tree for XOR</vt:lpstr>
      <vt:lpstr>Decision Tree </vt:lpstr>
      <vt:lpstr>When to consider Decision Trees</vt:lpstr>
      <vt:lpstr>Algorithm for Induction of Decision Tree</vt:lpstr>
      <vt:lpstr>Decision tree</vt:lpstr>
      <vt:lpstr>Top-Down Induction of Decision Trees  -ID3 Algorithm (By J. Ross Quinlan)</vt:lpstr>
      <vt:lpstr>Entropy</vt:lpstr>
      <vt:lpstr>Entropy</vt:lpstr>
      <vt:lpstr>Entropy (put another way)</vt:lpstr>
      <vt:lpstr>PowerPoint Presentation</vt:lpstr>
      <vt:lpstr>Entropy</vt:lpstr>
      <vt:lpstr>Information Gain</vt:lpstr>
      <vt:lpstr>Which Attribute is ”best”? Sweets example</vt:lpstr>
      <vt:lpstr>PowerPoint Presentation</vt:lpstr>
      <vt:lpstr>PowerPoint Presentation</vt:lpstr>
      <vt:lpstr>Which Attribute is ”best”? Sweets example</vt:lpstr>
      <vt:lpstr>Which Attribute is ”best”? Sweets example</vt:lpstr>
      <vt:lpstr>Which Attribute is ”best”? Sweets example</vt:lpstr>
      <vt:lpstr>PlayTennis Training Examples</vt:lpstr>
      <vt:lpstr>Selecting the Next Attribute</vt:lpstr>
      <vt:lpstr>Selecting the Next Attribute</vt:lpstr>
      <vt:lpstr>Selecting the Next Attribute</vt:lpstr>
      <vt:lpstr>PlayTennis Training Examples (Outlook = Sunny) (use subset of original dataset)</vt:lpstr>
      <vt:lpstr>ID3 Algorithm</vt:lpstr>
      <vt:lpstr>ID3 Algorithm</vt:lpstr>
      <vt:lpstr>Occam’s Razor</vt:lpstr>
      <vt:lpstr>Overfitting</vt:lpstr>
      <vt:lpstr>Avoid Overfitting</vt:lpstr>
      <vt:lpstr>Overfitting in Decision Tree Learning</vt:lpstr>
      <vt:lpstr>Converting a Tree to Rules</vt:lpstr>
      <vt:lpstr>Continuous Valued Attributes</vt:lpstr>
      <vt:lpstr>Attributes with many Values</vt:lpstr>
      <vt:lpstr>Unknown Attribute Values</vt:lpstr>
      <vt:lpstr>Comparing Attribute Selection Measures</vt:lpstr>
      <vt:lpstr>Overfitting and Tree Pruning</vt:lpstr>
      <vt:lpstr>Overfitting and Tree Pruning</vt:lpstr>
      <vt:lpstr>Strengths of Decision Tree Learning</vt:lpstr>
      <vt:lpstr>C4.5 algorithm</vt:lpstr>
      <vt:lpstr>Others Decision Tree Algorithms</vt:lpstr>
      <vt:lpstr>Random Forest</vt:lpstr>
    </vt:vector>
  </TitlesOfParts>
  <Company>ICS,UoN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trees</dc:title>
  <dc:subject>A.I</dc:subject>
  <dc:creator>Peter Waiganjo Wagacha</dc:creator>
  <cp:lastModifiedBy>pwwagacha</cp:lastModifiedBy>
  <cp:revision>200</cp:revision>
  <cp:lastPrinted>2003-03-12T12:15:54Z</cp:lastPrinted>
  <dcterms:created xsi:type="dcterms:W3CDTF">1601-01-01T00:00:00Z</dcterms:created>
  <dcterms:modified xsi:type="dcterms:W3CDTF">2026-03-09T10:32:22Z</dcterms:modified>
</cp:coreProperties>
</file>